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1" r:id="rId6"/>
    <p:sldId id="262" r:id="rId7"/>
    <p:sldId id="284" r:id="rId8"/>
    <p:sldId id="285" r:id="rId9"/>
    <p:sldId id="286" r:id="rId10"/>
    <p:sldId id="287" r:id="rId11"/>
    <p:sldId id="288" r:id="rId12"/>
    <p:sldId id="289" r:id="rId13"/>
    <p:sldId id="263" r:id="rId14"/>
    <p:sldId id="264" r:id="rId15"/>
    <p:sldId id="265" r:id="rId16"/>
    <p:sldId id="266" r:id="rId17"/>
    <p:sldId id="267" r:id="rId18"/>
    <p:sldId id="268" r:id="rId19"/>
    <p:sldId id="283"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1"/>
    <p:restoredTop sz="94610"/>
  </p:normalViewPr>
  <p:slideViewPr>
    <p:cSldViewPr snapToGrid="0" snapToObjects="1">
      <p:cViewPr varScale="1">
        <p:scale>
          <a:sx n="117" d="100"/>
          <a:sy n="117" d="100"/>
        </p:scale>
        <p:origin x="29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334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Mentimeter QR code ready on the next slide. Walk in, smile, and keep this slide up while students settle. Don't explain the title yet; the question on it is what the whole class is about.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maximum. The point is credibility, not a CV reading. One line that lands well: everything I built in my research runs on code, and debugging it needed exactly the basics we'll learn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how AI works: nobody wrote if-else rules to find the tumour. The model learned that from labelled scans. But code surrounds the learning at every step. The training itself is a loop: for every epoch, for every batch, predict, compute the loss, update the weights. That's Module 2 inside AI. Code also prepares the data (loading, resampling, normalizing intensities, matching each scan to its label) and checks the output (Dice scores, thresholds). Share one real bug from your own work here, like a flipped axis or a normalization that differed between training and inference: the model trained "fine" and the results quietly went wrong. That's the integer-division bug again, at a much bigger scale. You can swap the illustration for a real, de-identified image from your own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code placeholder and drop in the QR image from Mentimeter. Leave this up for a minute; most students will join while you finish speaking. Keep a show-of-hands backup in case the Wi-Fi fails.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Q4 result in Mentimeter. Ask two or three students from each side to explain their vote. Don't argue yet; just listen and thank them. This is the bridge to the next slides, and it means the students raised the AI question, not you.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Mentimeter setup: an Open Ended question, "I am a computer. Write step-by-step instructions to make chai." Turn on multiple submissions per person if you want students to send one step at a time. Give them 2 minutes to type. Then pick 3 or 4 answers from the screen and act them out literally. "Add milk": pour it without opening the packet (mime it). "Boil water": ask where the water is, which vessel, is the stove on? "Add sugar": ask how much. Point out what each answer assumed. Answers usually range from "make tea" to a careful 10-step list; compare them. Then click to reveal the punchline at the bottom: that is programming. When AI writes code, someone still has to check the instructions are exactly right. Keep the results: you can bring them back when you teach algorithms and flowcharts.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shout the answer. Everyone says 13 almost instantly. Then click to reveal the line at the bottom. Ask: how did you do it? Nobody can explain the steps; the brain looks at everything in parallel and handles its own temporary memory without being told.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Dhritarashtra analogy: Dhritarashtra could not see the battlefield; Sanjay described it to him one event at a time. The CPU is the same. It cannot glance at all five numbers. It reads one, compares it using &gt; or &lt;, and must store whatever it needs to remember in variables. Optional: do this physically with five coins or cards face down, turning over one at a time, so students feel what it is like to be the CPU.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row per click and ask the class what the CPU should do before each reveal. Slow down at step 3, the critical step: you must copy the old largest (13) into second_largest before overwriting largest with 15. Ask: what happens if we do it the other way round? Answer: 13 is lost, and the program prints the wrong answer. This is exactly the kind of order-of-steps thinking that coding needs.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algorithm is just clear, step-by-step logic in plain language: English, Hindi or any language. Point out the link to Module 1: this is exactly what algorithms, flowcharts and pseudocode are for. Ask a student to read step 3 aloud and check it against the trace table.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part and match it to the algorithm: two variables = the two boxes; the for loop = repeat until no numbers are left; the if = bigger than largest, copy first; the else if = bigger than second. Run it live if you like (it is tested and prints 13). Note for later: starting second at 0 only works for positive numbers; a good improvement to discuss in Module 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coding is mostly logical thinking; typing the syntax is the small part. AI can help with the 1%, but the 99% is yours. If a student asks "why not just sort the numbers?", use the chef analogy: using a built-in sort in an interview is like entering India's Best Chef with ready-made spice packets. Interviewers want to see your logic, and a single pass through the numbers is also faster than sorting.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here has watched IPL with someone who doesn't know cricket? What did they ask you? Then make the point: the commentator, coach and selector watch the same match as a newcomer, but understand it completely differently. Same with AI-written code.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quickly, as support for the cricket analogy, not as new topics. Ask: what's the AI-coding version of losing the network on a ghat road? Let one or two students answer.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Let the line land. Make clear you are not anti-AI: AI is a powerful tool, and the people who understand the basics are the ones who control it. Then: let me show you what I mean.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it as if an AI produced it. Ask for a quick show of hands: who thinks it's correct? Most will say yes. Then run it live on your laptop (test it before class). It prints 84.00.</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no error, no warning, wrong answer. Only someone who knows data types catches it, and that's exactly what we cover in the next two weeks. This also previews Module 2.</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 assigns instead of compares, so marks becomes 100 and everyone gets "Full marks!". Fix: ==. 2: i &lt;= 10 runs 11 times (0 to 10). Fix: i &lt; 10. 3: scanf needs the address of age: &amp;age. Without it the program may crash. Keep a small prize ready, a chocolate is enough. Don't explain everything in depth; say "you'll master all three in Module 2."</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fix appears on a click. Before revealing each one, read out 2 or 3 student answers from Mentimeter (or ask the winning pair) and compare. For bug 3, mention that without &amp; the program may crash, and that you'll explain addresses properly in Module 5 (pointers). Keep it light: the goal today is "small details matter", not mastering scanf.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it as if paying the chaiwala. Each box is a Module 2 idea: input, loop with a counter, if-else, output. End with the question at the bottom and take two or three answers. The answer students reach: the system must check and either complete or refund, which is why UPI refunds and retries exist. Programs must handle what can go wrong, not only the happy path.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Mentimeter open-ended question: "Write a washing machine's cycle as steps." Then show this pseudo-C version. Point out the loop (wash for 15 minutes) and the condition (spin speed depends on the load), the same two ideas from the chai activity and UPI. Mention a pacemaker briefly: a small C program decides when to send each heartbeat pulse, so it has to be exactly right.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CrowdStrike Falcon outage. A faulty content update for a security tool crashed about 8.5 million Windows machines (Microsoft's estimate). The sensor expected 20 input fields but received 21, and read beyond the array in memory. One fundamentals-level mistake stopped airports on several continents.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SaaStr founder Jason Lemkin was running a public 12-day "vibe coding" experiment on Replit. On around day 9, the Replit AI agent ran destructive commands on the live database despite a code freeze, then initially said a rollback wasn't possible. Replit's CEO apologised and the company added separation between development and production databases. Point to students: these are the tools you use today. They are powerful, and they still need a human who understands what's going 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one on Earth could steer the lander in real time; its software had to sense, decide and correct on its own. Link it back: careful, tested code that plans for failures was the difference between 2019 and 2023. Same lesson as UPI: handle what can go wrong. Students respond strongly to this one; let the pride show.</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first: who thinks C is an old language nobody uses now? Many hands will go up. Then reveal: all four of these are written in C. Learning C means understanding what's happening underneath almost everything else, including the Python they may already know.</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segment. If time allows, ask: which of these three matters most to you? Many first-years care most about placements; use that.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slowly, then stop talking for a few seconds. This is the line students should leave with. Then move to the quick quiz: let's start learning those fundamentals right now.</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3. Many will pick 3.5. Reveal it, and say: by the end of next week, all of you will know exactly why.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it as a journey: from your first C program to working directly with memory and files. Module 2 is highlighted because that's where we start next class. Mention briefly that Module 1 ideas (flowcharts, algorithms) will keep coming back.</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guess.c live in a terminal and call a student volunteer to play. Encourage the class to shout strategy (halving: start at 50). That's binary search, which they'll meet later, a nice teaser. Afterwards: "You'll write this yourself in about two weeks." Compile beforehand: gcc guess.c -o guess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evaluation scheme from the department before class. State the AI policy clearly and calmly; first-years respect a clear rule more than a vague warning.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Joy of Computing uses Python, not C. That's fine: the thinking transfers, and its storytelling style makes students fall in love with computing. The C course is the closer match for exam revision. Gently warn students to avoid the 'NPTEL assignment answers' websites and videos: copying answers defeats the purpose and won't help in the proctored exam.</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Open-ended Mentimeter question. Read a few answers out anonymously and respond briefly; keep the rest for yourself. They tell you a lot about the batch.</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C2230"/>
                </a:solidFill>
                <a:latin typeface="Rubik" pitchFamily="34" charset="0"/>
                <a:ea typeface="Rubik" pitchFamily="34" charset="-122"/>
                <a:cs typeface="Rubi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30"/>
            <a:ext cx="10566400" cy="4480570"/>
          </a:xfrm>
          <a:prstGeom prst="rect">
            <a:avLst/>
          </a:prstGeom>
          <a:noFill/>
          <a:ln/>
        </p:spPr>
        <p:txBody>
          <a:bodyPr wrap="square" lIns="0" tIns="0" rIns="0" bIns="0" rtlCol="0" anchor="t"/>
          <a:lstStyle>
            <a:lvl1pPr marL="0" indent="0" algn="l">
              <a:lnSpc>
                <a:spcPct val="140000"/>
              </a:lnSpc>
              <a:buNone/>
              <a:defRPr lang="en-US" sz="1600" dirty="0">
                <a:solidFill>
                  <a:srgbClr val="1C2230"/>
                </a:solidFill>
                <a:latin typeface="Rubik" pitchFamily="34" charset="0"/>
                <a:ea typeface="Rubik" pitchFamily="34" charset="-122"/>
                <a:cs typeface="Rubik"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C2230"/>
                </a:solidFill>
                <a:latin typeface="Rubik" pitchFamily="34" charset="0"/>
                <a:ea typeface="Rubik" pitchFamily="34" charset="-122"/>
                <a:cs typeface="Rubi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30"/>
            <a:ext cx="10566400" cy="4480570"/>
          </a:xfrm>
          <a:prstGeom prst="rect">
            <a:avLst/>
          </a:prstGeom>
          <a:noFill/>
          <a:ln/>
        </p:spPr>
        <p:txBody>
          <a:bodyPr wrap="square" lIns="0" tIns="0" rIns="0" bIns="0" rtlCol="0" anchor="t"/>
          <a:lstStyle>
            <a:lvl1pPr marL="0" indent="0" algn="l">
              <a:lnSpc>
                <a:spcPct val="140000"/>
              </a:lnSpc>
              <a:buNone/>
              <a:defRPr lang="en-US" sz="1600" dirty="0">
                <a:solidFill>
                  <a:srgbClr val="1C2230"/>
                </a:solidFill>
                <a:latin typeface="Rubik" pitchFamily="34" charset="0"/>
                <a:ea typeface="Rubik" pitchFamily="34" charset="-122"/>
                <a:cs typeface="Rubik"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E9893F"/>
                </a:solidFill>
                <a:latin typeface="Rubik" pitchFamily="34" charset="0"/>
                <a:ea typeface="Rubik" pitchFamily="34" charset="-122"/>
                <a:cs typeface="Rubik" pitchFamily="34" charset="-120"/>
              </a:rPr>
              <a:t>CSE-1003 · FUNDAMENTALS OF COMPUTER PROGRAMMING</a:t>
            </a:r>
            <a:endParaRPr lang="en-US" sz="1400" dirty="0"/>
          </a:p>
        </p:txBody>
      </p:sp>
      <p:sp>
        <p:nvSpPr>
          <p:cNvPr id="3" name="Text 1"/>
          <p:cNvSpPr>
            <a:spLocks noGrp="1"/>
          </p:cNvSpPr>
          <p:nvPr>
            <p:ph type="title"/>
          </p:nvPr>
        </p:nvSpPr>
        <p:spPr>
          <a:xfrm>
            <a:off x="812800" y="2452390"/>
            <a:ext cx="10883392" cy="141218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6F3EC"/>
                </a:solidFill>
                <a:latin typeface="Rubik" pitchFamily="34" charset="0"/>
                <a:ea typeface="Rubik" pitchFamily="34" charset="-122"/>
                <a:cs typeface="Rubik" pitchFamily="34" charset="-120"/>
              </a:rPr>
              <a:t>Why learn the basics</a:t>
            </a:r>
            <a:endParaRPr lang="en-US" sz="5200" dirty="0"/>
          </a:p>
          <a:p>
            <a:pPr marL="0" indent="0" algn="l">
              <a:lnSpc>
                <a:spcPts val="5460"/>
              </a:lnSpc>
              <a:buNone/>
            </a:pPr>
            <a:r>
              <a:rPr lang="en-US" sz="5200" b="1" i="0" dirty="0">
                <a:solidFill>
                  <a:srgbClr val="F6F3EC"/>
                </a:solidFill>
                <a:latin typeface="Rubik" pitchFamily="34" charset="0"/>
                <a:ea typeface="Rubik" pitchFamily="34" charset="-122"/>
                <a:cs typeface="Rubik" pitchFamily="34" charset="-120"/>
              </a:rPr>
              <a:t>when AI can write code?</a:t>
            </a:r>
            <a:endParaRPr lang="en-US" sz="5200" dirty="0"/>
          </a:p>
        </p:txBody>
      </p:sp>
      <p:sp>
        <p:nvSpPr>
          <p:cNvPr id="4" name="Text 2"/>
          <p:cNvSpPr/>
          <p:nvPr/>
        </p:nvSpPr>
        <p:spPr>
          <a:xfrm>
            <a:off x="812800" y="4067770"/>
            <a:ext cx="10883392"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CFDA"/>
                </a:solidFill>
                <a:latin typeface="Rubik" pitchFamily="34" charset="0"/>
                <a:ea typeface="Rubik" pitchFamily="34" charset="-122"/>
                <a:cs typeface="Rubik" pitchFamily="34" charset="-120"/>
              </a:rPr>
              <a:t>Class 1 · B.Tech First Year · IIIT Bhopal</a:t>
            </a:r>
            <a:endParaRPr lang="en-US" sz="1800" dirty="0"/>
          </a:p>
        </p:txBody>
      </p:sp>
      <p:sp>
        <p:nvSpPr>
          <p:cNvPr id="5" name="Text 3"/>
          <p:cNvSpPr/>
          <p:nvPr/>
        </p:nvSpPr>
        <p:spPr>
          <a:xfrm>
            <a:off x="812800" y="57785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CFDA"/>
                </a:solidFill>
                <a:latin typeface="Rubik" pitchFamily="34" charset="0"/>
                <a:ea typeface="Rubik" pitchFamily="34" charset="-122"/>
                <a:cs typeface="Rubik" pitchFamily="34" charset="-120"/>
              </a:rPr>
              <a:t>Dr. </a:t>
            </a:r>
            <a:r>
              <a:rPr lang="en-US" sz="1500">
                <a:solidFill>
                  <a:srgbClr val="C9CFDA"/>
                </a:solidFill>
                <a:latin typeface="Rubik" pitchFamily="34" charset="0"/>
                <a:ea typeface="Rubik" pitchFamily="34" charset="-122"/>
                <a:cs typeface="Rubik" pitchFamily="34" charset="-120"/>
              </a:rPr>
              <a:t>Sachin DN </a:t>
            </a:r>
            <a:r>
              <a:rPr lang="en-US" sz="1500" dirty="0">
                <a:solidFill>
                  <a:srgbClr val="C9CFDA"/>
                </a:solidFill>
                <a:latin typeface="Rubik" pitchFamily="34" charset="0"/>
                <a:ea typeface="Rubik" pitchFamily="34" charset="-122"/>
                <a:cs typeface="Rubik" pitchFamily="34" charset="-120"/>
              </a:rPr>
              <a:t>· Department of CSE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A little about me </a:t>
            </a:r>
            <a:endParaRPr lang="en-US" sz="3200" dirty="0"/>
          </a:p>
        </p:txBody>
      </p:sp>
      <p:sp>
        <p:nvSpPr>
          <p:cNvPr id="3" name="Shape 1"/>
          <p:cNvSpPr/>
          <p:nvPr/>
        </p:nvSpPr>
        <p:spPr>
          <a:xfrm>
            <a:off x="815975" y="1618605"/>
            <a:ext cx="5175250" cy="1431280"/>
          </a:xfrm>
          <a:prstGeom prst="roundRect">
            <a:avLst>
              <a:gd name="adj" fmla="val 8651"/>
            </a:avLst>
          </a:prstGeom>
          <a:solidFill>
            <a:srgbClr val="FFFDF8"/>
          </a:solidFill>
          <a:ln w="6350">
            <a:solidFill>
              <a:srgbClr val="E2DDD2"/>
            </a:solidFill>
            <a:prstDash val="solid"/>
          </a:ln>
        </p:spPr>
        <p:txBody>
          <a:bodyPr/>
          <a:lstStyle/>
          <a:p>
            <a:endParaRPr lang="en-US"/>
          </a:p>
        </p:txBody>
      </p:sp>
      <p:sp>
        <p:nvSpPr>
          <p:cNvPr id="4" name="Text 2"/>
          <p:cNvSpPr/>
          <p:nvPr/>
        </p:nvSpPr>
        <p:spPr>
          <a:xfrm>
            <a:off x="1073150" y="1875780"/>
            <a:ext cx="4800727"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A94F17"/>
                </a:solidFill>
                <a:latin typeface="Rubik" pitchFamily="34" charset="0"/>
                <a:ea typeface="Rubik" pitchFamily="34" charset="-122"/>
                <a:cs typeface="Rubik" pitchFamily="34" charset="-120"/>
              </a:rPr>
              <a:t>STUDIED</a:t>
            </a:r>
            <a:endParaRPr lang="en-US" sz="1300" dirty="0"/>
          </a:p>
        </p:txBody>
      </p:sp>
      <p:sp>
        <p:nvSpPr>
          <p:cNvPr id="5" name="Text 3"/>
          <p:cNvSpPr/>
          <p:nvPr/>
        </p:nvSpPr>
        <p:spPr>
          <a:xfrm>
            <a:off x="1073150" y="2183110"/>
            <a:ext cx="480072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C2230"/>
                </a:solidFill>
                <a:latin typeface="Rubik" pitchFamily="34" charset="0"/>
                <a:ea typeface="Rubik" pitchFamily="34" charset="-122"/>
                <a:cs typeface="Rubik" pitchFamily="34" charset="-120"/>
              </a:rPr>
              <a:t>PhD, NITK Surathkal</a:t>
            </a:r>
            <a:endParaRPr lang="en-US" sz="2000" dirty="0"/>
          </a:p>
        </p:txBody>
      </p:sp>
      <p:sp>
        <p:nvSpPr>
          <p:cNvPr id="6" name="Shape 4"/>
          <p:cNvSpPr/>
          <p:nvPr/>
        </p:nvSpPr>
        <p:spPr>
          <a:xfrm>
            <a:off x="6200775" y="1618605"/>
            <a:ext cx="5175250" cy="1431280"/>
          </a:xfrm>
          <a:prstGeom prst="roundRect">
            <a:avLst>
              <a:gd name="adj" fmla="val 8651"/>
            </a:avLst>
          </a:prstGeom>
          <a:solidFill>
            <a:srgbClr val="FFFDF8"/>
          </a:solidFill>
          <a:ln w="6350">
            <a:solidFill>
              <a:srgbClr val="E2DDD2"/>
            </a:solidFill>
            <a:prstDash val="solid"/>
          </a:ln>
        </p:spPr>
        <p:txBody>
          <a:bodyPr/>
          <a:lstStyle/>
          <a:p>
            <a:endParaRPr lang="en-US"/>
          </a:p>
        </p:txBody>
      </p:sp>
      <p:sp>
        <p:nvSpPr>
          <p:cNvPr id="7" name="Text 5"/>
          <p:cNvSpPr/>
          <p:nvPr/>
        </p:nvSpPr>
        <p:spPr>
          <a:xfrm>
            <a:off x="6457950" y="1875780"/>
            <a:ext cx="4800727"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A94F17"/>
                </a:solidFill>
                <a:latin typeface="Rubik" pitchFamily="34" charset="0"/>
                <a:ea typeface="Rubik" pitchFamily="34" charset="-122"/>
                <a:cs typeface="Rubik" pitchFamily="34" charset="-120"/>
              </a:rPr>
              <a:t>RESEARCH ABROAD</a:t>
            </a:r>
            <a:endParaRPr lang="en-US" sz="1300" dirty="0"/>
          </a:p>
        </p:txBody>
      </p:sp>
      <p:sp>
        <p:nvSpPr>
          <p:cNvPr id="8" name="Text 6"/>
          <p:cNvSpPr/>
          <p:nvPr/>
        </p:nvSpPr>
        <p:spPr>
          <a:xfrm>
            <a:off x="6457950" y="2183110"/>
            <a:ext cx="4800727"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C2230"/>
                </a:solidFill>
                <a:latin typeface="Rubik" pitchFamily="34" charset="0"/>
                <a:ea typeface="Rubik" pitchFamily="34" charset="-122"/>
                <a:cs typeface="Rubik" pitchFamily="34" charset="-120"/>
              </a:rPr>
              <a:t>Postdoc in Norway (</a:t>
            </a:r>
            <a:r>
              <a:rPr lang="en-US" sz="2000" b="1">
                <a:solidFill>
                  <a:srgbClr val="1C2230"/>
                </a:solidFill>
                <a:latin typeface="Rubik" pitchFamily="34" charset="0"/>
                <a:ea typeface="Rubik" pitchFamily="34" charset="-122"/>
                <a:cs typeface="Rubik" pitchFamily="34" charset="-120"/>
              </a:rPr>
              <a:t>NTNU)</a:t>
            </a:r>
            <a:endParaRPr lang="en-US" sz="2000" dirty="0"/>
          </a:p>
        </p:txBody>
      </p:sp>
      <p:sp>
        <p:nvSpPr>
          <p:cNvPr id="9" name="Shape 7"/>
          <p:cNvSpPr/>
          <p:nvPr/>
        </p:nvSpPr>
        <p:spPr>
          <a:xfrm>
            <a:off x="815975" y="3259435"/>
            <a:ext cx="5175250" cy="1431280"/>
          </a:xfrm>
          <a:prstGeom prst="roundRect">
            <a:avLst>
              <a:gd name="adj" fmla="val 8651"/>
            </a:avLst>
          </a:prstGeom>
          <a:solidFill>
            <a:srgbClr val="FFFDF8"/>
          </a:solidFill>
          <a:ln w="6350">
            <a:solidFill>
              <a:srgbClr val="E2DDD2"/>
            </a:solidFill>
            <a:prstDash val="solid"/>
          </a:ln>
        </p:spPr>
        <p:txBody>
          <a:bodyPr/>
          <a:lstStyle/>
          <a:p>
            <a:endParaRPr lang="en-US"/>
          </a:p>
        </p:txBody>
      </p:sp>
      <p:sp>
        <p:nvSpPr>
          <p:cNvPr id="10" name="Text 8"/>
          <p:cNvSpPr/>
          <p:nvPr/>
        </p:nvSpPr>
        <p:spPr>
          <a:xfrm>
            <a:off x="1073150" y="3516610"/>
            <a:ext cx="4800727"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A94F17"/>
                </a:solidFill>
                <a:latin typeface="Rubik" pitchFamily="34" charset="0"/>
                <a:ea typeface="Rubik" pitchFamily="34" charset="-122"/>
                <a:cs typeface="Rubik" pitchFamily="34" charset="-120"/>
              </a:rPr>
              <a:t>WHAT I WORK ON</a:t>
            </a:r>
            <a:endParaRPr lang="en-US" sz="1300" dirty="0"/>
          </a:p>
        </p:txBody>
      </p:sp>
      <p:sp>
        <p:nvSpPr>
          <p:cNvPr id="11" name="Text 9"/>
          <p:cNvSpPr/>
          <p:nvPr/>
        </p:nvSpPr>
        <p:spPr>
          <a:xfrm>
            <a:off x="1073150" y="3823940"/>
            <a:ext cx="4800727" cy="635000"/>
          </a:xfrm>
          <a:prstGeom prst="rect">
            <a:avLst/>
          </a:prstGeom>
          <a:noFill/>
          <a:ln/>
        </p:spPr>
        <p:txBody>
          <a:bodyPr wrap="square" lIns="0" tIns="0" rIns="0" bIns="0" rtlCol="0" anchor="t">
            <a:normAutofit/>
          </a:bodyPr>
          <a:lstStyle/>
          <a:p>
            <a:pPr marL="0" indent="0" algn="l">
              <a:lnSpc>
                <a:spcPts val="2400"/>
              </a:lnSpc>
              <a:buNone/>
            </a:pPr>
            <a:r>
              <a:rPr lang="en-US" sz="2000" b="1">
                <a:solidFill>
                  <a:srgbClr val="1C2230"/>
                </a:solidFill>
                <a:latin typeface="Rubik" pitchFamily="34" charset="0"/>
                <a:ea typeface="Rubik" pitchFamily="34" charset="-122"/>
                <a:cs typeface="Rubik" pitchFamily="34" charset="-120"/>
              </a:rPr>
              <a:t>Federated Learning, AI for Healthcare, Edge and Distrubuted Computing.</a:t>
            </a:r>
            <a:endParaRPr lang="en-US" sz="2000" dirty="0"/>
          </a:p>
        </p:txBody>
      </p:sp>
      <p:sp>
        <p:nvSpPr>
          <p:cNvPr id="12" name="Shape 10"/>
          <p:cNvSpPr/>
          <p:nvPr/>
        </p:nvSpPr>
        <p:spPr>
          <a:xfrm>
            <a:off x="6200775" y="3259435"/>
            <a:ext cx="5175250" cy="1431280"/>
          </a:xfrm>
          <a:prstGeom prst="roundRect">
            <a:avLst>
              <a:gd name="adj" fmla="val 8651"/>
            </a:avLst>
          </a:prstGeom>
          <a:solidFill>
            <a:srgbClr val="FFFDF8"/>
          </a:solidFill>
          <a:ln w="6350">
            <a:solidFill>
              <a:srgbClr val="E2DDD2"/>
            </a:solidFill>
            <a:prstDash val="solid"/>
          </a:ln>
        </p:spPr>
        <p:txBody>
          <a:bodyPr/>
          <a:lstStyle/>
          <a:p>
            <a:endParaRPr lang="en-US"/>
          </a:p>
        </p:txBody>
      </p:sp>
      <p:sp>
        <p:nvSpPr>
          <p:cNvPr id="13" name="Text 11"/>
          <p:cNvSpPr/>
          <p:nvPr/>
        </p:nvSpPr>
        <p:spPr>
          <a:xfrm>
            <a:off x="6457950" y="3516610"/>
            <a:ext cx="4800727"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A94F17"/>
                </a:solidFill>
                <a:latin typeface="Rubik" pitchFamily="34" charset="0"/>
                <a:ea typeface="Rubik" pitchFamily="34" charset="-122"/>
                <a:cs typeface="Rubik" pitchFamily="34" charset="-120"/>
              </a:rPr>
              <a:t>NOW</a:t>
            </a:r>
            <a:endParaRPr lang="en-US" sz="1300" dirty="0"/>
          </a:p>
        </p:txBody>
      </p:sp>
      <p:sp>
        <p:nvSpPr>
          <p:cNvPr id="14" name="Text 12"/>
          <p:cNvSpPr/>
          <p:nvPr/>
        </p:nvSpPr>
        <p:spPr>
          <a:xfrm>
            <a:off x="6457950" y="3823940"/>
            <a:ext cx="49149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C2230"/>
                </a:solidFill>
                <a:latin typeface="Rubik" pitchFamily="34" charset="0"/>
                <a:ea typeface="Rubik" pitchFamily="34" charset="-122"/>
                <a:cs typeface="Rubik" pitchFamily="34" charset="-120"/>
              </a:rPr>
              <a:t>Assistant Professor, CSE, IIIT Bhopal</a:t>
            </a:r>
            <a:endParaRPr lang="en-US" sz="2000" dirty="0"/>
          </a:p>
        </p:txBody>
      </p:sp>
      <p:sp>
        <p:nvSpPr>
          <p:cNvPr id="15" name="Text 0">
            <a:extLst>
              <a:ext uri="{FF2B5EF4-FFF2-40B4-BE49-F238E27FC236}">
                <a16:creationId xmlns:a16="http://schemas.microsoft.com/office/drawing/2014/main" id="{96BD76BB-8ED8-4895-75CD-5E1B705FE9A1}"/>
              </a:ext>
            </a:extLst>
          </p:cNvPr>
          <p:cNvSpPr txBox="1">
            <a:spLocks/>
          </p:cNvSpPr>
          <p:nvPr/>
        </p:nvSpPr>
        <p:spPr>
          <a:xfrm>
            <a:off x="9496942" y="812800"/>
            <a:ext cx="2039257" cy="472430"/>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1C2230"/>
                </a:solidFill>
                <a:latin typeface="Rubik" pitchFamily="34" charset="0"/>
                <a:ea typeface="Rubik" pitchFamily="34" charset="-122"/>
                <a:cs typeface="Rubik" pitchFamily="34" charset="-120"/>
              </a:defRPr>
            </a:lvl1pPr>
          </a:lstStyle>
          <a:p>
            <a:pPr>
              <a:lnSpc>
                <a:spcPts val="3520"/>
              </a:lnSpc>
            </a:pPr>
            <a:r>
              <a:rPr lang="en-IN" b="1"/>
              <a:t>Sachin D N</a:t>
            </a: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2800" y="1311970"/>
            <a:ext cx="6069584"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E9893F"/>
                </a:solidFill>
                <a:latin typeface="Rubik" pitchFamily="34" charset="0"/>
                <a:ea typeface="Rubik" pitchFamily="34" charset="-122"/>
                <a:cs typeface="Rubik" pitchFamily="34" charset="-120"/>
              </a:rPr>
              <a:t>FROM MY RESEARCH</a:t>
            </a:r>
            <a:endParaRPr lang="en-US" sz="1400" dirty="0"/>
          </a:p>
        </p:txBody>
      </p:sp>
      <p:sp>
        <p:nvSpPr>
          <p:cNvPr id="3" name="Text 1"/>
          <p:cNvSpPr>
            <a:spLocks noGrp="1"/>
          </p:cNvSpPr>
          <p:nvPr>
            <p:ph type="title"/>
          </p:nvPr>
        </p:nvSpPr>
        <p:spPr>
          <a:xfrm>
            <a:off x="812800" y="1738660"/>
            <a:ext cx="6069584" cy="78482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F6F3EC"/>
                </a:solidFill>
                <a:latin typeface="Rubik" pitchFamily="34" charset="0"/>
                <a:ea typeface="Rubik" pitchFamily="34" charset="-122"/>
                <a:cs typeface="Rubik" pitchFamily="34" charset="-120"/>
              </a:rPr>
              <a:t>The AI learns from data. Code makes the learning possible.</a:t>
            </a:r>
            <a:endParaRPr lang="en-US" sz="2600" dirty="0"/>
          </a:p>
        </p:txBody>
      </p:sp>
      <p:sp>
        <p:nvSpPr>
          <p:cNvPr id="4" name="Text 2"/>
          <p:cNvSpPr/>
          <p:nvPr/>
        </p:nvSpPr>
        <p:spPr>
          <a:xfrm>
            <a:off x="812800" y="2675880"/>
            <a:ext cx="6069584"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C9CFDA"/>
                </a:solidFill>
                <a:latin typeface="Rubik" pitchFamily="34" charset="0"/>
                <a:ea typeface="Rubik" pitchFamily="34" charset="-122"/>
                <a:cs typeface="Rubik" pitchFamily="34" charset="-120"/>
              </a:rPr>
              <a:t>The model learns to find the tumour from thousands of labelled scans. Code loads every scan, runs the training loop and checks every prediction. One wrong line, like a flipped left-right axis, and the AI learns the wrong thing.</a:t>
            </a:r>
            <a:endParaRPr lang="en-US" sz="1500" dirty="0"/>
          </a:p>
        </p:txBody>
      </p:sp>
      <p:sp>
        <p:nvSpPr>
          <p:cNvPr id="5" name="Text 3"/>
          <p:cNvSpPr/>
          <p:nvPr/>
        </p:nvSpPr>
        <p:spPr>
          <a:xfrm>
            <a:off x="815975" y="3961755"/>
            <a:ext cx="5886450" cy="1581100"/>
          </a:xfrm>
          <a:prstGeom prst="roundRect">
            <a:avLst>
              <a:gd name="adj" fmla="val 6225"/>
            </a:avLst>
          </a:prstGeom>
          <a:solidFill>
            <a:srgbClr val="0C1528"/>
          </a:solidFill>
          <a:ln w="6350">
            <a:solidFill>
              <a:srgbClr val="2D3E63"/>
            </a:solidFill>
            <a:prstDash val="solid"/>
          </a:ln>
        </p:spPr>
        <p:txBody>
          <a:bodyPr wrap="square" lIns="177547" tIns="152147" rIns="13336" bIns="126747" rtlCol="0" anchor="t">
            <a:normAutofit/>
          </a:bodyPr>
          <a:lstStyle/>
          <a:p>
            <a:pPr marL="0" indent="0" algn="l">
              <a:lnSpc>
                <a:spcPts val="1920"/>
              </a:lnSpc>
              <a:buNone/>
            </a:pPr>
            <a:r>
              <a:rPr lang="en-US" sz="1200" dirty="0">
                <a:solidFill>
                  <a:srgbClr val="F0B27A"/>
                </a:solidFill>
                <a:latin typeface="JetBrains Mono" pitchFamily="49" charset="0"/>
                <a:ea typeface="JetBrains Mono" pitchFamily="49" charset="-122"/>
                <a:cs typeface="JetBrains Mono" pitchFamily="49" charset="-120"/>
              </a:rPr>
              <a:t>for</a:t>
            </a:r>
            <a:r>
              <a:rPr lang="en-US" sz="1200" dirty="0">
                <a:solidFill>
                  <a:srgbClr val="E6E9F0"/>
                </a:solidFill>
                <a:latin typeface="JetBrains Mono" pitchFamily="49" charset="0"/>
                <a:ea typeface="JetBrains Mono" pitchFamily="49" charset="-122"/>
                <a:cs typeface="JetBrains Mono" pitchFamily="49" charset="-120"/>
              </a:rPr>
              <a:t> epoch </a:t>
            </a:r>
            <a:r>
              <a:rPr lang="en-US" sz="1200" dirty="0">
                <a:solidFill>
                  <a:srgbClr val="F0B27A"/>
                </a:solidFill>
                <a:latin typeface="JetBrains Mono" pitchFamily="49" charset="0"/>
                <a:ea typeface="JetBrains Mono" pitchFamily="49" charset="-122"/>
                <a:cs typeface="JetBrains Mono" pitchFamily="49" charset="-120"/>
              </a:rPr>
              <a:t>in</a:t>
            </a:r>
            <a:r>
              <a:rPr lang="en-US" sz="1200" dirty="0">
                <a:solidFill>
                  <a:srgbClr val="E6E9F0"/>
                </a:solidFill>
                <a:latin typeface="JetBrains Mono" pitchFamily="49" charset="0"/>
                <a:ea typeface="JetBrains Mono" pitchFamily="49" charset="-122"/>
                <a:cs typeface="JetBrains Mono" pitchFamily="49" charset="-120"/>
              </a:rPr>
              <a:t> range(100):</a:t>
            </a:r>
            <a:endParaRPr lang="en-US" sz="1200" dirty="0"/>
          </a:p>
          <a:p>
            <a:pPr marL="0" indent="0" algn="l">
              <a:lnSpc>
                <a:spcPts val="1920"/>
              </a:lnSpc>
              <a:buNone/>
            </a:pPr>
            <a:r>
              <a:rPr lang="en-US" sz="1200" dirty="0">
                <a:solidFill>
                  <a:srgbClr val="F0B27A"/>
                </a:solidFill>
                <a:latin typeface="JetBrains Mono" pitchFamily="49" charset="0"/>
                <a:ea typeface="JetBrains Mono" pitchFamily="49" charset="-122"/>
                <a:cs typeface="JetBrains Mono" pitchFamily="49" charset="-120"/>
              </a:rPr>
              <a:t>for</a:t>
            </a:r>
            <a:r>
              <a:rPr lang="en-US" sz="1200" dirty="0">
                <a:solidFill>
                  <a:srgbClr val="E6E9F0"/>
                </a:solidFill>
                <a:latin typeface="JetBrains Mono" pitchFamily="49" charset="0"/>
                <a:ea typeface="JetBrains Mono" pitchFamily="49" charset="-122"/>
                <a:cs typeface="JetBrains Mono" pitchFamily="49" charset="-120"/>
              </a:rPr>
              <a:t> scans, masks </a:t>
            </a:r>
            <a:r>
              <a:rPr lang="en-US" sz="1200" dirty="0">
                <a:solidFill>
                  <a:srgbClr val="F0B27A"/>
                </a:solidFill>
                <a:latin typeface="JetBrains Mono" pitchFamily="49" charset="0"/>
                <a:ea typeface="JetBrains Mono" pitchFamily="49" charset="-122"/>
                <a:cs typeface="JetBrains Mono" pitchFamily="49" charset="-120"/>
              </a:rPr>
              <a:t>in</a:t>
            </a:r>
            <a:r>
              <a:rPr lang="en-US" sz="1200" dirty="0">
                <a:solidFill>
                  <a:srgbClr val="E6E9F0"/>
                </a:solidFill>
                <a:latin typeface="JetBrains Mono" pitchFamily="49" charset="0"/>
                <a:ea typeface="JetBrains Mono" pitchFamily="49" charset="-122"/>
                <a:cs typeface="JetBrains Mono" pitchFamily="49" charset="-120"/>
              </a:rPr>
              <a:t> train_data:</a:t>
            </a:r>
            <a:endParaRPr lang="en-US" sz="1200" dirty="0"/>
          </a:p>
          <a:p>
            <a:pPr marL="0" indent="0" algn="l">
              <a:lnSpc>
                <a:spcPts val="1920"/>
              </a:lnSpc>
              <a:buNone/>
            </a:pPr>
            <a:r>
              <a:rPr lang="en-US" sz="1200" dirty="0">
                <a:solidFill>
                  <a:srgbClr val="E6E9F0"/>
                </a:solidFill>
                <a:latin typeface="JetBrains Mono" pitchFamily="49" charset="0"/>
                <a:ea typeface="JetBrains Mono" pitchFamily="49" charset="-122"/>
                <a:cs typeface="JetBrains Mono" pitchFamily="49" charset="-120"/>
              </a:rPr>
              <a:t>pred = model(scans)</a:t>
            </a:r>
            <a:endParaRPr lang="en-US" sz="1200" dirty="0"/>
          </a:p>
          <a:p>
            <a:pPr marL="0" indent="0" algn="l">
              <a:lnSpc>
                <a:spcPts val="1920"/>
              </a:lnSpc>
              <a:buNone/>
            </a:pPr>
            <a:r>
              <a:rPr lang="en-US" sz="1200" dirty="0">
                <a:solidFill>
                  <a:srgbClr val="E6E9F0"/>
                </a:solidFill>
                <a:latin typeface="JetBrains Mono" pitchFamily="49" charset="0"/>
                <a:ea typeface="JetBrains Mono" pitchFamily="49" charset="-122"/>
                <a:cs typeface="JetBrains Mono" pitchFamily="49" charset="-120"/>
              </a:rPr>
              <a:t>loss = dice_loss(pred, masks)</a:t>
            </a:r>
            <a:endParaRPr lang="en-US" sz="1200" dirty="0"/>
          </a:p>
          <a:p>
            <a:pPr marL="0" indent="0" algn="l">
              <a:lnSpc>
                <a:spcPts val="1920"/>
              </a:lnSpc>
              <a:buNone/>
            </a:pPr>
            <a:r>
              <a:rPr lang="en-US" sz="1200" dirty="0">
                <a:solidFill>
                  <a:srgbClr val="E6E9F0"/>
                </a:solidFill>
                <a:latin typeface="JetBrains Mono" pitchFamily="49" charset="0"/>
                <a:ea typeface="JetBrains Mono" pitchFamily="49" charset="-122"/>
                <a:cs typeface="JetBrains Mono" pitchFamily="49" charset="-120"/>
              </a:rPr>
              <a:t>loss.backward(); optimizer.step()</a:t>
            </a:r>
            <a:endParaRPr lang="en-US" sz="1200" dirty="0"/>
          </a:p>
        </p:txBody>
      </p:sp>
      <p:pic>
        <p:nvPicPr>
          <p:cNvPr id="6" name="Image 0" descr="Illustrated axial brain MRI slice with an AI-marked tumour region outlined in orange"/>
          <p:cNvPicPr>
            <a:picLocks noChangeAspect="1"/>
          </p:cNvPicPr>
          <p:nvPr/>
        </p:nvPicPr>
        <p:blipFill>
          <a:blip r:embed="rId3"/>
          <a:srcRect/>
          <a:stretch/>
        </p:blipFill>
        <p:spPr>
          <a:xfrm>
            <a:off x="7315200" y="1047750"/>
            <a:ext cx="4064000" cy="4064000"/>
          </a:xfrm>
          <a:prstGeom prst="rect">
            <a:avLst/>
          </a:prstGeom>
        </p:spPr>
      </p:pic>
      <p:sp>
        <p:nvSpPr>
          <p:cNvPr id="7" name="Shape 4"/>
          <p:cNvSpPr/>
          <p:nvPr/>
        </p:nvSpPr>
        <p:spPr>
          <a:xfrm>
            <a:off x="7315200" y="5265390"/>
            <a:ext cx="177800" cy="177800"/>
          </a:xfrm>
          <a:prstGeom prst="roundRect">
            <a:avLst>
              <a:gd name="adj" fmla="val 21429"/>
            </a:avLst>
          </a:prstGeom>
          <a:solidFill>
            <a:srgbClr val="E9893F"/>
          </a:solidFill>
          <a:ln/>
        </p:spPr>
        <p:txBody>
          <a:bodyPr/>
          <a:lstStyle/>
          <a:p>
            <a:endParaRPr lang="en-US"/>
          </a:p>
        </p:txBody>
      </p:sp>
      <p:sp>
        <p:nvSpPr>
          <p:cNvPr id="8" name="Text 5"/>
          <p:cNvSpPr/>
          <p:nvPr/>
        </p:nvSpPr>
        <p:spPr>
          <a:xfrm>
            <a:off x="7594600" y="5238750"/>
            <a:ext cx="294274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FDA"/>
                </a:solidFill>
                <a:latin typeface="Rubik" pitchFamily="34" charset="0"/>
                <a:ea typeface="Rubik" pitchFamily="34" charset="-122"/>
                <a:cs typeface="Rubik" pitchFamily="34" charset="-120"/>
              </a:rPr>
              <a:t>Region the AI marked as tumour</a:t>
            </a:r>
            <a:endParaRPr lang="en-US" sz="1300" dirty="0"/>
          </a:p>
        </p:txBody>
      </p:sp>
      <p:sp>
        <p:nvSpPr>
          <p:cNvPr id="9" name="Text 6"/>
          <p:cNvSpPr/>
          <p:nvPr/>
        </p:nvSpPr>
        <p:spPr>
          <a:xfrm>
            <a:off x="7315200" y="5596880"/>
            <a:ext cx="41859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5"/>
                </a:solidFill>
                <a:latin typeface="Rubik" pitchFamily="34" charset="0"/>
                <a:ea typeface="Rubik" pitchFamily="34" charset="-122"/>
                <a:cs typeface="Rubik" pitchFamily="34" charset="-120"/>
              </a:rPr>
              <a:t>Illustration, not a real patient scan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33F"/>
        </a:solidFill>
        <a:effectLst/>
      </p:bgPr>
    </p:bg>
    <p:spTree>
      <p:nvGrpSpPr>
        <p:cNvPr id="1" name=""/>
        <p:cNvGrpSpPr/>
        <p:nvPr/>
      </p:nvGrpSpPr>
      <p:grpSpPr>
        <a:xfrm>
          <a:off x="0" y="0"/>
          <a:ext cx="0" cy="0"/>
          <a:chOff x="0" y="0"/>
          <a:chExt cx="0" cy="0"/>
        </a:xfrm>
      </p:grpSpPr>
      <p:sp>
        <p:nvSpPr>
          <p:cNvPr id="3" name="Text 1"/>
          <p:cNvSpPr/>
          <p:nvPr/>
        </p:nvSpPr>
        <p:spPr>
          <a:xfrm>
            <a:off x="812800" y="3106390"/>
            <a:ext cx="6592824"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CFDA"/>
                </a:solidFill>
                <a:latin typeface="Rubik" pitchFamily="34" charset="0"/>
                <a:ea typeface="Rubik" pitchFamily="34" charset="-122"/>
                <a:cs typeface="Rubik" pitchFamily="34" charset="-120"/>
              </a:rPr>
              <a:t>Go to </a:t>
            </a:r>
            <a:r>
              <a:rPr lang="en-US" sz="2000" b="1" dirty="0">
                <a:solidFill>
                  <a:srgbClr val="E9893F"/>
                </a:solidFill>
                <a:latin typeface="Rubik" pitchFamily="34" charset="0"/>
                <a:ea typeface="Rubik" pitchFamily="34" charset="-122"/>
                <a:cs typeface="Rubik" pitchFamily="34" charset="-120"/>
              </a:rPr>
              <a:t>menti.com</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E9893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428280"/>
            <a:ext cx="10883392" cy="136644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15233F"/>
                </a:solidFill>
                <a:latin typeface="Rubik" pitchFamily="34" charset="0"/>
                <a:ea typeface="Rubik" pitchFamily="34" charset="-122"/>
                <a:cs typeface="Rubik" pitchFamily="34" charset="-120"/>
              </a:rPr>
              <a:t>"AI will make learning programming unnecessary."</a:t>
            </a:r>
            <a:endParaRPr lang="en-US" sz="4800" dirty="0"/>
          </a:p>
        </p:txBody>
      </p:sp>
      <p:sp>
        <p:nvSpPr>
          <p:cNvPr id="3" name="Text 1"/>
          <p:cNvSpPr/>
          <p:nvPr/>
        </p:nvSpPr>
        <p:spPr>
          <a:xfrm>
            <a:off x="812800" y="407412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5233F"/>
                </a:solidFill>
                <a:latin typeface="Rubik" pitchFamily="34" charset="0"/>
                <a:ea typeface="Rubik" pitchFamily="34" charset="-122"/>
                <a:cs typeface="Rubik" pitchFamily="34" charset="-120"/>
              </a:rPr>
              <a:t>Agree or disagree?.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E9893F"/>
                </a:solidFill>
                <a:latin typeface="Rubik" pitchFamily="34" charset="0"/>
                <a:ea typeface="Rubik" pitchFamily="34" charset="-122"/>
                <a:cs typeface="Rubik" pitchFamily="34" charset="-120"/>
              </a:rPr>
              <a:t>MENTIMETER ACTIVITY </a:t>
            </a:r>
            <a:endParaRPr lang="en-US" sz="1400" dirty="0"/>
          </a:p>
        </p:txBody>
      </p:sp>
      <p:sp>
        <p:nvSpPr>
          <p:cNvPr id="3" name="Text 1"/>
          <p:cNvSpPr>
            <a:spLocks noGrp="1"/>
          </p:cNvSpPr>
          <p:nvPr>
            <p:ph type="title"/>
          </p:nvPr>
        </p:nvSpPr>
        <p:spPr>
          <a:xfrm>
            <a:off x="812800" y="1366490"/>
            <a:ext cx="10883392" cy="141218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6F3EC"/>
                </a:solidFill>
                <a:latin typeface="Rubik" pitchFamily="34" charset="0"/>
                <a:ea typeface="Rubik" pitchFamily="34" charset="-122"/>
                <a:cs typeface="Rubik" pitchFamily="34" charset="-120"/>
              </a:rPr>
              <a:t>I am a computer.</a:t>
            </a:r>
            <a:endParaRPr lang="en-US" sz="5200" dirty="0"/>
          </a:p>
          <a:p>
            <a:pPr marL="0" indent="0" algn="l">
              <a:lnSpc>
                <a:spcPts val="5460"/>
              </a:lnSpc>
              <a:buNone/>
            </a:pPr>
            <a:r>
              <a:rPr lang="en-US" sz="5200" b="1" i="0" dirty="0">
                <a:solidFill>
                  <a:srgbClr val="F6F3EC"/>
                </a:solidFill>
                <a:latin typeface="Rubik" pitchFamily="34" charset="0"/>
                <a:ea typeface="Rubik" pitchFamily="34" charset="-122"/>
                <a:cs typeface="Rubik" pitchFamily="34" charset="-120"/>
              </a:rPr>
              <a:t>Teach me to make chai.</a:t>
            </a:r>
            <a:endParaRPr lang="en-US" sz="5200" dirty="0"/>
          </a:p>
        </p:txBody>
      </p:sp>
      <p:sp>
        <p:nvSpPr>
          <p:cNvPr id="5" name="Text 3"/>
          <p:cNvSpPr/>
          <p:nvPr/>
        </p:nvSpPr>
        <p:spPr>
          <a:xfrm>
            <a:off x="812800" y="565408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9893F"/>
                </a:solidFill>
                <a:latin typeface="Rubik" pitchFamily="34" charset="0"/>
                <a:ea typeface="Rubik" pitchFamily="34" charset="-122"/>
                <a:cs typeface="Rubik" pitchFamily="34" charset="-120"/>
              </a:rPr>
              <a:t>Computers do exactly what you say, not what you mean.</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A94F17"/>
                </a:solidFill>
                <a:latin typeface="Rubik" pitchFamily="34" charset="0"/>
                <a:ea typeface="Rubik" pitchFamily="34" charset="-122"/>
                <a:cs typeface="Rubik" pitchFamily="34" charset="-120"/>
              </a:rPr>
              <a:t>HOW YOUR BRAIN DOES IT</a:t>
            </a:r>
            <a:endParaRPr lang="en-US" sz="1400" dirty="0"/>
          </a:p>
        </p:txBody>
      </p:sp>
      <p:sp>
        <p:nvSpPr>
          <p:cNvPr id="3" name="Text 1"/>
          <p:cNvSpPr>
            <a:spLocks noGrp="1"/>
          </p:cNvSpPr>
          <p:nvPr>
            <p:ph type="title"/>
          </p:nvPr>
        </p:nvSpPr>
        <p:spPr>
          <a:xfrm>
            <a:off x="812800" y="118869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Which is the second largest number?</a:t>
            </a:r>
            <a:endParaRPr lang="en-US" sz="3200" dirty="0"/>
          </a:p>
        </p:txBody>
      </p:sp>
      <p:sp>
        <p:nvSpPr>
          <p:cNvPr id="4" name="Text 2"/>
          <p:cNvSpPr/>
          <p:nvPr/>
        </p:nvSpPr>
        <p:spPr>
          <a:xfrm>
            <a:off x="815975" y="1994495"/>
            <a:ext cx="1964680" cy="1517650"/>
          </a:xfrm>
          <a:prstGeom prst="roundRect">
            <a:avLst>
              <a:gd name="adj" fmla="val 9833"/>
            </a:avLst>
          </a:prstGeom>
          <a:solidFill>
            <a:srgbClr val="FFFDF8"/>
          </a:solidFill>
          <a:ln w="6350">
            <a:solidFill>
              <a:srgbClr val="E2DDD2"/>
            </a:solidFill>
            <a:prstDash val="solid"/>
          </a:ln>
        </p:spPr>
        <p:txBody>
          <a:bodyPr wrap="square" lIns="0" tIns="0" rIns="0" bIns="0" rtlCol="0" anchor="ctr">
            <a:normAutofit/>
          </a:bodyPr>
          <a:lstStyle/>
          <a:p>
            <a:pPr marL="0" indent="0" algn="ctr">
              <a:lnSpc>
                <a:spcPts val="8400"/>
              </a:lnSpc>
              <a:buNone/>
            </a:pPr>
            <a:r>
              <a:rPr lang="en-US" sz="6000" b="1" dirty="0">
                <a:solidFill>
                  <a:srgbClr val="15233F"/>
                </a:solidFill>
                <a:latin typeface="Rubik" pitchFamily="34" charset="0"/>
                <a:ea typeface="Rubik" pitchFamily="34" charset="-122"/>
                <a:cs typeface="Rubik" pitchFamily="34" charset="-120"/>
              </a:rPr>
              <a:t>5</a:t>
            </a:r>
            <a:endParaRPr lang="en-US" sz="6000" dirty="0"/>
          </a:p>
        </p:txBody>
      </p:sp>
      <p:sp>
        <p:nvSpPr>
          <p:cNvPr id="5" name="Text 3"/>
          <p:cNvSpPr/>
          <p:nvPr/>
        </p:nvSpPr>
        <p:spPr>
          <a:xfrm>
            <a:off x="2964805" y="1994495"/>
            <a:ext cx="1964730" cy="1517650"/>
          </a:xfrm>
          <a:prstGeom prst="roundRect">
            <a:avLst>
              <a:gd name="adj" fmla="val 9833"/>
            </a:avLst>
          </a:prstGeom>
          <a:solidFill>
            <a:srgbClr val="FFFDF8"/>
          </a:solidFill>
          <a:ln w="6350">
            <a:solidFill>
              <a:srgbClr val="E2DDD2"/>
            </a:solidFill>
            <a:prstDash val="solid"/>
          </a:ln>
        </p:spPr>
        <p:txBody>
          <a:bodyPr wrap="square" lIns="0" tIns="0" rIns="0" bIns="0" rtlCol="0" anchor="ctr">
            <a:normAutofit/>
          </a:bodyPr>
          <a:lstStyle/>
          <a:p>
            <a:pPr marL="0" indent="0" algn="ctr">
              <a:lnSpc>
                <a:spcPts val="8400"/>
              </a:lnSpc>
              <a:buNone/>
            </a:pPr>
            <a:r>
              <a:rPr lang="en-US" sz="6000" b="1" dirty="0">
                <a:solidFill>
                  <a:srgbClr val="15233F"/>
                </a:solidFill>
                <a:latin typeface="Rubik" pitchFamily="34" charset="0"/>
                <a:ea typeface="Rubik" pitchFamily="34" charset="-122"/>
                <a:cs typeface="Rubik" pitchFamily="34" charset="-120"/>
              </a:rPr>
              <a:t>13</a:t>
            </a:r>
            <a:endParaRPr lang="en-US" sz="6000" dirty="0"/>
          </a:p>
        </p:txBody>
      </p:sp>
      <p:sp>
        <p:nvSpPr>
          <p:cNvPr id="6" name="Text 4"/>
          <p:cNvSpPr/>
          <p:nvPr/>
        </p:nvSpPr>
        <p:spPr>
          <a:xfrm>
            <a:off x="5113685" y="1994495"/>
            <a:ext cx="1964680" cy="1517650"/>
          </a:xfrm>
          <a:prstGeom prst="roundRect">
            <a:avLst>
              <a:gd name="adj" fmla="val 9833"/>
            </a:avLst>
          </a:prstGeom>
          <a:solidFill>
            <a:srgbClr val="FFFDF8"/>
          </a:solidFill>
          <a:ln w="6350">
            <a:solidFill>
              <a:srgbClr val="E2DDD2"/>
            </a:solidFill>
            <a:prstDash val="solid"/>
          </a:ln>
        </p:spPr>
        <p:txBody>
          <a:bodyPr wrap="square" lIns="0" tIns="0" rIns="0" bIns="0" rtlCol="0" anchor="ctr">
            <a:normAutofit/>
          </a:bodyPr>
          <a:lstStyle/>
          <a:p>
            <a:pPr marL="0" indent="0" algn="ctr">
              <a:lnSpc>
                <a:spcPts val="8400"/>
              </a:lnSpc>
              <a:buNone/>
            </a:pPr>
            <a:r>
              <a:rPr lang="en-US" sz="6000" b="1" dirty="0">
                <a:solidFill>
                  <a:srgbClr val="15233F"/>
                </a:solidFill>
                <a:latin typeface="Rubik" pitchFamily="34" charset="0"/>
                <a:ea typeface="Rubik" pitchFamily="34" charset="-122"/>
                <a:cs typeface="Rubik" pitchFamily="34" charset="-120"/>
              </a:rPr>
              <a:t>15</a:t>
            </a:r>
            <a:endParaRPr lang="en-US" sz="6000" dirty="0"/>
          </a:p>
        </p:txBody>
      </p:sp>
      <p:sp>
        <p:nvSpPr>
          <p:cNvPr id="7" name="Text 5"/>
          <p:cNvSpPr/>
          <p:nvPr/>
        </p:nvSpPr>
        <p:spPr>
          <a:xfrm>
            <a:off x="7262515" y="1994495"/>
            <a:ext cx="1964680" cy="1517650"/>
          </a:xfrm>
          <a:prstGeom prst="roundRect">
            <a:avLst>
              <a:gd name="adj" fmla="val 9833"/>
            </a:avLst>
          </a:prstGeom>
          <a:solidFill>
            <a:srgbClr val="FFFDF8"/>
          </a:solidFill>
          <a:ln w="6350">
            <a:solidFill>
              <a:srgbClr val="E2DDD2"/>
            </a:solidFill>
            <a:prstDash val="solid"/>
          </a:ln>
        </p:spPr>
        <p:txBody>
          <a:bodyPr wrap="square" lIns="0" tIns="0" rIns="0" bIns="0" rtlCol="0" anchor="ctr">
            <a:normAutofit/>
          </a:bodyPr>
          <a:lstStyle/>
          <a:p>
            <a:pPr marL="0" indent="0" algn="ctr">
              <a:lnSpc>
                <a:spcPts val="8400"/>
              </a:lnSpc>
              <a:buNone/>
            </a:pPr>
            <a:r>
              <a:rPr lang="en-US" sz="6000" b="1" dirty="0">
                <a:solidFill>
                  <a:srgbClr val="15233F"/>
                </a:solidFill>
                <a:latin typeface="Rubik" pitchFamily="34" charset="0"/>
                <a:ea typeface="Rubik" pitchFamily="34" charset="-122"/>
                <a:cs typeface="Rubik" pitchFamily="34" charset="-120"/>
              </a:rPr>
              <a:t>7</a:t>
            </a:r>
            <a:endParaRPr lang="en-US" sz="6000" dirty="0"/>
          </a:p>
        </p:txBody>
      </p:sp>
      <p:sp>
        <p:nvSpPr>
          <p:cNvPr id="8" name="Text 6"/>
          <p:cNvSpPr/>
          <p:nvPr/>
        </p:nvSpPr>
        <p:spPr>
          <a:xfrm>
            <a:off x="9411345" y="1994495"/>
            <a:ext cx="1964680" cy="1517650"/>
          </a:xfrm>
          <a:prstGeom prst="roundRect">
            <a:avLst>
              <a:gd name="adj" fmla="val 9833"/>
            </a:avLst>
          </a:prstGeom>
          <a:solidFill>
            <a:srgbClr val="FFFDF8"/>
          </a:solidFill>
          <a:ln w="6350">
            <a:solidFill>
              <a:srgbClr val="E2DDD2"/>
            </a:solidFill>
            <a:prstDash val="solid"/>
          </a:ln>
        </p:spPr>
        <p:txBody>
          <a:bodyPr wrap="square" lIns="0" tIns="0" rIns="0" bIns="0" rtlCol="0" anchor="ctr">
            <a:normAutofit/>
          </a:bodyPr>
          <a:lstStyle/>
          <a:p>
            <a:pPr marL="0" indent="0" algn="ctr">
              <a:lnSpc>
                <a:spcPts val="8400"/>
              </a:lnSpc>
              <a:buNone/>
            </a:pPr>
            <a:r>
              <a:rPr lang="en-US" sz="6000" b="1" dirty="0">
                <a:solidFill>
                  <a:srgbClr val="15233F"/>
                </a:solidFill>
                <a:latin typeface="Rubik" pitchFamily="34" charset="0"/>
                <a:ea typeface="Rubik" pitchFamily="34" charset="-122"/>
                <a:cs typeface="Rubik" pitchFamily="34" charset="-120"/>
              </a:rPr>
              <a:t>6</a:t>
            </a:r>
            <a:endParaRPr lang="en-US" sz="6000" dirty="0"/>
          </a:p>
        </p:txBody>
      </p:sp>
      <p:sp>
        <p:nvSpPr>
          <p:cNvPr id="9" name="Text 7"/>
          <p:cNvSpPr/>
          <p:nvPr/>
        </p:nvSpPr>
        <p:spPr>
          <a:xfrm>
            <a:off x="812800" y="3870920"/>
            <a:ext cx="10883392" cy="66546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3A4150"/>
                </a:solidFill>
                <a:latin typeface="Rubik" pitchFamily="34" charset="0"/>
                <a:ea typeface="Rubik" pitchFamily="34" charset="-122"/>
                <a:cs typeface="Rubik" pitchFamily="34" charset="-120"/>
              </a:rPr>
              <a:t>You answered in under a second. Your eyes saw all five numbers </a:t>
            </a:r>
            <a:r>
              <a:rPr lang="en-US" sz="1800" b="1" dirty="0">
                <a:solidFill>
                  <a:srgbClr val="3A4150"/>
                </a:solidFill>
                <a:latin typeface="Rubik" pitchFamily="34" charset="0"/>
                <a:ea typeface="Rubik" pitchFamily="34" charset="-122"/>
                <a:cs typeface="Rubik" pitchFamily="34" charset="-120"/>
              </a:rPr>
              <a:t>at once</a:t>
            </a:r>
            <a:r>
              <a:rPr lang="en-US" sz="1800" dirty="0">
                <a:solidFill>
                  <a:srgbClr val="3A4150"/>
                </a:solidFill>
                <a:latin typeface="Rubik" pitchFamily="34" charset="0"/>
                <a:ea typeface="Rubik" pitchFamily="34" charset="-122"/>
                <a:cs typeface="Rubik" pitchFamily="34" charset="-120"/>
              </a:rPr>
              <a:t>, and your brain just knew: </a:t>
            </a:r>
            <a:r>
              <a:rPr lang="en-US" sz="1800" b="1" dirty="0">
                <a:solidFill>
                  <a:srgbClr val="A94F17"/>
                </a:solidFill>
                <a:latin typeface="Rubik" pitchFamily="34" charset="0"/>
                <a:ea typeface="Rubik" pitchFamily="34" charset="-122"/>
                <a:cs typeface="Rubik" pitchFamily="34" charset="-120"/>
              </a:rPr>
              <a:t>13</a:t>
            </a:r>
            <a:r>
              <a:rPr lang="en-US" sz="1800" dirty="0">
                <a:solidFill>
                  <a:srgbClr val="3A4150"/>
                </a:solidFill>
                <a:latin typeface="Rubik" pitchFamily="34" charset="0"/>
                <a:ea typeface="Rubik" pitchFamily="34" charset="-122"/>
                <a:cs typeface="Rubik" pitchFamily="34" charset="-120"/>
              </a:rPr>
              <a: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E9893F"/>
                </a:solidFill>
                <a:latin typeface="Rubik" pitchFamily="34" charset="0"/>
                <a:ea typeface="Rubik" pitchFamily="34" charset="-122"/>
                <a:cs typeface="Rubik" pitchFamily="34" charset="-120"/>
              </a:rPr>
              <a:t>HOW THE CPU DOES IT</a:t>
            </a:r>
            <a:endParaRPr lang="en-US" sz="1400" dirty="0"/>
          </a:p>
        </p:txBody>
      </p:sp>
      <p:sp>
        <p:nvSpPr>
          <p:cNvPr id="3" name="Text 1"/>
          <p:cNvSpPr>
            <a:spLocks noGrp="1"/>
          </p:cNvSpPr>
          <p:nvPr>
            <p:ph type="title"/>
          </p:nvPr>
        </p:nvSpPr>
        <p:spPr>
          <a:xfrm>
            <a:off x="812800" y="118869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chemeClr val="accent4">
                    <a:lumMod val="40000"/>
                    <a:lumOff val="60000"/>
                  </a:schemeClr>
                </a:solidFill>
                <a:latin typeface="Rubik" pitchFamily="34" charset="0"/>
                <a:ea typeface="Rubik" pitchFamily="34" charset="-122"/>
                <a:cs typeface="Rubik" pitchFamily="34" charset="-120"/>
              </a:rPr>
              <a:t>The CPU is blind, like Dhritarashtra</a:t>
            </a:r>
            <a:endParaRPr lang="en-US" sz="3200" dirty="0">
              <a:solidFill>
                <a:schemeClr val="accent4">
                  <a:lumMod val="40000"/>
                  <a:lumOff val="60000"/>
                </a:schemeClr>
              </a:solidFill>
            </a:endParaRPr>
          </a:p>
        </p:txBody>
      </p:sp>
      <p:sp>
        <p:nvSpPr>
          <p:cNvPr id="4" name="Text 2"/>
          <p:cNvSpPr/>
          <p:nvPr/>
        </p:nvSpPr>
        <p:spPr>
          <a:xfrm>
            <a:off x="812800" y="1940520"/>
            <a:ext cx="1950690" cy="1524000"/>
          </a:xfrm>
          <a:prstGeom prst="roundRect">
            <a:avLst>
              <a:gd name="adj" fmla="val 10000"/>
            </a:avLst>
          </a:prstGeom>
          <a:solidFill>
            <a:srgbClr val="E9893F"/>
          </a:solidFill>
          <a:ln/>
        </p:spPr>
        <p:txBody>
          <a:bodyPr wrap="square" lIns="0" tIns="0" rIns="0" bIns="0" rtlCol="0" anchor="ctr">
            <a:normAutofit/>
          </a:bodyPr>
          <a:lstStyle/>
          <a:p>
            <a:pPr marL="0" indent="0" algn="ctr">
              <a:lnSpc>
                <a:spcPts val="8400"/>
              </a:lnSpc>
              <a:buNone/>
            </a:pPr>
            <a:r>
              <a:rPr lang="en-US" sz="6000" b="1" dirty="0">
                <a:solidFill>
                  <a:srgbClr val="15233F"/>
                </a:solidFill>
                <a:latin typeface="Rubik" pitchFamily="34" charset="0"/>
                <a:ea typeface="Rubik" pitchFamily="34" charset="-122"/>
                <a:cs typeface="Rubik" pitchFamily="34" charset="-120"/>
              </a:rPr>
              <a:t>5</a:t>
            </a:r>
            <a:endParaRPr lang="en-US" sz="6000" dirty="0"/>
          </a:p>
        </p:txBody>
      </p:sp>
      <p:sp>
        <p:nvSpPr>
          <p:cNvPr id="5" name="Text 3"/>
          <p:cNvSpPr/>
          <p:nvPr/>
        </p:nvSpPr>
        <p:spPr>
          <a:xfrm>
            <a:off x="2947640" y="1946870"/>
            <a:ext cx="1963440" cy="1511300"/>
          </a:xfrm>
          <a:prstGeom prst="roundRect">
            <a:avLst>
              <a:gd name="adj" fmla="val 9664"/>
            </a:avLst>
          </a:prstGeom>
          <a:solidFill>
            <a:srgbClr val="1E3157"/>
          </a:solidFill>
          <a:ln w="12700">
            <a:solidFill>
              <a:srgbClr val="2D3E63"/>
            </a:solidFill>
            <a:prstDash val="solid"/>
          </a:ln>
        </p:spPr>
        <p:txBody>
          <a:bodyPr wrap="square" lIns="0" tIns="0" rIns="0" bIns="0" rtlCol="0" anchor="ctr">
            <a:normAutofit/>
          </a:bodyPr>
          <a:lstStyle/>
          <a:p>
            <a:pPr marL="0" indent="0" algn="ctr">
              <a:lnSpc>
                <a:spcPts val="6720"/>
              </a:lnSpc>
              <a:buNone/>
            </a:pPr>
            <a:r>
              <a:rPr lang="en-US" sz="4800" b="1" dirty="0">
                <a:solidFill>
                  <a:srgbClr val="4A5D86"/>
                </a:solidFill>
                <a:latin typeface="Rubik" pitchFamily="34" charset="0"/>
                <a:ea typeface="Rubik" pitchFamily="34" charset="-122"/>
                <a:cs typeface="Rubik" pitchFamily="34" charset="-120"/>
              </a:rPr>
              <a:t>?</a:t>
            </a:r>
            <a:endParaRPr lang="en-US" sz="4800" dirty="0"/>
          </a:p>
        </p:txBody>
      </p:sp>
      <p:sp>
        <p:nvSpPr>
          <p:cNvPr id="6" name="Text 4"/>
          <p:cNvSpPr/>
          <p:nvPr/>
        </p:nvSpPr>
        <p:spPr>
          <a:xfrm>
            <a:off x="5101580" y="1946870"/>
            <a:ext cx="1963390" cy="1511300"/>
          </a:xfrm>
          <a:prstGeom prst="roundRect">
            <a:avLst>
              <a:gd name="adj" fmla="val 9664"/>
            </a:avLst>
          </a:prstGeom>
          <a:solidFill>
            <a:srgbClr val="1E3157"/>
          </a:solidFill>
          <a:ln w="12700">
            <a:solidFill>
              <a:srgbClr val="2D3E63"/>
            </a:solidFill>
            <a:prstDash val="solid"/>
          </a:ln>
        </p:spPr>
        <p:txBody>
          <a:bodyPr wrap="square" lIns="0" tIns="0" rIns="0" bIns="0" rtlCol="0" anchor="ctr">
            <a:normAutofit/>
          </a:bodyPr>
          <a:lstStyle/>
          <a:p>
            <a:pPr marL="0" indent="0" algn="ctr">
              <a:lnSpc>
                <a:spcPts val="6720"/>
              </a:lnSpc>
              <a:buNone/>
            </a:pPr>
            <a:r>
              <a:rPr lang="en-US" sz="4800" b="1" dirty="0">
                <a:solidFill>
                  <a:srgbClr val="4A5D86"/>
                </a:solidFill>
                <a:latin typeface="Rubik" pitchFamily="34" charset="0"/>
                <a:ea typeface="Rubik" pitchFamily="34" charset="-122"/>
                <a:cs typeface="Rubik" pitchFamily="34" charset="-120"/>
              </a:rPr>
              <a:t>?</a:t>
            </a:r>
            <a:endParaRPr lang="en-US" sz="4800" dirty="0"/>
          </a:p>
        </p:txBody>
      </p:sp>
      <p:sp>
        <p:nvSpPr>
          <p:cNvPr id="7" name="Text 5"/>
          <p:cNvSpPr/>
          <p:nvPr/>
        </p:nvSpPr>
        <p:spPr>
          <a:xfrm>
            <a:off x="7255470" y="1946870"/>
            <a:ext cx="1963440" cy="1511300"/>
          </a:xfrm>
          <a:prstGeom prst="roundRect">
            <a:avLst>
              <a:gd name="adj" fmla="val 9664"/>
            </a:avLst>
          </a:prstGeom>
          <a:solidFill>
            <a:srgbClr val="1E3157"/>
          </a:solidFill>
          <a:ln w="12700">
            <a:solidFill>
              <a:srgbClr val="2D3E63"/>
            </a:solidFill>
            <a:prstDash val="solid"/>
          </a:ln>
        </p:spPr>
        <p:txBody>
          <a:bodyPr wrap="square" lIns="0" tIns="0" rIns="0" bIns="0" rtlCol="0" anchor="ctr">
            <a:normAutofit/>
          </a:bodyPr>
          <a:lstStyle/>
          <a:p>
            <a:pPr marL="0" indent="0" algn="ctr">
              <a:lnSpc>
                <a:spcPts val="6720"/>
              </a:lnSpc>
              <a:buNone/>
            </a:pPr>
            <a:r>
              <a:rPr lang="en-US" sz="4800" b="1" dirty="0">
                <a:solidFill>
                  <a:srgbClr val="4A5D86"/>
                </a:solidFill>
                <a:latin typeface="Rubik" pitchFamily="34" charset="0"/>
                <a:ea typeface="Rubik" pitchFamily="34" charset="-122"/>
                <a:cs typeface="Rubik" pitchFamily="34" charset="-120"/>
              </a:rPr>
              <a:t>?</a:t>
            </a:r>
            <a:endParaRPr lang="en-US" sz="4800" dirty="0"/>
          </a:p>
        </p:txBody>
      </p:sp>
      <p:sp>
        <p:nvSpPr>
          <p:cNvPr id="8" name="Text 6"/>
          <p:cNvSpPr/>
          <p:nvPr/>
        </p:nvSpPr>
        <p:spPr>
          <a:xfrm>
            <a:off x="9409410" y="1946870"/>
            <a:ext cx="1963440" cy="1511300"/>
          </a:xfrm>
          <a:prstGeom prst="roundRect">
            <a:avLst>
              <a:gd name="adj" fmla="val 9664"/>
            </a:avLst>
          </a:prstGeom>
          <a:solidFill>
            <a:srgbClr val="1E3157"/>
          </a:solidFill>
          <a:ln w="12700">
            <a:solidFill>
              <a:srgbClr val="2D3E63"/>
            </a:solidFill>
            <a:prstDash val="solid"/>
          </a:ln>
        </p:spPr>
        <p:txBody>
          <a:bodyPr wrap="square" lIns="0" tIns="0" rIns="0" bIns="0" rtlCol="0" anchor="ctr">
            <a:normAutofit/>
          </a:bodyPr>
          <a:lstStyle/>
          <a:p>
            <a:pPr marL="0" indent="0" algn="ctr">
              <a:lnSpc>
                <a:spcPts val="6720"/>
              </a:lnSpc>
              <a:buNone/>
            </a:pPr>
            <a:r>
              <a:rPr lang="en-US" sz="4800" b="1" dirty="0">
                <a:solidFill>
                  <a:srgbClr val="4A5D86"/>
                </a:solidFill>
                <a:latin typeface="Rubik" pitchFamily="34" charset="0"/>
                <a:ea typeface="Rubik" pitchFamily="34" charset="-122"/>
                <a:cs typeface="Rubik" pitchFamily="34" charset="-120"/>
              </a:rPr>
              <a:t>?</a:t>
            </a:r>
            <a:endParaRPr lang="en-US" sz="4800" dirty="0"/>
          </a:p>
        </p:txBody>
      </p:sp>
      <p:sp>
        <p:nvSpPr>
          <p:cNvPr id="9" name="Text 7"/>
          <p:cNvSpPr/>
          <p:nvPr/>
        </p:nvSpPr>
        <p:spPr>
          <a:xfrm>
            <a:off x="812800" y="3905845"/>
            <a:ext cx="7942773"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chemeClr val="accent6">
                    <a:lumMod val="75000"/>
                  </a:schemeClr>
                </a:solidFill>
                <a:latin typeface="Rubik" pitchFamily="34" charset="0"/>
                <a:ea typeface="Rubik" pitchFamily="34" charset="-122"/>
                <a:cs typeface="Rubik" pitchFamily="34" charset="-120"/>
              </a:rPr>
              <a:t>It sees only one number at a time, as Sanjay (the program) reveals it. To remember anything, it needs boxes in memory: </a:t>
            </a:r>
            <a:r>
              <a:rPr lang="en-US" sz="1700" b="1" dirty="0">
                <a:solidFill>
                  <a:srgbClr val="F6F3EC"/>
                </a:solidFill>
                <a:latin typeface="Rubik" pitchFamily="34" charset="0"/>
                <a:ea typeface="Rubik" pitchFamily="34" charset="-122"/>
                <a:cs typeface="Rubik" pitchFamily="34" charset="-120"/>
              </a:rPr>
              <a:t>variables</a:t>
            </a:r>
            <a:r>
              <a:rPr lang="en-US" sz="1700" dirty="0">
                <a:solidFill>
                  <a:srgbClr val="C9CFDA"/>
                </a:solidFill>
                <a:latin typeface="Rubik" pitchFamily="34" charset="0"/>
                <a:ea typeface="Rubik" pitchFamily="34" charset="-122"/>
                <a:cs typeface="Rubik" pitchFamily="34" charset="-120"/>
              </a:rPr>
              <a:t>.</a:t>
            </a:r>
            <a:endParaRPr lang="en-US" sz="1700" dirty="0"/>
          </a:p>
        </p:txBody>
      </p:sp>
      <p:sp>
        <p:nvSpPr>
          <p:cNvPr id="10" name="Text 8"/>
          <p:cNvSpPr/>
          <p:nvPr/>
        </p:nvSpPr>
        <p:spPr>
          <a:xfrm>
            <a:off x="8838555" y="3778845"/>
            <a:ext cx="1123950" cy="615950"/>
          </a:xfrm>
          <a:prstGeom prst="roundRect">
            <a:avLst>
              <a:gd name="adj" fmla="val 12887"/>
            </a:avLst>
          </a:prstGeom>
          <a:noFill/>
          <a:ln w="19050">
            <a:solidFill>
              <a:srgbClr val="E9893F"/>
            </a:solidFill>
            <a:prstDash val="solid"/>
          </a:ln>
        </p:spPr>
        <p:txBody>
          <a:bodyPr wrap="square" lIns="0" tIns="0" rIns="0" bIns="0" rtlCol="0" anchor="ctr">
            <a:normAutofit/>
          </a:bodyPr>
          <a:lstStyle/>
          <a:p>
            <a:pPr marL="0" indent="0" algn="ctr">
              <a:lnSpc>
                <a:spcPts val="3640"/>
              </a:lnSpc>
              <a:buNone/>
            </a:pPr>
            <a:r>
              <a:rPr lang="en-US" sz="2600" b="1" dirty="0">
                <a:solidFill>
                  <a:srgbClr val="F6F3EC"/>
                </a:solidFill>
                <a:latin typeface="Rubik" pitchFamily="34" charset="0"/>
                <a:ea typeface="Rubik" pitchFamily="34" charset="-122"/>
                <a:cs typeface="Rubik" pitchFamily="34" charset="-120"/>
              </a:rPr>
              <a:t>?</a:t>
            </a:r>
            <a:endParaRPr lang="en-US" sz="2600" dirty="0"/>
          </a:p>
        </p:txBody>
      </p:sp>
      <p:sp>
        <p:nvSpPr>
          <p:cNvPr id="11" name="Text 9"/>
          <p:cNvSpPr/>
          <p:nvPr/>
        </p:nvSpPr>
        <p:spPr>
          <a:xfrm>
            <a:off x="9016439" y="4455120"/>
            <a:ext cx="76813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9CFDA"/>
                </a:solidFill>
                <a:latin typeface="JetBrains Mono" pitchFamily="49" charset="0"/>
                <a:ea typeface="JetBrains Mono" pitchFamily="49" charset="-122"/>
                <a:cs typeface="JetBrains Mono" pitchFamily="49" charset="-120"/>
              </a:rPr>
              <a:t>largest</a:t>
            </a:r>
            <a:endParaRPr lang="en-US" sz="1200" dirty="0"/>
          </a:p>
        </p:txBody>
      </p:sp>
      <p:sp>
        <p:nvSpPr>
          <p:cNvPr id="12" name="Text 10"/>
          <p:cNvSpPr/>
          <p:nvPr/>
        </p:nvSpPr>
        <p:spPr>
          <a:xfrm>
            <a:off x="10177115" y="3778845"/>
            <a:ext cx="1123950" cy="615950"/>
          </a:xfrm>
          <a:prstGeom prst="roundRect">
            <a:avLst>
              <a:gd name="adj" fmla="val 12887"/>
            </a:avLst>
          </a:prstGeom>
          <a:noFill/>
          <a:ln w="19050">
            <a:solidFill>
              <a:srgbClr val="7FD1A4"/>
            </a:solidFill>
            <a:prstDash val="solid"/>
          </a:ln>
        </p:spPr>
        <p:txBody>
          <a:bodyPr wrap="square" lIns="0" tIns="0" rIns="0" bIns="0" rtlCol="0" anchor="ctr">
            <a:normAutofit/>
          </a:bodyPr>
          <a:lstStyle/>
          <a:p>
            <a:pPr marL="0" indent="0" algn="ctr">
              <a:lnSpc>
                <a:spcPts val="3640"/>
              </a:lnSpc>
              <a:buNone/>
            </a:pPr>
            <a:r>
              <a:rPr lang="en-US" sz="2600" b="1" dirty="0">
                <a:solidFill>
                  <a:srgbClr val="F6F3EC"/>
                </a:solidFill>
                <a:latin typeface="Rubik" pitchFamily="34" charset="0"/>
                <a:ea typeface="Rubik" pitchFamily="34" charset="-122"/>
                <a:cs typeface="Rubik" pitchFamily="34" charset="-120"/>
              </a:rPr>
              <a:t>?</a:t>
            </a:r>
            <a:endParaRPr lang="en-US" sz="2600" dirty="0"/>
          </a:p>
        </p:txBody>
      </p:sp>
      <p:sp>
        <p:nvSpPr>
          <p:cNvPr id="13" name="Text 11"/>
          <p:cNvSpPr/>
          <p:nvPr/>
        </p:nvSpPr>
        <p:spPr>
          <a:xfrm>
            <a:off x="10099030" y="4455120"/>
            <a:ext cx="15362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FDA"/>
                </a:solidFill>
                <a:latin typeface="JetBrains Mono" pitchFamily="49" charset="0"/>
                <a:ea typeface="JetBrains Mono" pitchFamily="49" charset="-122"/>
                <a:cs typeface="JetBrains Mono" pitchFamily="49" charset="-120"/>
              </a:rPr>
              <a:t>second_largest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7112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C2230"/>
                </a:solidFill>
                <a:latin typeface="Rubik" pitchFamily="34" charset="0"/>
                <a:ea typeface="Rubik" pitchFamily="34" charset="-122"/>
                <a:cs typeface="Rubik" pitchFamily="34" charset="-120"/>
              </a:rPr>
              <a:t>Thinking like a CPU, one step at a time</a:t>
            </a:r>
            <a:endParaRPr lang="en-US" sz="3000" dirty="0"/>
          </a:p>
        </p:txBody>
      </p:sp>
      <p:sp>
        <p:nvSpPr>
          <p:cNvPr id="3" name="Text 1"/>
          <p:cNvSpPr/>
          <p:nvPr/>
        </p:nvSpPr>
        <p:spPr>
          <a:xfrm>
            <a:off x="1016000" y="1333500"/>
            <a:ext cx="685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96273"/>
                </a:solidFill>
                <a:latin typeface="Rubik" pitchFamily="34" charset="0"/>
                <a:ea typeface="Rubik" pitchFamily="34" charset="-122"/>
                <a:cs typeface="Rubik" pitchFamily="34" charset="-120"/>
              </a:rPr>
              <a:t>Step</a:t>
            </a:r>
            <a:endParaRPr lang="en-US" sz="1200" dirty="0"/>
          </a:p>
        </p:txBody>
      </p:sp>
      <p:sp>
        <p:nvSpPr>
          <p:cNvPr id="4" name="Text 2"/>
          <p:cNvSpPr/>
          <p:nvPr/>
        </p:nvSpPr>
        <p:spPr>
          <a:xfrm>
            <a:off x="1803400" y="1333500"/>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96273"/>
                </a:solidFill>
                <a:latin typeface="Rubik" pitchFamily="34" charset="0"/>
                <a:ea typeface="Rubik" pitchFamily="34" charset="-122"/>
                <a:cs typeface="Rubik" pitchFamily="34" charset="-120"/>
              </a:rPr>
              <a:t>Reads</a:t>
            </a:r>
            <a:endParaRPr lang="en-US" sz="1200" dirty="0"/>
          </a:p>
        </p:txBody>
      </p:sp>
      <p:sp>
        <p:nvSpPr>
          <p:cNvPr id="5" name="Text 3"/>
          <p:cNvSpPr/>
          <p:nvPr/>
        </p:nvSpPr>
        <p:spPr>
          <a:xfrm>
            <a:off x="2717800" y="1333500"/>
            <a:ext cx="52585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96273"/>
                </a:solidFill>
                <a:latin typeface="Rubik" pitchFamily="34" charset="0"/>
                <a:ea typeface="Rubik" pitchFamily="34" charset="-122"/>
                <a:cs typeface="Rubik" pitchFamily="34" charset="-120"/>
              </a:rPr>
              <a:t>Decision</a:t>
            </a:r>
            <a:endParaRPr lang="en-US" sz="1200" dirty="0"/>
          </a:p>
        </p:txBody>
      </p:sp>
      <p:sp>
        <p:nvSpPr>
          <p:cNvPr id="6" name="Text 4"/>
          <p:cNvSpPr/>
          <p:nvPr/>
        </p:nvSpPr>
        <p:spPr>
          <a:xfrm>
            <a:off x="7950200" y="1333500"/>
            <a:ext cx="1447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largest</a:t>
            </a:r>
            <a:endParaRPr lang="en-US" sz="1200" dirty="0"/>
          </a:p>
        </p:txBody>
      </p:sp>
      <p:sp>
        <p:nvSpPr>
          <p:cNvPr id="7" name="Text 5"/>
          <p:cNvSpPr/>
          <p:nvPr/>
        </p:nvSpPr>
        <p:spPr>
          <a:xfrm>
            <a:off x="9499600" y="1333500"/>
            <a:ext cx="1701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B6B45"/>
                </a:solidFill>
                <a:latin typeface="JetBrains Mono" pitchFamily="49" charset="0"/>
                <a:ea typeface="JetBrains Mono" pitchFamily="49" charset="-122"/>
                <a:cs typeface="JetBrains Mono" pitchFamily="49" charset="-120"/>
              </a:rPr>
              <a:t>second_largest</a:t>
            </a:r>
            <a:endParaRPr lang="en-US" sz="1200" dirty="0"/>
          </a:p>
        </p:txBody>
      </p:sp>
      <p:sp>
        <p:nvSpPr>
          <p:cNvPr id="8" name="Shape 6"/>
          <p:cNvSpPr/>
          <p:nvPr/>
        </p:nvSpPr>
        <p:spPr>
          <a:xfrm>
            <a:off x="815975" y="1626195"/>
            <a:ext cx="10560050" cy="565150"/>
          </a:xfrm>
          <a:prstGeom prst="roundRect">
            <a:avLst>
              <a:gd name="adj" fmla="val 15169"/>
            </a:avLst>
          </a:prstGeom>
          <a:solidFill>
            <a:srgbClr val="FFFDF8"/>
          </a:solidFill>
          <a:ln w="6350">
            <a:solidFill>
              <a:srgbClr val="E2DDD2"/>
            </a:solidFill>
            <a:prstDash val="solid"/>
          </a:ln>
        </p:spPr>
        <p:txBody>
          <a:bodyPr/>
          <a:lstStyle/>
          <a:p>
            <a:endParaRPr lang="en-US"/>
          </a:p>
        </p:txBody>
      </p:sp>
      <p:sp>
        <p:nvSpPr>
          <p:cNvPr id="9" name="Text 7"/>
          <p:cNvSpPr/>
          <p:nvPr/>
        </p:nvSpPr>
        <p:spPr>
          <a:xfrm>
            <a:off x="1022350" y="1775420"/>
            <a:ext cx="685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96273"/>
                </a:solidFill>
                <a:latin typeface="Rubik" pitchFamily="34" charset="0"/>
                <a:ea typeface="Rubik" pitchFamily="34" charset="-122"/>
                <a:cs typeface="Rubik" pitchFamily="34" charset="-120"/>
              </a:rPr>
              <a:t>1</a:t>
            </a:r>
            <a:endParaRPr lang="en-US" sz="1500" dirty="0"/>
          </a:p>
        </p:txBody>
      </p:sp>
      <p:sp>
        <p:nvSpPr>
          <p:cNvPr id="10" name="Text 8"/>
          <p:cNvSpPr/>
          <p:nvPr/>
        </p:nvSpPr>
        <p:spPr>
          <a:xfrm>
            <a:off x="1809750" y="1730970"/>
            <a:ext cx="812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C2230"/>
                </a:solidFill>
                <a:latin typeface="Rubik" pitchFamily="34" charset="0"/>
                <a:ea typeface="Rubik" pitchFamily="34" charset="-122"/>
                <a:cs typeface="Rubik" pitchFamily="34" charset="-120"/>
              </a:rPr>
              <a:t>5</a:t>
            </a:r>
            <a:endParaRPr lang="en-US" sz="2000" dirty="0"/>
          </a:p>
        </p:txBody>
      </p:sp>
      <p:sp>
        <p:nvSpPr>
          <p:cNvPr id="11" name="Text 9"/>
          <p:cNvSpPr/>
          <p:nvPr/>
        </p:nvSpPr>
        <p:spPr>
          <a:xfrm>
            <a:off x="2724150" y="1788765"/>
            <a:ext cx="5245481"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C2230"/>
                </a:solidFill>
                <a:latin typeface="Rubik" pitchFamily="34" charset="0"/>
                <a:ea typeface="Rubik" pitchFamily="34" charset="-122"/>
                <a:cs typeface="Rubik" pitchFamily="34" charset="-120"/>
              </a:rPr>
              <a:t>First number</a:t>
            </a:r>
            <a:endParaRPr lang="en-US" sz="1400" dirty="0"/>
          </a:p>
        </p:txBody>
      </p:sp>
      <p:sp>
        <p:nvSpPr>
          <p:cNvPr id="12" name="Text 10"/>
          <p:cNvSpPr/>
          <p:nvPr/>
        </p:nvSpPr>
        <p:spPr>
          <a:xfrm>
            <a:off x="7943850" y="1730970"/>
            <a:ext cx="1447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A94F17"/>
                </a:solidFill>
                <a:latin typeface="Rubik" pitchFamily="34" charset="0"/>
                <a:ea typeface="Rubik" pitchFamily="34" charset="-122"/>
                <a:cs typeface="Rubik" pitchFamily="34" charset="-120"/>
              </a:rPr>
              <a:t>5</a:t>
            </a:r>
            <a:endParaRPr lang="en-US" sz="2000" dirty="0"/>
          </a:p>
        </p:txBody>
      </p:sp>
      <p:sp>
        <p:nvSpPr>
          <p:cNvPr id="13" name="Text 11"/>
          <p:cNvSpPr/>
          <p:nvPr/>
        </p:nvSpPr>
        <p:spPr>
          <a:xfrm>
            <a:off x="9493250" y="1730970"/>
            <a:ext cx="1701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1B6B45"/>
                </a:solidFill>
                <a:latin typeface="Rubik" pitchFamily="34" charset="0"/>
                <a:ea typeface="Rubik" pitchFamily="34" charset="-122"/>
                <a:cs typeface="Rubik" pitchFamily="34" charset="-120"/>
              </a:rPr>
              <a:t>0</a:t>
            </a:r>
            <a:endParaRPr lang="en-US" sz="2000" dirty="0"/>
          </a:p>
        </p:txBody>
      </p:sp>
      <p:sp>
        <p:nvSpPr>
          <p:cNvPr id="14" name="Shape 12"/>
          <p:cNvSpPr/>
          <p:nvPr/>
        </p:nvSpPr>
        <p:spPr>
          <a:xfrm>
            <a:off x="815975" y="2273895"/>
            <a:ext cx="10560050" cy="565150"/>
          </a:xfrm>
          <a:prstGeom prst="roundRect">
            <a:avLst>
              <a:gd name="adj" fmla="val 15169"/>
            </a:avLst>
          </a:prstGeom>
          <a:solidFill>
            <a:srgbClr val="FFFDF8"/>
          </a:solidFill>
          <a:ln w="6350">
            <a:solidFill>
              <a:srgbClr val="E2DDD2"/>
            </a:solidFill>
            <a:prstDash val="solid"/>
          </a:ln>
        </p:spPr>
        <p:txBody>
          <a:bodyPr/>
          <a:lstStyle/>
          <a:p>
            <a:endParaRPr lang="en-US"/>
          </a:p>
        </p:txBody>
      </p:sp>
      <p:sp>
        <p:nvSpPr>
          <p:cNvPr id="15" name="Text 13"/>
          <p:cNvSpPr/>
          <p:nvPr/>
        </p:nvSpPr>
        <p:spPr>
          <a:xfrm>
            <a:off x="1022350" y="2423120"/>
            <a:ext cx="685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96273"/>
                </a:solidFill>
                <a:latin typeface="Rubik" pitchFamily="34" charset="0"/>
                <a:ea typeface="Rubik" pitchFamily="34" charset="-122"/>
                <a:cs typeface="Rubik" pitchFamily="34" charset="-120"/>
              </a:rPr>
              <a:t>2</a:t>
            </a:r>
            <a:endParaRPr lang="en-US" sz="1500" dirty="0"/>
          </a:p>
        </p:txBody>
      </p:sp>
      <p:sp>
        <p:nvSpPr>
          <p:cNvPr id="16" name="Text 14"/>
          <p:cNvSpPr/>
          <p:nvPr/>
        </p:nvSpPr>
        <p:spPr>
          <a:xfrm>
            <a:off x="1809750" y="2378670"/>
            <a:ext cx="812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C2230"/>
                </a:solidFill>
                <a:latin typeface="Rubik" pitchFamily="34" charset="0"/>
                <a:ea typeface="Rubik" pitchFamily="34" charset="-122"/>
                <a:cs typeface="Rubik" pitchFamily="34" charset="-120"/>
              </a:rPr>
              <a:t>13</a:t>
            </a:r>
            <a:endParaRPr lang="en-US" sz="2000" dirty="0"/>
          </a:p>
        </p:txBody>
      </p:sp>
      <p:sp>
        <p:nvSpPr>
          <p:cNvPr id="17" name="Text 15"/>
          <p:cNvSpPr/>
          <p:nvPr/>
        </p:nvSpPr>
        <p:spPr>
          <a:xfrm>
            <a:off x="2724150" y="2436465"/>
            <a:ext cx="5245481"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C2230"/>
                </a:solidFill>
                <a:latin typeface="Rubik" pitchFamily="34" charset="0"/>
                <a:ea typeface="Rubik" pitchFamily="34" charset="-122"/>
                <a:cs typeface="Rubik" pitchFamily="34" charset="-120"/>
              </a:rPr>
              <a:t>13 &gt; 5: copy 5 down, then store 13</a:t>
            </a:r>
            <a:endParaRPr lang="en-US" sz="1400" dirty="0"/>
          </a:p>
        </p:txBody>
      </p:sp>
      <p:sp>
        <p:nvSpPr>
          <p:cNvPr id="18" name="Text 16"/>
          <p:cNvSpPr/>
          <p:nvPr/>
        </p:nvSpPr>
        <p:spPr>
          <a:xfrm>
            <a:off x="7943850" y="2378670"/>
            <a:ext cx="1447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A94F17"/>
                </a:solidFill>
                <a:latin typeface="Rubik" pitchFamily="34" charset="0"/>
                <a:ea typeface="Rubik" pitchFamily="34" charset="-122"/>
                <a:cs typeface="Rubik" pitchFamily="34" charset="-120"/>
              </a:rPr>
              <a:t>13</a:t>
            </a:r>
            <a:endParaRPr lang="en-US" sz="2000" dirty="0"/>
          </a:p>
        </p:txBody>
      </p:sp>
      <p:sp>
        <p:nvSpPr>
          <p:cNvPr id="19" name="Text 17"/>
          <p:cNvSpPr/>
          <p:nvPr/>
        </p:nvSpPr>
        <p:spPr>
          <a:xfrm>
            <a:off x="9493250" y="2378670"/>
            <a:ext cx="1701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1B6B45"/>
                </a:solidFill>
                <a:latin typeface="Rubik" pitchFamily="34" charset="0"/>
                <a:ea typeface="Rubik" pitchFamily="34" charset="-122"/>
                <a:cs typeface="Rubik" pitchFamily="34" charset="-120"/>
              </a:rPr>
              <a:t>5</a:t>
            </a:r>
            <a:endParaRPr lang="en-US" sz="2000" dirty="0"/>
          </a:p>
        </p:txBody>
      </p:sp>
      <p:sp>
        <p:nvSpPr>
          <p:cNvPr id="20" name="Shape 18"/>
          <p:cNvSpPr/>
          <p:nvPr/>
        </p:nvSpPr>
        <p:spPr>
          <a:xfrm>
            <a:off x="815975" y="2921595"/>
            <a:ext cx="10560050" cy="565150"/>
          </a:xfrm>
          <a:prstGeom prst="roundRect">
            <a:avLst>
              <a:gd name="adj" fmla="val 15169"/>
            </a:avLst>
          </a:prstGeom>
          <a:solidFill>
            <a:srgbClr val="FBE3CF"/>
          </a:solidFill>
          <a:ln w="6350">
            <a:solidFill>
              <a:srgbClr val="E9893F"/>
            </a:solidFill>
            <a:prstDash val="solid"/>
          </a:ln>
        </p:spPr>
        <p:txBody>
          <a:bodyPr/>
          <a:lstStyle/>
          <a:p>
            <a:endParaRPr lang="en-US"/>
          </a:p>
        </p:txBody>
      </p:sp>
      <p:sp>
        <p:nvSpPr>
          <p:cNvPr id="21" name="Text 19"/>
          <p:cNvSpPr/>
          <p:nvPr/>
        </p:nvSpPr>
        <p:spPr>
          <a:xfrm>
            <a:off x="1022350" y="3070820"/>
            <a:ext cx="685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96273"/>
                </a:solidFill>
                <a:latin typeface="Rubik" pitchFamily="34" charset="0"/>
                <a:ea typeface="Rubik" pitchFamily="34" charset="-122"/>
                <a:cs typeface="Rubik" pitchFamily="34" charset="-120"/>
              </a:rPr>
              <a:t>3</a:t>
            </a:r>
            <a:endParaRPr lang="en-US" sz="1500" dirty="0"/>
          </a:p>
        </p:txBody>
      </p:sp>
      <p:sp>
        <p:nvSpPr>
          <p:cNvPr id="22" name="Text 20"/>
          <p:cNvSpPr/>
          <p:nvPr/>
        </p:nvSpPr>
        <p:spPr>
          <a:xfrm>
            <a:off x="1809750" y="3026370"/>
            <a:ext cx="812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C2230"/>
                </a:solidFill>
                <a:latin typeface="Rubik" pitchFamily="34" charset="0"/>
                <a:ea typeface="Rubik" pitchFamily="34" charset="-122"/>
                <a:cs typeface="Rubik" pitchFamily="34" charset="-120"/>
              </a:rPr>
              <a:t>15</a:t>
            </a:r>
            <a:endParaRPr lang="en-US" sz="2000" dirty="0"/>
          </a:p>
        </p:txBody>
      </p:sp>
      <p:sp>
        <p:nvSpPr>
          <p:cNvPr id="23" name="Text 21"/>
          <p:cNvSpPr/>
          <p:nvPr/>
        </p:nvSpPr>
        <p:spPr>
          <a:xfrm>
            <a:off x="2724150" y="3084165"/>
            <a:ext cx="5245481"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C2230"/>
                </a:solidFill>
                <a:latin typeface="Rubik" pitchFamily="34" charset="0"/>
                <a:ea typeface="Rubik" pitchFamily="34" charset="-122"/>
                <a:cs typeface="Rubik" pitchFamily="34" charset="-120"/>
              </a:rPr>
              <a:t>15 &gt; 13: copy 13 down </a:t>
            </a:r>
            <a:r>
              <a:rPr lang="en-US" sz="1400" b="1" dirty="0">
                <a:solidFill>
                  <a:srgbClr val="1C2230"/>
                </a:solidFill>
                <a:latin typeface="Rubik" pitchFamily="34" charset="0"/>
                <a:ea typeface="Rubik" pitchFamily="34" charset="-122"/>
                <a:cs typeface="Rubik" pitchFamily="34" charset="-120"/>
              </a:rPr>
              <a:t>first</a:t>
            </a:r>
            <a:r>
              <a:rPr lang="en-US" sz="1400" dirty="0">
                <a:solidFill>
                  <a:srgbClr val="1C2230"/>
                </a:solidFill>
                <a:latin typeface="Rubik" pitchFamily="34" charset="0"/>
                <a:ea typeface="Rubik" pitchFamily="34" charset="-122"/>
                <a:cs typeface="Rubik" pitchFamily="34" charset="-120"/>
              </a:rPr>
              <a:t>, then store 15</a:t>
            </a:r>
            <a:endParaRPr lang="en-US" sz="1400" dirty="0"/>
          </a:p>
        </p:txBody>
      </p:sp>
      <p:sp>
        <p:nvSpPr>
          <p:cNvPr id="24" name="Text 22"/>
          <p:cNvSpPr/>
          <p:nvPr/>
        </p:nvSpPr>
        <p:spPr>
          <a:xfrm>
            <a:off x="7943850" y="3026370"/>
            <a:ext cx="1447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A94F17"/>
                </a:solidFill>
                <a:latin typeface="Rubik" pitchFamily="34" charset="0"/>
                <a:ea typeface="Rubik" pitchFamily="34" charset="-122"/>
                <a:cs typeface="Rubik" pitchFamily="34" charset="-120"/>
              </a:rPr>
              <a:t>15</a:t>
            </a:r>
            <a:endParaRPr lang="en-US" sz="2000" dirty="0"/>
          </a:p>
        </p:txBody>
      </p:sp>
      <p:sp>
        <p:nvSpPr>
          <p:cNvPr id="25" name="Text 23"/>
          <p:cNvSpPr/>
          <p:nvPr/>
        </p:nvSpPr>
        <p:spPr>
          <a:xfrm>
            <a:off x="9493250" y="3026370"/>
            <a:ext cx="1701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1B6B45"/>
                </a:solidFill>
                <a:latin typeface="Rubik" pitchFamily="34" charset="0"/>
                <a:ea typeface="Rubik" pitchFamily="34" charset="-122"/>
                <a:cs typeface="Rubik" pitchFamily="34" charset="-120"/>
              </a:rPr>
              <a:t>13</a:t>
            </a:r>
            <a:endParaRPr lang="en-US" sz="2000" dirty="0"/>
          </a:p>
        </p:txBody>
      </p:sp>
      <p:sp>
        <p:nvSpPr>
          <p:cNvPr id="26" name="Shape 24"/>
          <p:cNvSpPr/>
          <p:nvPr/>
        </p:nvSpPr>
        <p:spPr>
          <a:xfrm>
            <a:off x="815975" y="3569295"/>
            <a:ext cx="10560050" cy="565150"/>
          </a:xfrm>
          <a:prstGeom prst="roundRect">
            <a:avLst>
              <a:gd name="adj" fmla="val 15169"/>
            </a:avLst>
          </a:prstGeom>
          <a:solidFill>
            <a:srgbClr val="FFFDF8"/>
          </a:solidFill>
          <a:ln w="6350">
            <a:solidFill>
              <a:srgbClr val="E2DDD2"/>
            </a:solidFill>
            <a:prstDash val="solid"/>
          </a:ln>
        </p:spPr>
        <p:txBody>
          <a:bodyPr/>
          <a:lstStyle/>
          <a:p>
            <a:endParaRPr lang="en-US"/>
          </a:p>
        </p:txBody>
      </p:sp>
      <p:sp>
        <p:nvSpPr>
          <p:cNvPr id="27" name="Text 25"/>
          <p:cNvSpPr/>
          <p:nvPr/>
        </p:nvSpPr>
        <p:spPr>
          <a:xfrm>
            <a:off x="1022350" y="3718520"/>
            <a:ext cx="685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96273"/>
                </a:solidFill>
                <a:latin typeface="Rubik" pitchFamily="34" charset="0"/>
                <a:ea typeface="Rubik" pitchFamily="34" charset="-122"/>
                <a:cs typeface="Rubik" pitchFamily="34" charset="-120"/>
              </a:rPr>
              <a:t>4</a:t>
            </a:r>
            <a:endParaRPr lang="en-US" sz="1500" dirty="0"/>
          </a:p>
        </p:txBody>
      </p:sp>
      <p:sp>
        <p:nvSpPr>
          <p:cNvPr id="28" name="Text 26"/>
          <p:cNvSpPr/>
          <p:nvPr/>
        </p:nvSpPr>
        <p:spPr>
          <a:xfrm>
            <a:off x="1809750" y="3674070"/>
            <a:ext cx="812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C2230"/>
                </a:solidFill>
                <a:latin typeface="Rubik" pitchFamily="34" charset="0"/>
                <a:ea typeface="Rubik" pitchFamily="34" charset="-122"/>
                <a:cs typeface="Rubik" pitchFamily="34" charset="-120"/>
              </a:rPr>
              <a:t>7</a:t>
            </a:r>
            <a:endParaRPr lang="en-US" sz="2000" dirty="0"/>
          </a:p>
        </p:txBody>
      </p:sp>
      <p:sp>
        <p:nvSpPr>
          <p:cNvPr id="29" name="Text 27"/>
          <p:cNvSpPr/>
          <p:nvPr/>
        </p:nvSpPr>
        <p:spPr>
          <a:xfrm>
            <a:off x="2724150" y="3731865"/>
            <a:ext cx="5245481"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C2230"/>
                </a:solidFill>
                <a:latin typeface="Rubik" pitchFamily="34" charset="0"/>
                <a:ea typeface="Rubik" pitchFamily="34" charset="-122"/>
                <a:cs typeface="Rubik" pitchFamily="34" charset="-120"/>
              </a:rPr>
              <a:t>Smaller than both: do nothing</a:t>
            </a:r>
            <a:endParaRPr lang="en-US" sz="1400" dirty="0"/>
          </a:p>
        </p:txBody>
      </p:sp>
      <p:sp>
        <p:nvSpPr>
          <p:cNvPr id="30" name="Text 28"/>
          <p:cNvSpPr/>
          <p:nvPr/>
        </p:nvSpPr>
        <p:spPr>
          <a:xfrm>
            <a:off x="7943850" y="3674070"/>
            <a:ext cx="1447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A94F17"/>
                </a:solidFill>
                <a:latin typeface="Rubik" pitchFamily="34" charset="0"/>
                <a:ea typeface="Rubik" pitchFamily="34" charset="-122"/>
                <a:cs typeface="Rubik" pitchFamily="34" charset="-120"/>
              </a:rPr>
              <a:t>15</a:t>
            </a:r>
            <a:endParaRPr lang="en-US" sz="2000" dirty="0"/>
          </a:p>
        </p:txBody>
      </p:sp>
      <p:sp>
        <p:nvSpPr>
          <p:cNvPr id="31" name="Text 29"/>
          <p:cNvSpPr/>
          <p:nvPr/>
        </p:nvSpPr>
        <p:spPr>
          <a:xfrm>
            <a:off x="9493250" y="3674070"/>
            <a:ext cx="1701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1B6B45"/>
                </a:solidFill>
                <a:latin typeface="Rubik" pitchFamily="34" charset="0"/>
                <a:ea typeface="Rubik" pitchFamily="34" charset="-122"/>
                <a:cs typeface="Rubik" pitchFamily="34" charset="-120"/>
              </a:rPr>
              <a:t>13</a:t>
            </a:r>
            <a:endParaRPr lang="en-US" sz="2000" dirty="0"/>
          </a:p>
        </p:txBody>
      </p:sp>
      <p:sp>
        <p:nvSpPr>
          <p:cNvPr id="32" name="Shape 30"/>
          <p:cNvSpPr/>
          <p:nvPr/>
        </p:nvSpPr>
        <p:spPr>
          <a:xfrm>
            <a:off x="815975" y="4216995"/>
            <a:ext cx="10560050" cy="565150"/>
          </a:xfrm>
          <a:prstGeom prst="roundRect">
            <a:avLst>
              <a:gd name="adj" fmla="val 15169"/>
            </a:avLst>
          </a:prstGeom>
          <a:solidFill>
            <a:srgbClr val="FFFDF8"/>
          </a:solidFill>
          <a:ln w="6350">
            <a:solidFill>
              <a:srgbClr val="E2DDD2"/>
            </a:solidFill>
            <a:prstDash val="solid"/>
          </a:ln>
        </p:spPr>
        <p:txBody>
          <a:bodyPr/>
          <a:lstStyle/>
          <a:p>
            <a:endParaRPr lang="en-US"/>
          </a:p>
        </p:txBody>
      </p:sp>
      <p:sp>
        <p:nvSpPr>
          <p:cNvPr id="33" name="Text 31"/>
          <p:cNvSpPr/>
          <p:nvPr/>
        </p:nvSpPr>
        <p:spPr>
          <a:xfrm>
            <a:off x="1022350" y="4366220"/>
            <a:ext cx="685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96273"/>
                </a:solidFill>
                <a:latin typeface="Rubik" pitchFamily="34" charset="0"/>
                <a:ea typeface="Rubik" pitchFamily="34" charset="-122"/>
                <a:cs typeface="Rubik" pitchFamily="34" charset="-120"/>
              </a:rPr>
              <a:t>5</a:t>
            </a:r>
            <a:endParaRPr lang="en-US" sz="1500" dirty="0"/>
          </a:p>
        </p:txBody>
      </p:sp>
      <p:sp>
        <p:nvSpPr>
          <p:cNvPr id="34" name="Text 32"/>
          <p:cNvSpPr/>
          <p:nvPr/>
        </p:nvSpPr>
        <p:spPr>
          <a:xfrm>
            <a:off x="1809750" y="4321770"/>
            <a:ext cx="812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C2230"/>
                </a:solidFill>
                <a:latin typeface="Rubik" pitchFamily="34" charset="0"/>
                <a:ea typeface="Rubik" pitchFamily="34" charset="-122"/>
                <a:cs typeface="Rubik" pitchFamily="34" charset="-120"/>
              </a:rPr>
              <a:t>6</a:t>
            </a:r>
            <a:endParaRPr lang="en-US" sz="2000" dirty="0"/>
          </a:p>
        </p:txBody>
      </p:sp>
      <p:sp>
        <p:nvSpPr>
          <p:cNvPr id="35" name="Text 33"/>
          <p:cNvSpPr/>
          <p:nvPr/>
        </p:nvSpPr>
        <p:spPr>
          <a:xfrm>
            <a:off x="2724150" y="4379565"/>
            <a:ext cx="5245481"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C2230"/>
                </a:solidFill>
                <a:latin typeface="Rubik" pitchFamily="34" charset="0"/>
                <a:ea typeface="Rubik" pitchFamily="34" charset="-122"/>
                <a:cs typeface="Rubik" pitchFamily="34" charset="-120"/>
              </a:rPr>
              <a:t>Smaller than both: do nothing</a:t>
            </a:r>
            <a:endParaRPr lang="en-US" sz="1400" dirty="0"/>
          </a:p>
        </p:txBody>
      </p:sp>
      <p:sp>
        <p:nvSpPr>
          <p:cNvPr id="36" name="Text 34"/>
          <p:cNvSpPr/>
          <p:nvPr/>
        </p:nvSpPr>
        <p:spPr>
          <a:xfrm>
            <a:off x="7943850" y="4321770"/>
            <a:ext cx="1447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A94F17"/>
                </a:solidFill>
                <a:latin typeface="Rubik" pitchFamily="34" charset="0"/>
                <a:ea typeface="Rubik" pitchFamily="34" charset="-122"/>
                <a:cs typeface="Rubik" pitchFamily="34" charset="-120"/>
              </a:rPr>
              <a:t>15</a:t>
            </a:r>
            <a:endParaRPr lang="en-US" sz="2000" dirty="0"/>
          </a:p>
        </p:txBody>
      </p:sp>
      <p:sp>
        <p:nvSpPr>
          <p:cNvPr id="37" name="Text 35"/>
          <p:cNvSpPr/>
          <p:nvPr/>
        </p:nvSpPr>
        <p:spPr>
          <a:xfrm>
            <a:off x="9493250" y="4321770"/>
            <a:ext cx="1701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1B6B45"/>
                </a:solidFill>
                <a:latin typeface="Rubik" pitchFamily="34" charset="0"/>
                <a:ea typeface="Rubik" pitchFamily="34" charset="-122"/>
                <a:cs typeface="Rubik" pitchFamily="34" charset="-120"/>
              </a:rPr>
              <a:t>13</a:t>
            </a:r>
            <a:endParaRPr lang="en-US" sz="2000" dirty="0"/>
          </a:p>
        </p:txBody>
      </p:sp>
      <p:sp>
        <p:nvSpPr>
          <p:cNvPr id="38" name="Text 36"/>
          <p:cNvSpPr/>
          <p:nvPr/>
        </p:nvSpPr>
        <p:spPr>
          <a:xfrm>
            <a:off x="812800" y="498852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94F17"/>
                </a:solidFill>
                <a:latin typeface="Rubik" pitchFamily="34" charset="0"/>
                <a:ea typeface="Rubik" pitchFamily="34" charset="-122"/>
                <a:cs typeface="Rubik" pitchFamily="34" charset="-120"/>
              </a:rPr>
              <a:t>At step 3, if you store 15 first, the 13 is erased from memory forever.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6733699"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Write it down: the algorithm</a:t>
            </a:r>
            <a:endParaRPr lang="en-US" sz="3200" dirty="0"/>
          </a:p>
        </p:txBody>
      </p:sp>
      <p:sp>
        <p:nvSpPr>
          <p:cNvPr id="3" name="Text 1"/>
          <p:cNvSpPr/>
          <p:nvPr/>
        </p:nvSpPr>
        <p:spPr>
          <a:xfrm>
            <a:off x="8830270" y="857250"/>
            <a:ext cx="2548930" cy="358130"/>
          </a:xfrm>
          <a:prstGeom prst="roundRect">
            <a:avLst>
              <a:gd name="adj" fmla="val 50000"/>
            </a:avLst>
          </a:prstGeom>
          <a:solidFill>
            <a:srgbClr val="E3EAFB"/>
          </a:solidFill>
          <a:ln/>
        </p:spPr>
        <p:txBody>
          <a:bodyPr wrap="none" lIns="0" tIns="0" rIns="0" bIns="0" rtlCol="0" anchor="ctr">
            <a:normAutofit/>
          </a:bodyPr>
          <a:lstStyle/>
          <a:p>
            <a:pPr marL="0" indent="0" algn="ctr">
              <a:lnSpc>
                <a:spcPts val="1820"/>
              </a:lnSpc>
              <a:buNone/>
            </a:pPr>
            <a:r>
              <a:rPr lang="en-US" sz="1300" b="1" dirty="0">
                <a:solidFill>
                  <a:srgbClr val="2A5BD7"/>
                </a:solidFill>
                <a:latin typeface="Rubik" pitchFamily="34" charset="0"/>
                <a:ea typeface="Rubik" pitchFamily="34" charset="-122"/>
                <a:cs typeface="Rubik" pitchFamily="34" charset="-120"/>
              </a:rPr>
              <a:t>Plain language · no code yet</a:t>
            </a:r>
            <a:endParaRPr lang="en-US" sz="1300" dirty="0"/>
          </a:p>
        </p:txBody>
      </p:sp>
      <p:sp>
        <p:nvSpPr>
          <p:cNvPr id="4" name="Shape 2"/>
          <p:cNvSpPr/>
          <p:nvPr/>
        </p:nvSpPr>
        <p:spPr>
          <a:xfrm>
            <a:off x="815975" y="1567805"/>
            <a:ext cx="10560050" cy="3023791"/>
          </a:xfrm>
          <a:prstGeom prst="roundRect">
            <a:avLst>
              <a:gd name="adj" fmla="val 4095"/>
            </a:avLst>
          </a:prstGeom>
          <a:solidFill>
            <a:srgbClr val="FFFDF8"/>
          </a:solidFill>
          <a:ln w="6350">
            <a:solidFill>
              <a:srgbClr val="E2DDD2"/>
            </a:solidFill>
            <a:prstDash val="solid"/>
          </a:ln>
        </p:spPr>
        <p:txBody>
          <a:bodyPr/>
          <a:lstStyle/>
          <a:p>
            <a:endParaRPr lang="en-US"/>
          </a:p>
        </p:txBody>
      </p:sp>
      <p:sp>
        <p:nvSpPr>
          <p:cNvPr id="5" name="Text 3"/>
          <p:cNvSpPr/>
          <p:nvPr/>
        </p:nvSpPr>
        <p:spPr>
          <a:xfrm>
            <a:off x="1123950" y="1875780"/>
            <a:ext cx="406400"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2A5BD7"/>
                </a:solidFill>
                <a:latin typeface="Rubik" pitchFamily="34" charset="0"/>
                <a:ea typeface="Rubik" pitchFamily="34" charset="-122"/>
                <a:cs typeface="Rubik" pitchFamily="34" charset="-120"/>
              </a:rPr>
              <a:t>1</a:t>
            </a:r>
            <a:endParaRPr lang="en-US" sz="2200" dirty="0"/>
          </a:p>
        </p:txBody>
      </p:sp>
      <p:sp>
        <p:nvSpPr>
          <p:cNvPr id="6" name="Text 4"/>
          <p:cNvSpPr/>
          <p:nvPr/>
        </p:nvSpPr>
        <p:spPr>
          <a:xfrm>
            <a:off x="1682750" y="1875780"/>
            <a:ext cx="966685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C2230"/>
                </a:solidFill>
                <a:latin typeface="Rubik" pitchFamily="34" charset="0"/>
                <a:ea typeface="Rubik" pitchFamily="34" charset="-122"/>
                <a:cs typeface="Rubik" pitchFamily="34" charset="-120"/>
              </a:rPr>
              <a:t>Create two boxes in memory: </a:t>
            </a:r>
            <a:r>
              <a:rPr lang="en-US" sz="1600" b="1" dirty="0">
                <a:solidFill>
                  <a:srgbClr val="1C2230"/>
                </a:solidFill>
                <a:latin typeface="Rubik" pitchFamily="34" charset="0"/>
                <a:ea typeface="Rubik" pitchFamily="34" charset="-122"/>
                <a:cs typeface="Rubik" pitchFamily="34" charset="-120"/>
              </a:rPr>
              <a:t>largest</a:t>
            </a:r>
            <a:r>
              <a:rPr lang="en-US" sz="1600" dirty="0">
                <a:solidFill>
                  <a:srgbClr val="1C2230"/>
                </a:solidFill>
                <a:latin typeface="Rubik" pitchFamily="34" charset="0"/>
                <a:ea typeface="Rubik" pitchFamily="34" charset="-122"/>
                <a:cs typeface="Rubik" pitchFamily="34" charset="-120"/>
              </a:rPr>
              <a:t> and </a:t>
            </a:r>
            <a:r>
              <a:rPr lang="en-US" sz="1600" b="1" dirty="0">
                <a:solidFill>
                  <a:srgbClr val="1C2230"/>
                </a:solidFill>
                <a:latin typeface="Rubik" pitchFamily="34" charset="0"/>
                <a:ea typeface="Rubik" pitchFamily="34" charset="-122"/>
                <a:cs typeface="Rubik" pitchFamily="34" charset="-120"/>
              </a:rPr>
              <a:t>second_largest</a:t>
            </a:r>
            <a:r>
              <a:rPr lang="en-US" sz="1600" dirty="0">
                <a:solidFill>
                  <a:srgbClr val="1C2230"/>
                </a:solidFill>
                <a:latin typeface="Rubik" pitchFamily="34" charset="0"/>
                <a:ea typeface="Rubik" pitchFamily="34" charset="-122"/>
                <a:cs typeface="Rubik" pitchFamily="34" charset="-120"/>
              </a:rPr>
              <a:t>.</a:t>
            </a:r>
            <a:endParaRPr lang="en-US" sz="1600" dirty="0"/>
          </a:p>
        </p:txBody>
      </p:sp>
      <p:sp>
        <p:nvSpPr>
          <p:cNvPr id="7" name="Text 5"/>
          <p:cNvSpPr/>
          <p:nvPr/>
        </p:nvSpPr>
        <p:spPr>
          <a:xfrm>
            <a:off x="1123950" y="2335510"/>
            <a:ext cx="406400"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2A5BD7"/>
                </a:solidFill>
                <a:latin typeface="Rubik" pitchFamily="34" charset="0"/>
                <a:ea typeface="Rubik" pitchFamily="34" charset="-122"/>
                <a:cs typeface="Rubik" pitchFamily="34" charset="-120"/>
              </a:rPr>
              <a:t>2</a:t>
            </a:r>
            <a:endParaRPr lang="en-US" sz="2200" dirty="0"/>
          </a:p>
        </p:txBody>
      </p:sp>
      <p:sp>
        <p:nvSpPr>
          <p:cNvPr id="8" name="Text 6"/>
          <p:cNvSpPr/>
          <p:nvPr/>
        </p:nvSpPr>
        <p:spPr>
          <a:xfrm>
            <a:off x="1682750" y="2335510"/>
            <a:ext cx="966685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C2230"/>
                </a:solidFill>
                <a:latin typeface="Rubik" pitchFamily="34" charset="0"/>
                <a:ea typeface="Rubik" pitchFamily="34" charset="-122"/>
                <a:cs typeface="Rubik" pitchFamily="34" charset="-120"/>
              </a:rPr>
              <a:t>Put the first number in </a:t>
            </a:r>
            <a:r>
              <a:rPr lang="en-US" sz="1600" b="1" dirty="0">
                <a:solidFill>
                  <a:srgbClr val="1C2230"/>
                </a:solidFill>
                <a:latin typeface="Rubik" pitchFamily="34" charset="0"/>
                <a:ea typeface="Rubik" pitchFamily="34" charset="-122"/>
                <a:cs typeface="Rubik" pitchFamily="34" charset="-120"/>
              </a:rPr>
              <a:t>largest</a:t>
            </a:r>
            <a:r>
              <a:rPr lang="en-US" sz="1600" dirty="0">
                <a:solidFill>
                  <a:srgbClr val="1C2230"/>
                </a:solidFill>
                <a:latin typeface="Rubik" pitchFamily="34" charset="0"/>
                <a:ea typeface="Rubik" pitchFamily="34" charset="-122"/>
                <a:cs typeface="Rubik" pitchFamily="34" charset="-120"/>
              </a:rPr>
              <a:t>.</a:t>
            </a:r>
            <a:endParaRPr lang="en-US" sz="1600" dirty="0"/>
          </a:p>
        </p:txBody>
      </p:sp>
      <p:sp>
        <p:nvSpPr>
          <p:cNvPr id="9" name="Text 7"/>
          <p:cNvSpPr/>
          <p:nvPr/>
        </p:nvSpPr>
        <p:spPr>
          <a:xfrm>
            <a:off x="1123950" y="2795240"/>
            <a:ext cx="406400"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2A5BD7"/>
                </a:solidFill>
                <a:latin typeface="Rubik" pitchFamily="34" charset="0"/>
                <a:ea typeface="Rubik" pitchFamily="34" charset="-122"/>
                <a:cs typeface="Rubik" pitchFamily="34" charset="-120"/>
              </a:rPr>
              <a:t>3</a:t>
            </a:r>
            <a:endParaRPr lang="en-US" sz="2200" dirty="0"/>
          </a:p>
        </p:txBody>
      </p:sp>
      <p:sp>
        <p:nvSpPr>
          <p:cNvPr id="10" name="Text 8"/>
          <p:cNvSpPr/>
          <p:nvPr/>
        </p:nvSpPr>
        <p:spPr>
          <a:xfrm>
            <a:off x="1682750" y="2795240"/>
            <a:ext cx="9666859"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C2230"/>
                </a:solidFill>
                <a:latin typeface="Rubik" pitchFamily="34" charset="0"/>
                <a:ea typeface="Rubik" pitchFamily="34" charset="-122"/>
                <a:cs typeface="Rubik" pitchFamily="34" charset="-120"/>
              </a:rPr>
              <a:t>Read the next number. If it is bigger than </a:t>
            </a:r>
            <a:r>
              <a:rPr lang="en-US" sz="1600" b="1" dirty="0">
                <a:solidFill>
                  <a:srgbClr val="1C2230"/>
                </a:solidFill>
                <a:latin typeface="Rubik" pitchFamily="34" charset="0"/>
                <a:ea typeface="Rubik" pitchFamily="34" charset="-122"/>
                <a:cs typeface="Rubik" pitchFamily="34" charset="-120"/>
              </a:rPr>
              <a:t>largest</a:t>
            </a:r>
            <a:r>
              <a:rPr lang="en-US" sz="1600" dirty="0">
                <a:solidFill>
                  <a:srgbClr val="1C2230"/>
                </a:solidFill>
                <a:latin typeface="Rubik" pitchFamily="34" charset="0"/>
                <a:ea typeface="Rubik" pitchFamily="34" charset="-122"/>
                <a:cs typeface="Rubik" pitchFamily="34" charset="-120"/>
              </a:rPr>
              <a:t>: first copy </a:t>
            </a:r>
            <a:r>
              <a:rPr lang="en-US" sz="1600" b="1" dirty="0">
                <a:solidFill>
                  <a:srgbClr val="1C2230"/>
                </a:solidFill>
                <a:latin typeface="Rubik" pitchFamily="34" charset="0"/>
                <a:ea typeface="Rubik" pitchFamily="34" charset="-122"/>
                <a:cs typeface="Rubik" pitchFamily="34" charset="-120"/>
              </a:rPr>
              <a:t>largest</a:t>
            </a:r>
            <a:r>
              <a:rPr lang="en-US" sz="1600" dirty="0">
                <a:solidFill>
                  <a:srgbClr val="1C2230"/>
                </a:solidFill>
                <a:latin typeface="Rubik" pitchFamily="34" charset="0"/>
                <a:ea typeface="Rubik" pitchFamily="34" charset="-122"/>
                <a:cs typeface="Rubik" pitchFamily="34" charset="-120"/>
              </a:rPr>
              <a:t> into </a:t>
            </a:r>
            <a:r>
              <a:rPr lang="en-US" sz="1600" b="1" dirty="0">
                <a:solidFill>
                  <a:srgbClr val="1C2230"/>
                </a:solidFill>
                <a:latin typeface="Rubik" pitchFamily="34" charset="0"/>
                <a:ea typeface="Rubik" pitchFamily="34" charset="-122"/>
                <a:cs typeface="Rubik" pitchFamily="34" charset="-120"/>
              </a:rPr>
              <a:t>second_largest</a:t>
            </a:r>
            <a:r>
              <a:rPr lang="en-US" sz="1600" dirty="0">
                <a:solidFill>
                  <a:srgbClr val="1C2230"/>
                </a:solidFill>
                <a:latin typeface="Rubik" pitchFamily="34" charset="0"/>
                <a:ea typeface="Rubik" pitchFamily="34" charset="-122"/>
                <a:cs typeface="Rubik" pitchFamily="34" charset="-120"/>
              </a:rPr>
              <a:t>, then store the new number in </a:t>
            </a:r>
            <a:r>
              <a:rPr lang="en-US" sz="1600" b="1" dirty="0">
                <a:solidFill>
                  <a:srgbClr val="1C2230"/>
                </a:solidFill>
                <a:latin typeface="Rubik" pitchFamily="34" charset="0"/>
                <a:ea typeface="Rubik" pitchFamily="34" charset="-122"/>
                <a:cs typeface="Rubik" pitchFamily="34" charset="-120"/>
              </a:rPr>
              <a:t>largest</a:t>
            </a:r>
            <a:r>
              <a:rPr lang="en-US" sz="1600" dirty="0">
                <a:solidFill>
                  <a:srgbClr val="1C2230"/>
                </a:solidFill>
                <a:latin typeface="Rubik" pitchFamily="34" charset="0"/>
                <a:ea typeface="Rubik" pitchFamily="34" charset="-122"/>
                <a:cs typeface="Rubik" pitchFamily="34" charset="-120"/>
              </a:rPr>
              <a:t>.</a:t>
            </a:r>
            <a:endParaRPr lang="en-US" sz="1600" dirty="0"/>
          </a:p>
        </p:txBody>
      </p:sp>
      <p:sp>
        <p:nvSpPr>
          <p:cNvPr id="11" name="Text 9"/>
          <p:cNvSpPr/>
          <p:nvPr/>
        </p:nvSpPr>
        <p:spPr>
          <a:xfrm>
            <a:off x="1123950" y="3516561"/>
            <a:ext cx="406400"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2A5BD7"/>
                </a:solidFill>
                <a:latin typeface="Rubik" pitchFamily="34" charset="0"/>
                <a:ea typeface="Rubik" pitchFamily="34" charset="-122"/>
                <a:cs typeface="Rubik" pitchFamily="34" charset="-120"/>
              </a:rPr>
              <a:t>4</a:t>
            </a:r>
            <a:endParaRPr lang="en-US" sz="2200" dirty="0"/>
          </a:p>
        </p:txBody>
      </p:sp>
      <p:sp>
        <p:nvSpPr>
          <p:cNvPr id="12" name="Text 10"/>
          <p:cNvSpPr/>
          <p:nvPr/>
        </p:nvSpPr>
        <p:spPr>
          <a:xfrm>
            <a:off x="1682750" y="3516561"/>
            <a:ext cx="966685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C2230"/>
                </a:solidFill>
                <a:latin typeface="Rubik" pitchFamily="34" charset="0"/>
                <a:ea typeface="Rubik" pitchFamily="34" charset="-122"/>
                <a:cs typeface="Rubik" pitchFamily="34" charset="-120"/>
              </a:rPr>
              <a:t>Otherwise, if it is bigger than </a:t>
            </a:r>
            <a:r>
              <a:rPr lang="en-US" sz="1600" b="1" dirty="0">
                <a:solidFill>
                  <a:srgbClr val="1C2230"/>
                </a:solidFill>
                <a:latin typeface="Rubik" pitchFamily="34" charset="0"/>
                <a:ea typeface="Rubik" pitchFamily="34" charset="-122"/>
                <a:cs typeface="Rubik" pitchFamily="34" charset="-120"/>
              </a:rPr>
              <a:t>second_largest</a:t>
            </a:r>
            <a:r>
              <a:rPr lang="en-US" sz="1600" dirty="0">
                <a:solidFill>
                  <a:srgbClr val="1C2230"/>
                </a:solidFill>
                <a:latin typeface="Rubik" pitchFamily="34" charset="0"/>
                <a:ea typeface="Rubik" pitchFamily="34" charset="-122"/>
                <a:cs typeface="Rubik" pitchFamily="34" charset="-120"/>
              </a:rPr>
              <a:t>, store it there.</a:t>
            </a:r>
            <a:endParaRPr lang="en-US" sz="1600" dirty="0"/>
          </a:p>
        </p:txBody>
      </p:sp>
      <p:sp>
        <p:nvSpPr>
          <p:cNvPr id="13" name="Text 11"/>
          <p:cNvSpPr/>
          <p:nvPr/>
        </p:nvSpPr>
        <p:spPr>
          <a:xfrm>
            <a:off x="1123950" y="3976291"/>
            <a:ext cx="406400"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2A5BD7"/>
                </a:solidFill>
                <a:latin typeface="Rubik" pitchFamily="34" charset="0"/>
                <a:ea typeface="Rubik" pitchFamily="34" charset="-122"/>
                <a:cs typeface="Rubik" pitchFamily="34" charset="-120"/>
              </a:rPr>
              <a:t>5</a:t>
            </a:r>
            <a:endParaRPr lang="en-US" sz="2200" dirty="0"/>
          </a:p>
        </p:txBody>
      </p:sp>
      <p:sp>
        <p:nvSpPr>
          <p:cNvPr id="14" name="Text 12"/>
          <p:cNvSpPr/>
          <p:nvPr/>
        </p:nvSpPr>
        <p:spPr>
          <a:xfrm>
            <a:off x="1682750" y="3976291"/>
            <a:ext cx="966685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C2230"/>
                </a:solidFill>
                <a:latin typeface="Rubik" pitchFamily="34" charset="0"/>
                <a:ea typeface="Rubik" pitchFamily="34" charset="-122"/>
                <a:cs typeface="Rubik" pitchFamily="34" charset="-120"/>
              </a:rPr>
              <a:t>Repeat step 3 until no numbers are left. Then print </a:t>
            </a:r>
            <a:r>
              <a:rPr lang="en-US" sz="1600" b="1" dirty="0">
                <a:solidFill>
                  <a:srgbClr val="1C2230"/>
                </a:solidFill>
                <a:latin typeface="Rubik" pitchFamily="34" charset="0"/>
                <a:ea typeface="Rubik" pitchFamily="34" charset="-122"/>
                <a:cs typeface="Rubik" pitchFamily="34" charset="-120"/>
              </a:rPr>
              <a:t>second_largest</a:t>
            </a:r>
            <a:r>
              <a:rPr lang="en-US" sz="1600" dirty="0">
                <a:solidFill>
                  <a:srgbClr val="1C2230"/>
                </a:solidFill>
                <a:latin typeface="Rubik" pitchFamily="34" charset="0"/>
                <a:ea typeface="Rubik" pitchFamily="34" charset="-122"/>
                <a:cs typeface="Rubik" pitchFamily="34" charset="-120"/>
              </a:rPr>
              <a: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1639689"/>
            <a:ext cx="6477000" cy="3578622"/>
          </a:xfrm>
          <a:prstGeom prst="roundRect">
            <a:avLst>
              <a:gd name="adj" fmla="val 3549"/>
            </a:avLst>
          </a:prstGeom>
          <a:solidFill>
            <a:srgbClr val="15233F"/>
          </a:solidFill>
          <a:ln/>
        </p:spPr>
        <p:txBody>
          <a:bodyPr wrap="square" lIns="242203" tIns="216803" rIns="64657" bIns="191403" rtlCol="0" anchor="t">
            <a:normAutofit/>
          </a:bodyPr>
          <a:lstStyle/>
          <a:p>
            <a:pPr marL="0" indent="0" algn="l">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int nums[] = {5, 13, 15, 7, 6};</a:t>
            </a:r>
            <a:endParaRPr lang="en-US" sz="1300" dirty="0"/>
          </a:p>
          <a:p>
            <a:pPr marL="0" indent="0" algn="l">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int largest = nums[0], second = 0;</a:t>
            </a:r>
            <a:endParaRPr lang="en-US" sz="1300" dirty="0"/>
          </a:p>
          <a:p>
            <a:pPr marL="0" indent="0" algn="l">
              <a:lnSpc>
                <a:spcPts val="2015"/>
              </a:lnSpc>
              <a:buNone/>
            </a:pPr>
            <a:endParaRPr lang="en-US" sz="1300" dirty="0"/>
          </a:p>
          <a:p>
            <a:pPr marL="0" indent="0" algn="l">
              <a:lnSpc>
                <a:spcPts val="2015"/>
              </a:lnSpc>
              <a:buNone/>
            </a:pPr>
            <a:r>
              <a:rPr lang="en-US" sz="1300" dirty="0">
                <a:solidFill>
                  <a:srgbClr val="F0B27A"/>
                </a:solidFill>
                <a:latin typeface="JetBrains Mono" pitchFamily="49" charset="0"/>
                <a:ea typeface="JetBrains Mono" pitchFamily="49" charset="-122"/>
                <a:cs typeface="JetBrains Mono" pitchFamily="49" charset="-120"/>
              </a:rPr>
              <a:t>for</a:t>
            </a:r>
            <a:r>
              <a:rPr lang="en-US" sz="1300" dirty="0">
                <a:solidFill>
                  <a:srgbClr val="E6E9F0"/>
                </a:solidFill>
                <a:latin typeface="JetBrains Mono" pitchFamily="49" charset="0"/>
                <a:ea typeface="JetBrains Mono" pitchFamily="49" charset="-122"/>
                <a:cs typeface="JetBrains Mono" pitchFamily="49" charset="-120"/>
              </a:rPr>
              <a:t> (int i = 1; i &lt; 5; i++) {</a:t>
            </a:r>
            <a:endParaRPr lang="en-US" sz="1300" dirty="0"/>
          </a:p>
          <a:p>
            <a:pPr marL="0" indent="0" algn="l">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    </a:t>
            </a:r>
            <a:r>
              <a:rPr lang="en-US" sz="1300" dirty="0">
                <a:solidFill>
                  <a:srgbClr val="F0B27A"/>
                </a:solidFill>
                <a:latin typeface="JetBrains Mono" pitchFamily="49" charset="0"/>
                <a:ea typeface="JetBrains Mono" pitchFamily="49" charset="-122"/>
                <a:cs typeface="JetBrains Mono" pitchFamily="49" charset="-120"/>
              </a:rPr>
              <a:t>if</a:t>
            </a:r>
            <a:r>
              <a:rPr lang="en-US" sz="1300" dirty="0">
                <a:solidFill>
                  <a:srgbClr val="E6E9F0"/>
                </a:solidFill>
                <a:latin typeface="JetBrains Mono" pitchFamily="49" charset="0"/>
                <a:ea typeface="JetBrains Mono" pitchFamily="49" charset="-122"/>
                <a:cs typeface="JetBrains Mono" pitchFamily="49" charset="-120"/>
              </a:rPr>
              <a:t> (nums[i] &gt; largest) {</a:t>
            </a:r>
            <a:endParaRPr lang="en-US" sz="1300" dirty="0"/>
          </a:p>
          <a:p>
            <a:pPr marL="0" indent="0" algn="l">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        second = largest; </a:t>
            </a:r>
            <a:r>
              <a:rPr lang="en-US" sz="1300" dirty="0">
                <a:solidFill>
                  <a:srgbClr val="7FD1A4"/>
                </a:solidFill>
                <a:latin typeface="JetBrains Mono" pitchFamily="49" charset="0"/>
                <a:ea typeface="JetBrains Mono" pitchFamily="49" charset="-122"/>
                <a:cs typeface="JetBrains Mono" pitchFamily="49" charset="-120"/>
              </a:rPr>
              <a:t>// copy first!</a:t>
            </a:r>
            <a:endParaRPr lang="en-US" sz="1300" dirty="0"/>
          </a:p>
          <a:p>
            <a:pPr marL="0" indent="0" algn="l">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        largest = nums[i];</a:t>
            </a:r>
            <a:endParaRPr lang="en-US" sz="1300" dirty="0"/>
          </a:p>
          <a:p>
            <a:pPr marL="0" indent="0" algn="l">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    } </a:t>
            </a:r>
            <a:r>
              <a:rPr lang="en-US" sz="1300" dirty="0">
                <a:solidFill>
                  <a:srgbClr val="F0B27A"/>
                </a:solidFill>
                <a:latin typeface="JetBrains Mono" pitchFamily="49" charset="0"/>
                <a:ea typeface="JetBrains Mono" pitchFamily="49" charset="-122"/>
                <a:cs typeface="JetBrains Mono" pitchFamily="49" charset="-120"/>
              </a:rPr>
              <a:t>else if</a:t>
            </a:r>
            <a:r>
              <a:rPr lang="en-US" sz="1300" dirty="0">
                <a:solidFill>
                  <a:srgbClr val="E6E9F0"/>
                </a:solidFill>
                <a:latin typeface="JetBrains Mono" pitchFamily="49" charset="0"/>
                <a:ea typeface="JetBrains Mono" pitchFamily="49" charset="-122"/>
                <a:cs typeface="JetBrains Mono" pitchFamily="49" charset="-120"/>
              </a:rPr>
              <a:t> (nums[i] &gt; second) {</a:t>
            </a:r>
            <a:endParaRPr lang="en-US" sz="1300" dirty="0"/>
          </a:p>
          <a:p>
            <a:pPr marL="0" indent="0" algn="l">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        second = nums[i];</a:t>
            </a:r>
            <a:endParaRPr lang="en-US" sz="1300" dirty="0"/>
          </a:p>
          <a:p>
            <a:pPr marL="0" indent="0" algn="l">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    }}</a:t>
            </a:r>
            <a:endParaRPr lang="en-US" sz="1300" dirty="0"/>
          </a:p>
          <a:p>
            <a:pPr marL="0" indent="0" algn="l">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a:t>
            </a:r>
            <a:endParaRPr lang="en-US" sz="1300" dirty="0"/>
          </a:p>
          <a:p>
            <a:pPr marL="0" indent="0" algn="l">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printf(</a:t>
            </a:r>
            <a:r>
              <a:rPr lang="en-US" sz="1300" dirty="0">
                <a:solidFill>
                  <a:srgbClr val="F0B27A"/>
                </a:solidFill>
                <a:latin typeface="JetBrains Mono" pitchFamily="49" charset="0"/>
                <a:ea typeface="JetBrains Mono" pitchFamily="49" charset="-122"/>
                <a:cs typeface="JetBrains Mono" pitchFamily="49" charset="-120"/>
              </a:rPr>
              <a:t>"Second largest: %d"</a:t>
            </a:r>
            <a:r>
              <a:rPr lang="en-US" sz="1300" dirty="0">
                <a:solidFill>
                  <a:srgbClr val="E6E9F0"/>
                </a:solidFill>
                <a:latin typeface="JetBrains Mono" pitchFamily="49" charset="0"/>
                <a:ea typeface="JetBrains Mono" pitchFamily="49" charset="-122"/>
                <a:cs typeface="JetBrains Mono" pitchFamily="49" charset="-120"/>
              </a:rPr>
              <a:t>, second);</a:t>
            </a:r>
            <a:endParaRPr lang="en-US" sz="1300" dirty="0"/>
          </a:p>
        </p:txBody>
      </p:sp>
      <p:sp>
        <p:nvSpPr>
          <p:cNvPr id="3" name="Text 1"/>
          <p:cNvSpPr/>
          <p:nvPr/>
        </p:nvSpPr>
        <p:spPr>
          <a:xfrm>
            <a:off x="7747000" y="2151410"/>
            <a:ext cx="3741166" cy="25653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A94F17"/>
                </a:solidFill>
                <a:latin typeface="Rubik" pitchFamily="34" charset="0"/>
                <a:ea typeface="Rubik" pitchFamily="34" charset="-122"/>
                <a:cs typeface="Rubik" pitchFamily="34" charset="-120"/>
              </a:rPr>
              <a:t>THE PROGRAM</a:t>
            </a:r>
            <a:endParaRPr lang="en-US" sz="1300" dirty="0"/>
          </a:p>
        </p:txBody>
      </p:sp>
      <p:sp>
        <p:nvSpPr>
          <p:cNvPr id="4" name="Text 2"/>
          <p:cNvSpPr>
            <a:spLocks noGrp="1"/>
          </p:cNvSpPr>
          <p:nvPr>
            <p:ph type="title"/>
          </p:nvPr>
        </p:nvSpPr>
        <p:spPr>
          <a:xfrm>
            <a:off x="7747000" y="2560340"/>
            <a:ext cx="3741166" cy="78482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C2230"/>
                </a:solidFill>
                <a:latin typeface="Rubik" pitchFamily="34" charset="0"/>
                <a:ea typeface="Rubik" pitchFamily="34" charset="-122"/>
                <a:cs typeface="Rubik" pitchFamily="34" charset="-120"/>
              </a:rPr>
              <a:t>Same steps, strict syntax</a:t>
            </a:r>
            <a:endParaRPr lang="en-US" sz="2600" dirty="0"/>
          </a:p>
        </p:txBody>
      </p:sp>
      <p:sp>
        <p:nvSpPr>
          <p:cNvPr id="5" name="Text 3"/>
          <p:cNvSpPr/>
          <p:nvPr/>
        </p:nvSpPr>
        <p:spPr>
          <a:xfrm>
            <a:off x="7747000" y="3497560"/>
            <a:ext cx="3741166"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A4150"/>
                </a:solidFill>
                <a:latin typeface="Rubik" pitchFamily="34" charset="0"/>
                <a:ea typeface="Rubik" pitchFamily="34" charset="-122"/>
                <a:cs typeface="Rubik" pitchFamily="34" charset="-120"/>
              </a:rPr>
              <a:t>Each line is one step of the algorithm, written in C. Output: </a:t>
            </a:r>
            <a:r>
              <a:rPr lang="en-US" sz="1500" b="1" dirty="0">
                <a:solidFill>
                  <a:srgbClr val="3A4150"/>
                </a:solidFill>
                <a:latin typeface="Rubik" pitchFamily="34" charset="0"/>
                <a:ea typeface="Rubik" pitchFamily="34" charset="-122"/>
                <a:cs typeface="Rubik" pitchFamily="34" charset="-120"/>
              </a:rPr>
              <a:t>Second largest: 13</a:t>
            </a:r>
            <a:endParaRPr lang="en-US" sz="1500" dirty="0"/>
          </a:p>
        </p:txBody>
      </p:sp>
      <p:sp>
        <p:nvSpPr>
          <p:cNvPr id="6" name="Text 4"/>
          <p:cNvSpPr/>
          <p:nvPr/>
        </p:nvSpPr>
        <p:spPr>
          <a:xfrm>
            <a:off x="7747000" y="4227810"/>
            <a:ext cx="3741166" cy="50413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96273"/>
                </a:solidFill>
                <a:latin typeface="Rubik" pitchFamily="34" charset="0"/>
                <a:ea typeface="Rubik" pitchFamily="34" charset="-122"/>
                <a:cs typeface="Rubik" pitchFamily="34" charset="-120"/>
              </a:rPr>
              <a:t>Don't worry about the syntax yet. You'll write this yourself by Module 4.</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165740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chemeClr val="accent1"/>
                </a:solidFill>
                <a:latin typeface="Rubik" pitchFamily="34" charset="0"/>
                <a:ea typeface="Rubik" pitchFamily="34" charset="-122"/>
                <a:cs typeface="Rubik" pitchFamily="34" charset="-120"/>
              </a:rPr>
              <a:t>99% thinking.</a:t>
            </a:r>
            <a:endParaRPr lang="en-US" sz="6000" dirty="0">
              <a:solidFill>
                <a:schemeClr val="accent1"/>
              </a:solidFill>
            </a:endParaRPr>
          </a:p>
          <a:p>
            <a:pPr marL="0" indent="0" algn="l">
              <a:lnSpc>
                <a:spcPts val="6300"/>
              </a:lnSpc>
              <a:buNone/>
            </a:pPr>
            <a:r>
              <a:rPr lang="en-US" sz="6000" b="1" i="0" dirty="0">
                <a:solidFill>
                  <a:srgbClr val="E9893F"/>
                </a:solidFill>
                <a:latin typeface="Rubik" pitchFamily="34" charset="0"/>
                <a:ea typeface="Rubik" pitchFamily="34" charset="-122"/>
                <a:cs typeface="Rubik" pitchFamily="34" charset="-120"/>
              </a:rPr>
              <a:t>1% typing.</a:t>
            </a:r>
            <a:endParaRPr lang="en-US" sz="6000" dirty="0"/>
          </a:p>
        </p:txBody>
      </p:sp>
      <p:sp>
        <p:nvSpPr>
          <p:cNvPr id="3" name="Shape 1"/>
          <p:cNvSpPr/>
          <p:nvPr/>
        </p:nvSpPr>
        <p:spPr>
          <a:xfrm>
            <a:off x="812800" y="3714800"/>
            <a:ext cx="3081834" cy="1282601"/>
          </a:xfrm>
          <a:prstGeom prst="roundRect">
            <a:avLst>
              <a:gd name="adj" fmla="val 8912"/>
            </a:avLst>
          </a:prstGeom>
          <a:solidFill>
            <a:srgbClr val="1E3157"/>
          </a:solidFill>
          <a:ln/>
        </p:spPr>
        <p:txBody>
          <a:bodyPr/>
          <a:lstStyle/>
          <a:p>
            <a:endParaRPr lang="en-US"/>
          </a:p>
        </p:txBody>
      </p:sp>
      <p:sp>
        <p:nvSpPr>
          <p:cNvPr id="4" name="Text 2"/>
          <p:cNvSpPr/>
          <p:nvPr/>
        </p:nvSpPr>
        <p:spPr>
          <a:xfrm>
            <a:off x="1041400" y="3943400"/>
            <a:ext cx="270337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9893F"/>
                </a:solidFill>
                <a:latin typeface="Rubik" pitchFamily="34" charset="0"/>
                <a:ea typeface="Rubik" pitchFamily="34" charset="-122"/>
                <a:cs typeface="Rubik" pitchFamily="34" charset="-120"/>
              </a:rPr>
              <a:t>1 · THINK</a:t>
            </a:r>
            <a:endParaRPr lang="en-US" sz="1200" dirty="0"/>
          </a:p>
        </p:txBody>
      </p:sp>
      <p:sp>
        <p:nvSpPr>
          <p:cNvPr id="5" name="Text 3"/>
          <p:cNvSpPr/>
          <p:nvPr/>
        </p:nvSpPr>
        <p:spPr>
          <a:xfrm>
            <a:off x="1041400" y="4220220"/>
            <a:ext cx="2703373"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6F3EC"/>
                </a:solidFill>
                <a:latin typeface="Rubik" pitchFamily="34" charset="0"/>
                <a:ea typeface="Rubik" pitchFamily="34" charset="-122"/>
                <a:cs typeface="Rubik" pitchFamily="34" charset="-120"/>
              </a:rPr>
              <a:t>Understand the problem like a brain</a:t>
            </a:r>
            <a:endParaRPr lang="en-US" sz="1600" dirty="0"/>
          </a:p>
        </p:txBody>
      </p:sp>
      <p:pic>
        <p:nvPicPr>
          <p:cNvPr id="6" name="Image 0" descr="connector"/>
          <p:cNvPicPr>
            <a:picLocks noChangeAspect="1"/>
          </p:cNvPicPr>
          <p:nvPr/>
        </p:nvPicPr>
        <p:blipFill>
          <a:blip r:embed="rId3"/>
          <a:srcRect/>
          <a:stretch/>
        </p:blipFill>
        <p:spPr>
          <a:xfrm>
            <a:off x="3996234" y="4292600"/>
            <a:ext cx="457200" cy="127000"/>
          </a:xfrm>
          <a:prstGeom prst="rect">
            <a:avLst/>
          </a:prstGeom>
        </p:spPr>
      </p:pic>
      <p:sp>
        <p:nvSpPr>
          <p:cNvPr id="7" name="Shape 4"/>
          <p:cNvSpPr/>
          <p:nvPr/>
        </p:nvSpPr>
        <p:spPr>
          <a:xfrm>
            <a:off x="4555034" y="3714800"/>
            <a:ext cx="3081883" cy="1282601"/>
          </a:xfrm>
          <a:prstGeom prst="roundRect">
            <a:avLst>
              <a:gd name="adj" fmla="val 8912"/>
            </a:avLst>
          </a:prstGeom>
          <a:solidFill>
            <a:srgbClr val="1E3157"/>
          </a:solidFill>
          <a:ln/>
        </p:spPr>
        <p:txBody>
          <a:bodyPr/>
          <a:lstStyle/>
          <a:p>
            <a:endParaRPr lang="en-US"/>
          </a:p>
        </p:txBody>
      </p:sp>
      <p:sp>
        <p:nvSpPr>
          <p:cNvPr id="8" name="Text 5"/>
          <p:cNvSpPr/>
          <p:nvPr/>
        </p:nvSpPr>
        <p:spPr>
          <a:xfrm>
            <a:off x="4783634" y="3943400"/>
            <a:ext cx="270342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9893F"/>
                </a:solidFill>
                <a:latin typeface="Rubik" pitchFamily="34" charset="0"/>
                <a:ea typeface="Rubik" pitchFamily="34" charset="-122"/>
                <a:cs typeface="Rubik" pitchFamily="34" charset="-120"/>
              </a:rPr>
              <a:t>2 · ALGORITHM</a:t>
            </a:r>
            <a:endParaRPr lang="en-US" sz="1200" dirty="0"/>
          </a:p>
        </p:txBody>
      </p:sp>
      <p:sp>
        <p:nvSpPr>
          <p:cNvPr id="9" name="Text 6"/>
          <p:cNvSpPr/>
          <p:nvPr/>
        </p:nvSpPr>
        <p:spPr>
          <a:xfrm>
            <a:off x="4783634" y="4220220"/>
            <a:ext cx="2703424"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6F3EC"/>
                </a:solidFill>
                <a:latin typeface="Rubik" pitchFamily="34" charset="0"/>
                <a:ea typeface="Rubik" pitchFamily="34" charset="-122"/>
                <a:cs typeface="Rubik" pitchFamily="34" charset="-120"/>
              </a:rPr>
              <a:t>Break it into steps a CPU can follow</a:t>
            </a:r>
            <a:endParaRPr lang="en-US" sz="1600" dirty="0"/>
          </a:p>
        </p:txBody>
      </p:sp>
      <p:pic>
        <p:nvPicPr>
          <p:cNvPr id="10" name="Image 1" descr="connector"/>
          <p:cNvPicPr>
            <a:picLocks noChangeAspect="1"/>
          </p:cNvPicPr>
          <p:nvPr/>
        </p:nvPicPr>
        <p:blipFill>
          <a:blip r:embed="rId3"/>
          <a:srcRect/>
          <a:stretch/>
        </p:blipFill>
        <p:spPr>
          <a:xfrm>
            <a:off x="7738517" y="4292600"/>
            <a:ext cx="457200" cy="127000"/>
          </a:xfrm>
          <a:prstGeom prst="rect">
            <a:avLst/>
          </a:prstGeom>
        </p:spPr>
      </p:pic>
      <p:sp>
        <p:nvSpPr>
          <p:cNvPr id="11" name="Shape 7"/>
          <p:cNvSpPr/>
          <p:nvPr/>
        </p:nvSpPr>
        <p:spPr>
          <a:xfrm>
            <a:off x="8297317" y="3851920"/>
            <a:ext cx="3081883" cy="1008311"/>
          </a:xfrm>
          <a:prstGeom prst="roundRect">
            <a:avLst>
              <a:gd name="adj" fmla="val 11336"/>
            </a:avLst>
          </a:prstGeom>
          <a:solidFill>
            <a:srgbClr val="E9893F"/>
          </a:solidFill>
          <a:ln/>
        </p:spPr>
        <p:txBody>
          <a:bodyPr/>
          <a:lstStyle/>
          <a:p>
            <a:endParaRPr lang="en-US"/>
          </a:p>
        </p:txBody>
      </p:sp>
      <p:sp>
        <p:nvSpPr>
          <p:cNvPr id="12" name="Text 8"/>
          <p:cNvSpPr/>
          <p:nvPr/>
        </p:nvSpPr>
        <p:spPr>
          <a:xfrm>
            <a:off x="8525917" y="4080520"/>
            <a:ext cx="270342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5233F"/>
                </a:solidFill>
                <a:latin typeface="Rubik" pitchFamily="34" charset="0"/>
                <a:ea typeface="Rubik" pitchFamily="34" charset="-122"/>
                <a:cs typeface="Rubik" pitchFamily="34" charset="-120"/>
              </a:rPr>
              <a:t>3 · PROGRAM</a:t>
            </a:r>
            <a:endParaRPr lang="en-US" sz="1200" dirty="0"/>
          </a:p>
        </p:txBody>
      </p:sp>
      <p:sp>
        <p:nvSpPr>
          <p:cNvPr id="13" name="Text 9"/>
          <p:cNvSpPr/>
          <p:nvPr/>
        </p:nvSpPr>
        <p:spPr>
          <a:xfrm>
            <a:off x="8525917" y="4357340"/>
            <a:ext cx="2703424"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5233F"/>
                </a:solidFill>
                <a:latin typeface="Rubik" pitchFamily="34" charset="0"/>
                <a:ea typeface="Rubik" pitchFamily="34" charset="-122"/>
                <a:cs typeface="Rubik" pitchFamily="34" charset="-120"/>
              </a:rPr>
              <a:t>Write those steps in C</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Ever watched cricket without knowing the rules?</a:t>
            </a:r>
            <a:endParaRPr lang="en-US" sz="3200" dirty="0"/>
          </a:p>
        </p:txBody>
      </p:sp>
      <p:sp>
        <p:nvSpPr>
          <p:cNvPr id="3" name="Shape 1"/>
          <p:cNvSpPr/>
          <p:nvPr/>
        </p:nvSpPr>
        <p:spPr>
          <a:xfrm>
            <a:off x="815975" y="1618605"/>
            <a:ext cx="5181600" cy="2044700"/>
          </a:xfrm>
          <a:prstGeom prst="roundRect">
            <a:avLst>
              <a:gd name="adj" fmla="val 6056"/>
            </a:avLst>
          </a:prstGeom>
          <a:solidFill>
            <a:srgbClr val="FFFDF8"/>
          </a:solidFill>
          <a:ln w="6350">
            <a:solidFill>
              <a:srgbClr val="E2DDD2"/>
            </a:solidFill>
            <a:prstDash val="solid"/>
          </a:ln>
        </p:spPr>
        <p:txBody>
          <a:bodyPr/>
          <a:lstStyle/>
          <a:p>
            <a:endParaRPr lang="en-US"/>
          </a:p>
        </p:txBody>
      </p:sp>
      <p:sp>
        <p:nvSpPr>
          <p:cNvPr id="4" name="Text 2"/>
          <p:cNvSpPr/>
          <p:nvPr/>
        </p:nvSpPr>
        <p:spPr>
          <a:xfrm>
            <a:off x="1123950" y="1926580"/>
            <a:ext cx="470262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96273"/>
                </a:solidFill>
                <a:latin typeface="Rubik" pitchFamily="34" charset="0"/>
                <a:ea typeface="Rubik" pitchFamily="34" charset="-122"/>
                <a:cs typeface="Rubik" pitchFamily="34" charset="-120"/>
              </a:rPr>
              <a:t>Without the basics</a:t>
            </a:r>
            <a:endParaRPr lang="en-US" sz="2000" dirty="0"/>
          </a:p>
        </p:txBody>
      </p:sp>
      <p:sp>
        <p:nvSpPr>
          <p:cNvPr id="5" name="Text 3"/>
          <p:cNvSpPr/>
          <p:nvPr/>
        </p:nvSpPr>
        <p:spPr>
          <a:xfrm>
            <a:off x="1187196" y="2383780"/>
            <a:ext cx="4631754" cy="996950"/>
          </a:xfrm>
          <a:prstGeom prst="rect">
            <a:avLst/>
          </a:prstGeom>
          <a:noFill/>
          <a:ln/>
        </p:spPr>
        <p:txBody>
          <a:bodyPr wrap="square" lIns="0" tIns="0" rIns="0" bIns="0" rtlCol="0" anchor="t">
            <a:normAutofit/>
          </a:bodyPr>
          <a:lstStyle/>
          <a:p>
            <a:pPr marL="190754" indent="-190754" algn="l">
              <a:lnSpc>
                <a:spcPts val="2550"/>
              </a:lnSpc>
              <a:buSzPct val="100000"/>
              <a:buChar char="•"/>
            </a:pPr>
            <a:r>
              <a:rPr lang="en-US" sz="1700" dirty="0">
                <a:solidFill>
                  <a:srgbClr val="1C2230"/>
                </a:solidFill>
                <a:latin typeface="Rubik" pitchFamily="34" charset="0"/>
                <a:ea typeface="Rubik" pitchFamily="34" charset="-122"/>
                <a:cs typeface="Rubik" pitchFamily="34" charset="-120"/>
              </a:rPr>
              <a:t>People running, the crowd cheering</a:t>
            </a:r>
            <a:endParaRPr lang="en-US" sz="1700" dirty="0"/>
          </a:p>
          <a:p>
            <a:pPr marL="190754" indent="-190754" algn="l">
              <a:lnSpc>
                <a:spcPts val="2550"/>
              </a:lnSpc>
              <a:buSzPct val="100000"/>
              <a:buChar char="•"/>
            </a:pPr>
            <a:r>
              <a:rPr lang="en-US" sz="1700" dirty="0">
                <a:solidFill>
                  <a:srgbClr val="1C2230"/>
                </a:solidFill>
                <a:latin typeface="Rubik" pitchFamily="34" charset="0"/>
                <a:ea typeface="Rubik" pitchFamily="34" charset="-122"/>
                <a:cs typeface="Rubik" pitchFamily="34" charset="-120"/>
              </a:rPr>
              <a:t>No idea why the umpire gave LBW</a:t>
            </a:r>
            <a:endParaRPr lang="en-US" sz="1700" dirty="0"/>
          </a:p>
          <a:p>
            <a:pPr marL="190754" indent="-190754" algn="l">
              <a:lnSpc>
                <a:spcPts val="2550"/>
              </a:lnSpc>
              <a:buSzPct val="100000"/>
              <a:buChar char="•"/>
            </a:pPr>
            <a:r>
              <a:rPr lang="en-US" sz="1700" dirty="0">
                <a:solidFill>
                  <a:srgbClr val="1C2230"/>
                </a:solidFill>
                <a:latin typeface="Rubik" pitchFamily="34" charset="0"/>
                <a:ea typeface="Rubik" pitchFamily="34" charset="-122"/>
                <a:cs typeface="Rubik" pitchFamily="34" charset="-120"/>
              </a:rPr>
              <a:t>DRS overturned it? Confusing</a:t>
            </a:r>
            <a:endParaRPr lang="en-US" sz="1700" dirty="0"/>
          </a:p>
        </p:txBody>
      </p:sp>
      <p:sp>
        <p:nvSpPr>
          <p:cNvPr id="6" name="Shape 4"/>
          <p:cNvSpPr/>
          <p:nvPr/>
        </p:nvSpPr>
        <p:spPr>
          <a:xfrm>
            <a:off x="6203950" y="1615430"/>
            <a:ext cx="5175250" cy="2051050"/>
          </a:xfrm>
          <a:prstGeom prst="roundRect">
            <a:avLst>
              <a:gd name="adj" fmla="val 6192"/>
            </a:avLst>
          </a:prstGeom>
          <a:solidFill>
            <a:srgbClr val="15233F"/>
          </a:solidFill>
          <a:ln/>
        </p:spPr>
        <p:txBody>
          <a:bodyPr/>
          <a:lstStyle/>
          <a:p>
            <a:endParaRPr lang="en-US"/>
          </a:p>
        </p:txBody>
      </p:sp>
      <p:sp>
        <p:nvSpPr>
          <p:cNvPr id="7" name="Text 5"/>
          <p:cNvSpPr/>
          <p:nvPr/>
        </p:nvSpPr>
        <p:spPr>
          <a:xfrm>
            <a:off x="6508750" y="1920230"/>
            <a:ext cx="470262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9893F"/>
                </a:solidFill>
                <a:latin typeface="Rubik" pitchFamily="34" charset="0"/>
                <a:ea typeface="Rubik" pitchFamily="34" charset="-122"/>
                <a:cs typeface="Rubik" pitchFamily="34" charset="-120"/>
              </a:rPr>
              <a:t>With the basics</a:t>
            </a:r>
            <a:endParaRPr lang="en-US" sz="2000" dirty="0"/>
          </a:p>
        </p:txBody>
      </p:sp>
      <p:sp>
        <p:nvSpPr>
          <p:cNvPr id="8" name="Text 6"/>
          <p:cNvSpPr/>
          <p:nvPr/>
        </p:nvSpPr>
        <p:spPr>
          <a:xfrm>
            <a:off x="6571996" y="2377430"/>
            <a:ext cx="4631754" cy="996950"/>
          </a:xfrm>
          <a:prstGeom prst="rect">
            <a:avLst/>
          </a:prstGeom>
          <a:noFill/>
          <a:ln/>
        </p:spPr>
        <p:txBody>
          <a:bodyPr wrap="square" lIns="0" tIns="0" rIns="0" bIns="0" rtlCol="0" anchor="t">
            <a:normAutofit/>
          </a:bodyPr>
          <a:lstStyle/>
          <a:p>
            <a:pPr marL="190754" indent="-190754" algn="l">
              <a:lnSpc>
                <a:spcPts val="2550"/>
              </a:lnSpc>
              <a:buSzPct val="100000"/>
              <a:buChar char="•"/>
            </a:pPr>
            <a:r>
              <a:rPr lang="en-US" sz="1700" dirty="0">
                <a:solidFill>
                  <a:srgbClr val="F6F3EC"/>
                </a:solidFill>
                <a:latin typeface="Rubik" pitchFamily="34" charset="0"/>
                <a:ea typeface="Rubik" pitchFamily="34" charset="-122"/>
                <a:cs typeface="Rubik" pitchFamily="34" charset="-120"/>
              </a:rPr>
              <a:t>You see why the captain moved slip</a:t>
            </a:r>
            <a:endParaRPr lang="en-US" sz="1700" dirty="0"/>
          </a:p>
          <a:p>
            <a:pPr marL="190754" indent="-190754" algn="l">
              <a:lnSpc>
                <a:spcPts val="2550"/>
              </a:lnSpc>
              <a:buSzPct val="100000"/>
              <a:buChar char="•"/>
            </a:pPr>
            <a:r>
              <a:rPr lang="en-US" sz="1700" dirty="0">
                <a:solidFill>
                  <a:srgbClr val="F6F3EC"/>
                </a:solidFill>
                <a:latin typeface="Rubik" pitchFamily="34" charset="0"/>
                <a:ea typeface="Rubik" pitchFamily="34" charset="-122"/>
                <a:cs typeface="Rubik" pitchFamily="34" charset="-120"/>
              </a:rPr>
              <a:t>You can judge the LBW call yourself</a:t>
            </a:r>
            <a:endParaRPr lang="en-US" sz="1700" dirty="0"/>
          </a:p>
          <a:p>
            <a:pPr marL="190754" indent="-190754" algn="l">
              <a:lnSpc>
                <a:spcPts val="2550"/>
              </a:lnSpc>
              <a:buSzPct val="100000"/>
              <a:buChar char="•"/>
            </a:pPr>
            <a:r>
              <a:rPr lang="en-US" sz="1700" dirty="0">
                <a:solidFill>
                  <a:srgbClr val="F6F3EC"/>
                </a:solidFill>
                <a:latin typeface="Rubik" pitchFamily="34" charset="0"/>
                <a:ea typeface="Rubik" pitchFamily="34" charset="-122"/>
                <a:cs typeface="Rubik" pitchFamily="34" charset="-120"/>
              </a:rPr>
              <a:t>You can explain what went wrong</a:t>
            </a:r>
            <a:endParaRPr lang="en-US" sz="1700" dirty="0"/>
          </a:p>
        </p:txBody>
      </p:sp>
      <p:pic>
        <p:nvPicPr>
          <p:cNvPr id="9" name="Picture 8">
            <a:extLst>
              <a:ext uri="{FF2B5EF4-FFF2-40B4-BE49-F238E27FC236}">
                <a16:creationId xmlns:a16="http://schemas.microsoft.com/office/drawing/2014/main" id="{25A847E8-7467-034A-0CA0-01000D9C22F1}"/>
              </a:ext>
            </a:extLst>
          </p:cNvPr>
          <p:cNvPicPr>
            <a:picLocks noChangeAspect="1"/>
          </p:cNvPicPr>
          <p:nvPr/>
        </p:nvPicPr>
        <p:blipFill>
          <a:blip r:embed="rId3"/>
          <a:stretch>
            <a:fillRect/>
          </a:stretch>
        </p:blipFill>
        <p:spPr>
          <a:xfrm>
            <a:off x="4783818" y="4025638"/>
            <a:ext cx="2427513" cy="24275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The tool works until it doesn't</a:t>
            </a:r>
            <a:endParaRPr lang="en-US" sz="3200" dirty="0"/>
          </a:p>
        </p:txBody>
      </p:sp>
      <p:sp>
        <p:nvSpPr>
          <p:cNvPr id="3" name="Shape 1"/>
          <p:cNvSpPr/>
          <p:nvPr/>
        </p:nvSpPr>
        <p:spPr>
          <a:xfrm>
            <a:off x="815975" y="1618605"/>
            <a:ext cx="5175250" cy="2566640"/>
          </a:xfrm>
          <a:prstGeom prst="roundRect">
            <a:avLst>
              <a:gd name="adj" fmla="val 4824"/>
            </a:avLst>
          </a:prstGeom>
          <a:solidFill>
            <a:srgbClr val="FFFDF8"/>
          </a:solidFill>
          <a:ln w="6350">
            <a:solidFill>
              <a:srgbClr val="E2DDD2"/>
            </a:solidFill>
            <a:prstDash val="solid"/>
          </a:ln>
        </p:spPr>
        <p:txBody>
          <a:bodyPr/>
          <a:lstStyle/>
          <a:p>
            <a:endParaRPr lang="en-US"/>
          </a:p>
        </p:txBody>
      </p:sp>
      <p:pic>
        <p:nvPicPr>
          <p:cNvPr id="4" name="Image 0" descr="Globe"/>
          <p:cNvPicPr>
            <a:picLocks noChangeAspect="1"/>
          </p:cNvPicPr>
          <p:nvPr/>
        </p:nvPicPr>
        <p:blipFill>
          <a:blip r:embed="rId3"/>
          <a:srcRect/>
          <a:stretch/>
        </p:blipFill>
        <p:spPr>
          <a:xfrm>
            <a:off x="1123950" y="1926580"/>
            <a:ext cx="457200" cy="457200"/>
          </a:xfrm>
          <a:prstGeom prst="rect">
            <a:avLst/>
          </a:prstGeom>
        </p:spPr>
      </p:pic>
      <p:sp>
        <p:nvSpPr>
          <p:cNvPr id="5" name="Text 2"/>
          <p:cNvSpPr/>
          <p:nvPr/>
        </p:nvSpPr>
        <p:spPr>
          <a:xfrm>
            <a:off x="1123950" y="2536180"/>
            <a:ext cx="469607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C2230"/>
                </a:solidFill>
                <a:latin typeface="Rubik" pitchFamily="34" charset="0"/>
                <a:ea typeface="Rubik" pitchFamily="34" charset="-122"/>
                <a:cs typeface="Rubik" pitchFamily="34" charset="-120"/>
              </a:rPr>
              <a:t>Google Maps</a:t>
            </a:r>
            <a:endParaRPr lang="en-US" sz="2000" dirty="0"/>
          </a:p>
        </p:txBody>
      </p:sp>
      <p:sp>
        <p:nvSpPr>
          <p:cNvPr id="6" name="Text 3"/>
          <p:cNvSpPr/>
          <p:nvPr/>
        </p:nvSpPr>
        <p:spPr>
          <a:xfrm>
            <a:off x="1123950" y="2993380"/>
            <a:ext cx="4696079" cy="90929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A4150"/>
                </a:solidFill>
                <a:latin typeface="Rubik" pitchFamily="34" charset="0"/>
                <a:ea typeface="Rubik" pitchFamily="34" charset="-122"/>
                <a:cs typeface="Rubik" pitchFamily="34" charset="-120"/>
              </a:rPr>
              <a:t>It gets you anywhere, until the network drops on a ghat road. Then only people who know the roads get home.</a:t>
            </a:r>
            <a:endParaRPr lang="en-US" sz="1600" dirty="0"/>
          </a:p>
        </p:txBody>
      </p:sp>
      <p:sp>
        <p:nvSpPr>
          <p:cNvPr id="7" name="Shape 4"/>
          <p:cNvSpPr/>
          <p:nvPr/>
        </p:nvSpPr>
        <p:spPr>
          <a:xfrm>
            <a:off x="6200775" y="1618605"/>
            <a:ext cx="5175250" cy="2566640"/>
          </a:xfrm>
          <a:prstGeom prst="roundRect">
            <a:avLst>
              <a:gd name="adj" fmla="val 4824"/>
            </a:avLst>
          </a:prstGeom>
          <a:solidFill>
            <a:srgbClr val="FFFDF8"/>
          </a:solidFill>
          <a:ln w="6350">
            <a:solidFill>
              <a:srgbClr val="E2DDD2"/>
            </a:solidFill>
            <a:prstDash val="solid"/>
          </a:ln>
        </p:spPr>
        <p:txBody>
          <a:bodyPr/>
          <a:lstStyle/>
          <a:p>
            <a:endParaRPr lang="en-US"/>
          </a:p>
        </p:txBody>
      </p:sp>
      <p:pic>
        <p:nvPicPr>
          <p:cNvPr id="8" name="Image 1" descr="PaperPlane"/>
          <p:cNvPicPr>
            <a:picLocks noChangeAspect="1"/>
          </p:cNvPicPr>
          <p:nvPr/>
        </p:nvPicPr>
        <p:blipFill>
          <a:blip r:embed="rId4"/>
          <a:srcRect/>
          <a:stretch/>
        </p:blipFill>
        <p:spPr>
          <a:xfrm>
            <a:off x="6508750" y="1926580"/>
            <a:ext cx="457200" cy="457200"/>
          </a:xfrm>
          <a:prstGeom prst="rect">
            <a:avLst/>
          </a:prstGeom>
        </p:spPr>
      </p:pic>
      <p:sp>
        <p:nvSpPr>
          <p:cNvPr id="9" name="Text 5"/>
          <p:cNvSpPr/>
          <p:nvPr/>
        </p:nvSpPr>
        <p:spPr>
          <a:xfrm>
            <a:off x="6508750" y="2536180"/>
            <a:ext cx="469607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C2230"/>
                </a:solidFill>
                <a:latin typeface="Rubik" pitchFamily="34" charset="0"/>
                <a:ea typeface="Rubik" pitchFamily="34" charset="-122"/>
                <a:cs typeface="Rubik" pitchFamily="34" charset="-120"/>
              </a:rPr>
              <a:t>Pilots and autopilot</a:t>
            </a:r>
            <a:endParaRPr lang="en-US" sz="2000" dirty="0"/>
          </a:p>
        </p:txBody>
      </p:sp>
      <p:sp>
        <p:nvSpPr>
          <p:cNvPr id="10" name="Text 6"/>
          <p:cNvSpPr/>
          <p:nvPr/>
        </p:nvSpPr>
        <p:spPr>
          <a:xfrm>
            <a:off x="6508750" y="2993380"/>
            <a:ext cx="4696079" cy="90929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A4150"/>
                </a:solidFill>
                <a:latin typeface="Rubik" pitchFamily="34" charset="0"/>
                <a:ea typeface="Rubik" pitchFamily="34" charset="-122"/>
                <a:cs typeface="Rubik" pitchFamily="34" charset="-120"/>
              </a:rPr>
              <a:t>Planes fly on autopilot most of the time. Pilots still train hard to fly by hand, because when something fails, a human takes over.</a:t>
            </a:r>
            <a:endParaRPr lang="en-US" sz="1600" dirty="0"/>
          </a:p>
        </p:txBody>
      </p:sp>
      <p:pic>
        <p:nvPicPr>
          <p:cNvPr id="11" name="Picture 10">
            <a:extLst>
              <a:ext uri="{FF2B5EF4-FFF2-40B4-BE49-F238E27FC236}">
                <a16:creationId xmlns:a16="http://schemas.microsoft.com/office/drawing/2014/main" id="{98BF2F97-56EC-1BDF-0632-6D6F3B315411}"/>
              </a:ext>
            </a:extLst>
          </p:cNvPr>
          <p:cNvPicPr>
            <a:picLocks noChangeAspect="1"/>
          </p:cNvPicPr>
          <p:nvPr/>
        </p:nvPicPr>
        <p:blipFill>
          <a:blip r:embed="rId5"/>
          <a:srcRect b="50000"/>
          <a:stretch>
            <a:fillRect/>
          </a:stretch>
        </p:blipFill>
        <p:spPr>
          <a:xfrm>
            <a:off x="1117600" y="4493220"/>
            <a:ext cx="4572000" cy="1841500"/>
          </a:xfrm>
          <a:prstGeom prst="rect">
            <a:avLst/>
          </a:prstGeom>
        </p:spPr>
      </p:pic>
      <p:pic>
        <p:nvPicPr>
          <p:cNvPr id="12" name="Picture 11">
            <a:extLst>
              <a:ext uri="{FF2B5EF4-FFF2-40B4-BE49-F238E27FC236}">
                <a16:creationId xmlns:a16="http://schemas.microsoft.com/office/drawing/2014/main" id="{078FD37C-1EF9-6E1F-6F1D-812A9C0F159F}"/>
              </a:ext>
            </a:extLst>
          </p:cNvPr>
          <p:cNvPicPr>
            <a:picLocks noChangeAspect="1"/>
          </p:cNvPicPr>
          <p:nvPr/>
        </p:nvPicPr>
        <p:blipFill>
          <a:blip r:embed="rId5"/>
          <a:srcRect t="50000"/>
          <a:stretch>
            <a:fillRect/>
          </a:stretch>
        </p:blipFill>
        <p:spPr>
          <a:xfrm>
            <a:off x="6570789" y="4413845"/>
            <a:ext cx="4572000" cy="184150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15233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1849140"/>
            <a:ext cx="10883392" cy="2204690"/>
          </a:xfrm>
          <a:prstGeom prst="rect">
            <a:avLst/>
          </a:prstGeom>
          <a:noFill/>
          <a:ln/>
        </p:spPr>
        <p:txBody>
          <a:bodyPr wrap="square" lIns="0" tIns="0" rIns="0" bIns="0" rtlCol="0" anchor="t">
            <a:normAutofit/>
          </a:bodyPr>
          <a:lstStyle/>
          <a:p>
            <a:pPr marL="0" indent="0" algn="l">
              <a:lnSpc>
                <a:spcPts val="5720"/>
              </a:lnSpc>
              <a:buNone/>
            </a:pPr>
            <a:r>
              <a:rPr lang="en-US" sz="5200" b="1" i="0" dirty="0">
                <a:solidFill>
                  <a:srgbClr val="F6F3EC"/>
                </a:solidFill>
                <a:latin typeface="Rubik" pitchFamily="34" charset="0"/>
                <a:ea typeface="Rubik" pitchFamily="34" charset="-122"/>
                <a:cs typeface="Rubik" pitchFamily="34" charset="-120"/>
              </a:rPr>
              <a:t>AI is the bowler.</a:t>
            </a:r>
            <a:endParaRPr lang="en-US" sz="5200" dirty="0"/>
          </a:p>
          <a:p>
            <a:pPr marL="0" indent="0" algn="l">
              <a:lnSpc>
                <a:spcPts val="5720"/>
              </a:lnSpc>
              <a:buNone/>
            </a:pPr>
            <a:r>
              <a:rPr lang="en-US" sz="5200" b="1" i="0" dirty="0">
                <a:solidFill>
                  <a:srgbClr val="E9893F"/>
                </a:solidFill>
                <a:latin typeface="Rubik" pitchFamily="34" charset="0"/>
                <a:ea typeface="Rubik" pitchFamily="34" charset="-122"/>
                <a:cs typeface="Rubik" pitchFamily="34" charset="-120"/>
              </a:rPr>
              <a:t>You are the captain and the umpire.</a:t>
            </a:r>
            <a:endParaRPr lang="en-US" sz="5200" dirty="0"/>
          </a:p>
        </p:txBody>
      </p:sp>
      <p:sp>
        <p:nvSpPr>
          <p:cNvPr id="3" name="Text 1"/>
          <p:cNvSpPr/>
          <p:nvPr/>
        </p:nvSpPr>
        <p:spPr>
          <a:xfrm>
            <a:off x="812800" y="4333230"/>
            <a:ext cx="9156700" cy="700980"/>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C9CFDA"/>
                </a:solidFill>
                <a:latin typeface="Rubik" pitchFamily="34" charset="0"/>
                <a:ea typeface="Rubik" pitchFamily="34" charset="-122"/>
                <a:cs typeface="Rubik" pitchFamily="34" charset="-120"/>
              </a:rPr>
              <a:t>Anyone can watch AI write 50 lines of code. Only someone with the fundamentals can say whether it's right, why it fails, and how to fix it.</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AI wrote this to average three students' marks</a:t>
            </a:r>
            <a:endParaRPr lang="en-US" sz="3200" dirty="0"/>
          </a:p>
        </p:txBody>
      </p:sp>
      <p:sp>
        <p:nvSpPr>
          <p:cNvPr id="3" name="Text 1"/>
          <p:cNvSpPr/>
          <p:nvPr/>
        </p:nvSpPr>
        <p:spPr>
          <a:xfrm>
            <a:off x="812800" y="1615430"/>
            <a:ext cx="6350000" cy="1941711"/>
          </a:xfrm>
          <a:prstGeom prst="roundRect">
            <a:avLst>
              <a:gd name="adj" fmla="val 6541"/>
            </a:avLst>
          </a:prstGeom>
          <a:solidFill>
            <a:srgbClr val="15233F"/>
          </a:solidFill>
          <a:ln/>
        </p:spPr>
        <p:txBody>
          <a:bodyPr wrap="square" lIns="318403" tIns="318403" rIns="149239" bIns="293003" rtlCol="0" anchor="t">
            <a:normAutofit/>
          </a:bodyPr>
          <a:lstStyle/>
          <a:p>
            <a:pPr marL="0" indent="0" algn="l">
              <a:lnSpc>
                <a:spcPts val="3230"/>
              </a:lnSpc>
              <a:buNone/>
            </a:pPr>
            <a:r>
              <a:rPr lang="en-US" sz="1900" dirty="0">
                <a:solidFill>
                  <a:srgbClr val="E6E9F0"/>
                </a:solidFill>
                <a:latin typeface="JetBrains Mono" pitchFamily="49" charset="0"/>
                <a:ea typeface="JetBrains Mono" pitchFamily="49" charset="-122"/>
                <a:cs typeface="JetBrains Mono" pitchFamily="49" charset="-120"/>
              </a:rPr>
              <a:t>int a = 85, b = 90, c = 78;</a:t>
            </a:r>
            <a:endParaRPr lang="en-US" sz="1900" dirty="0"/>
          </a:p>
          <a:p>
            <a:pPr marL="0" indent="0" algn="l">
              <a:lnSpc>
                <a:spcPts val="3230"/>
              </a:lnSpc>
              <a:buNone/>
            </a:pPr>
            <a:r>
              <a:rPr lang="en-US" sz="1900" dirty="0">
                <a:solidFill>
                  <a:srgbClr val="E6E9F0"/>
                </a:solidFill>
                <a:latin typeface="JetBrains Mono" pitchFamily="49" charset="0"/>
                <a:ea typeface="JetBrains Mono" pitchFamily="49" charset="-122"/>
                <a:cs typeface="JetBrains Mono" pitchFamily="49" charset="-120"/>
              </a:rPr>
              <a:t>float avg = (a + b + c) / 3;</a:t>
            </a:r>
            <a:endParaRPr lang="en-US" sz="1900" dirty="0"/>
          </a:p>
          <a:p>
            <a:pPr marL="0" indent="0" algn="l">
              <a:lnSpc>
                <a:spcPts val="3230"/>
              </a:lnSpc>
              <a:buNone/>
            </a:pPr>
            <a:r>
              <a:rPr lang="en-US" sz="1900" dirty="0">
                <a:solidFill>
                  <a:srgbClr val="E6E9F0"/>
                </a:solidFill>
                <a:latin typeface="JetBrains Mono" pitchFamily="49" charset="0"/>
                <a:ea typeface="JetBrains Mono" pitchFamily="49" charset="-122"/>
                <a:cs typeface="JetBrains Mono" pitchFamily="49" charset="-120"/>
              </a:rPr>
              <a:t>printf(</a:t>
            </a:r>
            <a:r>
              <a:rPr lang="en-US" sz="1900" dirty="0">
                <a:solidFill>
                  <a:srgbClr val="F0B27A"/>
                </a:solidFill>
                <a:latin typeface="JetBrains Mono" pitchFamily="49" charset="0"/>
                <a:ea typeface="JetBrains Mono" pitchFamily="49" charset="-122"/>
                <a:cs typeface="JetBrains Mono" pitchFamily="49" charset="-120"/>
              </a:rPr>
              <a:t>"Average = %.2f"</a:t>
            </a:r>
            <a:r>
              <a:rPr lang="en-US" sz="1900" dirty="0">
                <a:solidFill>
                  <a:srgbClr val="E6E9F0"/>
                </a:solidFill>
                <a:latin typeface="JetBrains Mono" pitchFamily="49" charset="0"/>
                <a:ea typeface="JetBrains Mono" pitchFamily="49" charset="-122"/>
                <a:cs typeface="JetBrains Mono" pitchFamily="49" charset="-120"/>
              </a:rPr>
              <a:t>, avg);</a:t>
            </a:r>
            <a:endParaRPr lang="en-US" sz="1900" dirty="0"/>
          </a:p>
        </p:txBody>
      </p:sp>
      <p:sp>
        <p:nvSpPr>
          <p:cNvPr id="4" name="Text 2"/>
          <p:cNvSpPr/>
          <p:nvPr/>
        </p:nvSpPr>
        <p:spPr>
          <a:xfrm>
            <a:off x="7569200" y="1872555"/>
            <a:ext cx="39243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596273"/>
                </a:solidFill>
                <a:latin typeface="Rubik" pitchFamily="34" charset="0"/>
                <a:ea typeface="Rubik" pitchFamily="34" charset="-122"/>
                <a:cs typeface="Rubik" pitchFamily="34" charset="-120"/>
              </a:rPr>
              <a:t>It compiles.</a:t>
            </a:r>
            <a:endParaRPr lang="en-US" sz="2000" dirty="0"/>
          </a:p>
        </p:txBody>
      </p:sp>
      <p:sp>
        <p:nvSpPr>
          <p:cNvPr id="5" name="Text 3"/>
          <p:cNvSpPr/>
          <p:nvPr/>
        </p:nvSpPr>
        <p:spPr>
          <a:xfrm>
            <a:off x="7569200" y="2355155"/>
            <a:ext cx="39243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596273"/>
                </a:solidFill>
                <a:latin typeface="Rubik" pitchFamily="34" charset="0"/>
                <a:ea typeface="Rubik" pitchFamily="34" charset="-122"/>
                <a:cs typeface="Rubik" pitchFamily="34" charset="-120"/>
              </a:rPr>
              <a:t>It runs.</a:t>
            </a:r>
            <a:endParaRPr lang="en-US" sz="2000" dirty="0"/>
          </a:p>
        </p:txBody>
      </p:sp>
      <p:sp>
        <p:nvSpPr>
          <p:cNvPr id="6" name="Text 4"/>
          <p:cNvSpPr/>
          <p:nvPr/>
        </p:nvSpPr>
        <p:spPr>
          <a:xfrm>
            <a:off x="7569200" y="2837755"/>
            <a:ext cx="3924300" cy="48766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A94F17"/>
                </a:solidFill>
                <a:latin typeface="Rubik" pitchFamily="34" charset="0"/>
                <a:ea typeface="Rubik" pitchFamily="34" charset="-122"/>
                <a:cs typeface="Rubik" pitchFamily="34" charset="-120"/>
              </a:rPr>
              <a:t>Is it correct?</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The answer is silently wrong</a:t>
            </a:r>
            <a:endParaRPr lang="en-US" sz="3200" dirty="0"/>
          </a:p>
        </p:txBody>
      </p:sp>
      <p:sp>
        <p:nvSpPr>
          <p:cNvPr id="3" name="Shape 1"/>
          <p:cNvSpPr/>
          <p:nvPr/>
        </p:nvSpPr>
        <p:spPr>
          <a:xfrm>
            <a:off x="815975" y="1618605"/>
            <a:ext cx="5175250" cy="1670050"/>
          </a:xfrm>
          <a:prstGeom prst="roundRect">
            <a:avLst>
              <a:gd name="adj" fmla="val 7414"/>
            </a:avLst>
          </a:prstGeom>
          <a:solidFill>
            <a:srgbClr val="FFFDF8"/>
          </a:solidFill>
          <a:ln w="6350">
            <a:solidFill>
              <a:srgbClr val="E2DDD2"/>
            </a:solidFill>
            <a:prstDash val="solid"/>
          </a:ln>
        </p:spPr>
        <p:txBody>
          <a:bodyPr/>
          <a:lstStyle/>
          <a:p>
            <a:endParaRPr lang="en-US"/>
          </a:p>
        </p:txBody>
      </p:sp>
      <p:sp>
        <p:nvSpPr>
          <p:cNvPr id="4" name="Text 2"/>
          <p:cNvSpPr/>
          <p:nvPr/>
        </p:nvSpPr>
        <p:spPr>
          <a:xfrm>
            <a:off x="1073150" y="1875780"/>
            <a:ext cx="4800727" cy="863600"/>
          </a:xfrm>
          <a:prstGeom prst="rect">
            <a:avLst/>
          </a:prstGeom>
          <a:noFill/>
          <a:ln/>
        </p:spPr>
        <p:txBody>
          <a:bodyPr wrap="square" lIns="0" tIns="0" rIns="0" bIns="0" rtlCol="0" anchor="t">
            <a:normAutofit/>
          </a:bodyPr>
          <a:lstStyle/>
          <a:p>
            <a:pPr marL="0" indent="0" algn="l">
              <a:lnSpc>
                <a:spcPts val="6600"/>
              </a:lnSpc>
              <a:buNone/>
            </a:pPr>
            <a:r>
              <a:rPr lang="en-US" sz="6000" b="1" dirty="0">
                <a:solidFill>
                  <a:srgbClr val="A94F17"/>
                </a:solidFill>
                <a:latin typeface="Rubik" pitchFamily="34" charset="0"/>
                <a:ea typeface="Rubik" pitchFamily="34" charset="-122"/>
                <a:cs typeface="Rubik" pitchFamily="34" charset="-120"/>
              </a:rPr>
              <a:t>84.00</a:t>
            </a:r>
            <a:endParaRPr lang="en-US" sz="6000" dirty="0"/>
          </a:p>
        </p:txBody>
      </p:sp>
      <p:sp>
        <p:nvSpPr>
          <p:cNvPr id="5" name="Text 3"/>
          <p:cNvSpPr/>
          <p:nvPr/>
        </p:nvSpPr>
        <p:spPr>
          <a:xfrm>
            <a:off x="1073150" y="2764780"/>
            <a:ext cx="480072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96273"/>
                </a:solidFill>
                <a:latin typeface="Rubik" pitchFamily="34" charset="0"/>
                <a:ea typeface="Rubik" pitchFamily="34" charset="-122"/>
                <a:cs typeface="Rubik" pitchFamily="34" charset="-120"/>
              </a:rPr>
              <a:t>What the program prints</a:t>
            </a:r>
            <a:endParaRPr lang="en-US" sz="1500" dirty="0"/>
          </a:p>
        </p:txBody>
      </p:sp>
      <p:sp>
        <p:nvSpPr>
          <p:cNvPr id="6" name="Shape 4"/>
          <p:cNvSpPr/>
          <p:nvPr/>
        </p:nvSpPr>
        <p:spPr>
          <a:xfrm>
            <a:off x="6200775" y="1618605"/>
            <a:ext cx="5175250" cy="1670050"/>
          </a:xfrm>
          <a:prstGeom prst="roundRect">
            <a:avLst>
              <a:gd name="adj" fmla="val 7414"/>
            </a:avLst>
          </a:prstGeom>
          <a:solidFill>
            <a:srgbClr val="FFFDF8"/>
          </a:solidFill>
          <a:ln w="6350">
            <a:solidFill>
              <a:srgbClr val="E2DDD2"/>
            </a:solidFill>
            <a:prstDash val="solid"/>
          </a:ln>
        </p:spPr>
        <p:txBody>
          <a:bodyPr/>
          <a:lstStyle/>
          <a:p>
            <a:endParaRPr lang="en-US"/>
          </a:p>
        </p:txBody>
      </p:sp>
      <p:sp>
        <p:nvSpPr>
          <p:cNvPr id="7" name="Text 5"/>
          <p:cNvSpPr/>
          <p:nvPr/>
        </p:nvSpPr>
        <p:spPr>
          <a:xfrm>
            <a:off x="6457950" y="1875780"/>
            <a:ext cx="4800727" cy="863600"/>
          </a:xfrm>
          <a:prstGeom prst="rect">
            <a:avLst/>
          </a:prstGeom>
          <a:noFill/>
          <a:ln/>
        </p:spPr>
        <p:txBody>
          <a:bodyPr wrap="square" lIns="0" tIns="0" rIns="0" bIns="0" rtlCol="0" anchor="t">
            <a:normAutofit/>
          </a:bodyPr>
          <a:lstStyle/>
          <a:p>
            <a:pPr marL="0" indent="0" algn="l">
              <a:lnSpc>
                <a:spcPts val="6600"/>
              </a:lnSpc>
              <a:buNone/>
            </a:pPr>
            <a:r>
              <a:rPr lang="en-US" sz="6000" b="1" dirty="0">
                <a:solidFill>
                  <a:srgbClr val="2A5BD7"/>
                </a:solidFill>
                <a:latin typeface="Rubik" pitchFamily="34" charset="0"/>
                <a:ea typeface="Rubik" pitchFamily="34" charset="-122"/>
                <a:cs typeface="Rubik" pitchFamily="34" charset="-120"/>
              </a:rPr>
              <a:t>84.33</a:t>
            </a:r>
            <a:endParaRPr lang="en-US" sz="6000" dirty="0"/>
          </a:p>
        </p:txBody>
      </p:sp>
      <p:sp>
        <p:nvSpPr>
          <p:cNvPr id="8" name="Text 6"/>
          <p:cNvSpPr/>
          <p:nvPr/>
        </p:nvSpPr>
        <p:spPr>
          <a:xfrm>
            <a:off x="6457950" y="2764780"/>
            <a:ext cx="480072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96273"/>
                </a:solidFill>
                <a:latin typeface="Rubik" pitchFamily="34" charset="0"/>
                <a:ea typeface="Rubik" pitchFamily="34" charset="-122"/>
                <a:cs typeface="Rubik" pitchFamily="34" charset="-120"/>
              </a:rPr>
              <a:t>The correct average</a:t>
            </a:r>
            <a:endParaRPr lang="en-US" sz="1500" dirty="0"/>
          </a:p>
        </p:txBody>
      </p:sp>
      <p:sp>
        <p:nvSpPr>
          <p:cNvPr id="9" name="Text 7"/>
          <p:cNvSpPr/>
          <p:nvPr/>
        </p:nvSpPr>
        <p:spPr>
          <a:xfrm>
            <a:off x="812800" y="3647430"/>
            <a:ext cx="10883392"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1C2230"/>
                </a:solidFill>
                <a:latin typeface="Rubik" pitchFamily="34" charset="0"/>
                <a:ea typeface="Rubik" pitchFamily="34" charset="-122"/>
                <a:cs typeface="Rubik" pitchFamily="34" charset="-120"/>
              </a:rPr>
              <a:t>253 / 3 is </a:t>
            </a:r>
            <a:r>
              <a:rPr lang="en-US" sz="1700" b="1" dirty="0">
                <a:solidFill>
                  <a:srgbClr val="1C2230"/>
                </a:solidFill>
                <a:latin typeface="Rubik" pitchFamily="34" charset="0"/>
                <a:ea typeface="Rubik" pitchFamily="34" charset="-122"/>
                <a:cs typeface="Rubik" pitchFamily="34" charset="-120"/>
              </a:rPr>
              <a:t>integer division</a:t>
            </a:r>
            <a:r>
              <a:rPr lang="en-US" sz="1700" dirty="0">
                <a:solidFill>
                  <a:srgbClr val="1C2230"/>
                </a:solidFill>
                <a:latin typeface="Rubik" pitchFamily="34" charset="0"/>
                <a:ea typeface="Rubik" pitchFamily="34" charset="-122"/>
                <a:cs typeface="Rubik" pitchFamily="34" charset="-120"/>
              </a:rPr>
              <a:t>, so C computes 84 and throws away the decimal part before the value ever reaches the float. Fix: divide by </a:t>
            </a:r>
            <a:r>
              <a:rPr lang="en-US" sz="1700" b="1" dirty="0">
                <a:solidFill>
                  <a:srgbClr val="1C2230"/>
                </a:solidFill>
                <a:latin typeface="Rubik" pitchFamily="34" charset="0"/>
                <a:ea typeface="Rubik" pitchFamily="34" charset="-122"/>
                <a:cs typeface="Rubik" pitchFamily="34" charset="-120"/>
              </a:rPr>
              <a:t>3.0</a:t>
            </a:r>
            <a:r>
              <a:rPr lang="en-US" sz="1700" dirty="0">
                <a:solidFill>
                  <a:srgbClr val="1C2230"/>
                </a:solidFill>
                <a:latin typeface="Rubik" pitchFamily="34" charset="0"/>
                <a:ea typeface="Rubik" pitchFamily="34" charset="-122"/>
                <a:cs typeface="Rubik" pitchFamily="34" charset="-120"/>
              </a:rPr>
              <a:t>.</a:t>
            </a:r>
            <a:endParaRPr lang="en-US" sz="1700" dirty="0"/>
          </a:p>
        </p:txBody>
      </p:sp>
      <p:sp>
        <p:nvSpPr>
          <p:cNvPr id="10" name="Text 8"/>
          <p:cNvSpPr/>
          <p:nvPr/>
        </p:nvSpPr>
        <p:spPr>
          <a:xfrm>
            <a:off x="812800" y="4629100"/>
            <a:ext cx="10883392" cy="338435"/>
          </a:xfrm>
          <a:prstGeom prst="rect">
            <a:avLst/>
          </a:prstGeom>
          <a:noFill/>
          <a:ln/>
        </p:spPr>
        <p:txBody>
          <a:bodyPr wrap="square" lIns="0" tIns="0" rIns="0" bIns="0" rtlCol="0" anchor="t">
            <a:normAutofit/>
          </a:bodyPr>
          <a:lstStyle/>
          <a:p>
            <a:pPr marL="0" indent="0" algn="l">
              <a:lnSpc>
                <a:spcPts val="2465"/>
              </a:lnSpc>
              <a:buNone/>
            </a:pPr>
            <a:r>
              <a:rPr lang="en-US" sz="1700" b="1" dirty="0">
                <a:solidFill>
                  <a:srgbClr val="A94F17"/>
                </a:solidFill>
                <a:latin typeface="Rubik" pitchFamily="34" charset="0"/>
                <a:ea typeface="Rubik" pitchFamily="34" charset="-122"/>
                <a:cs typeface="Rubik" pitchFamily="34" charset="-120"/>
              </a:rPr>
              <a:t>Now imagine this calculating your CGPA, or a patient's medicine dose.</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533549"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Bug hunt: find all three</a:t>
            </a:r>
            <a:endParaRPr lang="en-US" sz="3200" dirty="0"/>
          </a:p>
        </p:txBody>
      </p:sp>
      <p:sp>
        <p:nvSpPr>
          <p:cNvPr id="3" name="Text 1"/>
          <p:cNvSpPr/>
          <p:nvPr/>
        </p:nvSpPr>
        <p:spPr>
          <a:xfrm>
            <a:off x="9113341" y="848370"/>
            <a:ext cx="2265859" cy="375890"/>
          </a:xfrm>
          <a:prstGeom prst="roundRect">
            <a:avLst>
              <a:gd name="adj" fmla="val 50000"/>
            </a:avLst>
          </a:prstGeom>
          <a:solidFill>
            <a:srgbClr val="E9893F"/>
          </a:solidFill>
          <a:ln/>
        </p:spPr>
        <p:txBody>
          <a:bodyPr wrap="none" lIns="0" tIns="0" rIns="0" bIns="0" rtlCol="0" anchor="ctr">
            <a:normAutofit/>
          </a:bodyPr>
          <a:lstStyle/>
          <a:p>
            <a:pPr marL="0" indent="0" algn="ctr">
              <a:lnSpc>
                <a:spcPts val="1960"/>
              </a:lnSpc>
              <a:buNone/>
            </a:pPr>
            <a:r>
              <a:rPr lang="en-US" sz="1400" b="1" dirty="0">
                <a:solidFill>
                  <a:srgbClr val="15233F"/>
                </a:solidFill>
                <a:latin typeface="Rubik" pitchFamily="34" charset="0"/>
                <a:ea typeface="Rubik" pitchFamily="34" charset="-122"/>
                <a:cs typeface="Rubik" pitchFamily="34" charset="-120"/>
              </a:rPr>
              <a:t>In pairs · first pair wins</a:t>
            </a:r>
            <a:endParaRPr lang="en-US" sz="1400" dirty="0"/>
          </a:p>
        </p:txBody>
      </p:sp>
      <p:sp>
        <p:nvSpPr>
          <p:cNvPr id="4" name="Shape 2"/>
          <p:cNvSpPr/>
          <p:nvPr/>
        </p:nvSpPr>
        <p:spPr>
          <a:xfrm>
            <a:off x="815975" y="1517005"/>
            <a:ext cx="10560050" cy="1238250"/>
          </a:xfrm>
          <a:prstGeom prst="roundRect">
            <a:avLst>
              <a:gd name="adj" fmla="val 8974"/>
            </a:avLst>
          </a:prstGeom>
          <a:solidFill>
            <a:srgbClr val="FFFDF8"/>
          </a:solidFill>
          <a:ln w="6350">
            <a:solidFill>
              <a:srgbClr val="E2DDD2"/>
            </a:solidFill>
            <a:prstDash val="solid"/>
          </a:ln>
        </p:spPr>
        <p:txBody>
          <a:bodyPr/>
          <a:lstStyle/>
          <a:p>
            <a:endParaRPr lang="en-US"/>
          </a:p>
        </p:txBody>
      </p:sp>
      <p:sp>
        <p:nvSpPr>
          <p:cNvPr id="5" name="Text 3"/>
          <p:cNvSpPr/>
          <p:nvPr/>
        </p:nvSpPr>
        <p:spPr>
          <a:xfrm>
            <a:off x="1073150" y="1878955"/>
            <a:ext cx="3662680"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C2230"/>
                </a:solidFill>
                <a:latin typeface="Rubik" pitchFamily="34" charset="0"/>
                <a:ea typeface="Rubik" pitchFamily="34" charset="-122"/>
                <a:cs typeface="Rubik" pitchFamily="34" charset="-120"/>
              </a:rPr>
              <a:t>1.</a:t>
            </a:r>
            <a:r>
              <a:rPr lang="en-US" sz="1500" dirty="0">
                <a:solidFill>
                  <a:srgbClr val="1C2230"/>
                </a:solidFill>
                <a:latin typeface="Rubik" pitchFamily="34" charset="0"/>
                <a:ea typeface="Rubik" pitchFamily="34" charset="-122"/>
                <a:cs typeface="Rubik" pitchFamily="34" charset="-120"/>
              </a:rPr>
              <a:t> Congratulate only students who scored 100</a:t>
            </a:r>
            <a:endParaRPr lang="en-US" sz="1500" dirty="0"/>
          </a:p>
        </p:txBody>
      </p:sp>
      <p:sp>
        <p:nvSpPr>
          <p:cNvPr id="6" name="Text 4"/>
          <p:cNvSpPr/>
          <p:nvPr/>
        </p:nvSpPr>
        <p:spPr>
          <a:xfrm>
            <a:off x="4883150" y="1697980"/>
            <a:ext cx="6235700" cy="876300"/>
          </a:xfrm>
          <a:prstGeom prst="roundRect">
            <a:avLst>
              <a:gd name="adj" fmla="val 8696"/>
            </a:avLst>
          </a:prstGeom>
          <a:solidFill>
            <a:srgbClr val="15233F"/>
          </a:solidFill>
          <a:ln/>
        </p:spPr>
        <p:txBody>
          <a:bodyPr wrap="square" lIns="180882" tIns="130082" rIns="6003" bIns="104682" rtlCol="0" anchor="t">
            <a:normAutofit/>
          </a:bodyPr>
          <a:lstStyle/>
          <a:p>
            <a:pPr marL="0" indent="0" algn="l">
              <a:lnSpc>
                <a:spcPts val="2250"/>
              </a:lnSpc>
              <a:buNone/>
            </a:pPr>
            <a:r>
              <a:rPr lang="en-US" sz="1500" dirty="0">
                <a:solidFill>
                  <a:srgbClr val="E6E9F0"/>
                </a:solidFill>
                <a:latin typeface="JetBrains Mono" pitchFamily="49" charset="0"/>
                <a:ea typeface="JetBrains Mono" pitchFamily="49" charset="-122"/>
                <a:cs typeface="JetBrains Mono" pitchFamily="49" charset="-120"/>
              </a:rPr>
              <a:t>if (marks = 100)</a:t>
            </a:r>
            <a:endParaRPr lang="en-US" sz="1500" dirty="0"/>
          </a:p>
          <a:p>
            <a:pPr marL="0" indent="0" algn="l">
              <a:lnSpc>
                <a:spcPts val="2250"/>
              </a:lnSpc>
              <a:buNone/>
            </a:pPr>
            <a:r>
              <a:rPr lang="en-US" sz="1500" dirty="0">
                <a:solidFill>
                  <a:srgbClr val="E6E9F0"/>
                </a:solidFill>
                <a:latin typeface="JetBrains Mono" pitchFamily="49" charset="0"/>
                <a:ea typeface="JetBrains Mono" pitchFamily="49" charset="-122"/>
                <a:cs typeface="JetBrains Mono" pitchFamily="49" charset="-120"/>
              </a:rPr>
              <a:t>printf(</a:t>
            </a:r>
            <a:r>
              <a:rPr lang="en-US" sz="1500" dirty="0">
                <a:solidFill>
                  <a:srgbClr val="F0B27A"/>
                </a:solidFill>
                <a:latin typeface="JetBrains Mono" pitchFamily="49" charset="0"/>
                <a:ea typeface="JetBrains Mono" pitchFamily="49" charset="-122"/>
                <a:cs typeface="JetBrains Mono" pitchFamily="49" charset="-120"/>
              </a:rPr>
              <a:t>"Full marks!"</a:t>
            </a:r>
            <a:r>
              <a:rPr lang="en-US" sz="1500" dirty="0">
                <a:solidFill>
                  <a:srgbClr val="E6E9F0"/>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815975" y="2888605"/>
            <a:ext cx="10560050" cy="1238250"/>
          </a:xfrm>
          <a:prstGeom prst="roundRect">
            <a:avLst>
              <a:gd name="adj" fmla="val 8974"/>
            </a:avLst>
          </a:prstGeom>
          <a:solidFill>
            <a:srgbClr val="FFFDF8"/>
          </a:solidFill>
          <a:ln w="6350">
            <a:solidFill>
              <a:srgbClr val="E2DDD2"/>
            </a:solidFill>
            <a:prstDash val="solid"/>
          </a:ln>
        </p:spPr>
        <p:txBody>
          <a:bodyPr/>
          <a:lstStyle/>
          <a:p>
            <a:endParaRPr lang="en-US"/>
          </a:p>
        </p:txBody>
      </p:sp>
      <p:sp>
        <p:nvSpPr>
          <p:cNvPr id="8" name="Text 6"/>
          <p:cNvSpPr/>
          <p:nvPr/>
        </p:nvSpPr>
        <p:spPr>
          <a:xfrm>
            <a:off x="1073150" y="3250555"/>
            <a:ext cx="3662680"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C2230"/>
                </a:solidFill>
                <a:latin typeface="Rubik" pitchFamily="34" charset="0"/>
                <a:ea typeface="Rubik" pitchFamily="34" charset="-122"/>
                <a:cs typeface="Rubik" pitchFamily="34" charset="-120"/>
              </a:rPr>
              <a:t>2.</a:t>
            </a:r>
            <a:r>
              <a:rPr lang="en-US" sz="1500" dirty="0">
                <a:solidFill>
                  <a:srgbClr val="1C2230"/>
                </a:solidFill>
                <a:latin typeface="Rubik" pitchFamily="34" charset="0"/>
                <a:ea typeface="Rubik" pitchFamily="34" charset="-122"/>
                <a:cs typeface="Rubik" pitchFamily="34" charset="-120"/>
              </a:rPr>
              <a:t> Print exactly 10 numbers, starting from 0</a:t>
            </a:r>
            <a:endParaRPr lang="en-US" sz="1500" dirty="0"/>
          </a:p>
        </p:txBody>
      </p:sp>
      <p:sp>
        <p:nvSpPr>
          <p:cNvPr id="9" name="Text 7"/>
          <p:cNvSpPr/>
          <p:nvPr/>
        </p:nvSpPr>
        <p:spPr>
          <a:xfrm>
            <a:off x="4883150" y="3069580"/>
            <a:ext cx="6235700" cy="876300"/>
          </a:xfrm>
          <a:prstGeom prst="roundRect">
            <a:avLst>
              <a:gd name="adj" fmla="val 8696"/>
            </a:avLst>
          </a:prstGeom>
          <a:solidFill>
            <a:srgbClr val="15233F"/>
          </a:solidFill>
          <a:ln/>
        </p:spPr>
        <p:txBody>
          <a:bodyPr wrap="square" lIns="180882" tIns="130082" rIns="6003" bIns="104682" rtlCol="0" anchor="t">
            <a:normAutofit/>
          </a:bodyPr>
          <a:lstStyle/>
          <a:p>
            <a:pPr marL="0" indent="0" algn="l">
              <a:lnSpc>
                <a:spcPts val="2250"/>
              </a:lnSpc>
              <a:buNone/>
            </a:pPr>
            <a:r>
              <a:rPr lang="en-US" sz="1500" dirty="0">
                <a:solidFill>
                  <a:srgbClr val="E6E9F0"/>
                </a:solidFill>
                <a:latin typeface="JetBrains Mono" pitchFamily="49" charset="0"/>
                <a:ea typeface="JetBrains Mono" pitchFamily="49" charset="-122"/>
                <a:cs typeface="JetBrains Mono" pitchFamily="49" charset="-120"/>
              </a:rPr>
              <a:t>for (int i = 0; i &lt;= 10; i++)</a:t>
            </a:r>
            <a:endParaRPr lang="en-US" sz="1500" dirty="0"/>
          </a:p>
          <a:p>
            <a:pPr marL="0" indent="0" algn="l">
              <a:lnSpc>
                <a:spcPts val="2250"/>
              </a:lnSpc>
              <a:buNone/>
            </a:pPr>
            <a:r>
              <a:rPr lang="en-US" sz="1500" dirty="0">
                <a:solidFill>
                  <a:srgbClr val="E6E9F0"/>
                </a:solidFill>
                <a:latin typeface="JetBrains Mono" pitchFamily="49" charset="0"/>
                <a:ea typeface="JetBrains Mono" pitchFamily="49" charset="-122"/>
                <a:cs typeface="JetBrains Mono" pitchFamily="49" charset="-120"/>
              </a:rPr>
              <a:t>printf(</a:t>
            </a:r>
            <a:r>
              <a:rPr lang="en-US" sz="1500" dirty="0">
                <a:solidFill>
                  <a:srgbClr val="F0B27A"/>
                </a:solidFill>
                <a:latin typeface="JetBrains Mono" pitchFamily="49" charset="0"/>
                <a:ea typeface="JetBrains Mono" pitchFamily="49" charset="-122"/>
                <a:cs typeface="JetBrains Mono" pitchFamily="49" charset="-120"/>
              </a:rPr>
              <a:t>"%d "</a:t>
            </a:r>
            <a:r>
              <a:rPr lang="en-US" sz="1500" dirty="0">
                <a:solidFill>
                  <a:srgbClr val="E6E9F0"/>
                </a:solidFill>
                <a:latin typeface="JetBrains Mono" pitchFamily="49" charset="0"/>
                <a:ea typeface="JetBrains Mono" pitchFamily="49" charset="-122"/>
                <a:cs typeface="JetBrains Mono" pitchFamily="49" charset="-120"/>
              </a:rPr>
              <a:t>, i);</a:t>
            </a:r>
            <a:endParaRPr lang="en-US" sz="1500" dirty="0"/>
          </a:p>
        </p:txBody>
      </p:sp>
      <p:sp>
        <p:nvSpPr>
          <p:cNvPr id="10" name="Shape 8"/>
          <p:cNvSpPr/>
          <p:nvPr/>
        </p:nvSpPr>
        <p:spPr>
          <a:xfrm>
            <a:off x="815975" y="4260205"/>
            <a:ext cx="10560050" cy="1238250"/>
          </a:xfrm>
          <a:prstGeom prst="roundRect">
            <a:avLst>
              <a:gd name="adj" fmla="val 8974"/>
            </a:avLst>
          </a:prstGeom>
          <a:solidFill>
            <a:srgbClr val="FFFDF8"/>
          </a:solidFill>
          <a:ln w="6350">
            <a:solidFill>
              <a:srgbClr val="E2DDD2"/>
            </a:solidFill>
            <a:prstDash val="solid"/>
          </a:ln>
        </p:spPr>
        <p:txBody>
          <a:bodyPr/>
          <a:lstStyle/>
          <a:p>
            <a:endParaRPr lang="en-US"/>
          </a:p>
        </p:txBody>
      </p:sp>
      <p:sp>
        <p:nvSpPr>
          <p:cNvPr id="11" name="Text 9"/>
          <p:cNvSpPr/>
          <p:nvPr/>
        </p:nvSpPr>
        <p:spPr>
          <a:xfrm>
            <a:off x="1073150" y="4622155"/>
            <a:ext cx="3662680"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C2230"/>
                </a:solidFill>
                <a:latin typeface="Rubik" pitchFamily="34" charset="0"/>
                <a:ea typeface="Rubik" pitchFamily="34" charset="-122"/>
                <a:cs typeface="Rubik" pitchFamily="34" charset="-120"/>
              </a:rPr>
              <a:t>3.</a:t>
            </a:r>
            <a:r>
              <a:rPr lang="en-US" sz="1500" dirty="0">
                <a:solidFill>
                  <a:srgbClr val="1C2230"/>
                </a:solidFill>
                <a:latin typeface="Rubik" pitchFamily="34" charset="0"/>
                <a:ea typeface="Rubik" pitchFamily="34" charset="-122"/>
                <a:cs typeface="Rubik" pitchFamily="34" charset="-120"/>
              </a:rPr>
              <a:t> Read the student's age from the keyboard</a:t>
            </a:r>
            <a:endParaRPr lang="en-US" sz="1500" dirty="0"/>
          </a:p>
        </p:txBody>
      </p:sp>
      <p:sp>
        <p:nvSpPr>
          <p:cNvPr id="12" name="Text 10"/>
          <p:cNvSpPr/>
          <p:nvPr/>
        </p:nvSpPr>
        <p:spPr>
          <a:xfrm>
            <a:off x="4883150" y="4441180"/>
            <a:ext cx="6235700" cy="876300"/>
          </a:xfrm>
          <a:prstGeom prst="roundRect">
            <a:avLst>
              <a:gd name="adj" fmla="val 8696"/>
            </a:avLst>
          </a:prstGeom>
          <a:solidFill>
            <a:srgbClr val="15233F"/>
          </a:solidFill>
          <a:ln/>
        </p:spPr>
        <p:txBody>
          <a:bodyPr wrap="square" lIns="180882" tIns="130082" rIns="6003" bIns="104682" rtlCol="0" anchor="t">
            <a:normAutofit/>
          </a:bodyPr>
          <a:lstStyle/>
          <a:p>
            <a:pPr marL="0" indent="0" algn="l">
              <a:lnSpc>
                <a:spcPts val="2250"/>
              </a:lnSpc>
              <a:buNone/>
            </a:pPr>
            <a:r>
              <a:rPr lang="en-US" sz="1500" dirty="0">
                <a:solidFill>
                  <a:srgbClr val="E6E9F0"/>
                </a:solidFill>
                <a:latin typeface="JetBrains Mono" pitchFamily="49" charset="0"/>
                <a:ea typeface="JetBrains Mono" pitchFamily="49" charset="-122"/>
                <a:cs typeface="JetBrains Mono" pitchFamily="49" charset="-120"/>
              </a:rPr>
              <a:t>int age;</a:t>
            </a:r>
            <a:endParaRPr lang="en-US" sz="1500" dirty="0"/>
          </a:p>
          <a:p>
            <a:pPr marL="0" indent="0" algn="l">
              <a:lnSpc>
                <a:spcPts val="2250"/>
              </a:lnSpc>
              <a:buNone/>
            </a:pPr>
            <a:r>
              <a:rPr lang="en-US" sz="1500" dirty="0">
                <a:solidFill>
                  <a:srgbClr val="E6E9F0"/>
                </a:solidFill>
                <a:latin typeface="JetBrains Mono" pitchFamily="49" charset="0"/>
                <a:ea typeface="JetBrains Mono" pitchFamily="49" charset="-122"/>
                <a:cs typeface="JetBrains Mono" pitchFamily="49" charset="-120"/>
              </a:rPr>
              <a:t>scanf(</a:t>
            </a:r>
            <a:r>
              <a:rPr lang="en-US" sz="1500" dirty="0">
                <a:solidFill>
                  <a:srgbClr val="F0B27A"/>
                </a:solidFill>
                <a:latin typeface="JetBrains Mono" pitchFamily="49" charset="0"/>
                <a:ea typeface="JetBrains Mono" pitchFamily="49" charset="-122"/>
                <a:cs typeface="JetBrains Mono" pitchFamily="49" charset="-120"/>
              </a:rPr>
              <a:t>"%d"</a:t>
            </a:r>
            <a:r>
              <a:rPr lang="en-US" sz="1500" dirty="0">
                <a:solidFill>
                  <a:srgbClr val="E6E9F0"/>
                </a:solidFill>
                <a:latin typeface="JetBrains Mono" pitchFamily="49" charset="0"/>
                <a:ea typeface="JetBrains Mono" pitchFamily="49" charset="-122"/>
                <a:cs typeface="JetBrains Mono" pitchFamily="49" charset="-120"/>
              </a:rPr>
              <a:t>, age);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4569381"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Bug hunt: the fixes</a:t>
            </a:r>
            <a:endParaRPr lang="en-US" sz="3200" dirty="0"/>
          </a:p>
        </p:txBody>
      </p:sp>
      <p:sp>
        <p:nvSpPr>
          <p:cNvPr id="3" name="Text 1"/>
          <p:cNvSpPr/>
          <p:nvPr/>
        </p:nvSpPr>
        <p:spPr>
          <a:xfrm>
            <a:off x="9453563" y="848370"/>
            <a:ext cx="1925638" cy="375890"/>
          </a:xfrm>
          <a:prstGeom prst="roundRect">
            <a:avLst>
              <a:gd name="adj" fmla="val 50000"/>
            </a:avLst>
          </a:prstGeom>
          <a:solidFill>
            <a:srgbClr val="DDF2E6"/>
          </a:solidFill>
          <a:ln/>
        </p:spPr>
        <p:txBody>
          <a:bodyPr wrap="none" lIns="0" tIns="0" rIns="0" bIns="0" rtlCol="0" anchor="ctr">
            <a:normAutofit/>
          </a:bodyPr>
          <a:lstStyle/>
          <a:p>
            <a:pPr marL="0" indent="0" algn="ctr">
              <a:lnSpc>
                <a:spcPts val="1960"/>
              </a:lnSpc>
              <a:buNone/>
            </a:pPr>
            <a:r>
              <a:rPr lang="en-US" sz="1400" b="1" dirty="0">
                <a:solidFill>
                  <a:srgbClr val="1B6B45"/>
                </a:solidFill>
                <a:latin typeface="Rubik" pitchFamily="34" charset="0"/>
                <a:ea typeface="Rubik" pitchFamily="34" charset="-122"/>
                <a:cs typeface="Rubik" pitchFamily="34" charset="-120"/>
              </a:rPr>
              <a:t>Fix shown in green</a:t>
            </a:r>
            <a:endParaRPr lang="en-US" sz="1400" dirty="0"/>
          </a:p>
        </p:txBody>
      </p:sp>
      <p:sp>
        <p:nvSpPr>
          <p:cNvPr id="4" name="Shape 2"/>
          <p:cNvSpPr/>
          <p:nvPr/>
        </p:nvSpPr>
        <p:spPr>
          <a:xfrm>
            <a:off x="815975" y="1517005"/>
            <a:ext cx="10560050" cy="1353741"/>
          </a:xfrm>
          <a:prstGeom prst="roundRect">
            <a:avLst>
              <a:gd name="adj" fmla="val 8209"/>
            </a:avLst>
          </a:prstGeom>
          <a:solidFill>
            <a:srgbClr val="FFFDF8"/>
          </a:solidFill>
          <a:ln w="6350">
            <a:solidFill>
              <a:srgbClr val="E2DDD2"/>
            </a:solidFill>
            <a:prstDash val="solid"/>
          </a:ln>
        </p:spPr>
        <p:txBody>
          <a:bodyPr/>
          <a:lstStyle/>
          <a:p>
            <a:endParaRPr lang="en-US"/>
          </a:p>
        </p:txBody>
      </p:sp>
      <p:sp>
        <p:nvSpPr>
          <p:cNvPr id="5" name="Text 3"/>
          <p:cNvSpPr/>
          <p:nvPr/>
        </p:nvSpPr>
        <p:spPr>
          <a:xfrm>
            <a:off x="1073150" y="1697980"/>
            <a:ext cx="3662680" cy="52070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C2230"/>
                </a:solidFill>
                <a:latin typeface="Rubik" pitchFamily="34" charset="0"/>
                <a:ea typeface="Rubik" pitchFamily="34" charset="-122"/>
                <a:cs typeface="Rubik" pitchFamily="34" charset="-120"/>
              </a:rPr>
              <a:t>1.</a:t>
            </a:r>
            <a:r>
              <a:rPr lang="en-US" sz="1500" dirty="0">
                <a:solidFill>
                  <a:srgbClr val="1C2230"/>
                </a:solidFill>
                <a:latin typeface="Rubik" pitchFamily="34" charset="0"/>
                <a:ea typeface="Rubik" pitchFamily="34" charset="-122"/>
                <a:cs typeface="Rubik" pitchFamily="34" charset="-120"/>
              </a:rPr>
              <a:t> Congratulate only students who scored 100</a:t>
            </a:r>
            <a:endParaRPr lang="en-US" sz="1500" dirty="0"/>
          </a:p>
        </p:txBody>
      </p:sp>
      <p:sp>
        <p:nvSpPr>
          <p:cNvPr id="6" name="Text 4"/>
          <p:cNvSpPr/>
          <p:nvPr/>
        </p:nvSpPr>
        <p:spPr>
          <a:xfrm>
            <a:off x="1073150" y="2244080"/>
            <a:ext cx="366268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96273"/>
                </a:solidFill>
                <a:latin typeface="Rubik" pitchFamily="34" charset="0"/>
                <a:ea typeface="Rubik" pitchFamily="34" charset="-122"/>
                <a:cs typeface="Rubik" pitchFamily="34" charset="-120"/>
              </a:rPr>
              <a:t>= stores 100 in marks, so everyone gets the message. == compares.</a:t>
            </a:r>
            <a:endParaRPr lang="en-US" sz="1300" dirty="0"/>
          </a:p>
        </p:txBody>
      </p:sp>
      <p:sp>
        <p:nvSpPr>
          <p:cNvPr id="7" name="Text 5"/>
          <p:cNvSpPr/>
          <p:nvPr/>
        </p:nvSpPr>
        <p:spPr>
          <a:xfrm>
            <a:off x="4883150" y="1755725"/>
            <a:ext cx="6235700" cy="876300"/>
          </a:xfrm>
          <a:prstGeom prst="roundRect">
            <a:avLst>
              <a:gd name="adj" fmla="val 8696"/>
            </a:avLst>
          </a:prstGeom>
          <a:solidFill>
            <a:srgbClr val="15233F"/>
          </a:solidFill>
          <a:ln/>
        </p:spPr>
        <p:txBody>
          <a:bodyPr wrap="square" lIns="180882" tIns="130082" rIns="6003" bIns="104682" rtlCol="0" anchor="t">
            <a:normAutofit/>
          </a:bodyPr>
          <a:lstStyle/>
          <a:p>
            <a:pPr marL="0" indent="0" algn="l">
              <a:lnSpc>
                <a:spcPts val="2250"/>
              </a:lnSpc>
              <a:buNone/>
            </a:pPr>
            <a:r>
              <a:rPr lang="en-US" sz="1500" dirty="0">
                <a:solidFill>
                  <a:srgbClr val="E6E9F0"/>
                </a:solidFill>
                <a:latin typeface="JetBrains Mono" pitchFamily="49" charset="0"/>
                <a:ea typeface="JetBrains Mono" pitchFamily="49" charset="-122"/>
                <a:cs typeface="JetBrains Mono" pitchFamily="49" charset="-120"/>
              </a:rPr>
              <a:t>if (marks </a:t>
            </a:r>
            <a:r>
              <a:rPr lang="en-US" sz="1500" b="1" dirty="0">
                <a:solidFill>
                  <a:srgbClr val="7FD1A4"/>
                </a:solidFill>
                <a:latin typeface="JetBrains Mono" pitchFamily="49" charset="0"/>
                <a:ea typeface="JetBrains Mono" pitchFamily="49" charset="-122"/>
                <a:cs typeface="JetBrains Mono" pitchFamily="49" charset="-120"/>
              </a:rPr>
              <a:t>==</a:t>
            </a:r>
            <a:r>
              <a:rPr lang="en-US" sz="1500" dirty="0">
                <a:solidFill>
                  <a:srgbClr val="E6E9F0"/>
                </a:solidFill>
                <a:latin typeface="JetBrains Mono" pitchFamily="49" charset="0"/>
                <a:ea typeface="JetBrains Mono" pitchFamily="49" charset="-122"/>
                <a:cs typeface="JetBrains Mono" pitchFamily="49" charset="-120"/>
              </a:rPr>
              <a:t> 100)</a:t>
            </a:r>
            <a:endParaRPr lang="en-US" sz="1500" dirty="0"/>
          </a:p>
          <a:p>
            <a:pPr marL="0" indent="0" algn="l">
              <a:lnSpc>
                <a:spcPts val="2250"/>
              </a:lnSpc>
              <a:buNone/>
            </a:pPr>
            <a:r>
              <a:rPr lang="en-US" sz="1500" dirty="0">
                <a:solidFill>
                  <a:srgbClr val="E6E9F0"/>
                </a:solidFill>
                <a:latin typeface="JetBrains Mono" pitchFamily="49" charset="0"/>
                <a:ea typeface="JetBrains Mono" pitchFamily="49" charset="-122"/>
                <a:cs typeface="JetBrains Mono" pitchFamily="49" charset="-120"/>
              </a:rPr>
              <a:t>    printf(</a:t>
            </a:r>
            <a:r>
              <a:rPr lang="en-US" sz="1500" dirty="0">
                <a:solidFill>
                  <a:srgbClr val="F0B27A"/>
                </a:solidFill>
                <a:latin typeface="JetBrains Mono" pitchFamily="49" charset="0"/>
                <a:ea typeface="JetBrains Mono" pitchFamily="49" charset="-122"/>
                <a:cs typeface="JetBrains Mono" pitchFamily="49" charset="-120"/>
              </a:rPr>
              <a:t>"Full marks!"</a:t>
            </a:r>
            <a:r>
              <a:rPr lang="en-US" sz="1500" dirty="0">
                <a:solidFill>
                  <a:srgbClr val="E6E9F0"/>
                </a:solidFill>
                <a:latin typeface="JetBrains Mono" pitchFamily="49" charset="0"/>
                <a:ea typeface="JetBrains Mono" pitchFamily="49" charset="-122"/>
                <a:cs typeface="JetBrains Mono" pitchFamily="49" charset="-120"/>
              </a:rPr>
              <a:t>);</a:t>
            </a:r>
            <a:endParaRPr lang="en-US" sz="1500" dirty="0"/>
          </a:p>
        </p:txBody>
      </p:sp>
      <p:sp>
        <p:nvSpPr>
          <p:cNvPr id="8" name="Shape 6"/>
          <p:cNvSpPr/>
          <p:nvPr/>
        </p:nvSpPr>
        <p:spPr>
          <a:xfrm>
            <a:off x="815975" y="3004096"/>
            <a:ext cx="10560050" cy="1238250"/>
          </a:xfrm>
          <a:prstGeom prst="roundRect">
            <a:avLst>
              <a:gd name="adj" fmla="val 8974"/>
            </a:avLst>
          </a:prstGeom>
          <a:solidFill>
            <a:srgbClr val="FFFDF8"/>
          </a:solidFill>
          <a:ln w="6350">
            <a:solidFill>
              <a:srgbClr val="E2DDD2"/>
            </a:solidFill>
            <a:prstDash val="solid"/>
          </a:ln>
        </p:spPr>
        <p:txBody>
          <a:bodyPr/>
          <a:lstStyle/>
          <a:p>
            <a:endParaRPr lang="en-US"/>
          </a:p>
        </p:txBody>
      </p:sp>
      <p:sp>
        <p:nvSpPr>
          <p:cNvPr id="9" name="Text 7"/>
          <p:cNvSpPr/>
          <p:nvPr/>
        </p:nvSpPr>
        <p:spPr>
          <a:xfrm>
            <a:off x="1073150" y="3238748"/>
            <a:ext cx="3662680" cy="52070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C2230"/>
                </a:solidFill>
                <a:latin typeface="Rubik" pitchFamily="34" charset="0"/>
                <a:ea typeface="Rubik" pitchFamily="34" charset="-122"/>
                <a:cs typeface="Rubik" pitchFamily="34" charset="-120"/>
              </a:rPr>
              <a:t>2.</a:t>
            </a:r>
            <a:r>
              <a:rPr lang="en-US" sz="1500" dirty="0">
                <a:solidFill>
                  <a:srgbClr val="1C2230"/>
                </a:solidFill>
                <a:latin typeface="Rubik" pitchFamily="34" charset="0"/>
                <a:ea typeface="Rubik" pitchFamily="34" charset="-122"/>
                <a:cs typeface="Rubik" pitchFamily="34" charset="-120"/>
              </a:rPr>
              <a:t> Print exactly 10 numbers, starting from 0</a:t>
            </a:r>
            <a:endParaRPr lang="en-US" sz="1500" dirty="0"/>
          </a:p>
        </p:txBody>
      </p:sp>
      <p:sp>
        <p:nvSpPr>
          <p:cNvPr id="10" name="Text 8"/>
          <p:cNvSpPr/>
          <p:nvPr/>
        </p:nvSpPr>
        <p:spPr>
          <a:xfrm>
            <a:off x="1073150" y="3784848"/>
            <a:ext cx="366268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96273"/>
                </a:solidFill>
                <a:latin typeface="Rubik" pitchFamily="34" charset="0"/>
                <a:ea typeface="Rubik" pitchFamily="34" charset="-122"/>
                <a:cs typeface="Rubik" pitchFamily="34" charset="-120"/>
              </a:rPr>
              <a:t>0 to 10 is 11 numbers. Stop before 10.</a:t>
            </a:r>
            <a:endParaRPr lang="en-US" sz="1300" dirty="0"/>
          </a:p>
        </p:txBody>
      </p:sp>
      <p:sp>
        <p:nvSpPr>
          <p:cNvPr id="11" name="Text 9"/>
          <p:cNvSpPr/>
          <p:nvPr/>
        </p:nvSpPr>
        <p:spPr>
          <a:xfrm>
            <a:off x="4883150" y="3185071"/>
            <a:ext cx="6235700" cy="876300"/>
          </a:xfrm>
          <a:prstGeom prst="roundRect">
            <a:avLst>
              <a:gd name="adj" fmla="val 8696"/>
            </a:avLst>
          </a:prstGeom>
          <a:solidFill>
            <a:srgbClr val="15233F"/>
          </a:solidFill>
          <a:ln/>
        </p:spPr>
        <p:txBody>
          <a:bodyPr wrap="square" lIns="180882" tIns="130082" rIns="6003" bIns="104682" rtlCol="0" anchor="t">
            <a:normAutofit/>
          </a:bodyPr>
          <a:lstStyle/>
          <a:p>
            <a:pPr marL="0" indent="0" algn="l">
              <a:lnSpc>
                <a:spcPts val="2250"/>
              </a:lnSpc>
              <a:buNone/>
            </a:pPr>
            <a:r>
              <a:rPr lang="en-US" sz="1500" dirty="0">
                <a:solidFill>
                  <a:srgbClr val="E6E9F0"/>
                </a:solidFill>
                <a:latin typeface="JetBrains Mono" pitchFamily="49" charset="0"/>
                <a:ea typeface="JetBrains Mono" pitchFamily="49" charset="-122"/>
                <a:cs typeface="JetBrains Mono" pitchFamily="49" charset="-120"/>
              </a:rPr>
              <a:t>for (int i = 0; </a:t>
            </a:r>
            <a:r>
              <a:rPr lang="en-US" sz="1500" b="1" dirty="0">
                <a:solidFill>
                  <a:srgbClr val="7FD1A4"/>
                </a:solidFill>
                <a:latin typeface="JetBrains Mono" pitchFamily="49" charset="0"/>
                <a:ea typeface="JetBrains Mono" pitchFamily="49" charset="-122"/>
                <a:cs typeface="JetBrains Mono" pitchFamily="49" charset="-120"/>
              </a:rPr>
              <a:t>i &lt; 10</a:t>
            </a:r>
            <a:r>
              <a:rPr lang="en-US" sz="1500" dirty="0">
                <a:solidFill>
                  <a:srgbClr val="E6E9F0"/>
                </a:solidFill>
                <a:latin typeface="JetBrains Mono" pitchFamily="49" charset="0"/>
                <a:ea typeface="JetBrains Mono" pitchFamily="49" charset="-122"/>
                <a:cs typeface="JetBrains Mono" pitchFamily="49" charset="-120"/>
              </a:rPr>
              <a:t>; i++)</a:t>
            </a:r>
            <a:endParaRPr lang="en-US" sz="1500" dirty="0"/>
          </a:p>
          <a:p>
            <a:pPr marL="0" indent="0" algn="l">
              <a:lnSpc>
                <a:spcPts val="2250"/>
              </a:lnSpc>
              <a:buNone/>
            </a:pPr>
            <a:r>
              <a:rPr lang="en-US" sz="1500" dirty="0">
                <a:solidFill>
                  <a:srgbClr val="E6E9F0"/>
                </a:solidFill>
                <a:latin typeface="JetBrains Mono" pitchFamily="49" charset="0"/>
                <a:ea typeface="JetBrains Mono" pitchFamily="49" charset="-122"/>
                <a:cs typeface="JetBrains Mono" pitchFamily="49" charset="-120"/>
              </a:rPr>
              <a:t>    printf(</a:t>
            </a:r>
            <a:r>
              <a:rPr lang="en-US" sz="1500" dirty="0">
                <a:solidFill>
                  <a:srgbClr val="F0B27A"/>
                </a:solidFill>
                <a:latin typeface="JetBrains Mono" pitchFamily="49" charset="0"/>
                <a:ea typeface="JetBrains Mono" pitchFamily="49" charset="-122"/>
                <a:cs typeface="JetBrains Mono" pitchFamily="49" charset="-120"/>
              </a:rPr>
              <a:t>"%d "</a:t>
            </a:r>
            <a:r>
              <a:rPr lang="en-US" sz="1500" dirty="0">
                <a:solidFill>
                  <a:srgbClr val="E6E9F0"/>
                </a:solidFill>
                <a:latin typeface="JetBrains Mono" pitchFamily="49" charset="0"/>
                <a:ea typeface="JetBrains Mono" pitchFamily="49" charset="-122"/>
                <a:cs typeface="JetBrains Mono" pitchFamily="49" charset="-120"/>
              </a:rPr>
              <a:t>, i);</a:t>
            </a:r>
            <a:endParaRPr lang="en-US" sz="1500" dirty="0"/>
          </a:p>
        </p:txBody>
      </p:sp>
      <p:sp>
        <p:nvSpPr>
          <p:cNvPr id="12" name="Shape 10"/>
          <p:cNvSpPr/>
          <p:nvPr/>
        </p:nvSpPr>
        <p:spPr>
          <a:xfrm>
            <a:off x="815975" y="4375696"/>
            <a:ext cx="10560050" cy="1238250"/>
          </a:xfrm>
          <a:prstGeom prst="roundRect">
            <a:avLst>
              <a:gd name="adj" fmla="val 8974"/>
            </a:avLst>
          </a:prstGeom>
          <a:solidFill>
            <a:srgbClr val="FFFDF8"/>
          </a:solidFill>
          <a:ln w="6350">
            <a:solidFill>
              <a:srgbClr val="E2DDD2"/>
            </a:solidFill>
            <a:prstDash val="solid"/>
          </a:ln>
        </p:spPr>
        <p:txBody>
          <a:bodyPr/>
          <a:lstStyle/>
          <a:p>
            <a:endParaRPr lang="en-US"/>
          </a:p>
        </p:txBody>
      </p:sp>
      <p:sp>
        <p:nvSpPr>
          <p:cNvPr id="13" name="Text 11"/>
          <p:cNvSpPr/>
          <p:nvPr/>
        </p:nvSpPr>
        <p:spPr>
          <a:xfrm>
            <a:off x="1073150" y="4610348"/>
            <a:ext cx="3662680" cy="52070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C2230"/>
                </a:solidFill>
                <a:latin typeface="Rubik" pitchFamily="34" charset="0"/>
                <a:ea typeface="Rubik" pitchFamily="34" charset="-122"/>
                <a:cs typeface="Rubik" pitchFamily="34" charset="-120"/>
              </a:rPr>
              <a:t>3.</a:t>
            </a:r>
            <a:r>
              <a:rPr lang="en-US" sz="1500" dirty="0">
                <a:solidFill>
                  <a:srgbClr val="1C2230"/>
                </a:solidFill>
                <a:latin typeface="Rubik" pitchFamily="34" charset="0"/>
                <a:ea typeface="Rubik" pitchFamily="34" charset="-122"/>
                <a:cs typeface="Rubik" pitchFamily="34" charset="-120"/>
              </a:rPr>
              <a:t> Read the student's age from the keyboard</a:t>
            </a:r>
            <a:endParaRPr lang="en-US" sz="1500" dirty="0"/>
          </a:p>
        </p:txBody>
      </p:sp>
      <p:sp>
        <p:nvSpPr>
          <p:cNvPr id="14" name="Text 12"/>
          <p:cNvSpPr/>
          <p:nvPr/>
        </p:nvSpPr>
        <p:spPr>
          <a:xfrm>
            <a:off x="1073150" y="5156448"/>
            <a:ext cx="381000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96273"/>
                </a:solidFill>
                <a:latin typeface="Rubik" pitchFamily="34" charset="0"/>
                <a:ea typeface="Rubik" pitchFamily="34" charset="-122"/>
                <a:cs typeface="Rubik" pitchFamily="34" charset="-120"/>
              </a:rPr>
              <a:t>scanf needs the address of age, written &amp;age.</a:t>
            </a:r>
            <a:endParaRPr lang="en-US" sz="1300" dirty="0"/>
          </a:p>
        </p:txBody>
      </p:sp>
      <p:sp>
        <p:nvSpPr>
          <p:cNvPr id="15" name="Text 13"/>
          <p:cNvSpPr/>
          <p:nvPr/>
        </p:nvSpPr>
        <p:spPr>
          <a:xfrm>
            <a:off x="4883150" y="4556671"/>
            <a:ext cx="6235700" cy="876300"/>
          </a:xfrm>
          <a:prstGeom prst="roundRect">
            <a:avLst>
              <a:gd name="adj" fmla="val 8696"/>
            </a:avLst>
          </a:prstGeom>
          <a:solidFill>
            <a:srgbClr val="15233F"/>
          </a:solidFill>
          <a:ln/>
        </p:spPr>
        <p:txBody>
          <a:bodyPr wrap="square" lIns="180882" tIns="130082" rIns="6003" bIns="104682" rtlCol="0" anchor="t">
            <a:normAutofit/>
          </a:bodyPr>
          <a:lstStyle/>
          <a:p>
            <a:pPr marL="0" indent="0" algn="l">
              <a:lnSpc>
                <a:spcPts val="2250"/>
              </a:lnSpc>
              <a:buNone/>
            </a:pPr>
            <a:r>
              <a:rPr lang="en-US" sz="1500" dirty="0">
                <a:solidFill>
                  <a:srgbClr val="E6E9F0"/>
                </a:solidFill>
                <a:latin typeface="JetBrains Mono" pitchFamily="49" charset="0"/>
                <a:ea typeface="JetBrains Mono" pitchFamily="49" charset="-122"/>
                <a:cs typeface="JetBrains Mono" pitchFamily="49" charset="-120"/>
              </a:rPr>
              <a:t>int age;</a:t>
            </a:r>
            <a:endParaRPr lang="en-US" sz="1500" dirty="0"/>
          </a:p>
          <a:p>
            <a:pPr marL="0" indent="0" algn="l">
              <a:lnSpc>
                <a:spcPts val="2250"/>
              </a:lnSpc>
              <a:buNone/>
            </a:pPr>
            <a:r>
              <a:rPr lang="en-US" sz="1500" dirty="0">
                <a:solidFill>
                  <a:srgbClr val="E6E9F0"/>
                </a:solidFill>
                <a:latin typeface="JetBrains Mono" pitchFamily="49" charset="0"/>
                <a:ea typeface="JetBrains Mono" pitchFamily="49" charset="-122"/>
                <a:cs typeface="JetBrains Mono" pitchFamily="49" charset="-120"/>
              </a:rPr>
              <a:t>scanf(</a:t>
            </a:r>
            <a:r>
              <a:rPr lang="en-US" sz="1500" dirty="0">
                <a:solidFill>
                  <a:srgbClr val="F0B27A"/>
                </a:solidFill>
                <a:latin typeface="JetBrains Mono" pitchFamily="49" charset="0"/>
                <a:ea typeface="JetBrains Mono" pitchFamily="49" charset="-122"/>
                <a:cs typeface="JetBrains Mono" pitchFamily="49" charset="-120"/>
              </a:rPr>
              <a:t>"%d"</a:t>
            </a:r>
            <a:r>
              <a:rPr lang="en-US" sz="1500" dirty="0">
                <a:solidFill>
                  <a:srgbClr val="E6E9F0"/>
                </a:solidFill>
                <a:latin typeface="JetBrains Mono" pitchFamily="49" charset="0"/>
                <a:ea typeface="JetBrains Mono" pitchFamily="49" charset="-122"/>
                <a:cs typeface="JetBrains Mono" pitchFamily="49" charset="-120"/>
              </a:rPr>
              <a:t>, </a:t>
            </a:r>
            <a:r>
              <a:rPr lang="en-US" sz="1500" b="1" dirty="0">
                <a:solidFill>
                  <a:srgbClr val="7FD1A4"/>
                </a:solidFill>
                <a:latin typeface="JetBrains Mono" pitchFamily="49" charset="0"/>
                <a:ea typeface="JetBrains Mono" pitchFamily="49" charset="-122"/>
                <a:cs typeface="JetBrains Mono" pitchFamily="49" charset="-120"/>
              </a:rPr>
              <a:t>&amp;age</a:t>
            </a:r>
            <a:r>
              <a:rPr lang="en-US" sz="1500" dirty="0">
                <a:solidFill>
                  <a:srgbClr val="E6E9F0"/>
                </a:solidFill>
                <a:latin typeface="JetBrains Mono" pitchFamily="49" charset="0"/>
                <a:ea typeface="JetBrains Mono" pitchFamily="49" charset="-122"/>
                <a:cs typeface="JetBrains Mono" pitchFamily="49" charset="-120"/>
              </a:rPr>
              <a: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Your UPI payment is an if-else</a:t>
            </a:r>
            <a:endParaRPr lang="en-US" sz="3200" dirty="0"/>
          </a:p>
        </p:txBody>
      </p:sp>
      <p:sp>
        <p:nvSpPr>
          <p:cNvPr id="3" name="Shape 1"/>
          <p:cNvSpPr/>
          <p:nvPr/>
        </p:nvSpPr>
        <p:spPr>
          <a:xfrm>
            <a:off x="815975" y="1567805"/>
            <a:ext cx="2181225" cy="1850380"/>
          </a:xfrm>
          <a:prstGeom prst="roundRect">
            <a:avLst>
              <a:gd name="adj" fmla="val 6006"/>
            </a:avLst>
          </a:prstGeom>
          <a:solidFill>
            <a:srgbClr val="FFFDF8"/>
          </a:solidFill>
          <a:ln w="6350">
            <a:solidFill>
              <a:srgbClr val="E2DDD2"/>
            </a:solidFill>
            <a:prstDash val="solid"/>
          </a:ln>
        </p:spPr>
        <p:txBody>
          <a:bodyPr/>
          <a:lstStyle/>
          <a:p>
            <a:endParaRPr lang="en-US"/>
          </a:p>
        </p:txBody>
      </p:sp>
      <p:sp>
        <p:nvSpPr>
          <p:cNvPr id="4" name="Text 2"/>
          <p:cNvSpPr/>
          <p:nvPr/>
        </p:nvSpPr>
        <p:spPr>
          <a:xfrm>
            <a:off x="1047750" y="1799580"/>
            <a:ext cx="1769205"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A5BD7"/>
                </a:solidFill>
                <a:latin typeface="Rubik" pitchFamily="34" charset="0"/>
                <a:ea typeface="Rubik" pitchFamily="34" charset="-122"/>
                <a:cs typeface="Rubik" pitchFamily="34" charset="-120"/>
              </a:rPr>
              <a:t>INPUT</a:t>
            </a:r>
            <a:endParaRPr lang="en-US" sz="1300" dirty="0"/>
          </a:p>
        </p:txBody>
      </p:sp>
      <p:sp>
        <p:nvSpPr>
          <p:cNvPr id="5" name="Text 3"/>
          <p:cNvSpPr/>
          <p:nvPr/>
        </p:nvSpPr>
        <p:spPr>
          <a:xfrm>
            <a:off x="1047750" y="2119610"/>
            <a:ext cx="1769205"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C2230"/>
                </a:solidFill>
                <a:latin typeface="Rubik" pitchFamily="34" charset="0"/>
                <a:ea typeface="Rubik" pitchFamily="34" charset="-122"/>
                <a:cs typeface="Rubik" pitchFamily="34" charset="-120"/>
              </a:rPr>
              <a:t>You enter ₹20 for chai and your UPI PIN</a:t>
            </a:r>
            <a:endParaRPr lang="en-US" sz="1500" dirty="0"/>
          </a:p>
        </p:txBody>
      </p:sp>
      <p:pic>
        <p:nvPicPr>
          <p:cNvPr id="6" name="Image 0" descr="connector"/>
          <p:cNvPicPr>
            <a:picLocks noChangeAspect="1"/>
          </p:cNvPicPr>
          <p:nvPr/>
        </p:nvPicPr>
        <p:blipFill>
          <a:blip r:embed="rId3"/>
          <a:srcRect/>
          <a:stretch/>
        </p:blipFill>
        <p:spPr>
          <a:xfrm>
            <a:off x="3127375" y="1564630"/>
            <a:ext cx="355600" cy="127000"/>
          </a:xfrm>
          <a:prstGeom prst="rect">
            <a:avLst/>
          </a:prstGeom>
        </p:spPr>
      </p:pic>
      <p:sp>
        <p:nvSpPr>
          <p:cNvPr id="7" name="Shape 4"/>
          <p:cNvSpPr/>
          <p:nvPr/>
        </p:nvSpPr>
        <p:spPr>
          <a:xfrm>
            <a:off x="3613150" y="1567805"/>
            <a:ext cx="2181225" cy="1850380"/>
          </a:xfrm>
          <a:prstGeom prst="roundRect">
            <a:avLst>
              <a:gd name="adj" fmla="val 6006"/>
            </a:avLst>
          </a:prstGeom>
          <a:solidFill>
            <a:srgbClr val="FFFDF8"/>
          </a:solidFill>
          <a:ln w="6350">
            <a:solidFill>
              <a:srgbClr val="E2DDD2"/>
            </a:solidFill>
            <a:prstDash val="solid"/>
          </a:ln>
        </p:spPr>
        <p:txBody>
          <a:bodyPr/>
          <a:lstStyle/>
          <a:p>
            <a:endParaRPr lang="en-US"/>
          </a:p>
        </p:txBody>
      </p:sp>
      <p:sp>
        <p:nvSpPr>
          <p:cNvPr id="8" name="Text 5"/>
          <p:cNvSpPr/>
          <p:nvPr/>
        </p:nvSpPr>
        <p:spPr>
          <a:xfrm>
            <a:off x="3844925" y="1799580"/>
            <a:ext cx="1769205"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A5BD7"/>
                </a:solidFill>
                <a:latin typeface="Rubik" pitchFamily="34" charset="0"/>
                <a:ea typeface="Rubik" pitchFamily="34" charset="-122"/>
                <a:cs typeface="Rubik" pitchFamily="34" charset="-120"/>
              </a:rPr>
              <a:t>LOOP</a:t>
            </a:r>
            <a:endParaRPr lang="en-US" sz="1300" dirty="0"/>
          </a:p>
        </p:txBody>
      </p:sp>
      <p:sp>
        <p:nvSpPr>
          <p:cNvPr id="9" name="Text 6"/>
          <p:cNvSpPr/>
          <p:nvPr/>
        </p:nvSpPr>
        <p:spPr>
          <a:xfrm>
            <a:off x="3844925" y="2119610"/>
            <a:ext cx="1769205"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C2230"/>
                </a:solidFill>
                <a:latin typeface="Rubik" pitchFamily="34" charset="0"/>
                <a:ea typeface="Rubik" pitchFamily="34" charset="-122"/>
                <a:cs typeface="Rubik" pitchFamily="34" charset="-120"/>
              </a:rPr>
              <a:t>Wrong PIN? Try again, up to 3 attempts</a:t>
            </a:r>
            <a:endParaRPr lang="en-US" sz="1500" dirty="0"/>
          </a:p>
        </p:txBody>
      </p:sp>
      <p:pic>
        <p:nvPicPr>
          <p:cNvPr id="10" name="Image 1" descr="connector"/>
          <p:cNvPicPr>
            <a:picLocks noChangeAspect="1"/>
          </p:cNvPicPr>
          <p:nvPr/>
        </p:nvPicPr>
        <p:blipFill>
          <a:blip r:embed="rId3"/>
          <a:srcRect/>
          <a:stretch/>
        </p:blipFill>
        <p:spPr>
          <a:xfrm>
            <a:off x="5924550" y="1564630"/>
            <a:ext cx="355600" cy="127000"/>
          </a:xfrm>
          <a:prstGeom prst="rect">
            <a:avLst/>
          </a:prstGeom>
        </p:spPr>
      </p:pic>
      <p:sp>
        <p:nvSpPr>
          <p:cNvPr id="11" name="Shape 7"/>
          <p:cNvSpPr/>
          <p:nvPr/>
        </p:nvSpPr>
        <p:spPr>
          <a:xfrm>
            <a:off x="6410325" y="1567805"/>
            <a:ext cx="2181225" cy="1850380"/>
          </a:xfrm>
          <a:prstGeom prst="roundRect">
            <a:avLst>
              <a:gd name="adj" fmla="val 6006"/>
            </a:avLst>
          </a:prstGeom>
          <a:solidFill>
            <a:srgbClr val="FFFDF8"/>
          </a:solidFill>
          <a:ln w="6350">
            <a:solidFill>
              <a:srgbClr val="E2DDD2"/>
            </a:solidFill>
            <a:prstDash val="solid"/>
          </a:ln>
        </p:spPr>
        <p:txBody>
          <a:bodyPr/>
          <a:lstStyle/>
          <a:p>
            <a:endParaRPr lang="en-US"/>
          </a:p>
        </p:txBody>
      </p:sp>
      <p:sp>
        <p:nvSpPr>
          <p:cNvPr id="12" name="Text 8"/>
          <p:cNvSpPr/>
          <p:nvPr/>
        </p:nvSpPr>
        <p:spPr>
          <a:xfrm>
            <a:off x="6642100" y="1799580"/>
            <a:ext cx="1769205"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A5BD7"/>
                </a:solidFill>
                <a:latin typeface="Rubik" pitchFamily="34" charset="0"/>
                <a:ea typeface="Rubik" pitchFamily="34" charset="-122"/>
                <a:cs typeface="Rubik" pitchFamily="34" charset="-120"/>
              </a:rPr>
              <a:t>CONDITION</a:t>
            </a:r>
            <a:endParaRPr lang="en-US" sz="1300" dirty="0"/>
          </a:p>
        </p:txBody>
      </p:sp>
      <p:sp>
        <p:nvSpPr>
          <p:cNvPr id="13" name="Text 9"/>
          <p:cNvSpPr/>
          <p:nvPr/>
        </p:nvSpPr>
        <p:spPr>
          <a:xfrm>
            <a:off x="6642100" y="2119610"/>
            <a:ext cx="1769205"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C2230"/>
                </a:solidFill>
                <a:latin typeface="Rubik" pitchFamily="34" charset="0"/>
                <a:ea typeface="Rubik" pitchFamily="34" charset="-122"/>
                <a:cs typeface="Rubik" pitchFamily="34" charset="-120"/>
              </a:rPr>
              <a:t>If balance ≥ amount, debit. Else: "Insufficient balance"</a:t>
            </a:r>
            <a:endParaRPr lang="en-US" sz="1500" dirty="0"/>
          </a:p>
        </p:txBody>
      </p:sp>
      <p:pic>
        <p:nvPicPr>
          <p:cNvPr id="14" name="Image 2" descr="connector"/>
          <p:cNvPicPr>
            <a:picLocks noChangeAspect="1"/>
          </p:cNvPicPr>
          <p:nvPr/>
        </p:nvPicPr>
        <p:blipFill>
          <a:blip r:embed="rId3"/>
          <a:srcRect/>
          <a:stretch/>
        </p:blipFill>
        <p:spPr>
          <a:xfrm>
            <a:off x="8721725" y="1564630"/>
            <a:ext cx="355600" cy="127000"/>
          </a:xfrm>
          <a:prstGeom prst="rect">
            <a:avLst/>
          </a:prstGeom>
        </p:spPr>
      </p:pic>
      <p:sp>
        <p:nvSpPr>
          <p:cNvPr id="15" name="Shape 10"/>
          <p:cNvSpPr/>
          <p:nvPr/>
        </p:nvSpPr>
        <p:spPr>
          <a:xfrm>
            <a:off x="9204325" y="1564630"/>
            <a:ext cx="2174875" cy="1856730"/>
          </a:xfrm>
          <a:prstGeom prst="roundRect">
            <a:avLst>
              <a:gd name="adj" fmla="val 6156"/>
            </a:avLst>
          </a:prstGeom>
          <a:solidFill>
            <a:srgbClr val="15233F"/>
          </a:solidFill>
          <a:ln/>
        </p:spPr>
        <p:txBody>
          <a:bodyPr/>
          <a:lstStyle/>
          <a:p>
            <a:endParaRPr lang="en-US"/>
          </a:p>
        </p:txBody>
      </p:sp>
      <p:sp>
        <p:nvSpPr>
          <p:cNvPr id="16" name="Text 11"/>
          <p:cNvSpPr/>
          <p:nvPr/>
        </p:nvSpPr>
        <p:spPr>
          <a:xfrm>
            <a:off x="9432925" y="1793230"/>
            <a:ext cx="1769205"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E9893F"/>
                </a:solidFill>
                <a:latin typeface="Rubik" pitchFamily="34" charset="0"/>
                <a:ea typeface="Rubik" pitchFamily="34" charset="-122"/>
                <a:cs typeface="Rubik" pitchFamily="34" charset="-120"/>
              </a:rPr>
              <a:t>OUTPUT</a:t>
            </a:r>
            <a:endParaRPr lang="en-US" sz="1300" dirty="0"/>
          </a:p>
        </p:txBody>
      </p:sp>
      <p:sp>
        <p:nvSpPr>
          <p:cNvPr id="17" name="Text 12"/>
          <p:cNvSpPr/>
          <p:nvPr/>
        </p:nvSpPr>
        <p:spPr>
          <a:xfrm>
            <a:off x="9432925" y="2113260"/>
            <a:ext cx="176920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3EC"/>
                </a:solidFill>
                <a:latin typeface="Rubik" pitchFamily="34" charset="0"/>
                <a:ea typeface="Rubik" pitchFamily="34" charset="-122"/>
                <a:cs typeface="Rubik" pitchFamily="34" charset="-120"/>
              </a:rPr>
              <a:t>Success screen and an SMS</a:t>
            </a:r>
            <a:endParaRPr lang="en-US" sz="1500" dirty="0"/>
          </a:p>
        </p:txBody>
      </p:sp>
      <p:sp>
        <p:nvSpPr>
          <p:cNvPr id="18" name="Text 13"/>
          <p:cNvSpPr/>
          <p:nvPr/>
        </p:nvSpPr>
        <p:spPr>
          <a:xfrm>
            <a:off x="812800" y="3726160"/>
            <a:ext cx="10883392" cy="351135"/>
          </a:xfrm>
          <a:prstGeom prst="rect">
            <a:avLst/>
          </a:prstGeom>
          <a:noFill/>
          <a:ln/>
        </p:spPr>
        <p:txBody>
          <a:bodyPr wrap="square" lIns="0" tIns="0" rIns="0" bIns="0" rtlCol="0" anchor="t">
            <a:normAutofit/>
          </a:bodyPr>
          <a:lstStyle/>
          <a:p>
            <a:pPr marL="0" indent="0" algn="l">
              <a:lnSpc>
                <a:spcPts val="2565"/>
              </a:lnSpc>
              <a:buNone/>
            </a:pPr>
            <a:r>
              <a:rPr lang="en-US" sz="1900" b="1" dirty="0">
                <a:solidFill>
                  <a:srgbClr val="A94F17"/>
                </a:solidFill>
                <a:latin typeface="Rubik" pitchFamily="34" charset="0"/>
                <a:ea typeface="Rubik" pitchFamily="34" charset="-122"/>
                <a:cs typeface="Rubik" pitchFamily="34" charset="-120"/>
              </a:rPr>
              <a:t>What should happen if the network drops after the money is debited?</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132409"/>
            <a:ext cx="5127752"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230"/>
                </a:solidFill>
                <a:latin typeface="Rubik" pitchFamily="34" charset="0"/>
                <a:ea typeface="Rubik" pitchFamily="34" charset="-122"/>
                <a:cs typeface="Rubik" pitchFamily="34" charset="-120"/>
              </a:rPr>
              <a:t>C is inside your washing machine</a:t>
            </a:r>
            <a:endParaRPr lang="en-US" sz="3200" dirty="0"/>
          </a:p>
        </p:txBody>
      </p:sp>
      <p:sp>
        <p:nvSpPr>
          <p:cNvPr id="3" name="Text 1"/>
          <p:cNvSpPr/>
          <p:nvPr/>
        </p:nvSpPr>
        <p:spPr>
          <a:xfrm>
            <a:off x="812800" y="3270250"/>
            <a:ext cx="5127752" cy="96450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3A4150"/>
                </a:solidFill>
                <a:latin typeface="Rubik" pitchFamily="34" charset="0"/>
                <a:ea typeface="Rubik" pitchFamily="34" charset="-122"/>
                <a:cs typeface="Rubik" pitchFamily="34" charset="-120"/>
              </a:rPr>
              <a:t>Washing machines, microwaves, car engines and pacemakers all run small programs, mostly written in C.</a:t>
            </a:r>
            <a:endParaRPr lang="en-US" sz="1700" dirty="0"/>
          </a:p>
        </p:txBody>
      </p:sp>
      <p:sp>
        <p:nvSpPr>
          <p:cNvPr id="5" name="Text 3"/>
          <p:cNvSpPr/>
          <p:nvPr/>
        </p:nvSpPr>
        <p:spPr>
          <a:xfrm>
            <a:off x="6400800" y="1605359"/>
            <a:ext cx="4978400" cy="3647281"/>
          </a:xfrm>
          <a:prstGeom prst="roundRect">
            <a:avLst>
              <a:gd name="adj" fmla="val 3482"/>
            </a:avLst>
          </a:prstGeom>
          <a:solidFill>
            <a:srgbClr val="15233F"/>
          </a:solidFill>
          <a:ln/>
        </p:spPr>
        <p:txBody>
          <a:bodyPr wrap="square" lIns="318403" tIns="318403" rIns="190387" bIns="293003" rtlCol="0" anchor="t">
            <a:normAutofit/>
          </a:bodyPr>
          <a:lstStyle/>
          <a:p>
            <a:pPr marL="0" indent="0" algn="l">
              <a:lnSpc>
                <a:spcPts val="2890"/>
              </a:lnSpc>
              <a:buNone/>
            </a:pPr>
            <a:r>
              <a:rPr lang="en-US" sz="1700" dirty="0">
                <a:solidFill>
                  <a:srgbClr val="E6E9F0"/>
                </a:solidFill>
                <a:latin typeface="JetBrains Mono" pitchFamily="49" charset="0"/>
                <a:ea typeface="JetBrains Mono" pitchFamily="49" charset="-122"/>
                <a:cs typeface="JetBrains Mono" pitchFamily="49" charset="-120"/>
              </a:rPr>
              <a:t>fill_water();</a:t>
            </a:r>
            <a:endParaRPr lang="en-US" sz="1700" dirty="0"/>
          </a:p>
          <a:p>
            <a:pPr marL="0" indent="0" algn="l">
              <a:lnSpc>
                <a:spcPts val="2890"/>
              </a:lnSpc>
              <a:buNone/>
            </a:pPr>
            <a:r>
              <a:rPr lang="en-US" sz="1700" dirty="0">
                <a:solidFill>
                  <a:srgbClr val="E6E9F0"/>
                </a:solidFill>
                <a:latin typeface="JetBrains Mono" pitchFamily="49" charset="0"/>
                <a:ea typeface="JetBrains Mono" pitchFamily="49" charset="-122"/>
                <a:cs typeface="JetBrains Mono" pitchFamily="49" charset="-120"/>
              </a:rPr>
              <a:t>for (min = 1; min &lt;= 15; min++)</a:t>
            </a:r>
            <a:endParaRPr lang="en-US" sz="1700" dirty="0"/>
          </a:p>
          <a:p>
            <a:pPr marL="0" indent="0" algn="l">
              <a:lnSpc>
                <a:spcPts val="2890"/>
              </a:lnSpc>
              <a:buNone/>
            </a:pPr>
            <a:r>
              <a:rPr lang="en-US" sz="1700" dirty="0">
                <a:solidFill>
                  <a:srgbClr val="E6E9F0"/>
                </a:solidFill>
                <a:latin typeface="JetBrains Mono" pitchFamily="49" charset="0"/>
                <a:ea typeface="JetBrains Mono" pitchFamily="49" charset="-122"/>
                <a:cs typeface="JetBrains Mono" pitchFamily="49" charset="-120"/>
              </a:rPr>
              <a:t>rotate_drum();</a:t>
            </a:r>
            <a:endParaRPr lang="en-US" sz="1700" dirty="0"/>
          </a:p>
          <a:p>
            <a:pPr marL="0" indent="0" algn="l">
              <a:lnSpc>
                <a:spcPts val="2890"/>
              </a:lnSpc>
              <a:buNone/>
            </a:pPr>
            <a:r>
              <a:rPr lang="en-US" sz="1700" dirty="0">
                <a:solidFill>
                  <a:srgbClr val="E6E9F0"/>
                </a:solidFill>
                <a:latin typeface="JetBrains Mono" pitchFamily="49" charset="0"/>
                <a:ea typeface="JetBrains Mono" pitchFamily="49" charset="-122"/>
                <a:cs typeface="JetBrains Mono" pitchFamily="49" charset="-120"/>
              </a:rPr>
              <a:t>drain();</a:t>
            </a:r>
            <a:endParaRPr lang="en-US" sz="1700" dirty="0"/>
          </a:p>
          <a:p>
            <a:pPr marL="0" indent="0" algn="l">
              <a:lnSpc>
                <a:spcPts val="2890"/>
              </a:lnSpc>
              <a:buNone/>
            </a:pPr>
            <a:r>
              <a:rPr lang="en-US" sz="1700" dirty="0">
                <a:solidFill>
                  <a:srgbClr val="E6E9F0"/>
                </a:solidFill>
                <a:latin typeface="JetBrains Mono" pitchFamily="49" charset="0"/>
                <a:ea typeface="JetBrains Mono" pitchFamily="49" charset="-122"/>
                <a:cs typeface="JetBrains Mono" pitchFamily="49" charset="-120"/>
              </a:rPr>
              <a:t>if (load_heavy)</a:t>
            </a:r>
            <a:endParaRPr lang="en-US" sz="1700" dirty="0"/>
          </a:p>
          <a:p>
            <a:pPr marL="0" indent="0" algn="l">
              <a:lnSpc>
                <a:spcPts val="2890"/>
              </a:lnSpc>
              <a:buNone/>
            </a:pPr>
            <a:r>
              <a:rPr lang="en-US" sz="1700" dirty="0">
                <a:solidFill>
                  <a:srgbClr val="E6E9F0"/>
                </a:solidFill>
                <a:latin typeface="JetBrains Mono" pitchFamily="49" charset="0"/>
                <a:ea typeface="JetBrains Mono" pitchFamily="49" charset="-122"/>
                <a:cs typeface="JetBrains Mono" pitchFamily="49" charset="-120"/>
              </a:rPr>
              <a:t>spin(1200);</a:t>
            </a:r>
            <a:endParaRPr lang="en-US" sz="1700" dirty="0"/>
          </a:p>
          <a:p>
            <a:pPr marL="0" indent="0" algn="l">
              <a:lnSpc>
                <a:spcPts val="2890"/>
              </a:lnSpc>
              <a:buNone/>
            </a:pPr>
            <a:r>
              <a:rPr lang="en-US" sz="1700" dirty="0">
                <a:solidFill>
                  <a:srgbClr val="E6E9F0"/>
                </a:solidFill>
                <a:latin typeface="JetBrains Mono" pitchFamily="49" charset="0"/>
                <a:ea typeface="JetBrains Mono" pitchFamily="49" charset="-122"/>
                <a:cs typeface="JetBrains Mono" pitchFamily="49" charset="-120"/>
              </a:rPr>
              <a:t>else</a:t>
            </a:r>
            <a:endParaRPr lang="en-US" sz="1700" dirty="0"/>
          </a:p>
          <a:p>
            <a:pPr marL="0" indent="0" algn="l">
              <a:lnSpc>
                <a:spcPts val="2890"/>
              </a:lnSpc>
              <a:buNone/>
            </a:pPr>
            <a:r>
              <a:rPr lang="en-US" sz="1700" dirty="0">
                <a:solidFill>
                  <a:srgbClr val="E6E9F0"/>
                </a:solidFill>
                <a:latin typeface="JetBrains Mono" pitchFamily="49" charset="0"/>
                <a:ea typeface="JetBrains Mono" pitchFamily="49" charset="-122"/>
                <a:cs typeface="JetBrains Mono" pitchFamily="49" charset="-120"/>
              </a:rPr>
              <a:t>spin(800);</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2800" y="2402830"/>
            <a:ext cx="512775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E9893F"/>
                </a:solidFill>
                <a:latin typeface="Rubik" pitchFamily="34" charset="0"/>
                <a:ea typeface="Rubik" pitchFamily="34" charset="-122"/>
                <a:cs typeface="Rubik" pitchFamily="34" charset="-120"/>
              </a:rPr>
              <a:t>19 JULY 2024 · ONE SOFTWARE UPDATE</a:t>
            </a:r>
            <a:endParaRPr lang="en-US" sz="1400" dirty="0"/>
          </a:p>
        </p:txBody>
      </p:sp>
      <p:sp>
        <p:nvSpPr>
          <p:cNvPr id="3" name="Text 1"/>
          <p:cNvSpPr/>
          <p:nvPr/>
        </p:nvSpPr>
        <p:spPr>
          <a:xfrm>
            <a:off x="812800" y="2804120"/>
            <a:ext cx="5127752" cy="1168400"/>
          </a:xfrm>
          <a:prstGeom prst="rect">
            <a:avLst/>
          </a:prstGeom>
          <a:noFill/>
          <a:ln/>
        </p:spPr>
        <p:txBody>
          <a:bodyPr wrap="square" lIns="0" tIns="0" rIns="0" bIns="0" rtlCol="0" anchor="t">
            <a:normAutofit/>
          </a:bodyPr>
          <a:lstStyle/>
          <a:p>
            <a:pPr marL="0" indent="0" algn="l">
              <a:lnSpc>
                <a:spcPts val="9000"/>
              </a:lnSpc>
              <a:buNone/>
            </a:pPr>
            <a:r>
              <a:rPr lang="en-US" sz="9000" b="1" dirty="0">
                <a:solidFill>
                  <a:srgbClr val="F6F3EC"/>
                </a:solidFill>
                <a:latin typeface="Rubik" pitchFamily="34" charset="0"/>
                <a:ea typeface="Rubik" pitchFamily="34" charset="-122"/>
                <a:cs typeface="Rubik" pitchFamily="34" charset="-120"/>
              </a:rPr>
              <a:t>8.5M</a:t>
            </a:r>
            <a:endParaRPr lang="en-US" sz="9000" dirty="0"/>
          </a:p>
        </p:txBody>
      </p:sp>
      <p:sp>
        <p:nvSpPr>
          <p:cNvPr id="4" name="Text 2"/>
          <p:cNvSpPr/>
          <p:nvPr/>
        </p:nvSpPr>
        <p:spPr>
          <a:xfrm>
            <a:off x="812800" y="4099520"/>
            <a:ext cx="512775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CFDA"/>
                </a:solidFill>
                <a:latin typeface="Rubik" pitchFamily="34" charset="0"/>
                <a:ea typeface="Rubik" pitchFamily="34" charset="-122"/>
                <a:cs typeface="Rubik" pitchFamily="34" charset="-120"/>
              </a:rPr>
              <a:t>Windows computers crashed worldwide</a:t>
            </a:r>
            <a:endParaRPr lang="en-US" sz="2000" dirty="0"/>
          </a:p>
        </p:txBody>
      </p:sp>
      <p:sp>
        <p:nvSpPr>
          <p:cNvPr id="5" name="Text 3"/>
          <p:cNvSpPr/>
          <p:nvPr/>
        </p:nvSpPr>
        <p:spPr>
          <a:xfrm>
            <a:off x="6400800" y="2138412"/>
            <a:ext cx="512775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9893F"/>
                </a:solidFill>
                <a:latin typeface="Rubik" pitchFamily="34" charset="0"/>
                <a:ea typeface="Rubik" pitchFamily="34" charset="-122"/>
                <a:cs typeface="Rubik" pitchFamily="34" charset="-120"/>
              </a:rPr>
              <a:t>What happened</a:t>
            </a:r>
            <a:endParaRPr lang="en-US" sz="2000" dirty="0"/>
          </a:p>
        </p:txBody>
      </p:sp>
      <p:sp>
        <p:nvSpPr>
          <p:cNvPr id="6" name="Text 4"/>
          <p:cNvSpPr/>
          <p:nvPr/>
        </p:nvSpPr>
        <p:spPr>
          <a:xfrm>
            <a:off x="6400800" y="2519412"/>
            <a:ext cx="5127752"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F6F3EC"/>
                </a:solidFill>
                <a:latin typeface="Rubik" pitchFamily="34" charset="0"/>
                <a:ea typeface="Rubik" pitchFamily="34" charset="-122"/>
                <a:cs typeface="Rubik" pitchFamily="34" charset="-120"/>
              </a:rPr>
              <a:t>Flights grounded. Airlines, including in India, wrote boarding passes by hand.</a:t>
            </a:r>
            <a:endParaRPr lang="en-US" sz="1700" dirty="0"/>
          </a:p>
        </p:txBody>
      </p:sp>
      <p:sp>
        <p:nvSpPr>
          <p:cNvPr id="7" name="Text 5"/>
          <p:cNvSpPr/>
          <p:nvPr/>
        </p:nvSpPr>
        <p:spPr>
          <a:xfrm>
            <a:off x="6400800" y="3399482"/>
            <a:ext cx="512775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9893F"/>
                </a:solidFill>
                <a:latin typeface="Rubik" pitchFamily="34" charset="0"/>
                <a:ea typeface="Rubik" pitchFamily="34" charset="-122"/>
                <a:cs typeface="Rubik" pitchFamily="34" charset="-120"/>
              </a:rPr>
              <a:t>The root cause</a:t>
            </a:r>
            <a:endParaRPr lang="en-US" sz="2000" dirty="0"/>
          </a:p>
        </p:txBody>
      </p:sp>
      <p:sp>
        <p:nvSpPr>
          <p:cNvPr id="8" name="Text 6"/>
          <p:cNvSpPr/>
          <p:nvPr/>
        </p:nvSpPr>
        <p:spPr>
          <a:xfrm>
            <a:off x="6400800" y="3780482"/>
            <a:ext cx="5127752" cy="96450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F6F3EC"/>
                </a:solidFill>
                <a:latin typeface="Rubik" pitchFamily="34" charset="0"/>
                <a:ea typeface="Rubik" pitchFamily="34" charset="-122"/>
                <a:cs typeface="Rubik" pitchFamily="34" charset="-120"/>
              </a:rPr>
              <a:t>The program read past the end of its data in memory. You'll study exactly this in Modules 4 and 5.</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2413050"/>
            <a:ext cx="512775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A94F17"/>
                </a:solidFill>
                <a:latin typeface="Rubik" pitchFamily="34" charset="0"/>
                <a:ea typeface="Rubik" pitchFamily="34" charset="-122"/>
                <a:cs typeface="Rubik" pitchFamily="34" charset="-120"/>
              </a:rPr>
              <a:t>JULY 2025 · AN AI CODING AGENT</a:t>
            </a:r>
            <a:endParaRPr lang="en-US" sz="1400" dirty="0"/>
          </a:p>
        </p:txBody>
      </p:sp>
      <p:sp>
        <p:nvSpPr>
          <p:cNvPr id="3" name="Text 1"/>
          <p:cNvSpPr>
            <a:spLocks noGrp="1"/>
          </p:cNvSpPr>
          <p:nvPr>
            <p:ph type="title"/>
          </p:nvPr>
        </p:nvSpPr>
        <p:spPr>
          <a:xfrm>
            <a:off x="812800" y="2839740"/>
            <a:ext cx="5127752" cy="14273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230"/>
                </a:solidFill>
                <a:latin typeface="Rubik" pitchFamily="34" charset="0"/>
                <a:ea typeface="Rubik" pitchFamily="34" charset="-122"/>
                <a:cs typeface="Rubik" pitchFamily="34" charset="-120"/>
              </a:rPr>
              <a:t>An AI agent deleted a company's live database during a code freeze</a:t>
            </a:r>
            <a:endParaRPr lang="en-US" sz="3200" dirty="0"/>
          </a:p>
        </p:txBody>
      </p:sp>
      <p:sp>
        <p:nvSpPr>
          <p:cNvPr id="4" name="Text 2"/>
          <p:cNvSpPr/>
          <p:nvPr/>
        </p:nvSpPr>
        <p:spPr>
          <a:xfrm>
            <a:off x="6403975" y="1626295"/>
            <a:ext cx="4972050" cy="1032470"/>
          </a:xfrm>
          <a:prstGeom prst="roundRect">
            <a:avLst>
              <a:gd name="adj" fmla="val 10763"/>
            </a:avLst>
          </a:prstGeom>
          <a:solidFill>
            <a:srgbClr val="FFFDF8"/>
          </a:solidFill>
          <a:ln w="6350">
            <a:solidFill>
              <a:srgbClr val="E2DDD2"/>
            </a:solidFill>
            <a:prstDash val="solid"/>
          </a:ln>
        </p:spPr>
        <p:txBody>
          <a:bodyPr wrap="square" lIns="224628" tIns="199228" rIns="90897" bIns="173828" rtlCol="0" anchor="t">
            <a:normAutofit/>
          </a:bodyPr>
          <a:lstStyle/>
          <a:p>
            <a:pPr marL="0" indent="0" algn="l">
              <a:lnSpc>
                <a:spcPts val="2240"/>
              </a:lnSpc>
              <a:buNone/>
            </a:pPr>
            <a:r>
              <a:rPr lang="en-US" sz="1600" dirty="0">
                <a:solidFill>
                  <a:srgbClr val="1C2230"/>
                </a:solidFill>
                <a:latin typeface="Rubik" pitchFamily="34" charset="0"/>
                <a:ea typeface="Rubik" pitchFamily="34" charset="-122"/>
                <a:cs typeface="Rubik" pitchFamily="34" charset="-120"/>
              </a:rPr>
              <a:t>It had been told repeatedly </a:t>
            </a:r>
            <a:r>
              <a:rPr lang="en-US" sz="1600" b="1" dirty="0">
                <a:solidFill>
                  <a:srgbClr val="1C2230"/>
                </a:solidFill>
                <a:latin typeface="Rubik" pitchFamily="34" charset="0"/>
                <a:ea typeface="Rubik" pitchFamily="34" charset="-122"/>
                <a:cs typeface="Rubik" pitchFamily="34" charset="-120"/>
              </a:rPr>
              <a:t>not</a:t>
            </a:r>
            <a:r>
              <a:rPr lang="en-US" sz="1600" dirty="0">
                <a:solidFill>
                  <a:srgbClr val="1C2230"/>
                </a:solidFill>
                <a:latin typeface="Rubik" pitchFamily="34" charset="0"/>
                <a:ea typeface="Rubik" pitchFamily="34" charset="-122"/>
                <a:cs typeface="Rubik" pitchFamily="34" charset="-120"/>
              </a:rPr>
              <a:t> to change anything.</a:t>
            </a:r>
            <a:endParaRPr lang="en-US" sz="1600" dirty="0"/>
          </a:p>
        </p:txBody>
      </p:sp>
      <p:sp>
        <p:nvSpPr>
          <p:cNvPr id="5" name="Text 3"/>
          <p:cNvSpPr/>
          <p:nvPr/>
        </p:nvSpPr>
        <p:spPr>
          <a:xfrm>
            <a:off x="6403975" y="2817515"/>
            <a:ext cx="4972050" cy="1032470"/>
          </a:xfrm>
          <a:prstGeom prst="roundRect">
            <a:avLst>
              <a:gd name="adj" fmla="val 10763"/>
            </a:avLst>
          </a:prstGeom>
          <a:solidFill>
            <a:srgbClr val="FFFDF8"/>
          </a:solidFill>
          <a:ln w="6350">
            <a:solidFill>
              <a:srgbClr val="E2DDD2"/>
            </a:solidFill>
            <a:prstDash val="solid"/>
          </a:ln>
        </p:spPr>
        <p:txBody>
          <a:bodyPr wrap="square" lIns="224628" tIns="199228" rIns="90897" bIns="173828" rtlCol="0" anchor="t">
            <a:normAutofit/>
          </a:bodyPr>
          <a:lstStyle/>
          <a:p>
            <a:pPr marL="0" indent="0" algn="l">
              <a:lnSpc>
                <a:spcPts val="2240"/>
              </a:lnSpc>
              <a:buNone/>
            </a:pPr>
            <a:r>
              <a:rPr lang="en-US" sz="1600" dirty="0">
                <a:solidFill>
                  <a:srgbClr val="1C2230"/>
                </a:solidFill>
                <a:latin typeface="Rubik" pitchFamily="34" charset="0"/>
                <a:ea typeface="Rubik" pitchFamily="34" charset="-122"/>
                <a:cs typeface="Rubik" pitchFamily="34" charset="-120"/>
              </a:rPr>
              <a:t>It wiped records of 1,200+ executives, then said the data couldn't be recovered.</a:t>
            </a:r>
            <a:endParaRPr lang="en-US" sz="1600" dirty="0"/>
          </a:p>
        </p:txBody>
      </p:sp>
      <p:sp>
        <p:nvSpPr>
          <p:cNvPr id="6" name="Text 4"/>
          <p:cNvSpPr/>
          <p:nvPr/>
        </p:nvSpPr>
        <p:spPr>
          <a:xfrm>
            <a:off x="6400800" y="4005560"/>
            <a:ext cx="4978400" cy="1026120"/>
          </a:xfrm>
          <a:prstGeom prst="roundRect">
            <a:avLst>
              <a:gd name="adj" fmla="val 11139"/>
            </a:avLst>
          </a:prstGeom>
          <a:solidFill>
            <a:srgbClr val="15233F"/>
          </a:solidFill>
          <a:ln/>
        </p:spPr>
        <p:txBody>
          <a:bodyPr wrap="square" lIns="220523" tIns="195123" rIns="86411" bIns="169723" rtlCol="0" anchor="t">
            <a:normAutofit/>
          </a:bodyPr>
          <a:lstStyle/>
          <a:p>
            <a:pPr marL="0" indent="0" algn="l">
              <a:lnSpc>
                <a:spcPts val="2240"/>
              </a:lnSpc>
              <a:buNone/>
            </a:pPr>
            <a:r>
              <a:rPr lang="en-US" sz="1600" b="1" dirty="0">
                <a:solidFill>
                  <a:srgbClr val="F6F3EC"/>
                </a:solidFill>
                <a:latin typeface="Rubik" pitchFamily="34" charset="0"/>
                <a:ea typeface="Rubik" pitchFamily="34" charset="-122"/>
                <a:cs typeface="Rubik" pitchFamily="34" charset="-120"/>
              </a:rPr>
              <a:t>Lesson: AI needs a supervisor who understands the system.</a:t>
            </a:r>
            <a:endParaRPr lang="en-US" sz="16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273"/>
                </a:solidFill>
                <a:latin typeface="Rubik" pitchFamily="34" charset="0"/>
                <a:ea typeface="Rubik" pitchFamily="34" charset="-122"/>
                <a:cs typeface="Rubik" pitchFamily="34" charset="-120"/>
              </a:rPr>
              <a:t>Replit AI agent, SaaStr founder Jason Lemkin's project · Source: AI Incident Database and press reports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E9893F"/>
                </a:solidFill>
                <a:latin typeface="Rubik" pitchFamily="34" charset="0"/>
                <a:ea typeface="Rubik" pitchFamily="34" charset="-122"/>
                <a:cs typeface="Rubik" pitchFamily="34" charset="-120"/>
              </a:rPr>
              <a:t>23 AUGUST 2023 · CHANDRAYAAN-3</a:t>
            </a:r>
            <a:endParaRPr lang="en-US" sz="1400" dirty="0"/>
          </a:p>
        </p:txBody>
      </p:sp>
      <p:sp>
        <p:nvSpPr>
          <p:cNvPr id="3" name="Text 1"/>
          <p:cNvSpPr>
            <a:spLocks noGrp="1"/>
          </p:cNvSpPr>
          <p:nvPr>
            <p:ph type="title"/>
          </p:nvPr>
        </p:nvSpPr>
        <p:spPr>
          <a:xfrm>
            <a:off x="812800" y="121409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3EC"/>
                </a:solidFill>
                <a:latin typeface="Rubik" pitchFamily="34" charset="0"/>
                <a:ea typeface="Rubik" pitchFamily="34" charset="-122"/>
                <a:cs typeface="Rubik" pitchFamily="34" charset="-120"/>
              </a:rPr>
              <a:t>Code that had to land on the Moon by itself</a:t>
            </a:r>
            <a:endParaRPr lang="en-US" sz="3600" dirty="0"/>
          </a:p>
        </p:txBody>
      </p:sp>
      <p:sp>
        <p:nvSpPr>
          <p:cNvPr id="4" name="Shape 2"/>
          <p:cNvSpPr/>
          <p:nvPr/>
        </p:nvSpPr>
        <p:spPr>
          <a:xfrm>
            <a:off x="812800" y="2072580"/>
            <a:ext cx="3386634" cy="1849090"/>
          </a:xfrm>
          <a:prstGeom prst="roundRect">
            <a:avLst>
              <a:gd name="adj" fmla="val 6868"/>
            </a:avLst>
          </a:prstGeom>
          <a:solidFill>
            <a:srgbClr val="1E3157"/>
          </a:solidFill>
          <a:ln/>
        </p:spPr>
        <p:txBody>
          <a:bodyPr/>
          <a:lstStyle/>
          <a:p>
            <a:endParaRPr lang="en-US"/>
          </a:p>
        </p:txBody>
      </p:sp>
      <p:sp>
        <p:nvSpPr>
          <p:cNvPr id="5" name="Text 3"/>
          <p:cNvSpPr/>
          <p:nvPr/>
        </p:nvSpPr>
        <p:spPr>
          <a:xfrm>
            <a:off x="1092200" y="2351980"/>
            <a:ext cx="3107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9893F"/>
                </a:solidFill>
                <a:latin typeface="Rubik" pitchFamily="34" charset="0"/>
                <a:ea typeface="Rubik" pitchFamily="34" charset="-122"/>
                <a:cs typeface="Rubik" pitchFamily="34" charset="-120"/>
              </a:rPr>
              <a:t>2019 · Chandrayaan-2</a:t>
            </a:r>
            <a:endParaRPr lang="en-US" sz="2000" dirty="0"/>
          </a:p>
        </p:txBody>
      </p:sp>
      <p:sp>
        <p:nvSpPr>
          <p:cNvPr id="6" name="Text 4"/>
          <p:cNvSpPr/>
          <p:nvPr/>
        </p:nvSpPr>
        <p:spPr>
          <a:xfrm>
            <a:off x="1092200" y="2758380"/>
            <a:ext cx="2912669" cy="90929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C9CFDA"/>
                </a:solidFill>
                <a:latin typeface="Rubik" pitchFamily="34" charset="0"/>
                <a:ea typeface="Rubik" pitchFamily="34" charset="-122"/>
                <a:cs typeface="Rubik" pitchFamily="34" charset="-120"/>
              </a:rPr>
              <a:t>The Vikram lander lost control in its final descent and crash-landed.</a:t>
            </a:r>
            <a:endParaRPr lang="en-US" sz="1600" dirty="0"/>
          </a:p>
        </p:txBody>
      </p:sp>
      <p:sp>
        <p:nvSpPr>
          <p:cNvPr id="7" name="Shape 5"/>
          <p:cNvSpPr/>
          <p:nvPr/>
        </p:nvSpPr>
        <p:spPr>
          <a:xfrm>
            <a:off x="4402634" y="2072580"/>
            <a:ext cx="3386683" cy="1849090"/>
          </a:xfrm>
          <a:prstGeom prst="roundRect">
            <a:avLst>
              <a:gd name="adj" fmla="val 6868"/>
            </a:avLst>
          </a:prstGeom>
          <a:solidFill>
            <a:srgbClr val="1E3157"/>
          </a:solidFill>
          <a:ln/>
        </p:spPr>
        <p:txBody>
          <a:bodyPr/>
          <a:lstStyle/>
          <a:p>
            <a:endParaRPr lang="en-US"/>
          </a:p>
        </p:txBody>
      </p:sp>
      <p:sp>
        <p:nvSpPr>
          <p:cNvPr id="8" name="Text 6"/>
          <p:cNvSpPr/>
          <p:nvPr/>
        </p:nvSpPr>
        <p:spPr>
          <a:xfrm>
            <a:off x="4682034" y="2351980"/>
            <a:ext cx="291272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9893F"/>
                </a:solidFill>
                <a:latin typeface="Rubik" pitchFamily="34" charset="0"/>
                <a:ea typeface="Rubik" pitchFamily="34" charset="-122"/>
                <a:cs typeface="Rubik" pitchFamily="34" charset="-120"/>
              </a:rPr>
              <a:t>The redesign</a:t>
            </a:r>
            <a:endParaRPr lang="en-US" sz="2000" dirty="0"/>
          </a:p>
        </p:txBody>
      </p:sp>
      <p:sp>
        <p:nvSpPr>
          <p:cNvPr id="9" name="Text 7"/>
          <p:cNvSpPr/>
          <p:nvPr/>
        </p:nvSpPr>
        <p:spPr>
          <a:xfrm>
            <a:off x="4682034" y="2758380"/>
            <a:ext cx="2912720" cy="90929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C9CFDA"/>
                </a:solidFill>
                <a:latin typeface="Rubik" pitchFamily="34" charset="0"/>
                <a:ea typeface="Rubik" pitchFamily="34" charset="-122"/>
                <a:cs typeface="Rubik" pitchFamily="34" charset="-120"/>
              </a:rPr>
              <a:t>ISRO built in more margins and fault tolerance, planning for what could go wrong.</a:t>
            </a:r>
            <a:endParaRPr lang="en-US" sz="1600" dirty="0"/>
          </a:p>
        </p:txBody>
      </p:sp>
      <p:sp>
        <p:nvSpPr>
          <p:cNvPr id="10" name="Shape 8"/>
          <p:cNvSpPr/>
          <p:nvPr/>
        </p:nvSpPr>
        <p:spPr>
          <a:xfrm>
            <a:off x="7992517" y="2072580"/>
            <a:ext cx="3386683" cy="1849090"/>
          </a:xfrm>
          <a:prstGeom prst="roundRect">
            <a:avLst>
              <a:gd name="adj" fmla="val 6868"/>
            </a:avLst>
          </a:prstGeom>
          <a:solidFill>
            <a:srgbClr val="E9893F"/>
          </a:solidFill>
          <a:ln/>
        </p:spPr>
        <p:txBody>
          <a:bodyPr/>
          <a:lstStyle/>
          <a:p>
            <a:endParaRPr lang="en-US"/>
          </a:p>
        </p:txBody>
      </p:sp>
      <p:sp>
        <p:nvSpPr>
          <p:cNvPr id="11" name="Text 9"/>
          <p:cNvSpPr/>
          <p:nvPr/>
        </p:nvSpPr>
        <p:spPr>
          <a:xfrm>
            <a:off x="8271917" y="2351980"/>
            <a:ext cx="291272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33F"/>
                </a:solidFill>
                <a:latin typeface="Rubik" pitchFamily="34" charset="0"/>
                <a:ea typeface="Rubik" pitchFamily="34" charset="-122"/>
                <a:cs typeface="Rubik" pitchFamily="34" charset="-120"/>
              </a:rPr>
              <a:t>2023 · Success</a:t>
            </a:r>
            <a:endParaRPr lang="en-US" sz="2000" dirty="0"/>
          </a:p>
        </p:txBody>
      </p:sp>
      <p:sp>
        <p:nvSpPr>
          <p:cNvPr id="12" name="Text 10"/>
          <p:cNvSpPr/>
          <p:nvPr/>
        </p:nvSpPr>
        <p:spPr>
          <a:xfrm>
            <a:off x="8271917" y="2758380"/>
            <a:ext cx="2912720" cy="90929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5233F"/>
                </a:solidFill>
                <a:latin typeface="Rubik" pitchFamily="34" charset="0"/>
                <a:ea typeface="Rubik" pitchFamily="34" charset="-122"/>
                <a:cs typeface="Rubik" pitchFamily="34" charset="-120"/>
              </a:rPr>
              <a:t>India became the first country to land near the Moon's south pole.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15233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6F3EC"/>
                </a:solidFill>
                <a:latin typeface="Rubik" pitchFamily="34" charset="0"/>
                <a:ea typeface="Rubik" pitchFamily="34" charset="-122"/>
                <a:cs typeface="Rubik" pitchFamily="34" charset="-120"/>
              </a:rPr>
              <a:t>The language you think is old runs the world</a:t>
            </a:r>
            <a:endParaRPr lang="en-US" sz="3200" dirty="0"/>
          </a:p>
        </p:txBody>
      </p:sp>
      <p:sp>
        <p:nvSpPr>
          <p:cNvPr id="3" name="Shape 1"/>
          <p:cNvSpPr/>
          <p:nvPr/>
        </p:nvSpPr>
        <p:spPr>
          <a:xfrm>
            <a:off x="812800" y="1615430"/>
            <a:ext cx="5194300" cy="1452860"/>
          </a:xfrm>
          <a:prstGeom prst="roundRect">
            <a:avLst>
              <a:gd name="adj" fmla="val 8741"/>
            </a:avLst>
          </a:prstGeom>
          <a:solidFill>
            <a:srgbClr val="1E3157"/>
          </a:solidFill>
          <a:ln/>
        </p:spPr>
        <p:txBody>
          <a:bodyPr/>
          <a:lstStyle/>
          <a:p>
            <a:endParaRPr lang="en-US"/>
          </a:p>
        </p:txBody>
      </p:sp>
      <p:sp>
        <p:nvSpPr>
          <p:cNvPr id="4" name="Text 2"/>
          <p:cNvSpPr/>
          <p:nvPr/>
        </p:nvSpPr>
        <p:spPr>
          <a:xfrm>
            <a:off x="1066800" y="1869430"/>
            <a:ext cx="4826889"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9893F"/>
                </a:solidFill>
                <a:latin typeface="Rubik" pitchFamily="34" charset="0"/>
                <a:ea typeface="Rubik" pitchFamily="34" charset="-122"/>
                <a:cs typeface="Rubik" pitchFamily="34" charset="-120"/>
              </a:rPr>
              <a:t>Python</a:t>
            </a:r>
            <a:endParaRPr lang="en-US" sz="2200" dirty="0"/>
          </a:p>
        </p:txBody>
      </p:sp>
      <p:sp>
        <p:nvSpPr>
          <p:cNvPr id="5" name="Text 3"/>
          <p:cNvSpPr/>
          <p:nvPr/>
        </p:nvSpPr>
        <p:spPr>
          <a:xfrm>
            <a:off x="1066800" y="2280890"/>
            <a:ext cx="482688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CFDA"/>
                </a:solidFill>
                <a:latin typeface="Rubik" pitchFamily="34" charset="0"/>
                <a:ea typeface="Rubik" pitchFamily="34" charset="-122"/>
                <a:cs typeface="Rubik" pitchFamily="34" charset="-120"/>
              </a:rPr>
              <a:t>Its standard version, CPython, is written in C</a:t>
            </a:r>
            <a:endParaRPr lang="en-US" sz="1500" dirty="0"/>
          </a:p>
        </p:txBody>
      </p:sp>
      <p:sp>
        <p:nvSpPr>
          <p:cNvPr id="6" name="Shape 4"/>
          <p:cNvSpPr/>
          <p:nvPr/>
        </p:nvSpPr>
        <p:spPr>
          <a:xfrm>
            <a:off x="6184900" y="1615430"/>
            <a:ext cx="5194300" cy="1452860"/>
          </a:xfrm>
          <a:prstGeom prst="roundRect">
            <a:avLst>
              <a:gd name="adj" fmla="val 8741"/>
            </a:avLst>
          </a:prstGeom>
          <a:solidFill>
            <a:srgbClr val="1E3157"/>
          </a:solidFill>
          <a:ln/>
        </p:spPr>
        <p:txBody>
          <a:bodyPr/>
          <a:lstStyle/>
          <a:p>
            <a:endParaRPr lang="en-US"/>
          </a:p>
        </p:txBody>
      </p:sp>
      <p:sp>
        <p:nvSpPr>
          <p:cNvPr id="7" name="Text 5"/>
          <p:cNvSpPr/>
          <p:nvPr/>
        </p:nvSpPr>
        <p:spPr>
          <a:xfrm>
            <a:off x="6438900" y="1869430"/>
            <a:ext cx="4826889"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9893F"/>
                </a:solidFill>
                <a:latin typeface="Rubik" pitchFamily="34" charset="0"/>
                <a:ea typeface="Rubik" pitchFamily="34" charset="-122"/>
                <a:cs typeface="Rubik" pitchFamily="34" charset="-120"/>
              </a:rPr>
              <a:t>Linux kernel</a:t>
            </a:r>
            <a:endParaRPr lang="en-US" sz="2200" dirty="0"/>
          </a:p>
        </p:txBody>
      </p:sp>
      <p:sp>
        <p:nvSpPr>
          <p:cNvPr id="8" name="Text 6"/>
          <p:cNvSpPr/>
          <p:nvPr/>
        </p:nvSpPr>
        <p:spPr>
          <a:xfrm>
            <a:off x="6438900" y="2280890"/>
            <a:ext cx="4826889"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CFDA"/>
                </a:solidFill>
                <a:latin typeface="Rubik" pitchFamily="34" charset="0"/>
                <a:ea typeface="Rubik" pitchFamily="34" charset="-122"/>
                <a:cs typeface="Rubik" pitchFamily="34" charset="-120"/>
              </a:rPr>
              <a:t>Inside servers, supercomputers and every Android phone</a:t>
            </a:r>
            <a:endParaRPr lang="en-US" sz="1500" dirty="0"/>
          </a:p>
        </p:txBody>
      </p:sp>
      <p:sp>
        <p:nvSpPr>
          <p:cNvPr id="9" name="Shape 7"/>
          <p:cNvSpPr/>
          <p:nvPr/>
        </p:nvSpPr>
        <p:spPr>
          <a:xfrm>
            <a:off x="812800" y="3246090"/>
            <a:ext cx="5194300" cy="1452860"/>
          </a:xfrm>
          <a:prstGeom prst="roundRect">
            <a:avLst>
              <a:gd name="adj" fmla="val 8741"/>
            </a:avLst>
          </a:prstGeom>
          <a:solidFill>
            <a:srgbClr val="1E3157"/>
          </a:solidFill>
          <a:ln/>
        </p:spPr>
        <p:txBody>
          <a:bodyPr/>
          <a:lstStyle/>
          <a:p>
            <a:endParaRPr lang="en-US"/>
          </a:p>
        </p:txBody>
      </p:sp>
      <p:sp>
        <p:nvSpPr>
          <p:cNvPr id="10" name="Text 8"/>
          <p:cNvSpPr/>
          <p:nvPr/>
        </p:nvSpPr>
        <p:spPr>
          <a:xfrm>
            <a:off x="1066800" y="3500090"/>
            <a:ext cx="4826889"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9893F"/>
                </a:solidFill>
                <a:latin typeface="Rubik" pitchFamily="34" charset="0"/>
                <a:ea typeface="Rubik" pitchFamily="34" charset="-122"/>
                <a:cs typeface="Rubik" pitchFamily="34" charset="-120"/>
              </a:rPr>
              <a:t>Git</a:t>
            </a:r>
            <a:endParaRPr lang="en-US" sz="2200" dirty="0"/>
          </a:p>
        </p:txBody>
      </p:sp>
      <p:sp>
        <p:nvSpPr>
          <p:cNvPr id="11" name="Text 9"/>
          <p:cNvSpPr/>
          <p:nvPr/>
        </p:nvSpPr>
        <p:spPr>
          <a:xfrm>
            <a:off x="1066800" y="3911550"/>
            <a:ext cx="4826889"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CFDA"/>
                </a:solidFill>
                <a:latin typeface="Rubik" pitchFamily="34" charset="0"/>
                <a:ea typeface="Rubik" pitchFamily="34" charset="-122"/>
                <a:cs typeface="Rubik" pitchFamily="34" charset="-120"/>
              </a:rPr>
              <a:t>The tool almost every software team uses to manage code</a:t>
            </a:r>
            <a:endParaRPr lang="en-US" sz="1500" dirty="0"/>
          </a:p>
        </p:txBody>
      </p:sp>
      <p:sp>
        <p:nvSpPr>
          <p:cNvPr id="12" name="Shape 10"/>
          <p:cNvSpPr/>
          <p:nvPr/>
        </p:nvSpPr>
        <p:spPr>
          <a:xfrm>
            <a:off x="6184900" y="3246090"/>
            <a:ext cx="5194300" cy="1452860"/>
          </a:xfrm>
          <a:prstGeom prst="roundRect">
            <a:avLst>
              <a:gd name="adj" fmla="val 8741"/>
            </a:avLst>
          </a:prstGeom>
          <a:solidFill>
            <a:srgbClr val="1E3157"/>
          </a:solidFill>
          <a:ln/>
        </p:spPr>
        <p:txBody>
          <a:bodyPr/>
          <a:lstStyle/>
          <a:p>
            <a:endParaRPr lang="en-US"/>
          </a:p>
        </p:txBody>
      </p:sp>
      <p:sp>
        <p:nvSpPr>
          <p:cNvPr id="13" name="Text 11"/>
          <p:cNvSpPr/>
          <p:nvPr/>
        </p:nvSpPr>
        <p:spPr>
          <a:xfrm>
            <a:off x="6438900" y="3500090"/>
            <a:ext cx="4826889"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9893F"/>
                </a:solidFill>
                <a:latin typeface="Rubik" pitchFamily="34" charset="0"/>
                <a:ea typeface="Rubik" pitchFamily="34" charset="-122"/>
                <a:cs typeface="Rubik" pitchFamily="34" charset="-120"/>
              </a:rPr>
              <a:t>SQLite</a:t>
            </a:r>
            <a:endParaRPr lang="en-US" sz="2200" dirty="0"/>
          </a:p>
        </p:txBody>
      </p:sp>
      <p:sp>
        <p:nvSpPr>
          <p:cNvPr id="14" name="Text 12"/>
          <p:cNvSpPr/>
          <p:nvPr/>
        </p:nvSpPr>
        <p:spPr>
          <a:xfrm>
            <a:off x="6438900" y="3911550"/>
            <a:ext cx="49403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CFDA"/>
                </a:solidFill>
                <a:latin typeface="Rubik" pitchFamily="34" charset="0"/>
                <a:ea typeface="Rubik" pitchFamily="34" charset="-122"/>
                <a:cs typeface="Rubik" pitchFamily="34" charset="-120"/>
              </a:rPr>
              <a:t>The small database on practically every smartphone</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Why fundamentals matter more in the AI era</a:t>
            </a:r>
            <a:endParaRPr lang="en-US" sz="3200" dirty="0"/>
          </a:p>
        </p:txBody>
      </p:sp>
      <p:sp>
        <p:nvSpPr>
          <p:cNvPr id="3" name="Shape 1"/>
          <p:cNvSpPr/>
          <p:nvPr/>
        </p:nvSpPr>
        <p:spPr>
          <a:xfrm>
            <a:off x="815975" y="1618605"/>
            <a:ext cx="3380284" cy="3092450"/>
          </a:xfrm>
          <a:prstGeom prst="roundRect">
            <a:avLst>
              <a:gd name="adj" fmla="val 4004"/>
            </a:avLst>
          </a:prstGeom>
          <a:solidFill>
            <a:srgbClr val="FFFDF8"/>
          </a:solidFill>
          <a:ln w="6350">
            <a:solidFill>
              <a:srgbClr val="E2DDD2"/>
            </a:solidFill>
            <a:prstDash val="solid"/>
          </a:ln>
        </p:spPr>
        <p:txBody>
          <a:bodyPr/>
          <a:lstStyle/>
          <a:p>
            <a:endParaRPr lang="en-US"/>
          </a:p>
        </p:txBody>
      </p:sp>
      <p:pic>
        <p:nvPicPr>
          <p:cNvPr id="4" name="Image 0" descr="Verified"/>
          <p:cNvPicPr>
            <a:picLocks noChangeAspect="1"/>
          </p:cNvPicPr>
          <p:nvPr/>
        </p:nvPicPr>
        <p:blipFill>
          <a:blip r:embed="rId3"/>
          <a:srcRect/>
          <a:stretch/>
        </p:blipFill>
        <p:spPr>
          <a:xfrm>
            <a:off x="1123950" y="1926580"/>
            <a:ext cx="457200" cy="457200"/>
          </a:xfrm>
          <a:prstGeom prst="rect">
            <a:avLst/>
          </a:prstGeom>
        </p:spPr>
      </p:pic>
      <p:sp>
        <p:nvSpPr>
          <p:cNvPr id="5" name="Text 2"/>
          <p:cNvSpPr/>
          <p:nvPr/>
        </p:nvSpPr>
        <p:spPr>
          <a:xfrm>
            <a:off x="1123950" y="2536180"/>
            <a:ext cx="2847264" cy="9398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C2230"/>
                </a:solidFill>
                <a:latin typeface="Rubik" pitchFamily="34" charset="0"/>
                <a:ea typeface="Rubik" pitchFamily="34" charset="-122"/>
                <a:cs typeface="Rubik" pitchFamily="34" charset="-120"/>
              </a:rPr>
              <a:t>AI generates code. Engineers are responsible for it.</a:t>
            </a:r>
            <a:endParaRPr lang="en-US" sz="2000" dirty="0"/>
          </a:p>
        </p:txBody>
      </p:sp>
      <p:sp>
        <p:nvSpPr>
          <p:cNvPr id="6" name="Text 3"/>
          <p:cNvSpPr/>
          <p:nvPr/>
        </p:nvSpPr>
        <p:spPr>
          <a:xfrm>
            <a:off x="1123950" y="3602980"/>
            <a:ext cx="284726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96273"/>
                </a:solidFill>
                <a:latin typeface="Rubik" pitchFamily="34" charset="0"/>
                <a:ea typeface="Rubik" pitchFamily="34" charset="-122"/>
                <a:cs typeface="Rubik" pitchFamily="34" charset="-120"/>
              </a:rPr>
              <a:t>Reviewing, debugging and owning code all need the basics.</a:t>
            </a:r>
            <a:endParaRPr lang="en-US" sz="1500" dirty="0"/>
          </a:p>
        </p:txBody>
      </p:sp>
      <p:sp>
        <p:nvSpPr>
          <p:cNvPr id="7" name="Shape 4"/>
          <p:cNvSpPr/>
          <p:nvPr/>
        </p:nvSpPr>
        <p:spPr>
          <a:xfrm>
            <a:off x="4405809" y="1618605"/>
            <a:ext cx="3380333" cy="3092450"/>
          </a:xfrm>
          <a:prstGeom prst="roundRect">
            <a:avLst>
              <a:gd name="adj" fmla="val 4004"/>
            </a:avLst>
          </a:prstGeom>
          <a:solidFill>
            <a:srgbClr val="FFFDF8"/>
          </a:solidFill>
          <a:ln w="6350">
            <a:solidFill>
              <a:srgbClr val="E2DDD2"/>
            </a:solidFill>
            <a:prstDash val="solid"/>
          </a:ln>
        </p:spPr>
        <p:txBody>
          <a:bodyPr/>
          <a:lstStyle/>
          <a:p>
            <a:endParaRPr lang="en-US"/>
          </a:p>
        </p:txBody>
      </p:sp>
      <p:pic>
        <p:nvPicPr>
          <p:cNvPr id="8" name="Image 1" descr="GraduationCap"/>
          <p:cNvPicPr>
            <a:picLocks noChangeAspect="1"/>
          </p:cNvPicPr>
          <p:nvPr/>
        </p:nvPicPr>
        <p:blipFill>
          <a:blip r:embed="rId4"/>
          <a:srcRect/>
          <a:stretch/>
        </p:blipFill>
        <p:spPr>
          <a:xfrm>
            <a:off x="4713784" y="1926580"/>
            <a:ext cx="457200" cy="457200"/>
          </a:xfrm>
          <a:prstGeom prst="rect">
            <a:avLst/>
          </a:prstGeom>
        </p:spPr>
      </p:pic>
      <p:sp>
        <p:nvSpPr>
          <p:cNvPr id="9" name="Text 5"/>
          <p:cNvSpPr/>
          <p:nvPr/>
        </p:nvSpPr>
        <p:spPr>
          <a:xfrm>
            <a:off x="4713784" y="2536180"/>
            <a:ext cx="284731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C2230"/>
                </a:solidFill>
                <a:latin typeface="Rubik" pitchFamily="34" charset="0"/>
                <a:ea typeface="Rubik" pitchFamily="34" charset="-122"/>
                <a:cs typeface="Rubik" pitchFamily="34" charset="-120"/>
              </a:rPr>
              <a:t>Interviews and GATE test fundamentals.</a:t>
            </a:r>
            <a:endParaRPr lang="en-US" sz="2000" dirty="0"/>
          </a:p>
        </p:txBody>
      </p:sp>
      <p:sp>
        <p:nvSpPr>
          <p:cNvPr id="10" name="Text 6"/>
          <p:cNvSpPr/>
          <p:nvPr/>
        </p:nvSpPr>
        <p:spPr>
          <a:xfrm>
            <a:off x="4713784" y="3298180"/>
            <a:ext cx="284731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96273"/>
                </a:solidFill>
                <a:latin typeface="Rubik" pitchFamily="34" charset="0"/>
                <a:ea typeface="Rubik" pitchFamily="34" charset="-122"/>
                <a:cs typeface="Rubik" pitchFamily="34" charset="-120"/>
              </a:rPr>
              <a:t>No interviewer lets you open ChatGPT in a coding round.</a:t>
            </a:r>
            <a:endParaRPr lang="en-US" sz="1500" dirty="0"/>
          </a:p>
        </p:txBody>
      </p:sp>
      <p:sp>
        <p:nvSpPr>
          <p:cNvPr id="11" name="Shape 7"/>
          <p:cNvSpPr/>
          <p:nvPr/>
        </p:nvSpPr>
        <p:spPr>
          <a:xfrm>
            <a:off x="7995692" y="1618605"/>
            <a:ext cx="3380333" cy="3092450"/>
          </a:xfrm>
          <a:prstGeom prst="roundRect">
            <a:avLst>
              <a:gd name="adj" fmla="val 4004"/>
            </a:avLst>
          </a:prstGeom>
          <a:solidFill>
            <a:srgbClr val="FFFDF8"/>
          </a:solidFill>
          <a:ln w="6350">
            <a:solidFill>
              <a:srgbClr val="E2DDD2"/>
            </a:solidFill>
            <a:prstDash val="solid"/>
          </a:ln>
        </p:spPr>
        <p:txBody>
          <a:bodyPr/>
          <a:lstStyle/>
          <a:p>
            <a:endParaRPr lang="en-US"/>
          </a:p>
        </p:txBody>
      </p:sp>
      <p:pic>
        <p:nvPicPr>
          <p:cNvPr id="12" name="Image 2" descr="Lightning"/>
          <p:cNvPicPr>
            <a:picLocks noChangeAspect="1"/>
          </p:cNvPicPr>
          <p:nvPr/>
        </p:nvPicPr>
        <p:blipFill>
          <a:blip r:embed="rId5"/>
          <a:srcRect/>
          <a:stretch/>
        </p:blipFill>
        <p:spPr>
          <a:xfrm>
            <a:off x="8303667" y="1926580"/>
            <a:ext cx="457200" cy="457200"/>
          </a:xfrm>
          <a:prstGeom prst="rect">
            <a:avLst/>
          </a:prstGeom>
        </p:spPr>
      </p:pic>
      <p:sp>
        <p:nvSpPr>
          <p:cNvPr id="13" name="Text 8"/>
          <p:cNvSpPr/>
          <p:nvPr/>
        </p:nvSpPr>
        <p:spPr>
          <a:xfrm>
            <a:off x="8303667" y="2536180"/>
            <a:ext cx="284731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C2230"/>
                </a:solidFill>
                <a:latin typeface="Rubik" pitchFamily="34" charset="0"/>
                <a:ea typeface="Rubik" pitchFamily="34" charset="-122"/>
                <a:cs typeface="Rubik" pitchFamily="34" charset="-120"/>
              </a:rPr>
              <a:t>The people who build AI need them most.</a:t>
            </a:r>
            <a:endParaRPr lang="en-US" sz="2000" dirty="0"/>
          </a:p>
        </p:txBody>
      </p:sp>
      <p:sp>
        <p:nvSpPr>
          <p:cNvPr id="14" name="Text 9"/>
          <p:cNvSpPr/>
          <p:nvPr/>
        </p:nvSpPr>
        <p:spPr>
          <a:xfrm>
            <a:off x="8303667" y="3298180"/>
            <a:ext cx="284731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96273"/>
                </a:solidFill>
                <a:latin typeface="Rubik" pitchFamily="34" charset="0"/>
                <a:ea typeface="Rubik" pitchFamily="34" charset="-122"/>
                <a:cs typeface="Rubik" pitchFamily="34" charset="-120"/>
              </a:rPr>
              <a:t>The core of tools like PyTorch is written in C and C++.</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bg>
      <p:bgPr>
        <a:solidFill>
          <a:srgbClr val="E9893F"/>
        </a:solidFill>
        <a:effectLst/>
      </p:bgPr>
    </p:bg>
    <p:spTree>
      <p:nvGrpSpPr>
        <p:cNvPr id="1" name=""/>
        <p:cNvGrpSpPr/>
        <p:nvPr/>
      </p:nvGrpSpPr>
      <p:grpSpPr>
        <a:xfrm>
          <a:off x="0" y="0"/>
          <a:ext cx="0" cy="0"/>
          <a:chOff x="0" y="0"/>
          <a:chExt cx="0" cy="0"/>
        </a:xfrm>
      </p:grpSpPr>
      <p:sp>
        <p:nvSpPr>
          <p:cNvPr id="2" name="Text 0"/>
          <p:cNvSpPr/>
          <p:nvPr/>
        </p:nvSpPr>
        <p:spPr>
          <a:xfrm>
            <a:off x="812800" y="2050355"/>
            <a:ext cx="10883392" cy="651222"/>
          </a:xfrm>
          <a:prstGeom prst="rect">
            <a:avLst/>
          </a:prstGeom>
          <a:noFill/>
          <a:ln/>
        </p:spPr>
        <p:txBody>
          <a:bodyPr wrap="square" lIns="0" tIns="0" rIns="0" bIns="0" rtlCol="0" anchor="t">
            <a:normAutofit/>
          </a:bodyPr>
          <a:lstStyle/>
          <a:p>
            <a:pPr marL="0" indent="0" algn="l">
              <a:lnSpc>
                <a:spcPts val="4928"/>
              </a:lnSpc>
              <a:buNone/>
            </a:pPr>
            <a:r>
              <a:rPr lang="en-US" sz="4400" b="1" dirty="0">
                <a:solidFill>
                  <a:srgbClr val="15233F"/>
                </a:solidFill>
                <a:latin typeface="Rubik" pitchFamily="34" charset="0"/>
                <a:ea typeface="Rubik" pitchFamily="34" charset="-122"/>
                <a:cs typeface="Rubik" pitchFamily="34" charset="-120"/>
              </a:rPr>
              <a:t>AI will not replace programmers.</a:t>
            </a:r>
            <a:endParaRPr lang="en-US" sz="4400" dirty="0"/>
          </a:p>
        </p:txBody>
      </p:sp>
      <p:sp>
        <p:nvSpPr>
          <p:cNvPr id="3" name="Text 1"/>
          <p:cNvSpPr/>
          <p:nvPr/>
        </p:nvSpPr>
        <p:spPr>
          <a:xfrm>
            <a:off x="812800" y="2930178"/>
            <a:ext cx="10883392" cy="1902867"/>
          </a:xfrm>
          <a:prstGeom prst="rect">
            <a:avLst/>
          </a:prstGeom>
          <a:noFill/>
          <a:ln/>
        </p:spPr>
        <p:txBody>
          <a:bodyPr wrap="square" lIns="0" tIns="0" rIns="0" bIns="0" rtlCol="0" anchor="t">
            <a:normAutofit/>
          </a:bodyPr>
          <a:lstStyle/>
          <a:p>
            <a:pPr marL="0" indent="0" algn="l">
              <a:lnSpc>
                <a:spcPts val="4928"/>
              </a:lnSpc>
              <a:buNone/>
            </a:pPr>
            <a:r>
              <a:rPr lang="en-US" sz="4400" b="1" dirty="0">
                <a:solidFill>
                  <a:srgbClr val="15233F"/>
                </a:solidFill>
                <a:latin typeface="Rubik" pitchFamily="34" charset="0"/>
                <a:ea typeface="Rubik" pitchFamily="34" charset="-122"/>
                <a:cs typeface="Rubik" pitchFamily="34" charset="-120"/>
              </a:rPr>
              <a:t>Programmers who know the fundamentals </a:t>
            </a:r>
            <a:r>
              <a:rPr lang="en-US" sz="4400" b="1" i="1" dirty="0">
                <a:solidFill>
                  <a:srgbClr val="15233F"/>
                </a:solidFill>
                <a:latin typeface="Rubik" pitchFamily="34" charset="0"/>
                <a:ea typeface="Rubik" pitchFamily="34" charset="-122"/>
                <a:cs typeface="Rubik" pitchFamily="34" charset="-120"/>
              </a:rPr>
              <a:t>and</a:t>
            </a:r>
            <a:r>
              <a:rPr lang="en-US" sz="4400" b="1" dirty="0">
                <a:solidFill>
                  <a:srgbClr val="15233F"/>
                </a:solidFill>
                <a:latin typeface="Rubik" pitchFamily="34" charset="0"/>
                <a:ea typeface="Rubik" pitchFamily="34" charset="-122"/>
                <a:cs typeface="Rubik" pitchFamily="34" charset="-120"/>
              </a:rPr>
              <a:t> use AI will replace those who don't.</a:t>
            </a:r>
            <a:endParaRPr lang="en-US" sz="4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Round 2: a quick taste of C</a:t>
            </a:r>
            <a:endParaRPr lang="en-US" sz="3200" dirty="0"/>
          </a:p>
        </p:txBody>
      </p:sp>
      <p:sp>
        <p:nvSpPr>
          <p:cNvPr id="3" name="Text 1"/>
          <p:cNvSpPr/>
          <p:nvPr/>
        </p:nvSpPr>
        <p:spPr>
          <a:xfrm>
            <a:off x="812800" y="1615430"/>
            <a:ext cx="10566400" cy="1107430"/>
          </a:xfrm>
          <a:prstGeom prst="roundRect">
            <a:avLst>
              <a:gd name="adj" fmla="val 11468"/>
            </a:avLst>
          </a:prstGeom>
          <a:solidFill>
            <a:srgbClr val="15233F"/>
          </a:solidFill>
          <a:ln/>
        </p:spPr>
        <p:txBody>
          <a:bodyPr wrap="square" lIns="318403" tIns="267603" rIns="22747" bIns="242203" rtlCol="0" anchor="t">
            <a:normAutofit/>
          </a:bodyPr>
          <a:lstStyle/>
          <a:p>
            <a:pPr marL="0" indent="0" algn="l">
              <a:lnSpc>
                <a:spcPts val="3920"/>
              </a:lnSpc>
              <a:buNone/>
            </a:pPr>
            <a:r>
              <a:rPr lang="en-US" sz="2800" dirty="0">
                <a:solidFill>
                  <a:srgbClr val="E6E9F0"/>
                </a:solidFill>
                <a:latin typeface="JetBrains Mono" pitchFamily="49" charset="0"/>
                <a:ea typeface="JetBrains Mono" pitchFamily="49" charset="-122"/>
                <a:cs typeface="JetBrains Mono" pitchFamily="49" charset="-120"/>
              </a:rPr>
              <a:t>printf(</a:t>
            </a:r>
            <a:r>
              <a:rPr lang="en-US" sz="2800" dirty="0">
                <a:solidFill>
                  <a:srgbClr val="F0B27A"/>
                </a:solidFill>
                <a:latin typeface="JetBrains Mono" pitchFamily="49" charset="0"/>
                <a:ea typeface="JetBrains Mono" pitchFamily="49" charset="-122"/>
                <a:cs typeface="JetBrains Mono" pitchFamily="49" charset="-120"/>
              </a:rPr>
              <a:t>"%d"</a:t>
            </a:r>
            <a:r>
              <a:rPr lang="en-US" sz="2800" dirty="0">
                <a:solidFill>
                  <a:srgbClr val="E6E9F0"/>
                </a:solidFill>
                <a:latin typeface="JetBrains Mono" pitchFamily="49" charset="0"/>
                <a:ea typeface="JetBrains Mono" pitchFamily="49" charset="-122"/>
                <a:cs typeface="JetBrains Mono" pitchFamily="49" charset="-120"/>
              </a:rPr>
              <a:t>, 7 / 2);</a:t>
            </a:r>
            <a:endParaRPr lang="en-US" sz="2800" dirty="0"/>
          </a:p>
        </p:txBody>
      </p:sp>
      <p:sp>
        <p:nvSpPr>
          <p:cNvPr id="4" name="Text 2"/>
          <p:cNvSpPr/>
          <p:nvPr/>
        </p:nvSpPr>
        <p:spPr>
          <a:xfrm>
            <a:off x="815975" y="3081635"/>
            <a:ext cx="2520950" cy="803870"/>
          </a:xfrm>
          <a:prstGeom prst="roundRect">
            <a:avLst>
              <a:gd name="adj" fmla="val 13824"/>
            </a:avLst>
          </a:prstGeom>
          <a:solidFill>
            <a:srgbClr val="FFFDF8"/>
          </a:solidFill>
          <a:ln w="6350">
            <a:solidFill>
              <a:srgbClr val="E2DDD2"/>
            </a:solidFill>
            <a:prstDash val="solid"/>
          </a:ln>
        </p:spPr>
        <p:txBody>
          <a:bodyPr wrap="square" lIns="142205" tIns="173828" rIns="142205" bIns="148428" rtlCol="0" anchor="t">
            <a:normAutofit/>
          </a:bodyPr>
          <a:lstStyle/>
          <a:p>
            <a:pPr marL="0" indent="0" algn="ctr">
              <a:lnSpc>
                <a:spcPts val="3080"/>
              </a:lnSpc>
              <a:buNone/>
            </a:pPr>
            <a:r>
              <a:rPr lang="en-US" sz="2200" b="1" dirty="0">
                <a:solidFill>
                  <a:srgbClr val="1C2230"/>
                </a:solidFill>
                <a:latin typeface="Rubik" pitchFamily="34" charset="0"/>
                <a:ea typeface="Rubik" pitchFamily="34" charset="-122"/>
                <a:cs typeface="Rubik" pitchFamily="34" charset="-120"/>
              </a:rPr>
              <a:t>A · 3.5</a:t>
            </a:r>
            <a:endParaRPr lang="en-US" sz="2200" dirty="0"/>
          </a:p>
        </p:txBody>
      </p:sp>
      <p:sp>
        <p:nvSpPr>
          <p:cNvPr id="5" name="Text 3"/>
          <p:cNvSpPr/>
          <p:nvPr/>
        </p:nvSpPr>
        <p:spPr>
          <a:xfrm>
            <a:off x="4835525" y="3118374"/>
            <a:ext cx="2520950" cy="803870"/>
          </a:xfrm>
          <a:prstGeom prst="roundRect">
            <a:avLst>
              <a:gd name="adj" fmla="val 13824"/>
            </a:avLst>
          </a:prstGeom>
          <a:solidFill>
            <a:srgbClr val="FFFDF8"/>
          </a:solidFill>
          <a:ln w="6350">
            <a:solidFill>
              <a:srgbClr val="E2DDD2"/>
            </a:solidFill>
            <a:prstDash val="solid"/>
          </a:ln>
        </p:spPr>
        <p:txBody>
          <a:bodyPr wrap="square" lIns="142205" tIns="173828" rIns="142205" bIns="148428" rtlCol="0" anchor="t">
            <a:normAutofit/>
          </a:bodyPr>
          <a:lstStyle/>
          <a:p>
            <a:pPr marL="0" indent="0" algn="ctr">
              <a:lnSpc>
                <a:spcPts val="3080"/>
              </a:lnSpc>
              <a:buNone/>
            </a:pPr>
            <a:r>
              <a:rPr lang="en-US" sz="2200" b="1" dirty="0">
                <a:solidFill>
                  <a:srgbClr val="1C2230"/>
                </a:solidFill>
                <a:latin typeface="Rubik" pitchFamily="34" charset="0"/>
                <a:ea typeface="Rubik" pitchFamily="34" charset="-122"/>
                <a:cs typeface="Rubik" pitchFamily="34" charset="-120"/>
              </a:rPr>
              <a:t>B · 3</a:t>
            </a:r>
            <a:endParaRPr lang="en-US" sz="2200" dirty="0"/>
          </a:p>
        </p:txBody>
      </p:sp>
      <p:sp>
        <p:nvSpPr>
          <p:cNvPr id="7" name="Text 5"/>
          <p:cNvSpPr/>
          <p:nvPr/>
        </p:nvSpPr>
        <p:spPr>
          <a:xfrm>
            <a:off x="8855075" y="3081635"/>
            <a:ext cx="2520950" cy="803870"/>
          </a:xfrm>
          <a:prstGeom prst="roundRect">
            <a:avLst>
              <a:gd name="adj" fmla="val 13824"/>
            </a:avLst>
          </a:prstGeom>
          <a:solidFill>
            <a:srgbClr val="FFFDF8"/>
          </a:solidFill>
          <a:ln w="6350">
            <a:solidFill>
              <a:srgbClr val="E2DDD2"/>
            </a:solidFill>
            <a:prstDash val="solid"/>
          </a:ln>
        </p:spPr>
        <p:txBody>
          <a:bodyPr wrap="square" lIns="142205" tIns="173828" rIns="142205" bIns="148428" rtlCol="0" anchor="t">
            <a:normAutofit/>
          </a:bodyPr>
          <a:lstStyle/>
          <a:p>
            <a:pPr marL="0" indent="0" algn="ctr">
              <a:lnSpc>
                <a:spcPts val="3080"/>
              </a:lnSpc>
              <a:buNone/>
            </a:pPr>
            <a:r>
              <a:rPr lang="en-US" sz="2200" b="1" dirty="0">
                <a:solidFill>
                  <a:srgbClr val="1C2230"/>
                </a:solidFill>
                <a:latin typeface="Rubik" pitchFamily="34" charset="0"/>
                <a:ea typeface="Rubik" pitchFamily="34" charset="-122"/>
                <a:cs typeface="Rubik" pitchFamily="34" charset="-120"/>
              </a:rPr>
              <a:t>D · Error</a:t>
            </a:r>
            <a:endParaRPr lang="en-US" sz="2200" dirty="0"/>
          </a:p>
        </p:txBody>
      </p:sp>
      <p:sp>
        <p:nvSpPr>
          <p:cNvPr id="8" name="Text 6"/>
          <p:cNvSpPr/>
          <p:nvPr/>
        </p:nvSpPr>
        <p:spPr>
          <a:xfrm>
            <a:off x="812800" y="424428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96273"/>
                </a:solidFill>
                <a:latin typeface="Rubik" pitchFamily="34" charset="0"/>
                <a:ea typeface="Rubik" pitchFamily="34" charset="-122"/>
                <a:cs typeface="Rubik" pitchFamily="34" charset="-120"/>
              </a:rPr>
              <a:t>Vote on Mentimeter.</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Where this course takes you</a:t>
            </a:r>
            <a:endParaRPr lang="en-US" sz="3200" dirty="0"/>
          </a:p>
        </p:txBody>
      </p:sp>
      <p:sp>
        <p:nvSpPr>
          <p:cNvPr id="3" name="Shape 1"/>
          <p:cNvSpPr/>
          <p:nvPr/>
        </p:nvSpPr>
        <p:spPr>
          <a:xfrm>
            <a:off x="815975" y="1618605"/>
            <a:ext cx="3397250" cy="1659880"/>
          </a:xfrm>
          <a:prstGeom prst="roundRect">
            <a:avLst>
              <a:gd name="adj" fmla="val 7460"/>
            </a:avLst>
          </a:prstGeom>
          <a:solidFill>
            <a:srgbClr val="FFFDF8"/>
          </a:solidFill>
          <a:ln w="6350">
            <a:solidFill>
              <a:srgbClr val="E2DDD2"/>
            </a:solidFill>
            <a:prstDash val="solid"/>
          </a:ln>
        </p:spPr>
        <p:txBody>
          <a:bodyPr/>
          <a:lstStyle/>
          <a:p>
            <a:endParaRPr lang="en-US"/>
          </a:p>
        </p:txBody>
      </p:sp>
      <p:sp>
        <p:nvSpPr>
          <p:cNvPr id="4" name="Text 2"/>
          <p:cNvSpPr/>
          <p:nvPr/>
        </p:nvSpPr>
        <p:spPr>
          <a:xfrm>
            <a:off x="1073150" y="1875780"/>
            <a:ext cx="2969387"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94F17"/>
                </a:solidFill>
                <a:latin typeface="Rubik" pitchFamily="34" charset="0"/>
                <a:ea typeface="Rubik" pitchFamily="34" charset="-122"/>
                <a:cs typeface="Rubik" pitchFamily="34" charset="-120"/>
              </a:rPr>
              <a:t>01</a:t>
            </a:r>
            <a:endParaRPr lang="en-US" sz="2800" dirty="0"/>
          </a:p>
        </p:txBody>
      </p:sp>
      <p:sp>
        <p:nvSpPr>
          <p:cNvPr id="5" name="Text 3"/>
          <p:cNvSpPr/>
          <p:nvPr/>
        </p:nvSpPr>
        <p:spPr>
          <a:xfrm>
            <a:off x="1073150" y="2449810"/>
            <a:ext cx="2969387" cy="596900"/>
          </a:xfrm>
          <a:prstGeom prst="rect">
            <a:avLst/>
          </a:prstGeom>
          <a:noFill/>
          <a:ln/>
        </p:spPr>
        <p:txBody>
          <a:bodyPr wrap="square" lIns="0" tIns="0" rIns="0" bIns="0" rtlCol="0" anchor="t">
            <a:normAutofit/>
          </a:bodyPr>
          <a:lstStyle/>
          <a:p>
            <a:pPr marL="0" indent="0" algn="l">
              <a:lnSpc>
                <a:spcPts val="2250"/>
              </a:lnSpc>
              <a:buNone/>
            </a:pPr>
            <a:r>
              <a:rPr lang="en-US" sz="1800" b="1" dirty="0">
                <a:solidFill>
                  <a:srgbClr val="1C2230"/>
                </a:solidFill>
                <a:latin typeface="Rubik" pitchFamily="34" charset="0"/>
                <a:ea typeface="Rubik" pitchFamily="34" charset="-122"/>
                <a:cs typeface="Rubik" pitchFamily="34" charset="-120"/>
              </a:rPr>
              <a:t>Fundamentals of Programming</a:t>
            </a:r>
            <a:endParaRPr lang="en-US" sz="1800" dirty="0"/>
          </a:p>
        </p:txBody>
      </p:sp>
      <p:sp>
        <p:nvSpPr>
          <p:cNvPr id="6" name="Shape 4"/>
          <p:cNvSpPr/>
          <p:nvPr/>
        </p:nvSpPr>
        <p:spPr>
          <a:xfrm>
            <a:off x="4394200" y="1615430"/>
            <a:ext cx="3403600" cy="1666230"/>
          </a:xfrm>
          <a:prstGeom prst="roundRect">
            <a:avLst>
              <a:gd name="adj" fmla="val 7622"/>
            </a:avLst>
          </a:prstGeom>
          <a:solidFill>
            <a:srgbClr val="15233F"/>
          </a:solidFill>
          <a:ln/>
        </p:spPr>
        <p:txBody>
          <a:bodyPr/>
          <a:lstStyle/>
          <a:p>
            <a:endParaRPr lang="en-US"/>
          </a:p>
        </p:txBody>
      </p:sp>
      <p:sp>
        <p:nvSpPr>
          <p:cNvPr id="7" name="Text 5"/>
          <p:cNvSpPr/>
          <p:nvPr/>
        </p:nvSpPr>
        <p:spPr>
          <a:xfrm>
            <a:off x="4648200" y="1869430"/>
            <a:ext cx="2982468"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E9893F"/>
                </a:solidFill>
                <a:latin typeface="Rubik" pitchFamily="34" charset="0"/>
                <a:ea typeface="Rubik" pitchFamily="34" charset="-122"/>
                <a:cs typeface="Rubik" pitchFamily="34" charset="-120"/>
              </a:rPr>
              <a:t>02</a:t>
            </a:r>
            <a:endParaRPr lang="en-US" sz="2800" dirty="0"/>
          </a:p>
        </p:txBody>
      </p:sp>
      <p:sp>
        <p:nvSpPr>
          <p:cNvPr id="8" name="Text 6"/>
          <p:cNvSpPr/>
          <p:nvPr/>
        </p:nvSpPr>
        <p:spPr>
          <a:xfrm>
            <a:off x="4648200" y="2443460"/>
            <a:ext cx="2982468" cy="596900"/>
          </a:xfrm>
          <a:prstGeom prst="rect">
            <a:avLst/>
          </a:prstGeom>
          <a:noFill/>
          <a:ln/>
        </p:spPr>
        <p:txBody>
          <a:bodyPr wrap="square" lIns="0" tIns="0" rIns="0" bIns="0" rtlCol="0" anchor="t">
            <a:normAutofit/>
          </a:bodyPr>
          <a:lstStyle/>
          <a:p>
            <a:pPr marL="0" indent="0" algn="l">
              <a:lnSpc>
                <a:spcPts val="2250"/>
              </a:lnSpc>
              <a:buNone/>
            </a:pPr>
            <a:r>
              <a:rPr lang="en-US" sz="1800" b="1" dirty="0">
                <a:solidFill>
                  <a:srgbClr val="F6F3EC"/>
                </a:solidFill>
                <a:latin typeface="Rubik" pitchFamily="34" charset="0"/>
                <a:ea typeface="Rubik" pitchFamily="34" charset="-122"/>
                <a:cs typeface="Rubik" pitchFamily="34" charset="-120"/>
              </a:rPr>
              <a:t>Basic Programming and Control Statements</a:t>
            </a:r>
            <a:endParaRPr lang="en-US" sz="1800" dirty="0"/>
          </a:p>
        </p:txBody>
      </p:sp>
      <p:sp>
        <p:nvSpPr>
          <p:cNvPr id="9" name="Shape 7"/>
          <p:cNvSpPr/>
          <p:nvPr/>
        </p:nvSpPr>
        <p:spPr>
          <a:xfrm>
            <a:off x="7978775" y="1618605"/>
            <a:ext cx="3397250" cy="1659880"/>
          </a:xfrm>
          <a:prstGeom prst="roundRect">
            <a:avLst>
              <a:gd name="adj" fmla="val 7460"/>
            </a:avLst>
          </a:prstGeom>
          <a:solidFill>
            <a:srgbClr val="FFFDF8"/>
          </a:solidFill>
          <a:ln w="6350">
            <a:solidFill>
              <a:srgbClr val="E2DDD2"/>
            </a:solidFill>
            <a:prstDash val="solid"/>
          </a:ln>
        </p:spPr>
        <p:txBody>
          <a:bodyPr/>
          <a:lstStyle/>
          <a:p>
            <a:endParaRPr lang="en-US"/>
          </a:p>
        </p:txBody>
      </p:sp>
      <p:sp>
        <p:nvSpPr>
          <p:cNvPr id="10" name="Text 8"/>
          <p:cNvSpPr/>
          <p:nvPr/>
        </p:nvSpPr>
        <p:spPr>
          <a:xfrm>
            <a:off x="8235950" y="1875780"/>
            <a:ext cx="2969387"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94F17"/>
                </a:solidFill>
                <a:latin typeface="Rubik" pitchFamily="34" charset="0"/>
                <a:ea typeface="Rubik" pitchFamily="34" charset="-122"/>
                <a:cs typeface="Rubik" pitchFamily="34" charset="-120"/>
              </a:rPr>
              <a:t>03</a:t>
            </a:r>
            <a:endParaRPr lang="en-US" sz="2800" dirty="0"/>
          </a:p>
        </p:txBody>
      </p:sp>
      <p:sp>
        <p:nvSpPr>
          <p:cNvPr id="11" name="Text 9"/>
          <p:cNvSpPr/>
          <p:nvPr/>
        </p:nvSpPr>
        <p:spPr>
          <a:xfrm>
            <a:off x="8235950" y="2449810"/>
            <a:ext cx="2969387" cy="311150"/>
          </a:xfrm>
          <a:prstGeom prst="rect">
            <a:avLst/>
          </a:prstGeom>
          <a:noFill/>
          <a:ln/>
        </p:spPr>
        <p:txBody>
          <a:bodyPr wrap="square" lIns="0" tIns="0" rIns="0" bIns="0" rtlCol="0" anchor="t">
            <a:normAutofit/>
          </a:bodyPr>
          <a:lstStyle/>
          <a:p>
            <a:pPr marL="0" indent="0" algn="l">
              <a:lnSpc>
                <a:spcPts val="2250"/>
              </a:lnSpc>
              <a:buNone/>
            </a:pPr>
            <a:r>
              <a:rPr lang="en-US" sz="1800" b="1" dirty="0">
                <a:solidFill>
                  <a:srgbClr val="1C2230"/>
                </a:solidFill>
                <a:latin typeface="Rubik" pitchFamily="34" charset="0"/>
                <a:ea typeface="Rubik" pitchFamily="34" charset="-122"/>
                <a:cs typeface="Rubik" pitchFamily="34" charset="-120"/>
              </a:rPr>
              <a:t>Functions and Recursion</a:t>
            </a:r>
            <a:endParaRPr lang="en-US" sz="1800" dirty="0"/>
          </a:p>
        </p:txBody>
      </p:sp>
      <p:sp>
        <p:nvSpPr>
          <p:cNvPr id="12" name="Shape 10"/>
          <p:cNvSpPr/>
          <p:nvPr/>
        </p:nvSpPr>
        <p:spPr>
          <a:xfrm>
            <a:off x="815975" y="3462635"/>
            <a:ext cx="3397250" cy="1659880"/>
          </a:xfrm>
          <a:prstGeom prst="roundRect">
            <a:avLst>
              <a:gd name="adj" fmla="val 7460"/>
            </a:avLst>
          </a:prstGeom>
          <a:solidFill>
            <a:srgbClr val="FFFDF8"/>
          </a:solidFill>
          <a:ln w="6350">
            <a:solidFill>
              <a:srgbClr val="E2DDD2"/>
            </a:solidFill>
            <a:prstDash val="solid"/>
          </a:ln>
        </p:spPr>
        <p:txBody>
          <a:bodyPr/>
          <a:lstStyle/>
          <a:p>
            <a:endParaRPr lang="en-US"/>
          </a:p>
        </p:txBody>
      </p:sp>
      <p:sp>
        <p:nvSpPr>
          <p:cNvPr id="13" name="Text 11"/>
          <p:cNvSpPr/>
          <p:nvPr/>
        </p:nvSpPr>
        <p:spPr>
          <a:xfrm>
            <a:off x="1073150" y="3719810"/>
            <a:ext cx="2969387"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94F17"/>
                </a:solidFill>
                <a:latin typeface="Rubik" pitchFamily="34" charset="0"/>
                <a:ea typeface="Rubik" pitchFamily="34" charset="-122"/>
                <a:cs typeface="Rubik" pitchFamily="34" charset="-120"/>
              </a:rPr>
              <a:t>04</a:t>
            </a:r>
            <a:endParaRPr lang="en-US" sz="2800" dirty="0"/>
          </a:p>
        </p:txBody>
      </p:sp>
      <p:sp>
        <p:nvSpPr>
          <p:cNvPr id="14" name="Text 12"/>
          <p:cNvSpPr/>
          <p:nvPr/>
        </p:nvSpPr>
        <p:spPr>
          <a:xfrm>
            <a:off x="1073150" y="4293840"/>
            <a:ext cx="2969387" cy="311150"/>
          </a:xfrm>
          <a:prstGeom prst="rect">
            <a:avLst/>
          </a:prstGeom>
          <a:noFill/>
          <a:ln/>
        </p:spPr>
        <p:txBody>
          <a:bodyPr wrap="square" lIns="0" tIns="0" rIns="0" bIns="0" rtlCol="0" anchor="t">
            <a:normAutofit/>
          </a:bodyPr>
          <a:lstStyle/>
          <a:p>
            <a:pPr marL="0" indent="0" algn="l">
              <a:lnSpc>
                <a:spcPts val="2250"/>
              </a:lnSpc>
              <a:buNone/>
            </a:pPr>
            <a:r>
              <a:rPr lang="en-US" sz="1800" b="1" dirty="0">
                <a:solidFill>
                  <a:srgbClr val="1C2230"/>
                </a:solidFill>
                <a:latin typeface="Rubik" pitchFamily="34" charset="0"/>
                <a:ea typeface="Rubik" pitchFamily="34" charset="-122"/>
                <a:cs typeface="Rubik" pitchFamily="34" charset="-120"/>
              </a:rPr>
              <a:t>Arrays and Strings</a:t>
            </a:r>
            <a:endParaRPr lang="en-US" sz="1800" dirty="0"/>
          </a:p>
        </p:txBody>
      </p:sp>
      <p:sp>
        <p:nvSpPr>
          <p:cNvPr id="15" name="Shape 13"/>
          <p:cNvSpPr/>
          <p:nvPr/>
        </p:nvSpPr>
        <p:spPr>
          <a:xfrm>
            <a:off x="4397375" y="3462635"/>
            <a:ext cx="3397250" cy="1659880"/>
          </a:xfrm>
          <a:prstGeom prst="roundRect">
            <a:avLst>
              <a:gd name="adj" fmla="val 7460"/>
            </a:avLst>
          </a:prstGeom>
          <a:solidFill>
            <a:srgbClr val="FFFDF8"/>
          </a:solidFill>
          <a:ln w="6350">
            <a:solidFill>
              <a:srgbClr val="E2DDD2"/>
            </a:solidFill>
            <a:prstDash val="solid"/>
          </a:ln>
        </p:spPr>
        <p:txBody>
          <a:bodyPr/>
          <a:lstStyle/>
          <a:p>
            <a:endParaRPr lang="en-US"/>
          </a:p>
        </p:txBody>
      </p:sp>
      <p:sp>
        <p:nvSpPr>
          <p:cNvPr id="16" name="Text 14"/>
          <p:cNvSpPr/>
          <p:nvPr/>
        </p:nvSpPr>
        <p:spPr>
          <a:xfrm>
            <a:off x="4654550" y="3719810"/>
            <a:ext cx="2969387"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94F17"/>
                </a:solidFill>
                <a:latin typeface="Rubik" pitchFamily="34" charset="0"/>
                <a:ea typeface="Rubik" pitchFamily="34" charset="-122"/>
                <a:cs typeface="Rubik" pitchFamily="34" charset="-120"/>
              </a:rPr>
              <a:t>05</a:t>
            </a:r>
            <a:endParaRPr lang="en-US" sz="2800" dirty="0"/>
          </a:p>
        </p:txBody>
      </p:sp>
      <p:sp>
        <p:nvSpPr>
          <p:cNvPr id="17" name="Text 15"/>
          <p:cNvSpPr/>
          <p:nvPr/>
        </p:nvSpPr>
        <p:spPr>
          <a:xfrm>
            <a:off x="4654550" y="4293840"/>
            <a:ext cx="2969387" cy="596900"/>
          </a:xfrm>
          <a:prstGeom prst="rect">
            <a:avLst/>
          </a:prstGeom>
          <a:noFill/>
          <a:ln/>
        </p:spPr>
        <p:txBody>
          <a:bodyPr wrap="square" lIns="0" tIns="0" rIns="0" bIns="0" rtlCol="0" anchor="t">
            <a:normAutofit/>
          </a:bodyPr>
          <a:lstStyle/>
          <a:p>
            <a:pPr marL="0" indent="0" algn="l">
              <a:lnSpc>
                <a:spcPts val="2250"/>
              </a:lnSpc>
              <a:buNone/>
            </a:pPr>
            <a:r>
              <a:rPr lang="en-US" sz="1800" b="1" dirty="0">
                <a:solidFill>
                  <a:srgbClr val="1C2230"/>
                </a:solidFill>
                <a:latin typeface="Rubik" pitchFamily="34" charset="0"/>
                <a:ea typeface="Rubik" pitchFamily="34" charset="-122"/>
                <a:cs typeface="Rubik" pitchFamily="34" charset="-120"/>
              </a:rPr>
              <a:t>Pointers, Dynamic Memory and Structures</a:t>
            </a:r>
            <a:endParaRPr lang="en-US" sz="1800" dirty="0"/>
          </a:p>
        </p:txBody>
      </p:sp>
      <p:sp>
        <p:nvSpPr>
          <p:cNvPr id="18" name="Shape 16"/>
          <p:cNvSpPr/>
          <p:nvPr/>
        </p:nvSpPr>
        <p:spPr>
          <a:xfrm>
            <a:off x="7978775" y="3462635"/>
            <a:ext cx="3397250" cy="1659880"/>
          </a:xfrm>
          <a:prstGeom prst="roundRect">
            <a:avLst>
              <a:gd name="adj" fmla="val 7460"/>
            </a:avLst>
          </a:prstGeom>
          <a:solidFill>
            <a:srgbClr val="FFFDF8"/>
          </a:solidFill>
          <a:ln w="6350">
            <a:solidFill>
              <a:srgbClr val="E2DDD2"/>
            </a:solidFill>
            <a:prstDash val="solid"/>
          </a:ln>
        </p:spPr>
        <p:txBody>
          <a:bodyPr/>
          <a:lstStyle/>
          <a:p>
            <a:endParaRPr lang="en-US"/>
          </a:p>
        </p:txBody>
      </p:sp>
      <p:sp>
        <p:nvSpPr>
          <p:cNvPr id="19" name="Text 17"/>
          <p:cNvSpPr/>
          <p:nvPr/>
        </p:nvSpPr>
        <p:spPr>
          <a:xfrm>
            <a:off x="8235950" y="3719810"/>
            <a:ext cx="2969387"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94F17"/>
                </a:solidFill>
                <a:latin typeface="Rubik" pitchFamily="34" charset="0"/>
                <a:ea typeface="Rubik" pitchFamily="34" charset="-122"/>
                <a:cs typeface="Rubik" pitchFamily="34" charset="-120"/>
              </a:rPr>
              <a:t>06</a:t>
            </a:r>
            <a:endParaRPr lang="en-US" sz="2800" dirty="0"/>
          </a:p>
        </p:txBody>
      </p:sp>
      <p:sp>
        <p:nvSpPr>
          <p:cNvPr id="20" name="Text 18"/>
          <p:cNvSpPr/>
          <p:nvPr/>
        </p:nvSpPr>
        <p:spPr>
          <a:xfrm>
            <a:off x="8235950" y="4293840"/>
            <a:ext cx="2969387" cy="311150"/>
          </a:xfrm>
          <a:prstGeom prst="rect">
            <a:avLst/>
          </a:prstGeom>
          <a:noFill/>
          <a:ln/>
        </p:spPr>
        <p:txBody>
          <a:bodyPr wrap="square" lIns="0" tIns="0" rIns="0" bIns="0" rtlCol="0" anchor="t">
            <a:normAutofit/>
          </a:bodyPr>
          <a:lstStyle/>
          <a:p>
            <a:pPr marL="0" indent="0" algn="l">
              <a:lnSpc>
                <a:spcPts val="2250"/>
              </a:lnSpc>
              <a:buNone/>
            </a:pPr>
            <a:r>
              <a:rPr lang="en-US" sz="1800" b="1" dirty="0">
                <a:solidFill>
                  <a:srgbClr val="1C2230"/>
                </a:solidFill>
                <a:latin typeface="Rubik" pitchFamily="34" charset="0"/>
                <a:ea typeface="Rubik" pitchFamily="34" charset="-122"/>
                <a:cs typeface="Rubik" pitchFamily="34" charset="-120"/>
              </a:rPr>
              <a:t>Files in C</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5975" y="1739305"/>
            <a:ext cx="5708650" cy="3379391"/>
          </a:xfrm>
          <a:prstGeom prst="roundRect">
            <a:avLst>
              <a:gd name="adj" fmla="val 3664"/>
            </a:avLst>
          </a:prstGeom>
          <a:solidFill>
            <a:srgbClr val="0C1528"/>
          </a:solidFill>
          <a:ln w="6350">
            <a:solidFill>
              <a:srgbClr val="2D3E63"/>
            </a:solidFill>
            <a:prstDash val="solid"/>
          </a:ln>
        </p:spPr>
        <p:txBody>
          <a:bodyPr wrap="square" lIns="271708" tIns="271708" rIns="118927" bIns="246308" rtlCol="0" anchor="t">
            <a:normAutofit/>
          </a:bodyPr>
          <a:lstStyle/>
          <a:p>
            <a:pPr marL="0" indent="0" algn="l">
              <a:lnSpc>
                <a:spcPts val="2720"/>
              </a:lnSpc>
              <a:buNone/>
            </a:pPr>
            <a:r>
              <a:rPr lang="en-US" sz="1600" dirty="0">
                <a:solidFill>
                  <a:srgbClr val="E6E9F0"/>
                </a:solidFill>
                <a:latin typeface="JetBrains Mono" pitchFamily="49" charset="0"/>
                <a:ea typeface="JetBrains Mono" pitchFamily="49" charset="-122"/>
                <a:cs typeface="JetBrains Mono" pitchFamily="49" charset="-120"/>
              </a:rPr>
              <a:t>I'm thinking of a number</a:t>
            </a:r>
            <a:endParaRPr lang="en-US" sz="1600" dirty="0"/>
          </a:p>
          <a:p>
            <a:pPr marL="0" indent="0" algn="l">
              <a:lnSpc>
                <a:spcPts val="2720"/>
              </a:lnSpc>
              <a:buNone/>
            </a:pPr>
            <a:r>
              <a:rPr lang="en-US" sz="1600" dirty="0">
                <a:solidFill>
                  <a:srgbClr val="E6E9F0"/>
                </a:solidFill>
                <a:latin typeface="JetBrains Mono" pitchFamily="49" charset="0"/>
                <a:ea typeface="JetBrains Mono" pitchFamily="49" charset="-122"/>
                <a:cs typeface="JetBrains Mono" pitchFamily="49" charset="-120"/>
              </a:rPr>
              <a:t>between 1 and 100.</a:t>
            </a:r>
            <a:endParaRPr lang="en-US" sz="1600" dirty="0"/>
          </a:p>
          <a:p>
            <a:pPr marL="0" indent="0" algn="l">
              <a:lnSpc>
                <a:spcPts val="2720"/>
              </a:lnSpc>
              <a:buNone/>
            </a:pPr>
            <a:r>
              <a:rPr lang="en-US" sz="1600" dirty="0">
                <a:solidFill>
                  <a:srgbClr val="E6E9F0"/>
                </a:solidFill>
                <a:latin typeface="JetBrains Mono" pitchFamily="49" charset="0"/>
                <a:ea typeface="JetBrains Mono" pitchFamily="49" charset="-122"/>
                <a:cs typeface="JetBrains Mono" pitchFamily="49" charset="-120"/>
              </a:rPr>
              <a:t>Your guess: </a:t>
            </a:r>
            <a:r>
              <a:rPr lang="en-US" sz="1600" dirty="0">
                <a:solidFill>
                  <a:srgbClr val="F0B27A"/>
                </a:solidFill>
                <a:latin typeface="JetBrains Mono" pitchFamily="49" charset="0"/>
                <a:ea typeface="JetBrains Mono" pitchFamily="49" charset="-122"/>
                <a:cs typeface="JetBrains Mono" pitchFamily="49" charset="-120"/>
              </a:rPr>
              <a:t>50</a:t>
            </a:r>
            <a:endParaRPr lang="en-US" sz="1600" dirty="0"/>
          </a:p>
          <a:p>
            <a:pPr marL="0" indent="0" algn="l">
              <a:lnSpc>
                <a:spcPts val="2720"/>
              </a:lnSpc>
              <a:buNone/>
            </a:pPr>
            <a:r>
              <a:rPr lang="en-US" sz="1600" dirty="0">
                <a:solidFill>
                  <a:srgbClr val="E6E9F0"/>
                </a:solidFill>
                <a:latin typeface="JetBrains Mono" pitchFamily="49" charset="0"/>
                <a:ea typeface="JetBrains Mono" pitchFamily="49" charset="-122"/>
                <a:cs typeface="JetBrains Mono" pitchFamily="49" charset="-120"/>
              </a:rPr>
              <a:t>Too high!</a:t>
            </a:r>
            <a:endParaRPr lang="en-US" sz="1600" dirty="0"/>
          </a:p>
          <a:p>
            <a:pPr marL="0" indent="0" algn="l">
              <a:lnSpc>
                <a:spcPts val="2720"/>
              </a:lnSpc>
              <a:buNone/>
            </a:pPr>
            <a:r>
              <a:rPr lang="en-US" sz="1600" dirty="0">
                <a:solidFill>
                  <a:srgbClr val="E6E9F0"/>
                </a:solidFill>
                <a:latin typeface="JetBrains Mono" pitchFamily="49" charset="0"/>
                <a:ea typeface="JetBrains Mono" pitchFamily="49" charset="-122"/>
                <a:cs typeface="JetBrains Mono" pitchFamily="49" charset="-120"/>
              </a:rPr>
              <a:t>Your guess: </a:t>
            </a:r>
            <a:r>
              <a:rPr lang="en-US" sz="1600" dirty="0">
                <a:solidFill>
                  <a:srgbClr val="F0B27A"/>
                </a:solidFill>
                <a:latin typeface="JetBrains Mono" pitchFamily="49" charset="0"/>
                <a:ea typeface="JetBrains Mono" pitchFamily="49" charset="-122"/>
                <a:cs typeface="JetBrains Mono" pitchFamily="49" charset="-120"/>
              </a:rPr>
              <a:t>25</a:t>
            </a:r>
            <a:endParaRPr lang="en-US" sz="1600" dirty="0"/>
          </a:p>
          <a:p>
            <a:pPr marL="0" indent="0" algn="l">
              <a:lnSpc>
                <a:spcPts val="2720"/>
              </a:lnSpc>
              <a:buNone/>
            </a:pPr>
            <a:r>
              <a:rPr lang="en-US" sz="1600" dirty="0">
                <a:solidFill>
                  <a:srgbClr val="E6E9F0"/>
                </a:solidFill>
                <a:latin typeface="JetBrains Mono" pitchFamily="49" charset="0"/>
                <a:ea typeface="JetBrains Mono" pitchFamily="49" charset="-122"/>
                <a:cs typeface="JetBrains Mono" pitchFamily="49" charset="-120"/>
              </a:rPr>
              <a:t>Too low!</a:t>
            </a:r>
            <a:endParaRPr lang="en-US" sz="1600" dirty="0"/>
          </a:p>
          <a:p>
            <a:pPr marL="0" indent="0" algn="l">
              <a:lnSpc>
                <a:spcPts val="2720"/>
              </a:lnSpc>
              <a:buNone/>
            </a:pPr>
            <a:r>
              <a:rPr lang="en-US" sz="1600" dirty="0">
                <a:solidFill>
                  <a:srgbClr val="E6E9F0"/>
                </a:solidFill>
                <a:latin typeface="JetBrains Mono" pitchFamily="49" charset="0"/>
                <a:ea typeface="JetBrains Mono" pitchFamily="49" charset="-122"/>
                <a:cs typeface="JetBrains Mono" pitchFamily="49" charset="-120"/>
              </a:rPr>
              <a:t>Your guess: </a:t>
            </a:r>
            <a:r>
              <a:rPr lang="en-US" sz="1600" dirty="0">
                <a:solidFill>
                  <a:srgbClr val="F0B27A"/>
                </a:solidFill>
                <a:latin typeface="JetBrains Mono" pitchFamily="49" charset="0"/>
                <a:ea typeface="JetBrains Mono" pitchFamily="49" charset="-122"/>
                <a:cs typeface="JetBrains Mono" pitchFamily="49" charset="-120"/>
              </a:rPr>
              <a:t>37</a:t>
            </a:r>
            <a:endParaRPr lang="en-US" sz="1600" dirty="0"/>
          </a:p>
          <a:p>
            <a:pPr marL="0" indent="0" algn="l">
              <a:lnSpc>
                <a:spcPts val="2720"/>
              </a:lnSpc>
              <a:buNone/>
            </a:pPr>
            <a:r>
              <a:rPr lang="en-US" sz="1600" dirty="0">
                <a:solidFill>
                  <a:srgbClr val="7FD1A4"/>
                </a:solidFill>
                <a:latin typeface="JetBrains Mono" pitchFamily="49" charset="0"/>
                <a:ea typeface="JetBrains Mono" pitchFamily="49" charset="-122"/>
                <a:cs typeface="JetBrains Mono" pitchFamily="49" charset="-120"/>
              </a:rPr>
              <a:t>You got it in 3 tries!</a:t>
            </a:r>
            <a:endParaRPr lang="en-US" sz="1600" dirty="0"/>
          </a:p>
        </p:txBody>
      </p:sp>
      <p:sp>
        <p:nvSpPr>
          <p:cNvPr id="3" name="Text 1"/>
          <p:cNvSpPr/>
          <p:nvPr/>
        </p:nvSpPr>
        <p:spPr>
          <a:xfrm>
            <a:off x="7137400" y="2320975"/>
            <a:ext cx="4369054"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E9893F"/>
                </a:solidFill>
                <a:latin typeface="Rubik" pitchFamily="34" charset="0"/>
                <a:ea typeface="Rubik" pitchFamily="34" charset="-122"/>
                <a:cs typeface="Rubik" pitchFamily="34" charset="-120"/>
              </a:rPr>
              <a:t>LIVE DEMO</a:t>
            </a:r>
            <a:endParaRPr lang="en-US" sz="1400" dirty="0"/>
          </a:p>
        </p:txBody>
      </p:sp>
      <p:sp>
        <p:nvSpPr>
          <p:cNvPr id="4" name="Text 2"/>
          <p:cNvSpPr>
            <a:spLocks noGrp="1"/>
          </p:cNvSpPr>
          <p:nvPr>
            <p:ph type="title"/>
          </p:nvPr>
        </p:nvSpPr>
        <p:spPr>
          <a:xfrm>
            <a:off x="7137400" y="2773065"/>
            <a:ext cx="4369054"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6F3EC"/>
                </a:solidFill>
                <a:latin typeface="Rubik" pitchFamily="34" charset="0"/>
                <a:ea typeface="Rubik" pitchFamily="34" charset="-122"/>
                <a:cs typeface="Rubik" pitchFamily="34" charset="-120"/>
              </a:rPr>
              <a:t>By the end of Module 2, you'll build this</a:t>
            </a:r>
            <a:endParaRPr lang="en-US" sz="3200" dirty="0"/>
          </a:p>
        </p:txBody>
      </p:sp>
      <p:sp>
        <p:nvSpPr>
          <p:cNvPr id="5" name="Text 3"/>
          <p:cNvSpPr/>
          <p:nvPr/>
        </p:nvSpPr>
        <p:spPr>
          <a:xfrm>
            <a:off x="7137400" y="3910905"/>
            <a:ext cx="4369054"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C9CFDA"/>
                </a:solidFill>
                <a:latin typeface="Rubik" pitchFamily="34" charset="0"/>
                <a:ea typeface="Rubik" pitchFamily="34" charset="-122"/>
                <a:cs typeface="Rubik" pitchFamily="34" charset="-120"/>
              </a:rPr>
              <a:t>About 20 lines of C, using only if-else, loops and rand().</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How we'll work together</a:t>
            </a:r>
            <a:endParaRPr lang="en-US" sz="3200" dirty="0"/>
          </a:p>
        </p:txBody>
      </p:sp>
      <p:sp>
        <p:nvSpPr>
          <p:cNvPr id="3" name="Shape 1"/>
          <p:cNvSpPr/>
          <p:nvPr/>
        </p:nvSpPr>
        <p:spPr>
          <a:xfrm>
            <a:off x="815975" y="1618605"/>
            <a:ext cx="5181600" cy="2279650"/>
          </a:xfrm>
          <a:prstGeom prst="roundRect">
            <a:avLst>
              <a:gd name="adj" fmla="val 5432"/>
            </a:avLst>
          </a:prstGeom>
          <a:solidFill>
            <a:srgbClr val="FFFDF8"/>
          </a:solidFill>
          <a:ln w="6350">
            <a:solidFill>
              <a:srgbClr val="E2DDD2"/>
            </a:solidFill>
            <a:prstDash val="solid"/>
          </a:ln>
        </p:spPr>
        <p:txBody>
          <a:bodyPr/>
          <a:lstStyle/>
          <a:p>
            <a:endParaRPr lang="en-US"/>
          </a:p>
        </p:txBody>
      </p:sp>
      <p:sp>
        <p:nvSpPr>
          <p:cNvPr id="4" name="Text 2"/>
          <p:cNvSpPr/>
          <p:nvPr/>
        </p:nvSpPr>
        <p:spPr>
          <a:xfrm>
            <a:off x="1123950" y="1926580"/>
            <a:ext cx="470262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A5BD7"/>
                </a:solidFill>
                <a:latin typeface="Rubik" pitchFamily="34" charset="0"/>
                <a:ea typeface="Rubik" pitchFamily="34" charset="-122"/>
                <a:cs typeface="Rubik" pitchFamily="34" charset="-120"/>
              </a:rPr>
              <a:t>In every class</a:t>
            </a:r>
            <a:endParaRPr lang="en-US" sz="2000" dirty="0"/>
          </a:p>
        </p:txBody>
      </p:sp>
      <p:sp>
        <p:nvSpPr>
          <p:cNvPr id="5" name="Text 3"/>
          <p:cNvSpPr/>
          <p:nvPr/>
        </p:nvSpPr>
        <p:spPr>
          <a:xfrm>
            <a:off x="1194308" y="2383780"/>
            <a:ext cx="4624641" cy="939800"/>
          </a:xfrm>
          <a:prstGeom prst="rect">
            <a:avLst/>
          </a:prstGeom>
          <a:noFill/>
          <a:ln/>
        </p:spPr>
        <p:txBody>
          <a:bodyPr wrap="square" lIns="0" tIns="0" rIns="0" bIns="0" rtlCol="0" anchor="t">
            <a:normAutofit/>
          </a:bodyPr>
          <a:lstStyle/>
          <a:p>
            <a:pPr marL="183642" indent="-183642" algn="l">
              <a:lnSpc>
                <a:spcPts val="2400"/>
              </a:lnSpc>
              <a:buSzPct val="100000"/>
              <a:buChar char="•"/>
            </a:pPr>
            <a:r>
              <a:rPr lang="en-US" sz="1600" dirty="0">
                <a:solidFill>
                  <a:srgbClr val="1C2230"/>
                </a:solidFill>
                <a:latin typeface="Rubik" pitchFamily="34" charset="0"/>
                <a:ea typeface="Rubik" pitchFamily="34" charset="-122"/>
                <a:cs typeface="Rubik" pitchFamily="34" charset="-120"/>
              </a:rPr>
              <a:t>Short explanations, then you try it</a:t>
            </a:r>
            <a:endParaRPr lang="en-US" sz="1600" dirty="0"/>
          </a:p>
          <a:p>
            <a:pPr marL="183642" indent="-183642" algn="l">
              <a:lnSpc>
                <a:spcPts val="2400"/>
              </a:lnSpc>
              <a:buSzPct val="100000"/>
              <a:buChar char="•"/>
            </a:pPr>
            <a:r>
              <a:rPr lang="en-US" sz="1600" dirty="0">
                <a:solidFill>
                  <a:srgbClr val="1C2230"/>
                </a:solidFill>
                <a:latin typeface="Rubik" pitchFamily="34" charset="0"/>
                <a:ea typeface="Rubik" pitchFamily="34" charset="-122"/>
                <a:cs typeface="Rubik" pitchFamily="34" charset="-120"/>
              </a:rPr>
              <a:t>Polls, bug hunts and live coding</a:t>
            </a:r>
            <a:endParaRPr lang="en-US" sz="1600" dirty="0"/>
          </a:p>
          <a:p>
            <a:pPr marL="183642" indent="-183642" algn="l">
              <a:lnSpc>
                <a:spcPts val="2400"/>
              </a:lnSpc>
              <a:buSzPct val="100000"/>
              <a:buChar char="•"/>
            </a:pPr>
            <a:r>
              <a:rPr lang="en-US" sz="1600" dirty="0">
                <a:solidFill>
                  <a:srgbClr val="1C2230"/>
                </a:solidFill>
                <a:latin typeface="Rubik" pitchFamily="34" charset="0"/>
                <a:ea typeface="Rubik" pitchFamily="34" charset="-122"/>
                <a:cs typeface="Rubik" pitchFamily="34" charset="-120"/>
              </a:rPr>
              <a:t>A one-minute feedback question at the end</a:t>
            </a:r>
            <a:endParaRPr lang="en-US" sz="1600" dirty="0"/>
          </a:p>
        </p:txBody>
      </p:sp>
      <p:sp>
        <p:nvSpPr>
          <p:cNvPr id="6" name="Shape 4"/>
          <p:cNvSpPr/>
          <p:nvPr/>
        </p:nvSpPr>
        <p:spPr>
          <a:xfrm>
            <a:off x="6203950" y="1615430"/>
            <a:ext cx="5175250" cy="2286000"/>
          </a:xfrm>
          <a:prstGeom prst="roundRect">
            <a:avLst>
              <a:gd name="adj" fmla="val 5556"/>
            </a:avLst>
          </a:prstGeom>
          <a:solidFill>
            <a:srgbClr val="15233F"/>
          </a:solidFill>
          <a:ln/>
        </p:spPr>
        <p:txBody>
          <a:bodyPr/>
          <a:lstStyle/>
          <a:p>
            <a:endParaRPr lang="en-US"/>
          </a:p>
        </p:txBody>
      </p:sp>
      <p:sp>
        <p:nvSpPr>
          <p:cNvPr id="7" name="Text 5"/>
          <p:cNvSpPr/>
          <p:nvPr/>
        </p:nvSpPr>
        <p:spPr>
          <a:xfrm>
            <a:off x="6508750" y="1920230"/>
            <a:ext cx="470262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9893F"/>
                </a:solidFill>
                <a:latin typeface="Rubik" pitchFamily="34" charset="0"/>
                <a:ea typeface="Rubik" pitchFamily="34" charset="-122"/>
                <a:cs typeface="Rubik" pitchFamily="34" charset="-120"/>
              </a:rPr>
              <a:t>Using AI in this course</a:t>
            </a:r>
            <a:endParaRPr lang="en-US" sz="2000" dirty="0"/>
          </a:p>
        </p:txBody>
      </p:sp>
      <p:sp>
        <p:nvSpPr>
          <p:cNvPr id="8" name="Text 6"/>
          <p:cNvSpPr/>
          <p:nvPr/>
        </p:nvSpPr>
        <p:spPr>
          <a:xfrm>
            <a:off x="6579108" y="2377430"/>
            <a:ext cx="4624641" cy="1244600"/>
          </a:xfrm>
          <a:prstGeom prst="rect">
            <a:avLst/>
          </a:prstGeom>
          <a:noFill/>
          <a:ln/>
        </p:spPr>
        <p:txBody>
          <a:bodyPr wrap="square" lIns="0" tIns="0" rIns="0" bIns="0" rtlCol="0" anchor="t">
            <a:normAutofit/>
          </a:bodyPr>
          <a:lstStyle/>
          <a:p>
            <a:pPr marL="183642" indent="-183642" algn="l">
              <a:lnSpc>
                <a:spcPts val="2400"/>
              </a:lnSpc>
              <a:buSzPct val="100000"/>
              <a:buChar char="•"/>
            </a:pPr>
            <a:r>
              <a:rPr lang="en-US" sz="1600" dirty="0">
                <a:solidFill>
                  <a:srgbClr val="F6F3EC"/>
                </a:solidFill>
                <a:latin typeface="Rubik" pitchFamily="34" charset="0"/>
                <a:ea typeface="Rubik" pitchFamily="34" charset="-122"/>
                <a:cs typeface="Rubik" pitchFamily="34" charset="-120"/>
              </a:rPr>
              <a:t>Use AI to understand concepts</a:t>
            </a:r>
            <a:endParaRPr lang="en-US" sz="1600" dirty="0"/>
          </a:p>
          <a:p>
            <a:pPr marL="183642" indent="-183642" algn="l">
              <a:lnSpc>
                <a:spcPts val="2400"/>
              </a:lnSpc>
              <a:buSzPct val="100000"/>
              <a:buChar char="•"/>
            </a:pPr>
            <a:r>
              <a:rPr lang="en-US" sz="1600" dirty="0">
                <a:solidFill>
                  <a:srgbClr val="F6F3EC"/>
                </a:solidFill>
                <a:latin typeface="Rubik" pitchFamily="34" charset="0"/>
                <a:ea typeface="Rubik" pitchFamily="34" charset="-122"/>
                <a:cs typeface="Rubik" pitchFamily="34" charset="-120"/>
              </a:rPr>
              <a:t>Anything you submit, you must explain line by line</a:t>
            </a:r>
            <a:endParaRPr lang="en-US" sz="1600" dirty="0"/>
          </a:p>
          <a:p>
            <a:pPr marL="183642" indent="-183642" algn="l">
              <a:lnSpc>
                <a:spcPts val="2400"/>
              </a:lnSpc>
              <a:buSzPct val="100000"/>
              <a:buChar char="•"/>
            </a:pPr>
            <a:r>
              <a:rPr lang="en-US" sz="1600" dirty="0">
                <a:solidFill>
                  <a:srgbClr val="F6F3EC"/>
                </a:solidFill>
                <a:latin typeface="Rubik" pitchFamily="34" charset="0"/>
                <a:ea typeface="Rubik" pitchFamily="34" charset="-122"/>
                <a:cs typeface="Rubik" pitchFamily="34" charset="-120"/>
              </a:rPr>
              <a:t>And yes, I will ask</a:t>
            </a:r>
            <a:endParaRPr lang="en-US" sz="1600" dirty="0"/>
          </a:p>
        </p:txBody>
      </p:sp>
      <p:sp>
        <p:nvSpPr>
          <p:cNvPr id="9" name="Text 7"/>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96273"/>
                </a:solidFill>
                <a:latin typeface="Rubik" pitchFamily="34" charset="0"/>
                <a:ea typeface="Rubik" pitchFamily="34" charset="-122"/>
                <a:cs typeface="Rubik" pitchFamily="34" charset="-120"/>
              </a:rPr>
              <a:t>Evaluation: [as per department scheme]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bg>
      <p:bgPr>
        <a:solidFill>
          <a:srgbClr val="F6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230"/>
                </a:solidFill>
                <a:latin typeface="Rubik" pitchFamily="34" charset="0"/>
                <a:ea typeface="Rubik" pitchFamily="34" charset="-122"/>
                <a:cs typeface="Rubik" pitchFamily="34" charset="-120"/>
              </a:rPr>
              <a:t>Learn beyond the classroom with NPTEL</a:t>
            </a:r>
            <a:endParaRPr lang="en-US" sz="3200" dirty="0"/>
          </a:p>
        </p:txBody>
      </p:sp>
      <p:sp>
        <p:nvSpPr>
          <p:cNvPr id="3" name="Shape 1"/>
          <p:cNvSpPr/>
          <p:nvPr/>
        </p:nvSpPr>
        <p:spPr>
          <a:xfrm>
            <a:off x="812800" y="1564630"/>
            <a:ext cx="5175250" cy="3000226"/>
          </a:xfrm>
          <a:prstGeom prst="roundRect">
            <a:avLst>
              <a:gd name="adj" fmla="val 4233"/>
            </a:avLst>
          </a:prstGeom>
          <a:solidFill>
            <a:srgbClr val="15233F"/>
          </a:solidFill>
          <a:ln/>
        </p:spPr>
        <p:txBody>
          <a:bodyPr/>
          <a:lstStyle/>
          <a:p>
            <a:endParaRPr lang="en-US"/>
          </a:p>
        </p:txBody>
      </p:sp>
      <p:sp>
        <p:nvSpPr>
          <p:cNvPr id="4" name="Text 2"/>
          <p:cNvSpPr/>
          <p:nvPr/>
        </p:nvSpPr>
        <p:spPr>
          <a:xfrm>
            <a:off x="1117600" y="1869430"/>
            <a:ext cx="1651000" cy="289520"/>
          </a:xfrm>
          <a:custGeom>
            <a:avLst/>
            <a:gdLst/>
            <a:ahLst/>
            <a:cxnLst/>
            <a:rect l="l" t="t" r="r" b="b"/>
            <a:pathLst>
              <a:path w="1651000" h="289520">
                <a:moveTo>
                  <a:pt x="144760" y="0"/>
                </a:moveTo>
                <a:lnTo>
                  <a:pt x="1506240" y="0"/>
                </a:lnTo>
                <a:arcTo wR="144760" hR="144760" stAng="16200000" swAng="5400000"/>
                <a:lnTo>
                  <a:pt x="1651000" y="144760"/>
                </a:lnTo>
                <a:arcTo wR="144760" hR="144760" stAng="0" swAng="5400000"/>
                <a:lnTo>
                  <a:pt x="144760" y="289520"/>
                </a:lnTo>
                <a:arcTo wR="144760" hR="144760" stAng="5400000" swAng="5400000"/>
                <a:lnTo>
                  <a:pt x="0" y="144760"/>
                </a:lnTo>
                <a:arcTo wR="144760" hR="144760" stAng="10800000" swAng="5400000"/>
                <a:close/>
              </a:path>
            </a:pathLst>
          </a:custGeom>
          <a:solidFill>
            <a:srgbClr val="E9893F"/>
          </a:solidFill>
          <a:ln/>
        </p:spPr>
        <p:txBody>
          <a:bodyPr wrap="square" lIns="88900" tIns="38100" rIns="88900" bIns="12700" rtlCol="0" anchor="t">
            <a:normAutofit/>
          </a:bodyPr>
          <a:lstStyle/>
          <a:p>
            <a:pPr marL="0" indent="0" algn="ctr">
              <a:lnSpc>
                <a:spcPts val="1680"/>
              </a:lnSpc>
              <a:buNone/>
            </a:pPr>
            <a:r>
              <a:rPr lang="en-US" sz="1200" b="1" dirty="0">
                <a:solidFill>
                  <a:srgbClr val="15233F"/>
                </a:solidFill>
                <a:latin typeface="Rubik" pitchFamily="34" charset="0"/>
                <a:ea typeface="Rubik" pitchFamily="34" charset="-122"/>
                <a:cs typeface="Rubik" pitchFamily="34" charset="-120"/>
              </a:rPr>
              <a:t>Start here</a:t>
            </a:r>
            <a:endParaRPr lang="en-US" sz="1200" dirty="0"/>
          </a:p>
        </p:txBody>
      </p:sp>
      <p:sp>
        <p:nvSpPr>
          <p:cNvPr id="5" name="Text 3"/>
          <p:cNvSpPr/>
          <p:nvPr/>
        </p:nvSpPr>
        <p:spPr>
          <a:xfrm>
            <a:off x="1117600" y="2285950"/>
            <a:ext cx="4702620" cy="667941"/>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6F3EC"/>
                </a:solidFill>
                <a:latin typeface="Rubik" pitchFamily="34" charset="0"/>
                <a:ea typeface="Rubik" pitchFamily="34" charset="-122"/>
                <a:cs typeface="Rubik" pitchFamily="34" charset="-120"/>
              </a:rPr>
              <a:t>The Joy of Computing using Python</a:t>
            </a:r>
            <a:endParaRPr lang="en-US" sz="2200" dirty="0"/>
          </a:p>
        </p:txBody>
      </p:sp>
      <p:sp>
        <p:nvSpPr>
          <p:cNvPr id="6" name="Text 4"/>
          <p:cNvSpPr/>
          <p:nvPr/>
        </p:nvSpPr>
        <p:spPr>
          <a:xfrm>
            <a:off x="1117600" y="3055491"/>
            <a:ext cx="470262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FDA"/>
                </a:solidFill>
                <a:latin typeface="Rubik" pitchFamily="34" charset="0"/>
                <a:ea typeface="Rubik" pitchFamily="34" charset="-122"/>
                <a:cs typeface="Rubik" pitchFamily="34" charset="-120"/>
              </a:rPr>
              <a:t>Prof. Sudarshan Iyengar · IIT Ropar · 12 weeks</a:t>
            </a:r>
            <a:endParaRPr lang="en-US" sz="1400" dirty="0"/>
          </a:p>
        </p:txBody>
      </p:sp>
      <p:sp>
        <p:nvSpPr>
          <p:cNvPr id="7" name="Text 5"/>
          <p:cNvSpPr/>
          <p:nvPr/>
        </p:nvSpPr>
        <p:spPr>
          <a:xfrm>
            <a:off x="1117600" y="3431381"/>
            <a:ext cx="4702620"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6F3EC"/>
                </a:solidFill>
                <a:latin typeface="Rubik" pitchFamily="34" charset="0"/>
                <a:ea typeface="Rubik" pitchFamily="34" charset="-122"/>
                <a:cs typeface="Rubik" pitchFamily="34" charset="-120"/>
              </a:rPr>
              <a:t>A fun, story-driven tour of thinking like a programmer, full of anecdotes and analogies. Only Class 10 background needed.</a:t>
            </a:r>
            <a:endParaRPr lang="en-US" sz="1500" dirty="0"/>
          </a:p>
        </p:txBody>
      </p:sp>
      <p:sp>
        <p:nvSpPr>
          <p:cNvPr id="8" name="Shape 6"/>
          <p:cNvSpPr/>
          <p:nvPr/>
        </p:nvSpPr>
        <p:spPr>
          <a:xfrm>
            <a:off x="6194425" y="1567805"/>
            <a:ext cx="5181600" cy="2993876"/>
          </a:xfrm>
          <a:prstGeom prst="roundRect">
            <a:avLst>
              <a:gd name="adj" fmla="val 4136"/>
            </a:avLst>
          </a:prstGeom>
          <a:solidFill>
            <a:srgbClr val="FFFDF8"/>
          </a:solidFill>
          <a:ln w="6350">
            <a:solidFill>
              <a:srgbClr val="E2DDD2"/>
            </a:solidFill>
            <a:prstDash val="solid"/>
          </a:ln>
        </p:spPr>
        <p:txBody>
          <a:bodyPr/>
          <a:lstStyle/>
          <a:p>
            <a:endParaRPr lang="en-US"/>
          </a:p>
        </p:txBody>
      </p:sp>
      <p:sp>
        <p:nvSpPr>
          <p:cNvPr id="9" name="Text 7"/>
          <p:cNvSpPr/>
          <p:nvPr/>
        </p:nvSpPr>
        <p:spPr>
          <a:xfrm>
            <a:off x="6502400" y="1875780"/>
            <a:ext cx="1651000" cy="502841"/>
          </a:xfrm>
          <a:custGeom>
            <a:avLst/>
            <a:gdLst/>
            <a:ahLst/>
            <a:cxnLst/>
            <a:rect l="l" t="t" r="r" b="b"/>
            <a:pathLst>
              <a:path w="1651000" h="502841">
                <a:moveTo>
                  <a:pt x="251420" y="0"/>
                </a:moveTo>
                <a:lnTo>
                  <a:pt x="1399580" y="0"/>
                </a:lnTo>
                <a:arcTo wR="251420" hR="251420" stAng="16200000" swAng="5400000"/>
                <a:lnTo>
                  <a:pt x="1651000" y="251420"/>
                </a:lnTo>
                <a:arcTo wR="251420" hR="251420" stAng="0" swAng="5400000"/>
                <a:lnTo>
                  <a:pt x="251420" y="502841"/>
                </a:lnTo>
                <a:arcTo wR="251420" hR="251420" stAng="5400000" swAng="5400000"/>
                <a:lnTo>
                  <a:pt x="0" y="251420"/>
                </a:lnTo>
                <a:arcTo wR="251420" hR="251420" stAng="10800000" swAng="5400000"/>
                <a:close/>
              </a:path>
            </a:pathLst>
          </a:custGeom>
          <a:solidFill>
            <a:srgbClr val="E3EAFB"/>
          </a:solidFill>
          <a:ln/>
        </p:spPr>
        <p:txBody>
          <a:bodyPr wrap="square" lIns="88900" tIns="38100" rIns="88900" bIns="12700" rtlCol="0" anchor="t">
            <a:normAutofit/>
          </a:bodyPr>
          <a:lstStyle/>
          <a:p>
            <a:pPr marL="0" indent="0" algn="ctr">
              <a:lnSpc>
                <a:spcPts val="1680"/>
              </a:lnSpc>
              <a:buNone/>
            </a:pPr>
            <a:r>
              <a:rPr lang="en-US" sz="1200" b="1" dirty="0">
                <a:solidFill>
                  <a:srgbClr val="2A5BD7"/>
                </a:solidFill>
                <a:latin typeface="Rubik" pitchFamily="34" charset="0"/>
                <a:ea typeface="Rubik" pitchFamily="34" charset="-122"/>
                <a:cs typeface="Rubik" pitchFamily="34" charset="-120"/>
              </a:rPr>
              <a:t>Matches our syllabus</a:t>
            </a:r>
            <a:endParaRPr lang="en-US" sz="1200" dirty="0"/>
          </a:p>
        </p:txBody>
      </p:sp>
      <p:sp>
        <p:nvSpPr>
          <p:cNvPr id="10" name="Text 8"/>
          <p:cNvSpPr/>
          <p:nvPr/>
        </p:nvSpPr>
        <p:spPr>
          <a:xfrm>
            <a:off x="6502400" y="2505621"/>
            <a:ext cx="4702620" cy="667941"/>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C2230"/>
                </a:solidFill>
                <a:latin typeface="Rubik" pitchFamily="34" charset="0"/>
                <a:ea typeface="Rubik" pitchFamily="34" charset="-122"/>
                <a:cs typeface="Rubik" pitchFamily="34" charset="-120"/>
              </a:rPr>
              <a:t>Problem Solving through Programming in C</a:t>
            </a:r>
            <a:endParaRPr lang="en-US" sz="2200" dirty="0"/>
          </a:p>
        </p:txBody>
      </p:sp>
      <p:sp>
        <p:nvSpPr>
          <p:cNvPr id="11" name="Text 9"/>
          <p:cNvSpPr/>
          <p:nvPr/>
        </p:nvSpPr>
        <p:spPr>
          <a:xfrm>
            <a:off x="6502400" y="3275161"/>
            <a:ext cx="470262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6273"/>
                </a:solidFill>
                <a:latin typeface="Rubik" pitchFamily="34" charset="0"/>
                <a:ea typeface="Rubik" pitchFamily="34" charset="-122"/>
                <a:cs typeface="Rubik" pitchFamily="34" charset="-120"/>
              </a:rPr>
              <a:t>Prof. Anupam Basu · IIT Kharagpur</a:t>
            </a:r>
            <a:endParaRPr lang="en-US" sz="1400" dirty="0"/>
          </a:p>
        </p:txBody>
      </p:sp>
      <p:sp>
        <p:nvSpPr>
          <p:cNvPr id="12" name="Text 10"/>
          <p:cNvSpPr/>
          <p:nvPr/>
        </p:nvSpPr>
        <p:spPr>
          <a:xfrm>
            <a:off x="6502400" y="3651052"/>
            <a:ext cx="470262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C2230"/>
                </a:solidFill>
                <a:latin typeface="Rubik" pitchFamily="34" charset="0"/>
                <a:ea typeface="Rubik" pitchFamily="34" charset="-122"/>
                <a:cs typeface="Rubik" pitchFamily="34" charset="-120"/>
              </a:rPr>
              <a:t>Compilation, data types, loops, arrays, functions and pointers, in C. Good for revision before exams.</a:t>
            </a:r>
            <a:endParaRPr lang="en-US" sz="1500" dirty="0"/>
          </a:p>
        </p:txBody>
      </p:sp>
      <p:sp>
        <p:nvSpPr>
          <p:cNvPr id="13" name="Text 11"/>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96273"/>
                </a:solidFill>
                <a:latin typeface="Rubik" pitchFamily="34" charset="0"/>
                <a:ea typeface="Rubik" pitchFamily="34" charset="-122"/>
                <a:cs typeface="Rubik" pitchFamily="34" charset="-120"/>
              </a:rPr>
              <a:t>Free to watch any time on NPTEL. Certificate exams run in Jan–Apr and Jul–Dec sessions: check nptel.ac.in.</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E9893F"/>
                </a:solidFill>
                <a:latin typeface="Rubik" pitchFamily="34" charset="0"/>
                <a:ea typeface="Rubik" pitchFamily="34" charset="-122"/>
                <a:cs typeface="Rubik" pitchFamily="34" charset="-120"/>
              </a:rPr>
              <a:t>LAST MENTIMETER QUESTION</a:t>
            </a:r>
            <a:endParaRPr lang="en-US" sz="1400" dirty="0"/>
          </a:p>
        </p:txBody>
      </p:sp>
      <p:sp>
        <p:nvSpPr>
          <p:cNvPr id="3" name="Text 1"/>
          <p:cNvSpPr>
            <a:spLocks noGrp="1"/>
          </p:cNvSpPr>
          <p:nvPr>
            <p:ph type="title"/>
          </p:nvPr>
        </p:nvSpPr>
        <p:spPr>
          <a:xfrm>
            <a:off x="812800" y="2453680"/>
            <a:ext cx="10883392" cy="1869380"/>
          </a:xfrm>
          <a:prstGeom prst="rect">
            <a:avLst/>
          </a:prstGeom>
          <a:noFill/>
          <a:ln/>
        </p:spPr>
        <p:txBody>
          <a:bodyPr wrap="square" lIns="0" tIns="0" rIns="0" bIns="0" rtlCol="0" anchor="t">
            <a:normAutofit/>
          </a:bodyPr>
          <a:lstStyle/>
          <a:p>
            <a:pPr marL="0" indent="0" algn="l">
              <a:lnSpc>
                <a:spcPts val="4840"/>
              </a:lnSpc>
              <a:buNone/>
            </a:pPr>
            <a:r>
              <a:rPr lang="en-US" sz="4400" b="1" i="0">
                <a:solidFill>
                  <a:srgbClr val="E9893F"/>
                </a:solidFill>
                <a:latin typeface="Rubik" pitchFamily="34" charset="0"/>
                <a:ea typeface="Rubik" pitchFamily="34" charset="-122"/>
                <a:cs typeface="Rubik" pitchFamily="34" charset="-120"/>
              </a:rPr>
              <a:t>One </a:t>
            </a:r>
            <a:r>
              <a:rPr lang="en-US" sz="4400" b="1" i="0" dirty="0">
                <a:solidFill>
                  <a:srgbClr val="E9893F"/>
                </a:solidFill>
                <a:latin typeface="Rubik" pitchFamily="34" charset="0"/>
                <a:ea typeface="Rubik" pitchFamily="34" charset="-122"/>
                <a:cs typeface="Rubik" pitchFamily="34" charset="-120"/>
              </a:rPr>
              <a:t>thing you're worried about.</a:t>
            </a:r>
            <a:endParaRPr lang="en-US" sz="4400" dirty="0"/>
          </a:p>
        </p:txBody>
      </p:sp>
      <p:pic>
        <p:nvPicPr>
          <p:cNvPr id="4" name="Image 0" descr="PaperPlane"/>
          <p:cNvPicPr>
            <a:picLocks noChangeAspect="1"/>
          </p:cNvPicPr>
          <p:nvPr/>
        </p:nvPicPr>
        <p:blipFill>
          <a:blip r:embed="rId3"/>
          <a:srcRect/>
          <a:stretch/>
        </p:blipFill>
        <p:spPr>
          <a:xfrm>
            <a:off x="812800" y="5689600"/>
            <a:ext cx="355600" cy="355600"/>
          </a:xfrm>
          <a:prstGeom prst="rect">
            <a:avLst/>
          </a:prstGeom>
        </p:spPr>
      </p:pic>
      <p:sp>
        <p:nvSpPr>
          <p:cNvPr id="5" name="Text 2"/>
          <p:cNvSpPr/>
          <p:nvPr/>
        </p:nvSpPr>
        <p:spPr>
          <a:xfrm>
            <a:off x="1320800" y="5716290"/>
            <a:ext cx="7680067"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CFDA"/>
                </a:solidFill>
                <a:latin typeface="Rubik" pitchFamily="34" charset="0"/>
                <a:ea typeface="Rubik" pitchFamily="34" charset="-122"/>
                <a:cs typeface="Rubik" pitchFamily="34" charset="-120"/>
              </a:rPr>
              <a:t>Next class: our first C program, and what the compiler does to it.</a:t>
            </a:r>
            <a:endParaRPr lang="en-US" sz="1700" dirty="0"/>
          </a:p>
        </p:txBody>
      </p:sp>
    </p:spTree>
  </p:cSld>
  <p:clrMapOvr>
    <a:masterClrMapping/>
  </p:clrMapOvr>
</p:sld>
</file>

<file path=ppt/theme/theme1.xml><?xml version="1.0" encoding="utf-8"?>
<a:theme xmlns:a="http://schemas.openxmlformats.org/drawingml/2006/main" name="FOCP Class 1 — Why Fundamentals Still Matter">
  <a:themeElements>
    <a:clrScheme name="FOCP Class 1 — Why Fundamentals Still Matter">
      <a:dk1>
        <a:srgbClr val="1C2230"/>
      </a:dk1>
      <a:lt1>
        <a:srgbClr val="F6F3EC"/>
      </a:lt1>
      <a:dk2>
        <a:srgbClr val="53565F"/>
      </a:dk2>
      <a:lt2>
        <a:srgbClr val="E0DED9"/>
      </a:lt2>
      <a:accent1>
        <a:srgbClr val="E9893F"/>
      </a:accent1>
      <a:accent2>
        <a:srgbClr val="A94F17"/>
      </a:accent2>
      <a:accent3>
        <a:srgbClr val="2A5BD7"/>
      </a:accent3>
      <a:accent4>
        <a:srgbClr val="1E3157"/>
      </a:accent4>
      <a:accent5>
        <a:srgbClr val="C9CFDA"/>
      </a:accent5>
      <a:accent6>
        <a:srgbClr val="596273"/>
      </a:accent6>
      <a:hlink>
        <a:srgbClr val="0563C1"/>
      </a:hlink>
      <a:folHlink>
        <a:srgbClr val="954F72"/>
      </a:folHlink>
    </a:clrScheme>
    <a:fontScheme name="FOCP Class 1 — Why Fundamentals Still Matter">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194</TotalTime>
  <Words>4054</Words>
  <Application>Microsoft Macintosh PowerPoint</Application>
  <PresentationFormat>Widescreen</PresentationFormat>
  <Paragraphs>354</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JetBrains Mono</vt:lpstr>
      <vt:lpstr>Rubik</vt:lpstr>
      <vt:lpstr>FOCP Class 1 — Why Fundamentals Still Matter</vt:lpstr>
      <vt:lpstr>Why learn the basics when AI can write code?</vt:lpstr>
      <vt:lpstr>A little about me </vt:lpstr>
      <vt:lpstr>The AI learns from data. Code makes the learning possible.</vt:lpstr>
      <vt:lpstr>PowerPoint Presentation</vt:lpstr>
      <vt:lpstr>"AI will make learning programming unnecessary."</vt:lpstr>
      <vt:lpstr>I am a computer. Teach me to make chai.</vt:lpstr>
      <vt:lpstr>Which is the second largest number?</vt:lpstr>
      <vt:lpstr>The CPU is blind, like Dhritarashtra</vt:lpstr>
      <vt:lpstr>Thinking like a CPU, one step at a time</vt:lpstr>
      <vt:lpstr>Write it down: the algorithm</vt:lpstr>
      <vt:lpstr>Same steps, strict syntax</vt:lpstr>
      <vt:lpstr>99% thinking. 1% typing.</vt:lpstr>
      <vt:lpstr>Ever watched cricket without knowing the rules?</vt:lpstr>
      <vt:lpstr>The tool works until it doesn't</vt:lpstr>
      <vt:lpstr>AI is the bowler. You are the captain and the umpire.</vt:lpstr>
      <vt:lpstr>AI wrote this to average three students' marks</vt:lpstr>
      <vt:lpstr>The answer is silently wrong</vt:lpstr>
      <vt:lpstr>Bug hunt: find all three</vt:lpstr>
      <vt:lpstr>Bug hunt: the fixes</vt:lpstr>
      <vt:lpstr>Your UPI payment is an if-else</vt:lpstr>
      <vt:lpstr>C is inside your washing machine</vt:lpstr>
      <vt:lpstr>PowerPoint Presentation</vt:lpstr>
      <vt:lpstr>An AI agent deleted a company's live database during a code freeze</vt:lpstr>
      <vt:lpstr>Code that had to land on the Moon by itself</vt:lpstr>
      <vt:lpstr>The language you think is old runs the world</vt:lpstr>
      <vt:lpstr>Why fundamentals matter more in the AI era</vt:lpstr>
      <vt:lpstr>PowerPoint Presentation</vt:lpstr>
      <vt:lpstr>Round 2: a quick taste of C</vt:lpstr>
      <vt:lpstr>Where this course takes you</vt:lpstr>
      <vt:lpstr>By the end of Module 2, you'll build this</vt:lpstr>
      <vt:lpstr>How we'll work together</vt:lpstr>
      <vt:lpstr>Learn beyond the classroom with NPTEL</vt:lpstr>
      <vt:lpstr>One thing you're worried about.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FOCP Class 1 — Why Fundamentals Still Matter</dc:title>
  <dc:subject/>
  <dc:creator/>
  <cp:lastModifiedBy>Sachin Dudda Nagaraju</cp:lastModifiedBy>
  <cp:revision>3</cp:revision>
  <dcterms:created xsi:type="dcterms:W3CDTF">2026-10-04T12:52:28Z</dcterms:created>
  <dcterms:modified xsi:type="dcterms:W3CDTF">2026-10-04T16:09:16Z</dcterms:modified>
</cp:coreProperties>
</file>