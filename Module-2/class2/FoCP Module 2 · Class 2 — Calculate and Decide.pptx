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8833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2 of 3 for Module 2. Same method as Class 1: real-life analogy first, then the concept step by step (click-controlled), predict questions, run in OnlineGDB, fill in the blanks, tasks and a broken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Exactly the next three syllabus topics after Class 1: operators, type conversion and type casting, conditional branching. Every slide shows its topic number at the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finished output first. Ask: which line needed a decision? (Discount.) Which line needs decimals? (Average.) That's today's three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operator is a symbol that performs an action; the values it acts on are its operands. Like calculator keys. Break the line total = chai * 10; into its parts: * is an arithmetic operator with operands chai and 10, = is the assignment operator that stores the result in total. C has more operators (bitwise, the ?: conditional operator, sizeof), but these five families cover almost everything in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row with a canteen story: 20 + 15 is chai plus samosa, 100 - 75 is the change from a 100 rupee note, 2 * 10 is two chai. The / row is the surprise: 75 / 4 with two ints gives 18, not 18.75. % gives the remainder, 75 % 10 =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click adds one row. Before clicking, ask the class to predict the result. Row 3 shows the fix: make one number a decimal and the answer keeps its decimals. Rows 4 and 5 are tricks students will use all semester: n % 2 == 0 means even, n % 10 gives the last digit.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relational operator asks a yes/no question. In C, yes is 1 and no is 0. These are what if statements use in Topic 3. Stress the = versus == box: if (marks = 100) stores 100 instead of comparing, a bug from the Module 1 practice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rules usually combine conditions. &amp;&amp; needs both parts true; || needs at least one; ! flips true and false. Use the canteen offers to make it concrete, then point to the truth table: 1 is true, 0 is false. Ask: Riya is a student with a total of 75. Does she get 5% off? (No: the second part is false.)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 the cashier's running total. Each click adds one line's effect. += is shorthand for total = total + 20. Ask: what would total *= 2 do now? (Double it: 130.)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tricky one. Both x++ and ++x add 1 to x; the difference is the value used in that line. Analogy: the token counter calls your number, then moves on (post-increment). Reveal one row at a time and ask for y before each click. If students bring exam puzzles like i++ + ++i, tell them clearly that's undefined behaviour in C, with no single correct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idea as BODMAS from school maths: some operators run before others. Read the ladder top to bottom, then the four examples. Example 4 shows that operators on the same level run left to right: 10 / 4 = 2 (integer division), then × 2 = 4. The practical rule for students: when in doubt, add brackets.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 per question, then reveal. Question 3 combines relational and logical operators: 10 &gt; 5 is true (1), 3 &gt; 4 is false (0), and 1 &amp;&amp; 0 is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Real-world activity for arithmetic operators and precedence. Act it out: you are the cashier, a student volunteer is Riya paying with a 100 rupee note. Pairs write a C expression for each question on paper, then you reveal answers one per click. Q2 and Q3 are the samosa trick again: / gives how many whole notes, % gives what's left. Q4 shows why brackets matter: without them C does 100 - 20 + 15 = 95, and the cashier gives far too much change. Extension for fast pairs: how would you split the ₹5 into ₹2 and ₹1 coins? (5 / 2 = 2 coins of ₹2, 5 % 2 = ₹1 left.)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Real-world activity for relational and logical operators. For each customer, students vote with their hands: 1 finger for Offer 1, 2 fingers for Offer 2, both hands for both, a fist for none. Then reveal that customer's answer with a click. Riya gets nothing (she's a student but only spent 75). Arjun gets Offer 1. Meera and Kabir get Offer 2, for different reasons: Meera because of the total, Kabir because it's Tuesday. Follow-up question: who would get Offer 1 if we changed &amp;&amp; to ||? (Riya, Arjun and Meera.) That shows how strict AND is compared to OR. TUESDAY here stands for a constant, for example #define TUESDAY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after the activities, while the operators are fresh. Each blank needs a different operator: +, -, /, %, &amp;&amp;, ++ and -=. The correct output is on the slide, so students know they're right when their run matches it. Save ops_blanks.c in OnlineGDB and share the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one at a time and ask which operator family each belongs to: arithmetic (1 to 4), logical (5), increment (6), assignment (7).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jug analogy from Class 1's data types. int to float is like pouring a glass into a jug: everything fits. float to int is like pouring a jug into a glass: the decimals spill away, they're cut off, not rounded. There are two ways a conversion happens: implicitly, where C does it on its own, and explicitly, called casting, where you write the type in brackets.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rules students meet constantly. Row 2 is the integer division from Topic 1. Row 4: storing 9.99 into an int gives 9, not 10, because C cuts the decimal part. Row 5 links to Module 1: 'A' is stored as 65, so 'A' + 1 is 66.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bug from Class 1 of the course, now fully explained. Each click shows one step of what the computer does. The key moment is row 3: avg is a float, but the division already happened in int, so 84.00 is all that's left. Rows 4 to 6 apply the cast. Ask: where must the cast go, before or after the division? (Before.)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Casting syntax: the type in brackets, before the value. Spend most time on rows 1 and 2, which look almost the same but give different answers. The cast must touch a value before the division happens. Casting doesn't change the variable itself, only how it's used in that calculation.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mirror the casting slide. Question 4 is the one to discuss: the brackets force the int division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Real-world activity for type conversion. Ask: if the app uses int, where does the missing rupee go? 3 × 83 = 249, so one rupee vanishes. Q3 matters to students personally: storing a CGPA of 8.75 in an int makes it 8, which is cut, not rounded. Q4 is the cast-position trap again. Follow-up: how would you make 250 / 3 round to the nearest rupee? (Add 0.5 before converting to int, a preview of more careful numeric code.)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blank practises one conversion idea: a cast to float, a cast to int, a character becoming its ASCII code, and int ÷ float giving a float. The first printed line is deliberately wrong, so students see the bug and its fix side by side. Save tc_blanks.c in OnlineGDB and share the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one at a time. Ask: which blanks are explicit casting (1 and 2) and which rely on implicit conversion (3 and 4)?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Until now every line ran, top to bottom. A conditional lets the program check something and choose a path, like a driver at a traffic signal. Show the discount flowchart from Module 1: the diamond is the decision. The right panel is today's map: if, if-else, the else-if ladder, nested if and switch, one slide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simplest decision. Read it aloud: if total is more than 200, print the message. Run it mentally twice: total 250 prints both lines; total 75 prints only Thank you. Habit to teach from day one: always use braces, even for one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click runs the code with a different total. Row 3 is the boundary case from Module 1: exactly 200 gets no discount, because &gt; means strictly more than. Ask: what would you change to include 200? (Use &gt;=.)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 climbing down steps: check the first condition, if it's false move to the next. The order matters: if avg &gt;= 50 came first, an average of 95 would get C. Ask: what grade for 75 exactly? (B, since &gt;= includes 75.)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ATM from Module 1, now in C. The outer if checks the PIN; only inside it, the inner if checks the balance. Draw attention to the indentation: each level moves right, so you can see which else belongs to which 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world first: a canteen vending machine. You press button 2, the machine jumps straight to slot 2, the samosa drops, and it stops. That's switch: switch (code) is pressing the button, case 2: is the slot, break is 'item dropped, stop', and default handles any button that doesn't exist. The colours in the code match the legend. Ask: what if Riya presses 9? (default: No such item.) Finish with the bottom box: switch only checks exact values, so ranges like marks &gt;= 75 need if-else.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lift: pressing 2 should stop only at floor 2, but with broken stop buttons the doors open at every floor below. Without break, switch does the same: it enters at the matching case and runs every line below it. Click through the rows. Ask: how many breaks do we need to fix it? (Three, one after each case. default is last, so it doesn't need one.)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 by side: the same menu with and without break, and the same input, code 2 and quantity 3. Without break the samosas cost nothing; with break the amount is 45. At the bottom, the one time fall-through is useful: grouping cases. Days 6 and 7 (Saturday and Sunday) share one action because case 6 has no break on purpose. Run menu.c in OnlineGDB to show the fixed version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check of all three decision types. Question 1 is the boundary again. Question 2 is the else-if ladder: C checks from the top, 75 &gt;= 90 is false, then 75 &gt;= 75 is true, so it prints B and stops. Ask: what would 74 print? (C.)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new lines only, using the line numbers on the left: the operators on lines 13 to 15, the cast on line 16, the if-else on lines 18 to 22, and %.2f on line 25. Everything above line 13 is Class 1. This exact file is bill2.c.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predict on paper or Menti, then run. Question 3 is the boundary: 5 Maggi is exactly 200, so no discount.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class: save bill2.c and menu.c in OnlineGDB and send the links to be added here with QR codes. Remind students that online compilers take all the input before running: type the numbers into the input box, then press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Save bill2_blanks.c as an OnlineGDB link. Students fill the blanks, then test with input 20 250: it should print Average 12.50 and To pay 225.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one at a time and ask which topic each blank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electricity bills in India use slabs like this. Only the units above 100 cost 7, which is why the else part is 500 plus the extra. Solution: task1_electricity_slab.c. Ask: what does 100 units cost? (500, from the if part.)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finishes the report card task from Class 1: the average now prints 81.67, not 81, thanks to the cast. Solution: task2_grade.c.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question from the Module 1 exam-style list and the mini test. Students now turn their own pseudocode into C, which shows how algorithm, pseudocode and program connect. Solution: task3_auto_fare.c.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name one operator, one conversion rule and one decision statement before revealing. Good moment for a 1-minute Menti: which topic is least clear?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cliffhanger for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18530"/>
            <a:ext cx="10566400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9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9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28440"/>
            <a:ext cx="10566400" cy="431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18530"/>
            <a:ext cx="10566400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9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9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28440"/>
            <a:ext cx="10566400" cy="4316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nlinegdb.com/v5nx6m5Pa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nlinegdb.com/QD8AGNrgP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nlinegdb.com/vytRSpLVMZ" TargetMode="External"/><Relationship Id="rId5" Type="http://schemas.openxmlformats.org/officeDocument/2006/relationships/image" Target="../media/image27.png"/><Relationship Id="rId4" Type="http://schemas.openxmlformats.org/officeDocument/2006/relationships/hyperlink" Target="https://onlinegdb.com/rUwfGyteW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nlinegdb.com/VRSF3kAW4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CSE-1003 · MODULE 2 · CLASS 2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639070"/>
            <a:ext cx="10883392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6F3E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Calculate and decide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561060"/>
            <a:ext cx="850265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Riya's bill learns to do maths and make decisions: totals, averages and a discount.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57785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Basic Programming and Control Statements · Dr Sachin D N · IIIT Bhopal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TODAY'S SYLLABUS TOPICS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933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Three topics, one smarter bill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5975" y="1668115"/>
            <a:ext cx="3431084" cy="2178000"/>
          </a:xfrm>
          <a:prstGeom prst="roundRect">
            <a:avLst>
              <a:gd name="adj" fmla="val 5102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6950" y="1836390"/>
            <a:ext cx="31612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A94F1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96950" y="2268190"/>
            <a:ext cx="316120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Operators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6950" y="2588220"/>
            <a:ext cx="316120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Arithmetic, relational, logical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6950" y="2895550"/>
            <a:ext cx="324693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Assignment, increment and decrement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96950" y="3202880"/>
            <a:ext cx="316120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Precedence: which runs first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0409" y="1668115"/>
            <a:ext cx="3431133" cy="2178000"/>
          </a:xfrm>
          <a:prstGeom prst="roundRect">
            <a:avLst>
              <a:gd name="adj" fmla="val 5102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61384" y="1836390"/>
            <a:ext cx="316125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A94F1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61384" y="2268190"/>
            <a:ext cx="3161259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Type conversion and type casting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61384" y="2832050"/>
            <a:ext cx="316125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Implicit conversion: C does it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61384" y="3139380"/>
            <a:ext cx="316125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Explicit casting: you ask for 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61384" y="3446711"/>
            <a:ext cx="316125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 84.00 average bug, fixed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44892" y="1668115"/>
            <a:ext cx="3431133" cy="2178000"/>
          </a:xfrm>
          <a:prstGeom prst="roundRect">
            <a:avLst>
              <a:gd name="adj" fmla="val 5102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25867" y="1836390"/>
            <a:ext cx="316125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A94F1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125867" y="2268190"/>
            <a:ext cx="3161259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Conditional branching statements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125867" y="2832050"/>
            <a:ext cx="316125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if and if-else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5867" y="3139380"/>
            <a:ext cx="316125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else-if ladder and nested if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5867" y="3446711"/>
            <a:ext cx="316125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switch and break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800" y="403979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Last class: Riya's bill printed a total. Today it calculates an average and decides on a discount.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30735"/>
            <a:ext cx="538937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TODAY'S GOAL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639665"/>
            <a:ext cx="5389372" cy="128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 hostel group orders ₹250. The program gives 10% off.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4074765"/>
            <a:ext cx="538937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 get there it must </a:t>
            </a:r>
            <a:r>
              <a:rPr lang="en-US" sz="1500" b="1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calculate</a:t>
            </a:r>
            <a:r>
              <a:rPr lang="en-US" sz="15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(operators), get the average </a:t>
            </a:r>
            <a:r>
              <a:rPr lang="en-US" sz="1500" b="1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right</a:t>
            </a:r>
            <a:r>
              <a:rPr lang="en-US" sz="15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(type casting) and </a:t>
            </a:r>
            <a:r>
              <a:rPr lang="en-US" sz="1500" b="1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decide</a:t>
            </a:r>
            <a:r>
              <a:rPr lang="en-US" sz="15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(if-else).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553200" y="2659063"/>
            <a:ext cx="4826000" cy="1539875"/>
          </a:xfrm>
          <a:prstGeom prst="roundRect">
            <a:avLst>
              <a:gd name="adj" fmla="val 5773"/>
            </a:avLst>
          </a:prstGeom>
          <a:solidFill>
            <a:srgbClr val="0C1528"/>
          </a:solidFill>
          <a:ln/>
        </p:spPr>
        <p:txBody>
          <a:bodyPr wrap="square" lIns="139062" tIns="100962" rIns="4188" bIns="75562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How many chai, samosa, Maggi? 10 10 0</a:t>
            </a:r>
            <a:endParaRPr lang="en-US" sz="1350" dirty="0"/>
          </a:p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Items: 20 Total: Rs 250</a:t>
            </a:r>
            <a:endParaRPr lang="en-US" sz="1350" dirty="0"/>
          </a:p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Average per item: Rs 12.50</a:t>
            </a:r>
            <a:endParaRPr lang="en-US" sz="1350" dirty="0"/>
          </a:p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Discount: Rs 25</a:t>
            </a:r>
            <a:endParaRPr lang="en-US" sz="1350" dirty="0"/>
          </a:p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 pay: Rs 225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1 OF 3 · OPERATORS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933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is an operator? An action on values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5975" y="1668115"/>
            <a:ext cx="3930650" cy="1263650"/>
          </a:xfrm>
          <a:prstGeom prst="roundRect">
            <a:avLst>
              <a:gd name="adj" fmla="val 8794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Calculator"/>
          <p:cNvPicPr>
            <a:picLocks noChangeAspect="1"/>
          </p:cNvPicPr>
          <p:nvPr/>
        </p:nvPicPr>
        <p:blipFill>
          <a:blip r:embed="rId3"/>
          <a:srcRect t="-65746" b="-65746"/>
          <a:stretch/>
        </p:blipFill>
        <p:spPr>
          <a:xfrm>
            <a:off x="996950" y="1823690"/>
            <a:ext cx="411460" cy="952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0810" y="1926580"/>
            <a:ext cx="3094985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Like the keys on a calculator: </a:t>
            </a:r>
            <a:r>
              <a:rPr lang="en-US" sz="14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+</a:t>
            </a:r>
            <a:r>
              <a:rPr lang="en-US" sz="14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adds, </a:t>
            </a:r>
            <a:r>
              <a:rPr lang="en-US" sz="14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×</a:t>
            </a:r>
            <a:r>
              <a:rPr lang="en-US" sz="14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multiplies. The numbers are what they act on.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99050" y="1800870"/>
            <a:ext cx="965200" cy="520700"/>
          </a:xfrm>
          <a:prstGeom prst="roundRect">
            <a:avLst>
              <a:gd name="adj" fmla="val 12195"/>
            </a:avLst>
          </a:prstGeom>
          <a:solidFill>
            <a:srgbClr val="15233F"/>
          </a:solidFill>
          <a:ln/>
        </p:spPr>
        <p:txBody>
          <a:bodyPr wrap="none" lIns="0" tIns="0" rIns="0" bIns="38100" rtlCol="0" anchor="ctr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total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099050" y="1800870"/>
            <a:ext cx="965200" cy="520700"/>
          </a:xfrm>
          <a:custGeom>
            <a:avLst/>
            <a:gdLst/>
            <a:ahLst/>
            <a:cxnLst/>
            <a:rect l="l" t="t" r="r" b="b"/>
            <a:pathLst>
              <a:path w="965200" h="520700">
                <a:moveTo>
                  <a:pt x="965200" y="457200"/>
                </a:moveTo>
                <a:lnTo>
                  <a:pt x="965200" y="457200"/>
                </a:lnTo>
                <a:arcTo wR="63500" hR="63500" stAng="0" swAng="5400000"/>
                <a:lnTo>
                  <a:pt x="63500" y="520700"/>
                </a:lnTo>
                <a:arcTo wR="63500" hR="63500" stAng="5400000" swAng="5400000"/>
                <a:lnTo>
                  <a:pt x="0" y="457200"/>
                </a:lnTo>
                <a:arcTo wR="63500" hR="25400" stAng="10800000" swAng="-5400000"/>
                <a:lnTo>
                  <a:pt x="901700" y="482600"/>
                </a:lnTo>
                <a:arcTo wR="63500" hR="25400" stAng="5400000" swAng="-5400000"/>
                <a:close/>
              </a:path>
            </a:pathLst>
          </a:custGeom>
          <a:solidFill>
            <a:srgbClr val="1B6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080000" y="2372370"/>
            <a:ext cx="10033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6B4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stores the result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38900" y="1800870"/>
            <a:ext cx="355600" cy="520700"/>
          </a:xfrm>
          <a:prstGeom prst="roundRect">
            <a:avLst>
              <a:gd name="adj" fmla="val 17857"/>
            </a:avLst>
          </a:prstGeom>
          <a:solidFill>
            <a:srgbClr val="15233F"/>
          </a:solidFill>
          <a:ln/>
        </p:spPr>
        <p:txBody>
          <a:bodyPr wrap="none" lIns="0" tIns="0" rIns="0" bIns="38100" rtlCol="0" anchor="ctr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38900" y="1800870"/>
            <a:ext cx="355600" cy="520700"/>
          </a:xfrm>
          <a:custGeom>
            <a:avLst/>
            <a:gdLst/>
            <a:ahLst/>
            <a:cxnLst/>
            <a:rect l="l" t="t" r="r" b="b"/>
            <a:pathLst>
              <a:path w="355600" h="520700">
                <a:moveTo>
                  <a:pt x="355600" y="457200"/>
                </a:moveTo>
                <a:lnTo>
                  <a:pt x="355600" y="457200"/>
                </a:lnTo>
                <a:arcTo wR="63500" hR="63500" stAng="0" swAng="5400000"/>
                <a:lnTo>
                  <a:pt x="63500" y="520700"/>
                </a:lnTo>
                <a:arcTo wR="63500" hR="63500" stAng="5400000" swAng="5400000"/>
                <a:lnTo>
                  <a:pt x="0" y="457200"/>
                </a:lnTo>
                <a:arcTo wR="63500" hR="25400" stAng="10800000" swAng="-5400000"/>
                <a:lnTo>
                  <a:pt x="292100" y="482600"/>
                </a:lnTo>
                <a:arcTo wR="63500" hR="25400" stAng="5400000" swAng="-5400000"/>
                <a:close/>
              </a:path>
            </a:pathLst>
          </a:custGeom>
          <a:solidFill>
            <a:srgbClr val="E98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115050" y="2372370"/>
            <a:ext cx="10033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assignment operator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239000" y="1800870"/>
            <a:ext cx="812800" cy="520700"/>
          </a:xfrm>
          <a:prstGeom prst="roundRect">
            <a:avLst>
              <a:gd name="adj" fmla="val 12195"/>
            </a:avLst>
          </a:prstGeom>
          <a:solidFill>
            <a:srgbClr val="15233F"/>
          </a:solidFill>
          <a:ln/>
        </p:spPr>
        <p:txBody>
          <a:bodyPr wrap="none" lIns="0" tIns="0" rIns="0" bIns="38100" rtlCol="0" anchor="ctr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chai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7239000" y="1800870"/>
            <a:ext cx="812800" cy="520700"/>
          </a:xfrm>
          <a:custGeom>
            <a:avLst/>
            <a:gdLst/>
            <a:ahLst/>
            <a:cxnLst/>
            <a:rect l="l" t="t" r="r" b="b"/>
            <a:pathLst>
              <a:path w="812800" h="520700">
                <a:moveTo>
                  <a:pt x="812800" y="457200"/>
                </a:moveTo>
                <a:lnTo>
                  <a:pt x="812800" y="457200"/>
                </a:lnTo>
                <a:arcTo wR="63500" hR="63500" stAng="0" swAng="5400000"/>
                <a:lnTo>
                  <a:pt x="63500" y="520700"/>
                </a:lnTo>
                <a:arcTo wR="63500" hR="63500" stAng="5400000" swAng="5400000"/>
                <a:lnTo>
                  <a:pt x="0" y="457200"/>
                </a:lnTo>
                <a:arcTo wR="63500" hR="25400" stAng="10800000" swAng="-5400000"/>
                <a:lnTo>
                  <a:pt x="749300" y="482600"/>
                </a:lnTo>
                <a:arcTo wR="63500" hR="25400" stAng="5400000" swAng="-5400000"/>
                <a:close/>
              </a:path>
            </a:pathLst>
          </a:custGeom>
          <a:solidFill>
            <a:srgbClr val="2A5B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143750" y="2372370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operand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496300" y="1800870"/>
            <a:ext cx="355600" cy="520700"/>
          </a:xfrm>
          <a:prstGeom prst="roundRect">
            <a:avLst>
              <a:gd name="adj" fmla="val 17857"/>
            </a:avLst>
          </a:prstGeom>
          <a:solidFill>
            <a:srgbClr val="15233F"/>
          </a:solidFill>
          <a:ln/>
        </p:spPr>
        <p:txBody>
          <a:bodyPr wrap="none" lIns="0" tIns="0" rIns="0" bIns="38100" rtlCol="0" anchor="ctr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*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8496300" y="1800870"/>
            <a:ext cx="355600" cy="520700"/>
          </a:xfrm>
          <a:custGeom>
            <a:avLst/>
            <a:gdLst/>
            <a:ahLst/>
            <a:cxnLst/>
            <a:rect l="l" t="t" r="r" b="b"/>
            <a:pathLst>
              <a:path w="355600" h="520700">
                <a:moveTo>
                  <a:pt x="355600" y="457200"/>
                </a:moveTo>
                <a:lnTo>
                  <a:pt x="355600" y="457200"/>
                </a:lnTo>
                <a:arcTo wR="63500" hR="63500" stAng="0" swAng="5400000"/>
                <a:lnTo>
                  <a:pt x="63500" y="520700"/>
                </a:lnTo>
                <a:arcTo wR="63500" hR="63500" stAng="5400000" swAng="5400000"/>
                <a:lnTo>
                  <a:pt x="0" y="457200"/>
                </a:lnTo>
                <a:arcTo wR="63500" hR="25400" stAng="10800000" swAng="-5400000"/>
                <a:lnTo>
                  <a:pt x="292100" y="482600"/>
                </a:lnTo>
                <a:arcTo wR="63500" hR="25400" stAng="5400000" swAng="-5400000"/>
                <a:close/>
              </a:path>
            </a:pathLst>
          </a:custGeom>
          <a:solidFill>
            <a:srgbClr val="B2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172450" y="2372370"/>
            <a:ext cx="10033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23A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arithmetic operator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448800" y="1800870"/>
            <a:ext cx="508000" cy="520700"/>
          </a:xfrm>
          <a:prstGeom prst="roundRect">
            <a:avLst>
              <a:gd name="adj" fmla="val 12500"/>
            </a:avLst>
          </a:prstGeom>
          <a:solidFill>
            <a:srgbClr val="15233F"/>
          </a:solidFill>
          <a:ln/>
        </p:spPr>
        <p:txBody>
          <a:bodyPr wrap="none" lIns="0" tIns="0" rIns="0" bIns="38100" rtlCol="0" anchor="ctr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9448800" y="1800870"/>
            <a:ext cx="508000" cy="520700"/>
          </a:xfrm>
          <a:custGeom>
            <a:avLst/>
            <a:gdLst/>
            <a:ahLst/>
            <a:cxnLst/>
            <a:rect l="l" t="t" r="r" b="b"/>
            <a:pathLst>
              <a:path w="508000" h="520700">
                <a:moveTo>
                  <a:pt x="508000" y="457200"/>
                </a:moveTo>
                <a:lnTo>
                  <a:pt x="508000" y="457200"/>
                </a:lnTo>
                <a:arcTo wR="63500" hR="63500" stAng="0" swAng="5400000"/>
                <a:lnTo>
                  <a:pt x="63500" y="520700"/>
                </a:lnTo>
                <a:arcTo wR="63500" hR="63500" stAng="5400000" swAng="5400000"/>
                <a:lnTo>
                  <a:pt x="0" y="457200"/>
                </a:lnTo>
                <a:arcTo wR="63500" hR="25400" stAng="10800000" swAng="-5400000"/>
                <a:lnTo>
                  <a:pt x="444500" y="482600"/>
                </a:lnTo>
                <a:arcTo wR="63500" hR="25400" stAng="5400000" swAng="-5400000"/>
                <a:close/>
              </a:path>
            </a:pathLst>
          </a:custGeom>
          <a:solidFill>
            <a:srgbClr val="2A5BD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201150" y="2372370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operand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553700" y="1800870"/>
            <a:ext cx="355600" cy="520700"/>
          </a:xfrm>
          <a:prstGeom prst="roundRect">
            <a:avLst>
              <a:gd name="adj" fmla="val 17857"/>
            </a:avLst>
          </a:prstGeom>
          <a:solidFill>
            <a:srgbClr val="15233F"/>
          </a:solidFill>
          <a:ln/>
        </p:spPr>
        <p:txBody>
          <a:bodyPr wrap="none" lIns="0" tIns="0" rIns="0" bIns="38100" rtlCol="0" anchor="ctr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10553700" y="1800870"/>
            <a:ext cx="355600" cy="520700"/>
          </a:xfrm>
          <a:custGeom>
            <a:avLst/>
            <a:gdLst/>
            <a:ahLst/>
            <a:cxnLst/>
            <a:rect l="l" t="t" r="r" b="b"/>
            <a:pathLst>
              <a:path w="355600" h="520700">
                <a:moveTo>
                  <a:pt x="355600" y="457200"/>
                </a:moveTo>
                <a:lnTo>
                  <a:pt x="355600" y="457200"/>
                </a:lnTo>
                <a:arcTo wR="63500" hR="63500" stAng="0" swAng="5400000"/>
                <a:lnTo>
                  <a:pt x="63500" y="520700"/>
                </a:lnTo>
                <a:arcTo wR="63500" hR="63500" stAng="5400000" swAng="5400000"/>
                <a:lnTo>
                  <a:pt x="0" y="457200"/>
                </a:lnTo>
                <a:arcTo wR="63500" hR="25400" stAng="10800000" swAng="-5400000"/>
                <a:lnTo>
                  <a:pt x="292100" y="482600"/>
                </a:lnTo>
                <a:arcTo wR="63500" hR="25400" stAng="5400000" swAng="-5400000"/>
                <a:close/>
              </a:path>
            </a:pathLst>
          </a:custGeom>
          <a:solidFill>
            <a:srgbClr val="59627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0229850" y="2372370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end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12800" y="312544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 has five families of operators you'll use all the time: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12800" y="3564830"/>
            <a:ext cx="2032000" cy="980380"/>
          </a:xfrm>
          <a:prstGeom prst="roundRect">
            <a:avLst>
              <a:gd name="adj" fmla="val 9068"/>
            </a:avLst>
          </a:prstGeom>
          <a:solidFill>
            <a:srgbClr val="1E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939800" y="3679130"/>
            <a:ext cx="18313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3E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Arithmetic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39800" y="3948361"/>
            <a:ext cx="18313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989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+ − * / %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39800" y="4217591"/>
            <a:ext cx="18313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calculate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2946400" y="3564830"/>
            <a:ext cx="2032000" cy="980380"/>
          </a:xfrm>
          <a:prstGeom prst="roundRect">
            <a:avLst>
              <a:gd name="adj" fmla="val 9068"/>
            </a:avLst>
          </a:prstGeom>
          <a:solidFill>
            <a:srgbClr val="1E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3073400" y="3679130"/>
            <a:ext cx="18313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3E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Relational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073400" y="3948361"/>
            <a:ext cx="18313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989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&gt; &lt; == !=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3073400" y="4217591"/>
            <a:ext cx="18313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compare: yes or no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080000" y="3564830"/>
            <a:ext cx="2032000" cy="980380"/>
          </a:xfrm>
          <a:prstGeom prst="roundRect">
            <a:avLst>
              <a:gd name="adj" fmla="val 9068"/>
            </a:avLst>
          </a:prstGeom>
          <a:solidFill>
            <a:srgbClr val="1E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5207000" y="3679130"/>
            <a:ext cx="18313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3E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Logical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207000" y="3948361"/>
            <a:ext cx="18313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989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&amp;&amp; || !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5207000" y="4217591"/>
            <a:ext cx="18313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combine conditions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213600" y="3564830"/>
            <a:ext cx="2032000" cy="980380"/>
          </a:xfrm>
          <a:prstGeom prst="roundRect">
            <a:avLst>
              <a:gd name="adj" fmla="val 9068"/>
            </a:avLst>
          </a:prstGeom>
          <a:solidFill>
            <a:srgbClr val="1E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7340600" y="3679130"/>
            <a:ext cx="18313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3E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Assignment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7340600" y="3948361"/>
            <a:ext cx="18313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989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 += -=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7340600" y="4217591"/>
            <a:ext cx="18313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store a value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9347200" y="3564830"/>
            <a:ext cx="2032000" cy="980380"/>
          </a:xfrm>
          <a:prstGeom prst="roundRect">
            <a:avLst>
              <a:gd name="adj" fmla="val 9068"/>
            </a:avLst>
          </a:prstGeom>
          <a:solidFill>
            <a:srgbClr val="1E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9474200" y="3679130"/>
            <a:ext cx="18313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3E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Increment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9474200" y="3948361"/>
            <a:ext cx="18313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989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++ --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9474200" y="4217591"/>
            <a:ext cx="18313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add or take away 1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1 OF 3 · OPERATORS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933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Arithmetic operators: do the maths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2800" y="1664940"/>
            <a:ext cx="10566400" cy="2716411"/>
          </a:xfrm>
          <a:prstGeom prst="rect">
            <a:avLst/>
          </a:prstGeom>
          <a:solidFill>
            <a:srgbClr val="FFF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76025" y="1664940"/>
            <a:ext cx="0" cy="2716411"/>
          </a:xfrm>
          <a:prstGeom prst="line">
            <a:avLst/>
          </a:prstGeom>
          <a:noFill/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12800" y="4378176"/>
            <a:ext cx="10566400" cy="0"/>
          </a:xfrm>
          <a:prstGeom prst="line">
            <a:avLst/>
          </a:prstGeom>
          <a:noFill/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77640"/>
          <a:ext cx="10547352" cy="2697360"/>
        </p:xfrm>
        <a:graphic>
          <a:graphicData uri="http://schemas.openxmlformats.org/drawingml/2006/table">
            <a:tbl>
              <a:tblPr/>
              <a:tblGrid>
                <a:gridCol w="2636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6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6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5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9893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Operator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9893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Meaning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9893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Canteen example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9893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Result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+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Add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20 + 15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35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-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Subtract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100 - 75 (change)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25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5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*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Multiply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2 * 10 (2 chai)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20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5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/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Divide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75 / 4 (ints)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18 not 18.75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5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%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Remainder (modulus)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75 % 10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5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457185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Watch the </a:t>
            </a:r>
            <a:r>
              <a:rPr lang="en-US" sz="1400" b="1" dirty="0">
                <a:solidFill>
                  <a:srgbClr val="B23A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/</a:t>
            </a:r>
            <a:r>
              <a:rPr lang="en-US" sz="14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row: when </a:t>
            </a:r>
            <a:r>
              <a:rPr lang="en-US" sz="14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both</a:t>
            </a:r>
            <a:r>
              <a:rPr lang="en-US" sz="14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numbers are int, C drops the decimal part. The next slide shows why.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1 OF 3 · OPERATORS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1853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Integer division and remainder, the samosa way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844675"/>
            <a:ext cx="3930650" cy="2551410"/>
          </a:xfrm>
          <a:prstGeom prst="roundRect">
            <a:avLst>
              <a:gd name="adj" fmla="val 4355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6950" y="2012950"/>
            <a:ext cx="367576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7 samosas, 2 friends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6950" y="242699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Friend 1</a:t>
            </a:r>
            <a:endParaRPr lang="en-US" sz="1200" dirty="0"/>
          </a:p>
        </p:txBody>
      </p:sp>
      <p:pic>
        <p:nvPicPr>
          <p:cNvPr id="7" name="Image 0" descr="Samosa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2450" y="2355850"/>
            <a:ext cx="355600" cy="355600"/>
          </a:xfrm>
          <a:prstGeom prst="rect">
            <a:avLst/>
          </a:prstGeom>
        </p:spPr>
      </p:pic>
      <p:pic>
        <p:nvPicPr>
          <p:cNvPr id="8" name="Image 1" descr="Samosa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41550" y="2355850"/>
            <a:ext cx="355600" cy="355600"/>
          </a:xfrm>
          <a:prstGeom prst="rect">
            <a:avLst/>
          </a:prstGeom>
        </p:spPr>
      </p:pic>
      <p:pic>
        <p:nvPicPr>
          <p:cNvPr id="9" name="Image 2" descr="Samosa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60650" y="2355850"/>
            <a:ext cx="355600" cy="355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96950" y="289689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Friend 2</a:t>
            </a:r>
            <a:endParaRPr lang="en-US" sz="1200" dirty="0"/>
          </a:p>
        </p:txBody>
      </p:sp>
      <p:pic>
        <p:nvPicPr>
          <p:cNvPr id="11" name="Image 3" descr="Samosa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2450" y="2825750"/>
            <a:ext cx="355600" cy="355600"/>
          </a:xfrm>
          <a:prstGeom prst="rect">
            <a:avLst/>
          </a:prstGeom>
        </p:spPr>
      </p:pic>
      <p:pic>
        <p:nvPicPr>
          <p:cNvPr id="12" name="Image 4" descr="Samosa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41550" y="2825750"/>
            <a:ext cx="355600" cy="355600"/>
          </a:xfrm>
          <a:prstGeom prst="rect">
            <a:avLst/>
          </a:prstGeom>
        </p:spPr>
      </p:pic>
      <p:pic>
        <p:nvPicPr>
          <p:cNvPr id="13" name="Image 5" descr="Samosa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60650" y="2825750"/>
            <a:ext cx="355600" cy="3556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96950" y="336679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23A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Left over</a:t>
            </a:r>
            <a:endParaRPr lang="en-US" sz="1200" dirty="0"/>
          </a:p>
        </p:txBody>
      </p:sp>
      <p:pic>
        <p:nvPicPr>
          <p:cNvPr id="15" name="Image 6" descr="Samosa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2450" y="3295650"/>
            <a:ext cx="355600" cy="3556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996950" y="3765550"/>
            <a:ext cx="3675761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/</a:t>
            </a: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tells you how many each gets. </a:t>
            </a:r>
            <a:r>
              <a:rPr lang="en-US" sz="1300" b="1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%</a:t>
            </a: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tells you what is left over.</a:t>
            </a:r>
            <a:endParaRPr lang="en-US" sz="1300" dirty="0"/>
          </a:p>
        </p:txBody>
      </p:sp>
      <p:sp>
        <p:nvSpPr>
          <p:cNvPr id="17" name="Shape 8"/>
          <p:cNvSpPr/>
          <p:nvPr/>
        </p:nvSpPr>
        <p:spPr>
          <a:xfrm>
            <a:off x="5080000" y="1841500"/>
            <a:ext cx="6299200" cy="355600"/>
          </a:xfrm>
          <a:prstGeom prst="roundRect">
            <a:avLst>
              <a:gd name="adj" fmla="val 21429"/>
            </a:avLst>
          </a:prstGeom>
          <a:solidFill>
            <a:srgbClr val="15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9"/>
          <p:cNvSpPr/>
          <p:nvPr/>
        </p:nvSpPr>
        <p:spPr>
          <a:xfrm>
            <a:off x="5194300" y="1912640"/>
            <a:ext cx="330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#</a:t>
            </a:r>
            <a:endParaRPr lang="en-US" sz="1200" dirty="0"/>
          </a:p>
        </p:txBody>
      </p:sp>
      <p:sp>
        <p:nvSpPr>
          <p:cNvPr id="19" name="Text 10"/>
          <p:cNvSpPr/>
          <p:nvPr/>
        </p:nvSpPr>
        <p:spPr>
          <a:xfrm>
            <a:off x="5537200" y="1912640"/>
            <a:ext cx="1257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Expression</a:t>
            </a:r>
            <a:endParaRPr lang="en-US" sz="1200" dirty="0"/>
          </a:p>
        </p:txBody>
      </p:sp>
      <p:sp>
        <p:nvSpPr>
          <p:cNvPr id="20" name="Text 11"/>
          <p:cNvSpPr/>
          <p:nvPr/>
        </p:nvSpPr>
        <p:spPr>
          <a:xfrm>
            <a:off x="6832600" y="1912640"/>
            <a:ext cx="749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Result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7645400" y="1912640"/>
            <a:ext cx="37280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happens</a:t>
            </a:r>
            <a:endParaRPr lang="en-US" sz="1200" dirty="0"/>
          </a:p>
        </p:txBody>
      </p:sp>
      <p:sp>
        <p:nvSpPr>
          <p:cNvPr id="22" name="Shape 13"/>
          <p:cNvSpPr/>
          <p:nvPr/>
        </p:nvSpPr>
        <p:spPr>
          <a:xfrm>
            <a:off x="5083175" y="2301875"/>
            <a:ext cx="6292850" cy="501650"/>
          </a:xfrm>
          <a:prstGeom prst="roundRect">
            <a:avLst>
              <a:gd name="adj" fmla="val 145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4"/>
          <p:cNvSpPr/>
          <p:nvPr/>
        </p:nvSpPr>
        <p:spPr>
          <a:xfrm>
            <a:off x="5200650" y="243711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300" dirty="0"/>
          </a:p>
        </p:txBody>
      </p:sp>
      <p:sp>
        <p:nvSpPr>
          <p:cNvPr id="24" name="Text 15"/>
          <p:cNvSpPr/>
          <p:nvPr/>
        </p:nvSpPr>
        <p:spPr>
          <a:xfrm>
            <a:off x="5575300" y="2381250"/>
            <a:ext cx="1193800" cy="342900"/>
          </a:xfrm>
          <a:prstGeom prst="roundRect">
            <a:avLst>
              <a:gd name="adj" fmla="val 16667"/>
            </a:avLst>
          </a:prstGeom>
          <a:solidFill>
            <a:srgbClr val="FFFDF8"/>
          </a:solidFill>
          <a:ln w="12700">
            <a:solidFill>
              <a:srgbClr val="E2DDD2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 / 2</a:t>
            </a:r>
            <a:endParaRPr lang="en-US" sz="1300" dirty="0"/>
          </a:p>
        </p:txBody>
      </p:sp>
      <p:sp>
        <p:nvSpPr>
          <p:cNvPr id="25" name="Text 16"/>
          <p:cNvSpPr/>
          <p:nvPr/>
        </p:nvSpPr>
        <p:spPr>
          <a:xfrm>
            <a:off x="6870700" y="2381250"/>
            <a:ext cx="685800" cy="342900"/>
          </a:xfrm>
          <a:prstGeom prst="roundRect">
            <a:avLst>
              <a:gd name="adj" fmla="val 16667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7651750" y="2457450"/>
            <a:ext cx="371500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Each friend gets 3 whole samosas.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5083175" y="2860675"/>
            <a:ext cx="6292850" cy="501650"/>
          </a:xfrm>
          <a:prstGeom prst="roundRect">
            <a:avLst>
              <a:gd name="adj" fmla="val 145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19"/>
          <p:cNvSpPr/>
          <p:nvPr/>
        </p:nvSpPr>
        <p:spPr>
          <a:xfrm>
            <a:off x="5200650" y="299591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5575300" y="2940050"/>
            <a:ext cx="1193800" cy="342900"/>
          </a:xfrm>
          <a:prstGeom prst="roundRect">
            <a:avLst>
              <a:gd name="adj" fmla="val 16667"/>
            </a:avLst>
          </a:prstGeom>
          <a:solidFill>
            <a:srgbClr val="FFFDF8"/>
          </a:solidFill>
          <a:ln w="12700">
            <a:solidFill>
              <a:srgbClr val="E2DDD2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7 % 2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6870700" y="2940050"/>
            <a:ext cx="685800" cy="342900"/>
          </a:xfrm>
          <a:prstGeom prst="roundRect">
            <a:avLst>
              <a:gd name="adj" fmla="val 16667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7651750" y="3016250"/>
            <a:ext cx="371500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 samosa is left over.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5083175" y="3419475"/>
            <a:ext cx="6292850" cy="501650"/>
          </a:xfrm>
          <a:prstGeom prst="roundRect">
            <a:avLst>
              <a:gd name="adj" fmla="val 145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4"/>
          <p:cNvSpPr/>
          <p:nvPr/>
        </p:nvSpPr>
        <p:spPr>
          <a:xfrm>
            <a:off x="5200650" y="355471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5575300" y="3498850"/>
            <a:ext cx="1193800" cy="342900"/>
          </a:xfrm>
          <a:prstGeom prst="roundRect">
            <a:avLst>
              <a:gd name="adj" fmla="val 16667"/>
            </a:avLst>
          </a:prstGeom>
          <a:solidFill>
            <a:srgbClr val="FFFDF8"/>
          </a:solidFill>
          <a:ln w="12700">
            <a:solidFill>
              <a:srgbClr val="E2DDD2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7.0 / 2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6870700" y="3498850"/>
            <a:ext cx="685800" cy="342900"/>
          </a:xfrm>
          <a:prstGeom prst="roundRect">
            <a:avLst>
              <a:gd name="adj" fmla="val 16667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3.5</a:t>
            </a:r>
            <a:endParaRPr lang="en-US" sz="1300" dirty="0"/>
          </a:p>
        </p:txBody>
      </p:sp>
      <p:sp>
        <p:nvSpPr>
          <p:cNvPr id="36" name="Text 27"/>
          <p:cNvSpPr/>
          <p:nvPr/>
        </p:nvSpPr>
        <p:spPr>
          <a:xfrm>
            <a:off x="7651750" y="3575050"/>
            <a:ext cx="371500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One decimal number: the answer keeps .5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5083175" y="3978275"/>
            <a:ext cx="6292850" cy="501650"/>
          </a:xfrm>
          <a:prstGeom prst="roundRect">
            <a:avLst>
              <a:gd name="adj" fmla="val 145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29"/>
          <p:cNvSpPr/>
          <p:nvPr/>
        </p:nvSpPr>
        <p:spPr>
          <a:xfrm>
            <a:off x="5200650" y="411351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5575300" y="4057650"/>
            <a:ext cx="1193800" cy="342900"/>
          </a:xfrm>
          <a:prstGeom prst="roundRect">
            <a:avLst>
              <a:gd name="adj" fmla="val 16667"/>
            </a:avLst>
          </a:prstGeom>
          <a:solidFill>
            <a:srgbClr val="FFFDF8"/>
          </a:solidFill>
          <a:ln w="12700">
            <a:solidFill>
              <a:srgbClr val="E2DDD2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10 % 2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6870700" y="4057650"/>
            <a:ext cx="685800" cy="342900"/>
          </a:xfrm>
          <a:prstGeom prst="roundRect">
            <a:avLst>
              <a:gd name="adj" fmla="val 16667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7651750" y="4133850"/>
            <a:ext cx="371500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Nothing left: 10 is even.</a:t>
            </a:r>
            <a:endParaRPr lang="en-US" sz="1200" dirty="0"/>
          </a:p>
        </p:txBody>
      </p:sp>
      <p:sp>
        <p:nvSpPr>
          <p:cNvPr id="42" name="Shape 33"/>
          <p:cNvSpPr/>
          <p:nvPr/>
        </p:nvSpPr>
        <p:spPr>
          <a:xfrm>
            <a:off x="5083175" y="4537075"/>
            <a:ext cx="6292850" cy="501650"/>
          </a:xfrm>
          <a:prstGeom prst="roundRect">
            <a:avLst>
              <a:gd name="adj" fmla="val 145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4"/>
          <p:cNvSpPr/>
          <p:nvPr/>
        </p:nvSpPr>
        <p:spPr>
          <a:xfrm>
            <a:off x="5200650" y="467231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300" dirty="0"/>
          </a:p>
        </p:txBody>
      </p:sp>
      <p:sp>
        <p:nvSpPr>
          <p:cNvPr id="44" name="Text 35"/>
          <p:cNvSpPr/>
          <p:nvPr/>
        </p:nvSpPr>
        <p:spPr>
          <a:xfrm>
            <a:off x="5575300" y="4616450"/>
            <a:ext cx="1193800" cy="342900"/>
          </a:xfrm>
          <a:prstGeom prst="roundRect">
            <a:avLst>
              <a:gd name="adj" fmla="val 16667"/>
            </a:avLst>
          </a:prstGeom>
          <a:solidFill>
            <a:srgbClr val="FFFDF8"/>
          </a:solidFill>
          <a:ln w="12700">
            <a:solidFill>
              <a:srgbClr val="E2DDD2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47 % 10</a:t>
            </a:r>
            <a:endParaRPr lang="en-US" sz="1300" dirty="0"/>
          </a:p>
        </p:txBody>
      </p:sp>
      <p:sp>
        <p:nvSpPr>
          <p:cNvPr id="45" name="Text 36"/>
          <p:cNvSpPr/>
          <p:nvPr/>
        </p:nvSpPr>
        <p:spPr>
          <a:xfrm>
            <a:off x="6870700" y="4616450"/>
            <a:ext cx="685800" cy="342900"/>
          </a:xfrm>
          <a:prstGeom prst="roundRect">
            <a:avLst>
              <a:gd name="adj" fmla="val 16667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</a:t>
            </a:r>
            <a:endParaRPr lang="en-US" sz="1300" dirty="0"/>
          </a:p>
        </p:txBody>
      </p:sp>
      <p:sp>
        <p:nvSpPr>
          <p:cNvPr id="46" name="Text 37"/>
          <p:cNvSpPr/>
          <p:nvPr/>
        </p:nvSpPr>
        <p:spPr>
          <a:xfrm>
            <a:off x="7651750" y="4692650"/>
            <a:ext cx="371500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Remainder by 10 = the last digit.</a:t>
            </a:r>
            <a:endParaRPr lang="en-US" sz="1200" dirty="0"/>
          </a:p>
        </p:txBody>
      </p:sp>
      <p:sp>
        <p:nvSpPr>
          <p:cNvPr id="47" name="Text 38"/>
          <p:cNvSpPr/>
          <p:nvPr/>
        </p:nvSpPr>
        <p:spPr>
          <a:xfrm>
            <a:off x="5080000" y="5130800"/>
            <a:ext cx="6299200" cy="381000"/>
          </a:xfrm>
          <a:prstGeom prst="roundRect">
            <a:avLst>
              <a:gd name="adj" fmla="val 20000"/>
            </a:avLst>
          </a:prstGeom>
          <a:solidFill>
            <a:srgbClr val="E9893F"/>
          </a:solidFill>
          <a:ln/>
        </p:spPr>
        <p:txBody>
          <a:bodyPr wrap="square" lIns="104682" tIns="0" rIns="104682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523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/ with two ints = whole parts only. % = what's left over.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1 OF 3 · OPERATORS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933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Relational operators: compare and answer yes or no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2800" y="1664940"/>
            <a:ext cx="10566400" cy="3165971"/>
          </a:xfrm>
          <a:prstGeom prst="rect">
            <a:avLst/>
          </a:prstGeom>
          <a:solidFill>
            <a:srgbClr val="FFF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76025" y="1664940"/>
            <a:ext cx="0" cy="3165971"/>
          </a:xfrm>
          <a:prstGeom prst="line">
            <a:avLst/>
          </a:prstGeom>
          <a:noFill/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12800" y="4827736"/>
            <a:ext cx="10566400" cy="0"/>
          </a:xfrm>
          <a:prstGeom prst="line">
            <a:avLst/>
          </a:prstGeom>
          <a:noFill/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77640"/>
          <a:ext cx="10547352" cy="3146920"/>
        </p:xfrm>
        <a:graphic>
          <a:graphicData uri="http://schemas.openxmlformats.org/drawingml/2006/table">
            <a:tbl>
              <a:tblPr/>
              <a:tblGrid>
                <a:gridCol w="2636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6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36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95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9893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Operator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9893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Meaning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9893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Example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9893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Answer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&gt;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greater than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total &gt; 200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 if yes, 0 if no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&lt;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less than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qty &lt; 5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 or 0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5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&gt;=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greater or equal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marks &gt;= 50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 or 0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5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&lt;=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less or equal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km &lt;= 2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 or 0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5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==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equal to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code == 1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 or 0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95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!=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not equal to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qty != 0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 or 0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2800" y="5021411"/>
            <a:ext cx="10566400" cy="469900"/>
          </a:xfrm>
          <a:prstGeom prst="roundRect">
            <a:avLst>
              <a:gd name="adj" fmla="val 18919"/>
            </a:avLst>
          </a:prstGeom>
          <a:solidFill>
            <a:srgbClr val="FBE3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77900" y="5123011"/>
            <a:ext cx="165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B23A2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19200" y="5140771"/>
            <a:ext cx="118720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stores a value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406402" y="5123011"/>
            <a:ext cx="279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B6B45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==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762002" y="5140771"/>
            <a:ext cx="732532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compares two values. Mixing them up is the most common bug in if statements.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1 OF 3 · OPERATORS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933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Logical operators: combine conditions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5975" y="1668115"/>
            <a:ext cx="2669084" cy="3407221"/>
          </a:xfrm>
          <a:prstGeom prst="roundRect">
            <a:avLst>
              <a:gd name="adj" fmla="val 4163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6950" y="1836390"/>
            <a:ext cx="237634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E989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&amp;&amp;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96950" y="2268190"/>
            <a:ext cx="237634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AND: both must be true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6950" y="2593280"/>
            <a:ext cx="2376348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Student </a:t>
            </a:r>
            <a:r>
              <a:rPr lang="en-US" sz="1300" b="1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and</a:t>
            </a: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total &gt; 100 → 5% off.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isStudent &amp;&amp; total &gt; 100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18409" y="1668115"/>
            <a:ext cx="2669133" cy="3407221"/>
          </a:xfrm>
          <a:prstGeom prst="roundRect">
            <a:avLst>
              <a:gd name="adj" fmla="val 4163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99384" y="1836390"/>
            <a:ext cx="23763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E989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||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799384" y="2268190"/>
            <a:ext cx="237639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OR: at least one true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99384" y="2593280"/>
            <a:ext cx="2376399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Tuesday </a:t>
            </a:r>
            <a:r>
              <a:rPr lang="en-US" sz="1300" b="1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or</a:t>
            </a: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total &gt; 300 → free chai.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day == 2 || total &gt; 300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20892" y="1668115"/>
            <a:ext cx="2669133" cy="3407221"/>
          </a:xfrm>
          <a:prstGeom prst="roundRect">
            <a:avLst>
              <a:gd name="adj" fmla="val 4163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01867" y="1836390"/>
            <a:ext cx="23763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E989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!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01867" y="2268190"/>
            <a:ext cx="237639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NOT: flips true and false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01867" y="2593280"/>
            <a:ext cx="2376399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Canteen is </a:t>
            </a:r>
            <a:r>
              <a:rPr lang="en-US" sz="1300" b="1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not</a:t>
            </a: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closed → take orders.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!closed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223375" y="1668115"/>
            <a:ext cx="2152650" cy="3407221"/>
          </a:xfrm>
          <a:prstGeom prst="roundRect">
            <a:avLst>
              <a:gd name="adj" fmla="val 5162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366250" y="1810990"/>
            <a:ext cx="1922907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Truth table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378950" y="2085280"/>
          <a:ext cx="1866900" cy="2847181"/>
        </p:xfrm>
        <a:graphic>
          <a:graphicData uri="http://schemas.openxmlformats.org/drawingml/2006/table">
            <a:tbl>
              <a:tblPr/>
              <a:tblGrid>
                <a:gridCol w="4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52141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9893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14300" marR="114300" marT="50800" marB="508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9893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B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14300" marR="114300" marT="50800" marB="50800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9893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A&amp;&amp;B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14300" marR="114300" marT="50800" marB="50800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9893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A||B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14300" marR="114300" marT="50800" marB="50800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76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14300" marR="114300" marT="50800" marB="508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14300" marR="114300" marT="50800" marB="508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14300" marR="114300" marT="50800" marB="508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14300" marR="114300" marT="50800" marB="508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76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14300" marR="114300" marT="50800" marB="508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0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14300" marR="114300" marT="50800" marB="508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0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14300" marR="114300" marT="50800" marB="508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14300" marR="114300" marT="50800" marB="508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876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0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14300" marR="114300" marT="50800" marB="508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14300" marR="114300" marT="50800" marB="508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0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14300" marR="114300" marT="50800" marB="508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14300" marR="114300" marT="50800" marB="508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760"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0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14300" marR="114300" marT="50800" marB="508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0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14300" marR="114300" marT="50800" marB="508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0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14300" marR="114300" marT="50800" marB="508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0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14300" marR="114300" marT="50800" marB="508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1 OF 3 · OPERATORS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1853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Assignment operators: keep a running total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41500"/>
            <a:ext cx="3556000" cy="2063750"/>
          </a:xfrm>
          <a:prstGeom prst="roundRect">
            <a:avLst>
              <a:gd name="adj" fmla="val 4308"/>
            </a:avLst>
          </a:prstGeom>
          <a:solidFill>
            <a:srgbClr val="15233F"/>
          </a:solidFill>
          <a:ln/>
        </p:spPr>
        <p:txBody>
          <a:bodyPr wrap="square" lIns="139062" tIns="100962" rIns="42288" bIns="75562" rtlCol="0" anchor="t">
            <a:norm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5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1  </a:t>
            </a:r>
            <a:r>
              <a:rPr lang="en-US" sz="15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total = 0;</a:t>
            </a:r>
            <a:endParaRPr lang="en-US" sz="150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5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2  </a:t>
            </a:r>
            <a:r>
              <a:rPr lang="en-US" sz="15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total += 20;</a:t>
            </a:r>
            <a:endParaRPr lang="en-US" sz="150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5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3  </a:t>
            </a:r>
            <a:r>
              <a:rPr lang="en-US" sz="15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total += 15;</a:t>
            </a:r>
            <a:endParaRPr lang="en-US" sz="150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5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4  </a:t>
            </a:r>
            <a:r>
              <a:rPr lang="en-US" sz="15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total += 40;</a:t>
            </a:r>
            <a:endParaRPr lang="en-US" sz="150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5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5  </a:t>
            </a:r>
            <a:r>
              <a:rPr lang="en-US" sz="15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total -= 10;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4032250"/>
            <a:ext cx="366268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total += 20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4314180"/>
            <a:ext cx="366268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is short for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4596110"/>
            <a:ext cx="366268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total = total + 20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4928840"/>
            <a:ext cx="3662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Also: -=, *=, /=, %=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99000" y="1841500"/>
            <a:ext cx="6680200" cy="355600"/>
          </a:xfrm>
          <a:prstGeom prst="roundRect">
            <a:avLst>
              <a:gd name="adj" fmla="val 21429"/>
            </a:avLst>
          </a:prstGeom>
          <a:solidFill>
            <a:srgbClr val="15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13300" y="1912640"/>
            <a:ext cx="330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#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56200" y="1912640"/>
            <a:ext cx="939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total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59500" y="191264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happens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2175" y="2301875"/>
            <a:ext cx="6673850" cy="501650"/>
          </a:xfrm>
          <a:prstGeom prst="roundRect">
            <a:avLst>
              <a:gd name="adj" fmla="val 145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19650" y="243711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94300" y="2381250"/>
            <a:ext cx="876300" cy="342900"/>
          </a:xfrm>
          <a:prstGeom prst="roundRect">
            <a:avLst>
              <a:gd name="adj" fmla="val 16667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65850" y="2457450"/>
            <a:ext cx="5245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Start the bill at 0.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2175" y="2860675"/>
            <a:ext cx="6673850" cy="501650"/>
          </a:xfrm>
          <a:prstGeom prst="roundRect">
            <a:avLst>
              <a:gd name="adj" fmla="val 145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19650" y="299591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94300" y="2940050"/>
            <a:ext cx="876300" cy="342900"/>
          </a:xfrm>
          <a:prstGeom prst="roundRect">
            <a:avLst>
              <a:gd name="adj" fmla="val 16667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65850" y="3016250"/>
            <a:ext cx="5245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 chai: add 20.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2175" y="3419475"/>
            <a:ext cx="6673850" cy="501650"/>
          </a:xfrm>
          <a:prstGeom prst="roundRect">
            <a:avLst>
              <a:gd name="adj" fmla="val 145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19650" y="355471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94300" y="3498850"/>
            <a:ext cx="876300" cy="342900"/>
          </a:xfrm>
          <a:prstGeom prst="roundRect">
            <a:avLst>
              <a:gd name="adj" fmla="val 16667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65850" y="3575050"/>
            <a:ext cx="5245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Samosa: add 15.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02175" y="3978275"/>
            <a:ext cx="6673850" cy="501650"/>
          </a:xfrm>
          <a:prstGeom prst="roundRect">
            <a:avLst>
              <a:gd name="adj" fmla="val 145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19650" y="411351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94300" y="4057650"/>
            <a:ext cx="876300" cy="342900"/>
          </a:xfrm>
          <a:prstGeom prst="roundRect">
            <a:avLst>
              <a:gd name="adj" fmla="val 16667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65850" y="4133850"/>
            <a:ext cx="5245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Maggi: add 40.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2175" y="4537075"/>
            <a:ext cx="6673850" cy="501650"/>
          </a:xfrm>
          <a:prstGeom prst="roundRect">
            <a:avLst>
              <a:gd name="adj" fmla="val 145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19650" y="467231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94300" y="4616450"/>
            <a:ext cx="876300" cy="342900"/>
          </a:xfrm>
          <a:prstGeom prst="roundRect">
            <a:avLst>
              <a:gd name="adj" fmla="val 16667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165850" y="4692650"/>
            <a:ext cx="5245481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Coupon: take away 10.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99000" y="5130800"/>
            <a:ext cx="6680200" cy="381000"/>
          </a:xfrm>
          <a:prstGeom prst="roundRect">
            <a:avLst>
              <a:gd name="adj" fmla="val 20000"/>
            </a:avLst>
          </a:prstGeom>
          <a:solidFill>
            <a:srgbClr val="E9893F"/>
          </a:solidFill>
          <a:ln/>
        </p:spPr>
        <p:txBody>
          <a:bodyPr wrap="square" lIns="104682" tIns="0" rIns="104682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523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+= adds to what is already there, like a running bill.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1 OF 3 · OPERATORS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1853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Increment and decrement: ++ and --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41500"/>
            <a:ext cx="3556000" cy="1701800"/>
          </a:xfrm>
          <a:prstGeom prst="roundRect">
            <a:avLst>
              <a:gd name="adj" fmla="val 5224"/>
            </a:avLst>
          </a:prstGeom>
          <a:solidFill>
            <a:srgbClr val="15233F"/>
          </a:solidFill>
          <a:ln/>
        </p:spPr>
        <p:txBody>
          <a:bodyPr wrap="square" lIns="139062" tIns="100962" rIns="42288" bIns="75562" rtlCol="0" anchor="t">
            <a:norm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5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1  </a:t>
            </a:r>
            <a:r>
              <a:rPr lang="en-US" sz="15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x = 5, y;</a:t>
            </a:r>
            <a:endParaRPr lang="en-US" sz="150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5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2  </a:t>
            </a:r>
            <a:r>
              <a:rPr lang="en-US" sz="15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y = x++;</a:t>
            </a:r>
            <a:endParaRPr lang="en-US" sz="150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5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3  </a:t>
            </a:r>
            <a:r>
              <a:rPr lang="en-US" sz="15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y = ++x;</a:t>
            </a:r>
            <a:endParaRPr lang="en-US" sz="150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5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4  </a:t>
            </a:r>
            <a:r>
              <a:rPr lang="en-US" sz="15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x--;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3670300"/>
            <a:ext cx="366268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x++</a:t>
            </a:r>
            <a:r>
              <a:rPr lang="en-US" sz="13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: use x, </a:t>
            </a:r>
            <a:r>
              <a:rPr lang="en-US" sz="13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then</a:t>
            </a:r>
            <a:r>
              <a:rPr lang="en-US" sz="13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add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3964930"/>
            <a:ext cx="366268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++x</a:t>
            </a:r>
            <a:r>
              <a:rPr lang="en-US" sz="13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: add 1, </a:t>
            </a:r>
            <a:r>
              <a:rPr lang="en-US" sz="13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then</a:t>
            </a:r>
            <a:r>
              <a:rPr lang="en-US" sz="13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use 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2800" y="4259560"/>
            <a:ext cx="366268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Like the canteen token: call the number, then move to the next.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99000" y="1841500"/>
            <a:ext cx="6680200" cy="355600"/>
          </a:xfrm>
          <a:prstGeom prst="roundRect">
            <a:avLst>
              <a:gd name="adj" fmla="val 21429"/>
            </a:avLst>
          </a:prstGeom>
          <a:solidFill>
            <a:srgbClr val="15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13300" y="1912640"/>
            <a:ext cx="330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#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56200" y="1912640"/>
            <a:ext cx="749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1912640"/>
            <a:ext cx="749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56400" y="1912640"/>
            <a:ext cx="46437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happens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2175" y="2301875"/>
            <a:ext cx="6673850" cy="501650"/>
          </a:xfrm>
          <a:prstGeom prst="roundRect">
            <a:avLst>
              <a:gd name="adj" fmla="val 145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19650" y="243711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94300" y="2381250"/>
            <a:ext cx="685800" cy="342900"/>
          </a:xfrm>
          <a:prstGeom prst="roundRect">
            <a:avLst>
              <a:gd name="adj" fmla="val 16667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81700" y="2381250"/>
            <a:ext cx="685800" cy="342900"/>
          </a:xfrm>
          <a:prstGeom prst="roundRect">
            <a:avLst>
              <a:gd name="adj" fmla="val 16667"/>
            </a:avLst>
          </a:prstGeom>
          <a:solidFill>
            <a:srgbClr val="FFFDF8"/>
          </a:solidFill>
          <a:ln w="12700">
            <a:solidFill>
              <a:srgbClr val="E2DDD2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2750" y="2457450"/>
            <a:ext cx="463067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x starts at 5. y has no value yet.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2175" y="2860675"/>
            <a:ext cx="6673850" cy="501650"/>
          </a:xfrm>
          <a:prstGeom prst="roundRect">
            <a:avLst>
              <a:gd name="adj" fmla="val 145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19650" y="299591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94300" y="2940050"/>
            <a:ext cx="685800" cy="342900"/>
          </a:xfrm>
          <a:prstGeom prst="roundRect">
            <a:avLst>
              <a:gd name="adj" fmla="val 16667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81700" y="2940050"/>
            <a:ext cx="685800" cy="342900"/>
          </a:xfrm>
          <a:prstGeom prst="roundRect">
            <a:avLst>
              <a:gd name="adj" fmla="val 16667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762750" y="3016250"/>
            <a:ext cx="463067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y = x++: y gets the OLD x (5), then x becomes 6.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2175" y="3419475"/>
            <a:ext cx="6673850" cy="501650"/>
          </a:xfrm>
          <a:prstGeom prst="roundRect">
            <a:avLst>
              <a:gd name="adj" fmla="val 145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19650" y="355471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194300" y="3498850"/>
            <a:ext cx="685800" cy="342900"/>
          </a:xfrm>
          <a:prstGeom prst="roundRect">
            <a:avLst>
              <a:gd name="adj" fmla="val 16667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81700" y="3498850"/>
            <a:ext cx="685800" cy="342900"/>
          </a:xfrm>
          <a:prstGeom prst="roundRect">
            <a:avLst>
              <a:gd name="adj" fmla="val 16667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2750" y="3575050"/>
            <a:ext cx="463067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y = ++x: x becomes 7 first, then y gets 7.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02175" y="3978275"/>
            <a:ext cx="6673850" cy="501650"/>
          </a:xfrm>
          <a:prstGeom prst="roundRect">
            <a:avLst>
              <a:gd name="adj" fmla="val 145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19650" y="411351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94300" y="4057650"/>
            <a:ext cx="685800" cy="342900"/>
          </a:xfrm>
          <a:prstGeom prst="roundRect">
            <a:avLst>
              <a:gd name="adj" fmla="val 16667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81700" y="4057650"/>
            <a:ext cx="685800" cy="342900"/>
          </a:xfrm>
          <a:prstGeom prst="roundRect">
            <a:avLst>
              <a:gd name="adj" fmla="val 16667"/>
            </a:avLst>
          </a:prstGeom>
          <a:solidFill>
            <a:srgbClr val="FFFDF8"/>
          </a:solidFill>
          <a:ln w="12700">
            <a:solidFill>
              <a:srgbClr val="E2DDD2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62750" y="4133850"/>
            <a:ext cx="463067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x--: take 1 away. y doesn't change.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99000" y="4572000"/>
            <a:ext cx="6680200" cy="381000"/>
          </a:xfrm>
          <a:prstGeom prst="roundRect">
            <a:avLst>
              <a:gd name="adj" fmla="val 20000"/>
            </a:avLst>
          </a:prstGeom>
          <a:solidFill>
            <a:srgbClr val="E9893F"/>
          </a:solidFill>
          <a:ln/>
        </p:spPr>
        <p:txBody>
          <a:bodyPr wrap="square" lIns="104682" tIns="0" rIns="0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523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x++ and ++x both add 1. The difference is only what the expression gives back.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1 OF 3 · OPERATORS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933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Precedence: which operator runs first (C's BODMAS)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2800" y="1664940"/>
            <a:ext cx="6324600" cy="358130"/>
          </a:xfrm>
          <a:prstGeom prst="roundRect">
            <a:avLst>
              <a:gd name="adj" fmla="val 17731"/>
            </a:avLst>
          </a:prstGeom>
          <a:solidFill>
            <a:srgbClr val="F1ED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27100" y="1728440"/>
            <a:ext cx="2413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1900" y="1728440"/>
            <a:ext cx="1701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94F1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 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97200" y="1737320"/>
            <a:ext cx="11248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Brackets first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2073870"/>
            <a:ext cx="6324600" cy="358130"/>
          </a:xfrm>
          <a:prstGeom prst="roundRect">
            <a:avLst>
              <a:gd name="adj" fmla="val 17731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27100" y="2137370"/>
            <a:ext cx="2413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1900" y="2137370"/>
            <a:ext cx="1701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94F1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++ -- !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97200" y="2146250"/>
            <a:ext cx="234124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Increment, decrement, NOT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2482800"/>
            <a:ext cx="6324600" cy="358130"/>
          </a:xfrm>
          <a:prstGeom prst="roundRect">
            <a:avLst>
              <a:gd name="adj" fmla="val 17731"/>
            </a:avLst>
          </a:prstGeom>
          <a:solidFill>
            <a:srgbClr val="F1ED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27100" y="2546300"/>
            <a:ext cx="2413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1900" y="2546300"/>
            <a:ext cx="1701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94F1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* / 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97200" y="2555180"/>
            <a:ext cx="22195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Multiply, divide, remainder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2891730"/>
            <a:ext cx="6324600" cy="358130"/>
          </a:xfrm>
          <a:prstGeom prst="roundRect">
            <a:avLst>
              <a:gd name="adj" fmla="val 17731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27100" y="2955230"/>
            <a:ext cx="2413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1900" y="2955230"/>
            <a:ext cx="1701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94F1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+ -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97200" y="2964111"/>
            <a:ext cx="11536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Add, subtract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2800" y="3300661"/>
            <a:ext cx="6324600" cy="358130"/>
          </a:xfrm>
          <a:prstGeom prst="roundRect">
            <a:avLst>
              <a:gd name="adj" fmla="val 17731"/>
            </a:avLst>
          </a:prstGeom>
          <a:solidFill>
            <a:srgbClr val="F1ED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7100" y="3364161"/>
            <a:ext cx="2413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1900" y="3364161"/>
            <a:ext cx="1701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94F1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&lt; &gt; &lt;= &gt;=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97200" y="3373041"/>
            <a:ext cx="7696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Compare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2800" y="3709591"/>
            <a:ext cx="6324600" cy="358130"/>
          </a:xfrm>
          <a:prstGeom prst="roundRect">
            <a:avLst>
              <a:gd name="adj" fmla="val 17731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27100" y="3773091"/>
            <a:ext cx="2413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1900" y="3773091"/>
            <a:ext cx="1701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94F1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== !=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997200" y="3781971"/>
            <a:ext cx="13627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Equal, not equal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2800" y="4118521"/>
            <a:ext cx="6324600" cy="358130"/>
          </a:xfrm>
          <a:prstGeom prst="roundRect">
            <a:avLst>
              <a:gd name="adj" fmla="val 17731"/>
            </a:avLst>
          </a:prstGeom>
          <a:solidFill>
            <a:srgbClr val="F1EDE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27100" y="4182021"/>
            <a:ext cx="2413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31900" y="4182021"/>
            <a:ext cx="1701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94F1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&amp;&amp; then ||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997200" y="4190901"/>
            <a:ext cx="12627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AND before OR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2800" y="4527451"/>
            <a:ext cx="6324600" cy="358130"/>
          </a:xfrm>
          <a:prstGeom prst="roundRect">
            <a:avLst>
              <a:gd name="adj" fmla="val 17731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27100" y="4590951"/>
            <a:ext cx="2413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31900" y="4590951"/>
            <a:ext cx="1701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94F1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 += -=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997200" y="4599831"/>
            <a:ext cx="14200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Assignment, last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0" y="1664940"/>
            <a:ext cx="4064000" cy="721320"/>
          </a:xfrm>
          <a:prstGeom prst="roundRect">
            <a:avLst>
              <a:gd name="adj" fmla="val 12325"/>
            </a:avLst>
          </a:prstGeom>
          <a:solidFill>
            <a:srgbClr val="1E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454900" y="1766540"/>
            <a:ext cx="115216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 + 3 * 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960100" y="1766540"/>
            <a:ext cx="279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989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14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454900" y="2071340"/>
            <a:ext cx="38981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* first: 3 × 4 = 12, then + 2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2475161"/>
            <a:ext cx="4064000" cy="721320"/>
          </a:xfrm>
          <a:prstGeom prst="roundRect">
            <a:avLst>
              <a:gd name="adj" fmla="val 12325"/>
            </a:avLst>
          </a:prstGeom>
          <a:solidFill>
            <a:srgbClr val="1E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454900" y="2576761"/>
            <a:ext cx="14082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(2 + 3) * 4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0960100" y="2576761"/>
            <a:ext cx="279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989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454900" y="2881561"/>
            <a:ext cx="38981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brackets first: 5 × 4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315200" y="3285381"/>
            <a:ext cx="4064000" cy="721320"/>
          </a:xfrm>
          <a:prstGeom prst="roundRect">
            <a:avLst>
              <a:gd name="adj" fmla="val 12325"/>
            </a:avLst>
          </a:prstGeom>
          <a:solidFill>
            <a:srgbClr val="1E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454900" y="3386981"/>
            <a:ext cx="19202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 * 10 + 1 * 15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960100" y="3386981"/>
            <a:ext cx="279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989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35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7454900" y="3691781"/>
            <a:ext cx="38981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Riya: 20 + 15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315200" y="4095601"/>
            <a:ext cx="4064000" cy="721320"/>
          </a:xfrm>
          <a:prstGeom prst="roundRect">
            <a:avLst>
              <a:gd name="adj" fmla="val 12325"/>
            </a:avLst>
          </a:prstGeom>
          <a:solidFill>
            <a:srgbClr val="1E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454900" y="4197201"/>
            <a:ext cx="12801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 / 4 * 2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1074400" y="4197201"/>
            <a:ext cx="165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989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7454900" y="4502001"/>
            <a:ext cx="38981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same level: left to right, 2 × 2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315200" y="4905821"/>
            <a:ext cx="418592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Not sure? </a:t>
            </a:r>
            <a:r>
              <a:rPr lang="en-US" sz="1300" b="1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Add brackets.</a:t>
            </a: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They make the order clear to everyone.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1 OF 3 · OPERATORS · PREDICT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1853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is the answer?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908175"/>
            <a:ext cx="6978650" cy="742950"/>
          </a:xfrm>
          <a:prstGeom prst="roundRect">
            <a:avLst>
              <a:gd name="adj" fmla="val 149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2101850"/>
            <a:ext cx="1771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51905" y="2151063"/>
            <a:ext cx="601726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17 / 5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01000" y="1905000"/>
            <a:ext cx="3378200" cy="749300"/>
          </a:xfrm>
          <a:prstGeom prst="roundRect">
            <a:avLst>
              <a:gd name="adj" fmla="val 15254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5975" y="2797175"/>
            <a:ext cx="6978650" cy="742950"/>
          </a:xfrm>
          <a:prstGeom prst="roundRect">
            <a:avLst>
              <a:gd name="adj" fmla="val 149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7750" y="2990850"/>
            <a:ext cx="215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90650" y="3040063"/>
            <a:ext cx="601726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17 % 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01000" y="2794000"/>
            <a:ext cx="3378200" cy="749300"/>
          </a:xfrm>
          <a:prstGeom prst="roundRect">
            <a:avLst>
              <a:gd name="adj" fmla="val 15254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3686175"/>
            <a:ext cx="6978650" cy="742950"/>
          </a:xfrm>
          <a:prstGeom prst="roundRect">
            <a:avLst>
              <a:gd name="adj" fmla="val 149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750" y="3879850"/>
            <a:ext cx="2182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92982" y="3929063"/>
            <a:ext cx="601726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 &gt; 5 &amp;&amp; 3 &gt; 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01000" y="3683000"/>
            <a:ext cx="3378200" cy="749300"/>
          </a:xfrm>
          <a:prstGeom prst="roundRect">
            <a:avLst>
              <a:gd name="adj" fmla="val 15254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0: the second part is false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5975" y="4575175"/>
            <a:ext cx="6978650" cy="742950"/>
          </a:xfrm>
          <a:prstGeom prst="roundRect">
            <a:avLst>
              <a:gd name="adj" fmla="val 149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47750" y="4768850"/>
            <a:ext cx="2241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98935" y="4818063"/>
            <a:ext cx="601726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x = 5; x += 3;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01000" y="4572000"/>
            <a:ext cx="3378200" cy="749300"/>
          </a:xfrm>
          <a:prstGeom prst="roundRect">
            <a:avLst>
              <a:gd name="adj" fmla="val 15254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1 OF 3 · OPERATORS · CLASS ACTIVITY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1853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Be the cashier: change, notes and coins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9150" y="1657350"/>
            <a:ext cx="3543300" cy="3670300"/>
          </a:xfrm>
          <a:prstGeom prst="roundRect">
            <a:avLst>
              <a:gd name="adj" fmla="val 1254"/>
            </a:avLst>
          </a:prstGeom>
          <a:solidFill>
            <a:srgbClr val="FFFFFA"/>
          </a:solidFill>
          <a:ln w="12700">
            <a:solidFill>
              <a:srgbClr val="CFC7B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4161" y="1892300"/>
            <a:ext cx="311327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IIIT CANTEEN</a:t>
            </a:r>
            <a:endParaRPr lang="en-US" sz="1400" dirty="0"/>
          </a:p>
        </p:txBody>
      </p:sp>
      <p:pic>
        <p:nvPicPr>
          <p:cNvPr id="6" name="Image 0" descr="li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9500" y="2255490"/>
            <a:ext cx="3022600" cy="25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9500" y="2395190"/>
            <a:ext cx="102417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Chai × 2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735209" y="2395190"/>
            <a:ext cx="36689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₹20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79500" y="2758380"/>
            <a:ext cx="128016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Samosa × 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735209" y="2758380"/>
            <a:ext cx="36689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₹15</a:t>
            </a:r>
            <a:endParaRPr lang="en-US" sz="1400" dirty="0"/>
          </a:p>
        </p:txBody>
      </p:sp>
      <p:pic>
        <p:nvPicPr>
          <p:cNvPr id="11" name="Image 1" descr="li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9500" y="3121571"/>
            <a:ext cx="3022600" cy="25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9500" y="3261271"/>
            <a:ext cx="685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TOTAL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701276" y="3261271"/>
            <a:ext cx="4008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₹35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079500" y="3642271"/>
            <a:ext cx="54864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PAID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64116" y="3642271"/>
            <a:ext cx="53798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₹100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1079500" y="4086771"/>
            <a:ext cx="3113278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 cashier gives change in </a:t>
            </a:r>
            <a:r>
              <a:rPr lang="en-US" sz="1300" b="1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₹20 notes</a:t>
            </a: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first, then coins.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79500" y="4663331"/>
            <a:ext cx="31132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 pairs · 3 minutes · write C expressions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625975" y="1654175"/>
            <a:ext cx="4057650" cy="819150"/>
          </a:xfrm>
          <a:prstGeom prst="roundRect">
            <a:avLst>
              <a:gd name="adj" fmla="val 12016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806950" y="1885950"/>
            <a:ext cx="368617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Q1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5253831" y="1948011"/>
            <a:ext cx="3270250" cy="256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Write the change as one C expression.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8839200" y="1651000"/>
            <a:ext cx="2540000" cy="825500"/>
          </a:xfrm>
          <a:prstGeom prst="roundRect">
            <a:avLst>
              <a:gd name="adj" fmla="val 12308"/>
            </a:avLst>
          </a:prstGeom>
          <a:solidFill>
            <a:srgbClr val="15233F"/>
          </a:solidFill>
          <a:ln/>
        </p:spPr>
        <p:txBody>
          <a:bodyPr wrap="square" lIns="135342" tIns="0" rIns="69048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100 - (2 * 10 + 15)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3E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= 65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4625975" y="2606675"/>
            <a:ext cx="4057650" cy="819150"/>
          </a:xfrm>
          <a:prstGeom prst="roundRect">
            <a:avLst>
              <a:gd name="adj" fmla="val 12016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806950" y="2838450"/>
            <a:ext cx="41517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Q2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5292626" y="2900511"/>
            <a:ext cx="3387824" cy="256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How many ₹20 notes? Which operator?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8839200" y="2603500"/>
            <a:ext cx="2540000" cy="825500"/>
          </a:xfrm>
          <a:prstGeom prst="roundRect">
            <a:avLst>
              <a:gd name="adj" fmla="val 12308"/>
            </a:avLst>
          </a:prstGeom>
          <a:solidFill>
            <a:srgbClr val="15233F"/>
          </a:solidFill>
          <a:ln/>
        </p:spPr>
        <p:txBody>
          <a:bodyPr wrap="square" lIns="135342" tIns="0" rIns="69048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65 / 20</a:t>
            </a:r>
            <a:r>
              <a:rPr lang="en-US" sz="1300" dirty="0">
                <a:solidFill>
                  <a:srgbClr val="F6F3E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= 3 notes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625975" y="3559175"/>
            <a:ext cx="4057650" cy="819150"/>
          </a:xfrm>
          <a:prstGeom prst="roundRect">
            <a:avLst>
              <a:gd name="adj" fmla="val 12016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4806950" y="3790950"/>
            <a:ext cx="41796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Q3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5294957" y="3853011"/>
            <a:ext cx="3270250" cy="2568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How many rupees in coins?</a:t>
            </a:r>
            <a:endParaRPr lang="en-US" sz="1350" dirty="0"/>
          </a:p>
        </p:txBody>
      </p:sp>
      <p:sp>
        <p:nvSpPr>
          <p:cNvPr id="29" name="Text 25"/>
          <p:cNvSpPr/>
          <p:nvPr/>
        </p:nvSpPr>
        <p:spPr>
          <a:xfrm>
            <a:off x="8839200" y="3556000"/>
            <a:ext cx="2540000" cy="825500"/>
          </a:xfrm>
          <a:prstGeom prst="roundRect">
            <a:avLst>
              <a:gd name="adj" fmla="val 12308"/>
            </a:avLst>
          </a:prstGeom>
          <a:solidFill>
            <a:srgbClr val="15233F"/>
          </a:solidFill>
          <a:ln/>
        </p:spPr>
        <p:txBody>
          <a:bodyPr wrap="square" lIns="135342" tIns="0" rIns="69048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65 % 20</a:t>
            </a:r>
            <a:r>
              <a:rPr lang="en-US" sz="1300" dirty="0">
                <a:solidFill>
                  <a:srgbClr val="F6F3E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= ₹5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625975" y="4511675"/>
            <a:ext cx="4057650" cy="819150"/>
          </a:xfrm>
          <a:prstGeom prst="roundRect">
            <a:avLst>
              <a:gd name="adj" fmla="val 12016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4806950" y="4743450"/>
            <a:ext cx="42505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Q4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5300861" y="4689822"/>
            <a:ext cx="3270250" cy="4882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Remove the brackets from Q1. What do you get?</a:t>
            </a:r>
            <a:endParaRPr lang="en-US" sz="1350" dirty="0"/>
          </a:p>
        </p:txBody>
      </p:sp>
      <p:sp>
        <p:nvSpPr>
          <p:cNvPr id="33" name="Text 29"/>
          <p:cNvSpPr/>
          <p:nvPr/>
        </p:nvSpPr>
        <p:spPr>
          <a:xfrm>
            <a:off x="8839200" y="4508500"/>
            <a:ext cx="2540000" cy="825500"/>
          </a:xfrm>
          <a:prstGeom prst="roundRect">
            <a:avLst>
              <a:gd name="adj" fmla="val 12308"/>
            </a:avLst>
          </a:prstGeom>
          <a:solidFill>
            <a:srgbClr val="15233F"/>
          </a:solidFill>
          <a:ln/>
        </p:spPr>
        <p:txBody>
          <a:bodyPr wrap="square" lIns="135342" tIns="0" rIns="69048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100 - 2*10 + 15</a:t>
            </a:r>
            <a:r>
              <a:rPr lang="en-US" sz="1300" dirty="0">
                <a:solidFill>
                  <a:srgbClr val="F6F3E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= 95 ✗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1 OF 3 · OPERATORS · CLASS ACTIVITY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1853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Who gets the offer? You decide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524000"/>
            <a:ext cx="5194300" cy="825500"/>
          </a:xfrm>
          <a:prstGeom prst="roundRect">
            <a:avLst>
              <a:gd name="adj" fmla="val 12308"/>
            </a:avLst>
          </a:prstGeom>
          <a:solidFill>
            <a:srgbClr val="15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3300" y="1662460"/>
            <a:ext cx="495769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Offer 1: 5% off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3300" y="1962150"/>
            <a:ext cx="495769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isStudent &amp;&amp; total &gt; 100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84900" y="1524000"/>
            <a:ext cx="5194300" cy="825500"/>
          </a:xfrm>
          <a:prstGeom prst="roundRect">
            <a:avLst>
              <a:gd name="adj" fmla="val 12308"/>
            </a:avLst>
          </a:prstGeom>
          <a:solidFill>
            <a:srgbClr val="15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75400" y="1662460"/>
            <a:ext cx="495769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Offer 2: free chai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75400" y="1962150"/>
            <a:ext cx="495769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day == TUESDAY || total &gt; 300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975" y="2543175"/>
            <a:ext cx="2520950" cy="2089150"/>
          </a:xfrm>
          <a:prstGeom prst="roundRect">
            <a:avLst>
              <a:gd name="adj" fmla="val 5319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Custome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6950" y="269875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55750" y="2767310"/>
            <a:ext cx="587395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Riya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96950" y="3244850"/>
            <a:ext cx="6878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Student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811026" y="3244850"/>
            <a:ext cx="3449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Yes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96950" y="3564880"/>
            <a:ext cx="4094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Total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795548" y="3564880"/>
            <a:ext cx="36040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₹75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996950" y="3884910"/>
            <a:ext cx="32575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Day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387044" y="3884910"/>
            <a:ext cx="76890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Monday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19150" y="4768850"/>
            <a:ext cx="2514600" cy="939800"/>
          </a:xfrm>
          <a:prstGeom prst="roundRect">
            <a:avLst>
              <a:gd name="adj" fmla="val 10135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65200" y="4993680"/>
            <a:ext cx="22891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Offer 1: ✗ 75 is not &gt; 100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65200" y="5270500"/>
            <a:ext cx="22891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Offer 2: ✗ neither part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495675" y="2543175"/>
            <a:ext cx="2520950" cy="2089150"/>
          </a:xfrm>
          <a:prstGeom prst="roundRect">
            <a:avLst>
              <a:gd name="adj" fmla="val 5319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" descr="Custome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76650" y="2698750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235450" y="2767310"/>
            <a:ext cx="75604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Arjun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3676650" y="3244850"/>
            <a:ext cx="6878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Student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490726" y="3244850"/>
            <a:ext cx="3449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Yes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3676650" y="3564880"/>
            <a:ext cx="4094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Total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5355590" y="3564880"/>
            <a:ext cx="4800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₹150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3676650" y="3884910"/>
            <a:ext cx="32575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Day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4720749" y="3884910"/>
            <a:ext cx="111490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Wednesday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3498850" y="4768850"/>
            <a:ext cx="2514600" cy="939800"/>
          </a:xfrm>
          <a:prstGeom prst="roundRect">
            <a:avLst>
              <a:gd name="adj" fmla="val 10135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8"/>
          <p:cNvSpPr/>
          <p:nvPr/>
        </p:nvSpPr>
        <p:spPr>
          <a:xfrm>
            <a:off x="3644900" y="4993680"/>
            <a:ext cx="22891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Offer 1: ✓ both true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3644900" y="5270500"/>
            <a:ext cx="22891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Offer 2: ✗ neither part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6175375" y="2543175"/>
            <a:ext cx="2520950" cy="2089150"/>
          </a:xfrm>
          <a:prstGeom prst="roundRect">
            <a:avLst>
              <a:gd name="adj" fmla="val 5319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2" descr="Custome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56350" y="2698750"/>
            <a:ext cx="457200" cy="45720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6915150" y="2767310"/>
            <a:ext cx="837009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Meera</a:t>
            </a:r>
            <a:endParaRPr lang="en-US" sz="1800" dirty="0"/>
          </a:p>
        </p:txBody>
      </p:sp>
      <p:sp>
        <p:nvSpPr>
          <p:cNvPr id="37" name="Text 32"/>
          <p:cNvSpPr/>
          <p:nvPr/>
        </p:nvSpPr>
        <p:spPr>
          <a:xfrm>
            <a:off x="6356350" y="3244850"/>
            <a:ext cx="6878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Student</a:t>
            </a:r>
            <a:endParaRPr lang="en-US" sz="1200" dirty="0"/>
          </a:p>
        </p:txBody>
      </p:sp>
      <p:sp>
        <p:nvSpPr>
          <p:cNvPr id="38" name="Text 33"/>
          <p:cNvSpPr/>
          <p:nvPr/>
        </p:nvSpPr>
        <p:spPr>
          <a:xfrm>
            <a:off x="8245029" y="3244850"/>
            <a:ext cx="27032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6356350" y="3564880"/>
            <a:ext cx="4094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Total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8002429" y="3564880"/>
            <a:ext cx="51292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₹320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6356350" y="3884910"/>
            <a:ext cx="32575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Day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7891582" y="3884910"/>
            <a:ext cx="62376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Friday</a:t>
            </a:r>
            <a:endParaRPr lang="en-US" sz="1300" dirty="0"/>
          </a:p>
        </p:txBody>
      </p:sp>
      <p:sp>
        <p:nvSpPr>
          <p:cNvPr id="43" name="Shape 38"/>
          <p:cNvSpPr/>
          <p:nvPr/>
        </p:nvSpPr>
        <p:spPr>
          <a:xfrm>
            <a:off x="6178550" y="4768850"/>
            <a:ext cx="2514600" cy="939800"/>
          </a:xfrm>
          <a:prstGeom prst="roundRect">
            <a:avLst>
              <a:gd name="adj" fmla="val 10135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9"/>
          <p:cNvSpPr/>
          <p:nvPr/>
        </p:nvSpPr>
        <p:spPr>
          <a:xfrm>
            <a:off x="6324600" y="4993680"/>
            <a:ext cx="22891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Offer 1: ✗ not a student</a:t>
            </a:r>
            <a:endParaRPr lang="en-US" sz="1200" dirty="0"/>
          </a:p>
        </p:txBody>
      </p:sp>
      <p:sp>
        <p:nvSpPr>
          <p:cNvPr id="45" name="Text 40"/>
          <p:cNvSpPr/>
          <p:nvPr/>
        </p:nvSpPr>
        <p:spPr>
          <a:xfrm>
            <a:off x="6324600" y="5270500"/>
            <a:ext cx="22891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Offer 2: ✓ 320 &gt; 300</a:t>
            </a:r>
            <a:endParaRPr lang="en-US" sz="1200" dirty="0"/>
          </a:p>
        </p:txBody>
      </p:sp>
      <p:sp>
        <p:nvSpPr>
          <p:cNvPr id="46" name="Shape 41"/>
          <p:cNvSpPr/>
          <p:nvPr/>
        </p:nvSpPr>
        <p:spPr>
          <a:xfrm>
            <a:off x="8855075" y="2543175"/>
            <a:ext cx="2520950" cy="2089150"/>
          </a:xfrm>
          <a:prstGeom prst="roundRect">
            <a:avLst>
              <a:gd name="adj" fmla="val 5319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3" descr="Customer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36050" y="2698750"/>
            <a:ext cx="457200" cy="457200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9594850" y="2767310"/>
            <a:ext cx="71753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Kabir</a:t>
            </a:r>
            <a:endParaRPr lang="en-US" sz="1800" dirty="0"/>
          </a:p>
        </p:txBody>
      </p:sp>
      <p:sp>
        <p:nvSpPr>
          <p:cNvPr id="49" name="Text 43"/>
          <p:cNvSpPr/>
          <p:nvPr/>
        </p:nvSpPr>
        <p:spPr>
          <a:xfrm>
            <a:off x="9036050" y="3244850"/>
            <a:ext cx="68782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Student</a:t>
            </a:r>
            <a:endParaRPr lang="en-US" sz="1200" dirty="0"/>
          </a:p>
        </p:txBody>
      </p:sp>
      <p:sp>
        <p:nvSpPr>
          <p:cNvPr id="50" name="Text 44"/>
          <p:cNvSpPr/>
          <p:nvPr/>
        </p:nvSpPr>
        <p:spPr>
          <a:xfrm>
            <a:off x="10924729" y="3244850"/>
            <a:ext cx="27032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</a:t>
            </a:r>
            <a:endParaRPr lang="en-US" sz="1300" dirty="0"/>
          </a:p>
        </p:txBody>
      </p:sp>
      <p:sp>
        <p:nvSpPr>
          <p:cNvPr id="51" name="Text 45"/>
          <p:cNvSpPr/>
          <p:nvPr/>
        </p:nvSpPr>
        <p:spPr>
          <a:xfrm>
            <a:off x="9036050" y="3564880"/>
            <a:ext cx="40945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Total</a:t>
            </a:r>
            <a:endParaRPr lang="en-US" sz="1200" dirty="0"/>
          </a:p>
        </p:txBody>
      </p:sp>
      <p:sp>
        <p:nvSpPr>
          <p:cNvPr id="52" name="Text 46"/>
          <p:cNvSpPr/>
          <p:nvPr/>
        </p:nvSpPr>
        <p:spPr>
          <a:xfrm>
            <a:off x="10814407" y="3564880"/>
            <a:ext cx="38064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₹90</a:t>
            </a:r>
            <a:endParaRPr lang="en-US" sz="1300" dirty="0"/>
          </a:p>
        </p:txBody>
      </p:sp>
      <p:sp>
        <p:nvSpPr>
          <p:cNvPr id="53" name="Text 47"/>
          <p:cNvSpPr/>
          <p:nvPr/>
        </p:nvSpPr>
        <p:spPr>
          <a:xfrm>
            <a:off x="9036050" y="3884910"/>
            <a:ext cx="32575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Day</a:t>
            </a:r>
            <a:endParaRPr lang="en-US" sz="1200" dirty="0"/>
          </a:p>
        </p:txBody>
      </p:sp>
      <p:sp>
        <p:nvSpPr>
          <p:cNvPr id="54" name="Text 48"/>
          <p:cNvSpPr/>
          <p:nvPr/>
        </p:nvSpPr>
        <p:spPr>
          <a:xfrm>
            <a:off x="10368935" y="3884910"/>
            <a:ext cx="82611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Tuesday</a:t>
            </a:r>
            <a:endParaRPr lang="en-US" sz="1300" dirty="0"/>
          </a:p>
        </p:txBody>
      </p:sp>
      <p:sp>
        <p:nvSpPr>
          <p:cNvPr id="55" name="Shape 49"/>
          <p:cNvSpPr/>
          <p:nvPr/>
        </p:nvSpPr>
        <p:spPr>
          <a:xfrm>
            <a:off x="8858250" y="4768850"/>
            <a:ext cx="2514600" cy="939800"/>
          </a:xfrm>
          <a:prstGeom prst="roundRect">
            <a:avLst>
              <a:gd name="adj" fmla="val 10135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0"/>
          <p:cNvSpPr/>
          <p:nvPr/>
        </p:nvSpPr>
        <p:spPr>
          <a:xfrm>
            <a:off x="9004300" y="4993680"/>
            <a:ext cx="22891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Offer 1: ✗ neither part</a:t>
            </a:r>
            <a:endParaRPr lang="en-US" sz="1200" dirty="0"/>
          </a:p>
        </p:txBody>
      </p:sp>
      <p:sp>
        <p:nvSpPr>
          <p:cNvPr id="57" name="Text 51"/>
          <p:cNvSpPr/>
          <p:nvPr/>
        </p:nvSpPr>
        <p:spPr>
          <a:xfrm>
            <a:off x="9004300" y="5270500"/>
            <a:ext cx="22891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Offer 2: ✓ it is Tuesday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350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1 OF 3 · OPERATORS · FILL IN THE BLANKS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94233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Operators practice: 7 blanks, 7 operators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525240"/>
            <a:ext cx="6604000" cy="4277320"/>
          </a:xfrm>
          <a:prstGeom prst="roundRect">
            <a:avLst>
              <a:gd name="adj" fmla="val 2078"/>
            </a:avLst>
          </a:prstGeom>
          <a:solidFill>
            <a:srgbClr val="15233F"/>
          </a:solidFill>
          <a:ln/>
        </p:spPr>
        <p:txBody>
          <a:bodyPr wrap="square" lIns="139062" tIns="100962" rIns="0" bIns="75562" rtlCol="0" anchor="t">
            <a:normAutofit/>
          </a:bodyPr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/* Operators: fill in the 7 blanks marked ___ */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#include &lt;stdio.h&gt;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main(void) {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int chai = 2, samosa = 1, paid = 100;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int total, change, notes, coins;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int isStudent = 1, token = 0;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total = chai * 10 ___ samosa * 15; /* 1 */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change = paid ___ total; /* 2 */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notes = change ___ 20; /* 3 */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coins = change ___ 20; /* 4 */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printf("Change %d: %d notes, Rs %d\n", change, notes, coins);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printf("Offer? %d\n", isStudent ___ total &gt; 30); /* 5 */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token___; /* 6 */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total ___ 5; /* 7 */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printf("Token %d, new total %d\n", token, total);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0;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45400" y="1525240"/>
            <a:ext cx="3845814" cy="522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 cashier slide as code. Pick the operator for each blank, then run it.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645400" y="2124025"/>
            <a:ext cx="38458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Correct output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45400" y="2438946"/>
            <a:ext cx="3733800" cy="939800"/>
          </a:xfrm>
          <a:prstGeom prst="roundRect">
            <a:avLst>
              <a:gd name="adj" fmla="val 9459"/>
            </a:avLst>
          </a:prstGeom>
          <a:solidFill>
            <a:srgbClr val="0C1528"/>
          </a:solidFill>
          <a:ln/>
        </p:spPr>
        <p:txBody>
          <a:bodyPr wrap="square" lIns="139062" tIns="100962" rIns="36954" bIns="75562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Change 65: 3 notes, Rs 5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Offer? 1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Token 1, new total 30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45400" y="3480346"/>
            <a:ext cx="1270000" cy="127000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QR code linking to the operators fill-in program on OnlineGDB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51750" y="3486696"/>
            <a:ext cx="1257300" cy="1257300"/>
          </a:xfrm>
          <a:prstGeom prst="roundRect">
            <a:avLst>
              <a:gd name="adj" fmla="val 5556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7648575" y="3483521"/>
            <a:ext cx="1263650" cy="1263650"/>
          </a:xfrm>
          <a:prstGeom prst="roundRect">
            <a:avLst>
              <a:gd name="adj" fmla="val 5779"/>
            </a:avLst>
          </a:prstGeom>
          <a:noFill/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042400" y="3769965"/>
            <a:ext cx="1330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Scan or open: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042400" y="4034086"/>
            <a:ext cx="13309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onlinegdb.com/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v5nx6m5Pa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45400" y="4851946"/>
            <a:ext cx="384581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 pairs · 5 minutes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1 OF 3 · OPERATORS · ANSWERS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1853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Check your operators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17675"/>
            <a:ext cx="6978650" cy="514350"/>
          </a:xfrm>
          <a:prstGeom prst="roundRect">
            <a:avLst>
              <a:gd name="adj" fmla="val 21605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1797050"/>
            <a:ext cx="1771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51905" y="1863427"/>
            <a:ext cx="601726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1: total = chai * 10 ___ samosa * 15;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01000" y="1714500"/>
            <a:ext cx="3378200" cy="520700"/>
          </a:xfrm>
          <a:prstGeom prst="roundRect">
            <a:avLst>
              <a:gd name="adj" fmla="val 21951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+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5975" y="2301875"/>
            <a:ext cx="6978650" cy="514350"/>
          </a:xfrm>
          <a:prstGeom prst="roundRect">
            <a:avLst>
              <a:gd name="adj" fmla="val 21605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7750" y="2381250"/>
            <a:ext cx="215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90650" y="2447627"/>
            <a:ext cx="601726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2: change = paid ___ total;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01000" y="2298700"/>
            <a:ext cx="3378200" cy="520700"/>
          </a:xfrm>
          <a:prstGeom prst="roundRect">
            <a:avLst>
              <a:gd name="adj" fmla="val 21951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-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2886075"/>
            <a:ext cx="6978650" cy="514350"/>
          </a:xfrm>
          <a:prstGeom prst="roundRect">
            <a:avLst>
              <a:gd name="adj" fmla="val 21605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750" y="2965450"/>
            <a:ext cx="2182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92982" y="3031827"/>
            <a:ext cx="601726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3: notes = change ___ 20;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01000" y="2882900"/>
            <a:ext cx="3378200" cy="520700"/>
          </a:xfrm>
          <a:prstGeom prst="roundRect">
            <a:avLst>
              <a:gd name="adj" fmla="val 21951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/ (whole notes)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5975" y="3470275"/>
            <a:ext cx="6978650" cy="514350"/>
          </a:xfrm>
          <a:prstGeom prst="roundRect">
            <a:avLst>
              <a:gd name="adj" fmla="val 21605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47750" y="3549650"/>
            <a:ext cx="2241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98935" y="3616027"/>
            <a:ext cx="601726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4: coins = change ___ 20;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01000" y="3467100"/>
            <a:ext cx="3378200" cy="520700"/>
          </a:xfrm>
          <a:prstGeom prst="roundRect">
            <a:avLst>
              <a:gd name="adj" fmla="val 21951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% (what is left)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5975" y="4054475"/>
            <a:ext cx="6978650" cy="514350"/>
          </a:xfrm>
          <a:prstGeom prst="roundRect">
            <a:avLst>
              <a:gd name="adj" fmla="val 21605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47750" y="4133850"/>
            <a:ext cx="2148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89608" y="4200227"/>
            <a:ext cx="601726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5: isStudent ___ total &gt; 30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01000" y="4051300"/>
            <a:ext cx="3378200" cy="520700"/>
          </a:xfrm>
          <a:prstGeom prst="roundRect">
            <a:avLst>
              <a:gd name="adj" fmla="val 21951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&amp;&amp;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5975" y="4638675"/>
            <a:ext cx="6978650" cy="514350"/>
          </a:xfrm>
          <a:prstGeom prst="roundRect">
            <a:avLst>
              <a:gd name="adj" fmla="val 21605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47750" y="4718050"/>
            <a:ext cx="21609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390848" y="4784427"/>
            <a:ext cx="601726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6: token___;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001000" y="4635500"/>
            <a:ext cx="3378200" cy="520700"/>
          </a:xfrm>
          <a:prstGeom prst="roundRect">
            <a:avLst>
              <a:gd name="adj" fmla="val 21951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++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15975" y="5222875"/>
            <a:ext cx="6978650" cy="514350"/>
          </a:xfrm>
          <a:prstGeom prst="roundRect">
            <a:avLst>
              <a:gd name="adj" fmla="val 21605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47750" y="5302250"/>
            <a:ext cx="19645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371203" y="5368627"/>
            <a:ext cx="601726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7: total ___ 5;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01000" y="5219700"/>
            <a:ext cx="3378200" cy="520700"/>
          </a:xfrm>
          <a:prstGeom prst="roundRect">
            <a:avLst>
              <a:gd name="adj" fmla="val 21951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-= (coupon)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2 OF 3 · TYPE CONVERSION AND TYPE CASTING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9330"/>
            <a:ext cx="10883392" cy="835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is type conversion? Moving a value to a different type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5975" y="2073225"/>
            <a:ext cx="5200650" cy="1941810"/>
          </a:xfrm>
          <a:prstGeom prst="roundRect">
            <a:avLst>
              <a:gd name="adj" fmla="val 5723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Small glas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00300" y="2241500"/>
            <a:ext cx="762000" cy="762000"/>
          </a:xfrm>
          <a:prstGeom prst="rect">
            <a:avLst/>
          </a:prstGeom>
        </p:spPr>
      </p:pic>
      <p:pic>
        <p:nvPicPr>
          <p:cNvPr id="6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63900" y="2520900"/>
            <a:ext cx="304800" cy="203200"/>
          </a:xfrm>
          <a:prstGeom prst="rect">
            <a:avLst/>
          </a:prstGeom>
        </p:spPr>
      </p:pic>
      <p:pic>
        <p:nvPicPr>
          <p:cNvPr id="7" name="Image 2" descr="Big ju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670300" y="2241500"/>
            <a:ext cx="762000" cy="7620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96950" y="3079700"/>
            <a:ext cx="498386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6B4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Glass → jug: safe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996950" y="3384500"/>
            <a:ext cx="4983861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Pour chai from a glass into a big jug: nothing is lost. </a:t>
            </a:r>
            <a:r>
              <a:rPr lang="en-US" sz="13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int 7 → float 7.0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6175375" y="2073225"/>
            <a:ext cx="5200650" cy="1941810"/>
          </a:xfrm>
          <a:prstGeom prst="roundRect">
            <a:avLst>
              <a:gd name="adj" fmla="val 5723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3" descr="Big ju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759700" y="2241500"/>
            <a:ext cx="762000" cy="762000"/>
          </a:xfrm>
          <a:prstGeom prst="rect">
            <a:avLst/>
          </a:prstGeom>
        </p:spPr>
      </p:pic>
      <p:pic>
        <p:nvPicPr>
          <p:cNvPr id="12" name="Image 4" descr="arrow-right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23300" y="2520900"/>
            <a:ext cx="304800" cy="203200"/>
          </a:xfrm>
          <a:prstGeom prst="rect">
            <a:avLst/>
          </a:prstGeom>
        </p:spPr>
      </p:pic>
      <p:pic>
        <p:nvPicPr>
          <p:cNvPr id="13" name="Image 5" descr="Spill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029700" y="2241500"/>
            <a:ext cx="762000" cy="7620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356350" y="3079700"/>
            <a:ext cx="498386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23A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Jug → glass: you lose some</a:t>
            </a:r>
            <a:endParaRPr lang="en-US" sz="1500" dirty="0"/>
          </a:p>
        </p:txBody>
      </p:sp>
      <p:sp>
        <p:nvSpPr>
          <p:cNvPr id="15" name="Text 7"/>
          <p:cNvSpPr/>
          <p:nvPr/>
        </p:nvSpPr>
        <p:spPr>
          <a:xfrm>
            <a:off x="6356350" y="3384500"/>
            <a:ext cx="498386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Pour a full jug into a small glass: it spills. </a:t>
            </a:r>
            <a:r>
              <a:rPr lang="en-US" sz="13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float 7.9 → int 7</a:t>
            </a:r>
            <a:endParaRPr lang="en-US" sz="1300" dirty="0"/>
          </a:p>
        </p:txBody>
      </p:sp>
      <p:sp>
        <p:nvSpPr>
          <p:cNvPr id="16" name="Shape 8"/>
          <p:cNvSpPr/>
          <p:nvPr/>
        </p:nvSpPr>
        <p:spPr>
          <a:xfrm>
            <a:off x="815975" y="4211886"/>
            <a:ext cx="5213350" cy="1431280"/>
          </a:xfrm>
          <a:prstGeom prst="roundRect">
            <a:avLst>
              <a:gd name="adj" fmla="val 7764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9"/>
          <p:cNvSpPr/>
          <p:nvPr/>
        </p:nvSpPr>
        <p:spPr>
          <a:xfrm>
            <a:off x="996950" y="4380161"/>
            <a:ext cx="499694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Implicit conversion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996950" y="4684961"/>
            <a:ext cx="499694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 converts </a:t>
            </a:r>
            <a:r>
              <a:rPr lang="en-US" sz="1300" b="1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automatically</a:t>
            </a: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when you mix types.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996950" y="4992291"/>
            <a:ext cx="4851400" cy="482600"/>
          </a:xfrm>
          <a:prstGeom prst="roundRect">
            <a:avLst>
              <a:gd name="adj" fmla="val 18421"/>
            </a:avLst>
          </a:prstGeom>
          <a:solidFill>
            <a:srgbClr val="15233F"/>
          </a:solidFill>
          <a:ln/>
        </p:spPr>
        <p:txBody>
          <a:bodyPr wrap="square" lIns="139062" tIns="100962" rIns="3426" bIns="75562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 price = 7; // 7 becomes 7.0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6162675" y="4211886"/>
            <a:ext cx="5213350" cy="1431280"/>
          </a:xfrm>
          <a:prstGeom prst="roundRect">
            <a:avLst>
              <a:gd name="adj" fmla="val 7764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3"/>
          <p:cNvSpPr/>
          <p:nvPr/>
        </p:nvSpPr>
        <p:spPr>
          <a:xfrm>
            <a:off x="6343650" y="4380161"/>
            <a:ext cx="499694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Explicit casting</a:t>
            </a:r>
            <a:endParaRPr lang="en-US" sz="1500" dirty="0"/>
          </a:p>
        </p:txBody>
      </p:sp>
      <p:sp>
        <p:nvSpPr>
          <p:cNvPr id="22" name="Text 14"/>
          <p:cNvSpPr/>
          <p:nvPr/>
        </p:nvSpPr>
        <p:spPr>
          <a:xfrm>
            <a:off x="6343650" y="4684961"/>
            <a:ext cx="499694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You</a:t>
            </a: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ask for a conversion with (type).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6343650" y="4992291"/>
            <a:ext cx="4851400" cy="482600"/>
          </a:xfrm>
          <a:prstGeom prst="roundRect">
            <a:avLst>
              <a:gd name="adj" fmla="val 18421"/>
            </a:avLst>
          </a:prstGeom>
          <a:solidFill>
            <a:srgbClr val="15233F"/>
          </a:solidFill>
          <a:ln/>
        </p:spPr>
        <p:txBody>
          <a:bodyPr wrap="square" lIns="139062" tIns="100962" rIns="3426" bIns="75562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avg = (float) total / items;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2 OF 3 · TYPE CONVERSION AND TYPE CASTING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933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Implicit conversion: what C does on its own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2800" y="1664940"/>
            <a:ext cx="10566400" cy="2716411"/>
          </a:xfrm>
          <a:prstGeom prst="rect">
            <a:avLst/>
          </a:prstGeom>
          <a:solidFill>
            <a:srgbClr val="FFF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376025" y="1664940"/>
            <a:ext cx="0" cy="2716411"/>
          </a:xfrm>
          <a:prstGeom prst="line">
            <a:avLst/>
          </a:prstGeom>
          <a:noFill/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12800" y="4378176"/>
            <a:ext cx="10566400" cy="0"/>
          </a:xfrm>
          <a:prstGeom prst="line">
            <a:avLst/>
          </a:prstGeom>
          <a:noFill/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677640"/>
          <a:ext cx="10547349" cy="2697360"/>
        </p:xfrm>
        <a:graphic>
          <a:graphicData uri="http://schemas.openxmlformats.org/drawingml/2006/table">
            <a:tbl>
              <a:tblPr/>
              <a:tblGrid>
                <a:gridCol w="3515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5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5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95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9893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Expression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9893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Rule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9893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Result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5 + 2.5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int + float → float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7.5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7 / 2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int / int → int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3 (decimal dropped)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5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7 / 2.0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int / float → float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3.5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5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int n = 9.99;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float stored in int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9 (cut, not rounded)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95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'A' + 1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char + int → int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66 (ASCII of A is 65)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12800" y="457185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 rule:</a:t>
            </a:r>
            <a:r>
              <a:rPr lang="en-US" sz="14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in a mixed calculation, C converts to the </a:t>
            </a:r>
            <a:r>
              <a:rPr lang="en-US" sz="14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bigger</a:t>
            </a:r>
            <a:r>
              <a:rPr lang="en-US" sz="14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type first. Storing into a smaller type </a:t>
            </a:r>
            <a:r>
              <a:rPr lang="en-US" sz="14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cuts</a:t>
            </a:r>
            <a:r>
              <a:rPr lang="en-US" sz="14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the extra part.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2 OF 3 · TYPE CONVERSION AND TYPE CASTING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1853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 84.00 bug, step by step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41500"/>
            <a:ext cx="4064000" cy="1442641"/>
          </a:xfrm>
          <a:prstGeom prst="roundRect">
            <a:avLst>
              <a:gd name="adj" fmla="val 6162"/>
            </a:avLst>
          </a:prstGeom>
          <a:solidFill>
            <a:srgbClr val="15233F"/>
          </a:solidFill>
          <a:ln/>
        </p:spPr>
        <p:txBody>
          <a:bodyPr wrap="square" lIns="139062" tIns="100962" rIns="27048" bIns="75562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3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1  </a:t>
            </a: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 = 85, b = 90, c = 78;</a:t>
            </a:r>
            <a:endParaRPr lang="en-US" sz="13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3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2  </a:t>
            </a: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 avg;</a:t>
            </a:r>
            <a:endParaRPr lang="en-US" sz="13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3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3  </a:t>
            </a: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avg = (a + b + c) / 3;</a:t>
            </a:r>
            <a:endParaRPr lang="en-US" sz="1300" dirty="0"/>
          </a:p>
          <a:p>
            <a:pPr marL="0" indent="0" algn="l">
              <a:lnSpc>
                <a:spcPts val="2340"/>
              </a:lnSpc>
              <a:buNone/>
            </a:pPr>
            <a:r>
              <a:rPr lang="en-US" sz="13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4  </a:t>
            </a: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avg = (float)(a + b + c) / 3;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3411141"/>
            <a:ext cx="418592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 average-of-marks bug from our first class. Now we can explain it, and fix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07000" y="1841500"/>
            <a:ext cx="6172200" cy="355600"/>
          </a:xfrm>
          <a:prstGeom prst="roundRect">
            <a:avLst>
              <a:gd name="adj" fmla="val 21429"/>
            </a:avLst>
          </a:prstGeom>
          <a:solidFill>
            <a:srgbClr val="15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21300" y="1912640"/>
            <a:ext cx="330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#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4200" y="191264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Value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023100" y="1912640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Type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89900" y="1912640"/>
            <a:ext cx="32702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happens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10175" y="2301875"/>
            <a:ext cx="6165850" cy="488950"/>
          </a:xfrm>
          <a:prstGeom prst="roundRect">
            <a:avLst>
              <a:gd name="adj" fmla="val 14935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327650" y="243076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02300" y="2381250"/>
            <a:ext cx="1257300" cy="330200"/>
          </a:xfrm>
          <a:prstGeom prst="roundRect">
            <a:avLst>
              <a:gd name="adj" fmla="val 17308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 + b + 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61200" y="2381250"/>
            <a:ext cx="939800" cy="330200"/>
          </a:xfrm>
          <a:prstGeom prst="roundRect">
            <a:avLst>
              <a:gd name="adj" fmla="val 17308"/>
            </a:avLst>
          </a:prstGeom>
          <a:solidFill>
            <a:srgbClr val="FFFDF8"/>
          </a:solidFill>
          <a:ln w="12700">
            <a:solidFill>
              <a:srgbClr val="E2DDD2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253 int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96250" y="2451100"/>
            <a:ext cx="325716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All three are int, so the sum is an int.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210175" y="2835275"/>
            <a:ext cx="6165850" cy="488950"/>
          </a:xfrm>
          <a:prstGeom prst="roundRect">
            <a:avLst>
              <a:gd name="adj" fmla="val 14935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27650" y="296416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02300" y="2914650"/>
            <a:ext cx="1257300" cy="330200"/>
          </a:xfrm>
          <a:prstGeom prst="roundRect">
            <a:avLst>
              <a:gd name="adj" fmla="val 17308"/>
            </a:avLst>
          </a:prstGeom>
          <a:solidFill>
            <a:srgbClr val="FFFDF8"/>
          </a:solidFill>
          <a:ln w="12700">
            <a:solidFill>
              <a:srgbClr val="E2DDD2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253 /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61200" y="2914650"/>
            <a:ext cx="939800" cy="330200"/>
          </a:xfrm>
          <a:prstGeom prst="roundRect">
            <a:avLst>
              <a:gd name="adj" fmla="val 17308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84 int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96250" y="2984500"/>
            <a:ext cx="325716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int ÷ int: the .33 is thrown away here.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10175" y="3368675"/>
            <a:ext cx="6165850" cy="488950"/>
          </a:xfrm>
          <a:prstGeom prst="roundRect">
            <a:avLst>
              <a:gd name="adj" fmla="val 14935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27650" y="349756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02300" y="3448050"/>
            <a:ext cx="1257300" cy="330200"/>
          </a:xfrm>
          <a:prstGeom prst="roundRect">
            <a:avLst>
              <a:gd name="adj" fmla="val 17308"/>
            </a:avLst>
          </a:prstGeom>
          <a:solidFill>
            <a:srgbClr val="FFFDF8"/>
          </a:solidFill>
          <a:ln w="12700">
            <a:solidFill>
              <a:srgbClr val="E2DDD2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avg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61200" y="3448050"/>
            <a:ext cx="939800" cy="330200"/>
          </a:xfrm>
          <a:prstGeom prst="roundRect">
            <a:avLst>
              <a:gd name="adj" fmla="val 17308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84.00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96250" y="3422650"/>
            <a:ext cx="3257169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Stored in a float, but too late. The decimals are already gone.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210175" y="3902075"/>
            <a:ext cx="6165850" cy="488950"/>
          </a:xfrm>
          <a:prstGeom prst="roundRect">
            <a:avLst>
              <a:gd name="adj" fmla="val 14935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27650" y="403096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02300" y="3981450"/>
            <a:ext cx="1257300" cy="330200"/>
          </a:xfrm>
          <a:prstGeom prst="roundRect">
            <a:avLst>
              <a:gd name="adj" fmla="val 17308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(float)253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61200" y="3981450"/>
            <a:ext cx="939800" cy="330200"/>
          </a:xfrm>
          <a:prstGeom prst="roundRect">
            <a:avLst>
              <a:gd name="adj" fmla="val 17308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253.0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96250" y="4051300"/>
            <a:ext cx="325716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Fix: cast the sum to float first.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210175" y="4435475"/>
            <a:ext cx="6165850" cy="488950"/>
          </a:xfrm>
          <a:prstGeom prst="roundRect">
            <a:avLst>
              <a:gd name="adj" fmla="val 14935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27650" y="456436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702300" y="4514850"/>
            <a:ext cx="1257300" cy="330200"/>
          </a:xfrm>
          <a:prstGeom prst="roundRect">
            <a:avLst>
              <a:gd name="adj" fmla="val 17308"/>
            </a:avLst>
          </a:prstGeom>
          <a:solidFill>
            <a:srgbClr val="FFFDF8"/>
          </a:solidFill>
          <a:ln w="12700">
            <a:solidFill>
              <a:srgbClr val="E2DDD2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253.0 / 3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061200" y="4514850"/>
            <a:ext cx="939800" cy="330200"/>
          </a:xfrm>
          <a:prstGeom prst="roundRect">
            <a:avLst>
              <a:gd name="adj" fmla="val 17308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84.33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96250" y="4584700"/>
            <a:ext cx="325716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float ÷ int → float. The decimals stay.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210175" y="4968875"/>
            <a:ext cx="6165850" cy="488950"/>
          </a:xfrm>
          <a:prstGeom prst="roundRect">
            <a:avLst>
              <a:gd name="adj" fmla="val 14935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327650" y="509776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702300" y="5048250"/>
            <a:ext cx="1257300" cy="330200"/>
          </a:xfrm>
          <a:prstGeom prst="roundRect">
            <a:avLst>
              <a:gd name="adj" fmla="val 17308"/>
            </a:avLst>
          </a:prstGeom>
          <a:solidFill>
            <a:srgbClr val="FFFDF8"/>
          </a:solidFill>
          <a:ln w="12700">
            <a:solidFill>
              <a:srgbClr val="E2DDD2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avg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061200" y="5048250"/>
            <a:ext cx="939800" cy="330200"/>
          </a:xfrm>
          <a:prstGeom prst="roundRect">
            <a:avLst>
              <a:gd name="adj" fmla="val 17308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84.33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096250" y="5118100"/>
            <a:ext cx="3257169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Correct!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07000" y="5537200"/>
            <a:ext cx="6172200" cy="381000"/>
          </a:xfrm>
          <a:prstGeom prst="roundRect">
            <a:avLst>
              <a:gd name="adj" fmla="val 20000"/>
            </a:avLst>
          </a:prstGeom>
          <a:solidFill>
            <a:srgbClr val="E9893F"/>
          </a:solidFill>
          <a:ln/>
        </p:spPr>
        <p:txBody>
          <a:bodyPr wrap="square" lIns="104682" tIns="0" rIns="104682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523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Convert BEFORE you divide, not after.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2 OF 3 · TYPE CONVERSION AND TYPE CASTING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933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Explicit casting: (type) value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2800" y="1664940"/>
            <a:ext cx="10566400" cy="635000"/>
          </a:xfrm>
          <a:prstGeom prst="roundRect">
            <a:avLst>
              <a:gd name="adj" fmla="val 16000"/>
            </a:avLst>
          </a:prstGeom>
          <a:solidFill>
            <a:srgbClr val="15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6000" y="1804640"/>
            <a:ext cx="3352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E989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(float)</a:t>
            </a:r>
            <a:r>
              <a:rPr lang="en-US" sz="20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total / items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368800" y="1857970"/>
            <a:ext cx="46466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means: treat total as a float for this calculation.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2490440"/>
            <a:ext cx="10566400" cy="2266851"/>
          </a:xfrm>
          <a:prstGeom prst="rect">
            <a:avLst/>
          </a:prstGeom>
          <a:solidFill>
            <a:srgbClr val="FFF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376025" y="2490440"/>
            <a:ext cx="0" cy="2266851"/>
          </a:xfrm>
          <a:prstGeom prst="line">
            <a:avLst/>
          </a:prstGeom>
          <a:noFill/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12800" y="4754116"/>
            <a:ext cx="10566400" cy="0"/>
          </a:xfrm>
          <a:prstGeom prst="line">
            <a:avLst/>
          </a:prstGeom>
          <a:noFill/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503140"/>
          <a:ext cx="10547349" cy="2247800"/>
        </p:xfrm>
        <a:graphic>
          <a:graphicData uri="http://schemas.openxmlformats.org/drawingml/2006/table">
            <a:tbl>
              <a:tblPr/>
              <a:tblGrid>
                <a:gridCol w="3515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5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5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95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9893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Expression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9893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What happens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9893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Result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(float) 75 / 4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75.0 / 4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18.75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CB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(float)(75 / 4)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(float) 18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18.00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5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(int) 9.99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cut the decimals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9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560"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(int) 'A'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character to its code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C2230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65</a:t>
                      </a:r>
                      <a:endParaRPr lang="en-US" sz="16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127000" marR="127000" marT="76200" marB="76200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812800" y="494779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Where the cast goes matters.</a:t>
            </a:r>
            <a:r>
              <a:rPr lang="en-US" sz="14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Rows 1 and 2 look alike, but row 2 divides first, so the decimals are already lost.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2 OF 3 · TYPE CONVERSION AND TYPE CASTING · PREDICT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1853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is the result?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908175"/>
            <a:ext cx="6978650" cy="742950"/>
          </a:xfrm>
          <a:prstGeom prst="roundRect">
            <a:avLst>
              <a:gd name="adj" fmla="val 149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2101850"/>
            <a:ext cx="1771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51905" y="2151063"/>
            <a:ext cx="601726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 / 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01000" y="1905000"/>
            <a:ext cx="3378200" cy="749300"/>
          </a:xfrm>
          <a:prstGeom prst="roundRect">
            <a:avLst>
              <a:gd name="adj" fmla="val 15254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5975" y="2797175"/>
            <a:ext cx="6978650" cy="742950"/>
          </a:xfrm>
          <a:prstGeom prst="roundRect">
            <a:avLst>
              <a:gd name="adj" fmla="val 149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7750" y="2990850"/>
            <a:ext cx="215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90650" y="3040063"/>
            <a:ext cx="601726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 / 2.0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01000" y="2794000"/>
            <a:ext cx="3378200" cy="749300"/>
          </a:xfrm>
          <a:prstGeom prst="roundRect">
            <a:avLst>
              <a:gd name="adj" fmla="val 15254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3.5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3686175"/>
            <a:ext cx="6978650" cy="742950"/>
          </a:xfrm>
          <a:prstGeom prst="roundRect">
            <a:avLst>
              <a:gd name="adj" fmla="val 149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750" y="3879850"/>
            <a:ext cx="2182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92982" y="3929063"/>
            <a:ext cx="601726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(float) 7 / 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01000" y="3683000"/>
            <a:ext cx="3378200" cy="749300"/>
          </a:xfrm>
          <a:prstGeom prst="roundRect">
            <a:avLst>
              <a:gd name="adj" fmla="val 15254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3.5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5975" y="4575175"/>
            <a:ext cx="6978650" cy="742950"/>
          </a:xfrm>
          <a:prstGeom prst="roundRect">
            <a:avLst>
              <a:gd name="adj" fmla="val 149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47750" y="4768850"/>
            <a:ext cx="2241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98935" y="4818063"/>
            <a:ext cx="601726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(float)(7 / 2)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01000" y="4572000"/>
            <a:ext cx="3378200" cy="749300"/>
          </a:xfrm>
          <a:prstGeom prst="roundRect">
            <a:avLst>
              <a:gd name="adj" fmla="val 15254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3.0: divided first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2 OF 3 · TYPE CONVERSION AND TYPE CASTING · CLASS ACTIVITY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1853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Split the bill: is it fair?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654175"/>
            <a:ext cx="3549650" cy="3676650"/>
          </a:xfrm>
          <a:prstGeom prst="roundRect">
            <a:avLst>
              <a:gd name="adj" fmla="val 3131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Frien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66900" y="1860550"/>
            <a:ext cx="406400" cy="406400"/>
          </a:xfrm>
          <a:prstGeom prst="rect">
            <a:avLst/>
          </a:prstGeom>
        </p:spPr>
      </p:pic>
      <p:pic>
        <p:nvPicPr>
          <p:cNvPr id="6" name="Image 1" descr="Friend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87600" y="1860550"/>
            <a:ext cx="406400" cy="406400"/>
          </a:xfrm>
          <a:prstGeom prst="rect">
            <a:avLst/>
          </a:prstGeom>
        </p:spPr>
      </p:pic>
      <p:pic>
        <p:nvPicPr>
          <p:cNvPr id="7" name="Image 2" descr="Friend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908300" y="1860550"/>
            <a:ext cx="406400" cy="4064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47750" y="2393950"/>
            <a:ext cx="317868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Three friends share a </a:t>
            </a:r>
            <a:r>
              <a:rPr lang="en-US" sz="14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₹250</a:t>
            </a:r>
            <a:r>
              <a:rPr lang="en-US" sz="14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bill. The app works out each share.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1047750" y="3018730"/>
            <a:ext cx="317868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Riya's CGPA is </a:t>
            </a:r>
            <a:r>
              <a:rPr lang="en-US" sz="14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8.75</a:t>
            </a:r>
            <a:r>
              <a:rPr lang="en-US" sz="14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. The app stores it.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1047750" y="3643511"/>
            <a:ext cx="3178683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For each line of code, predict the answer. Is it fair, or did someone lose money or marks?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1047750" y="4463901"/>
            <a:ext cx="31786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 pairs · 3 minutes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4625975" y="1654175"/>
            <a:ext cx="4184650" cy="819150"/>
          </a:xfrm>
          <a:prstGeom prst="roundRect">
            <a:avLst>
              <a:gd name="adj" fmla="val 12016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4806950" y="1708150"/>
            <a:ext cx="304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Q1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5200650" y="1952327"/>
            <a:ext cx="353187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share = 250 / 3;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966200" y="1651000"/>
            <a:ext cx="2413000" cy="825500"/>
          </a:xfrm>
          <a:prstGeom prst="roundRect">
            <a:avLst>
              <a:gd name="adj" fmla="val 12308"/>
            </a:avLst>
          </a:prstGeom>
          <a:solidFill>
            <a:srgbClr val="15233F"/>
          </a:solidFill>
          <a:ln/>
        </p:spPr>
        <p:txBody>
          <a:bodyPr wrap="square" lIns="135342" tIns="0" rIns="72858" bIns="0" rtlCol="0" anchor="ctr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83: ₹1 goes missing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4625975" y="2606675"/>
            <a:ext cx="4184650" cy="819150"/>
          </a:xfrm>
          <a:prstGeom prst="roundRect">
            <a:avLst>
              <a:gd name="adj" fmla="val 12016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4806950" y="2660650"/>
            <a:ext cx="304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Q2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5200650" y="2904827"/>
            <a:ext cx="353187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 share = (float) 250 / 3;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966200" y="2603500"/>
            <a:ext cx="2413000" cy="825500"/>
          </a:xfrm>
          <a:prstGeom prst="roundRect">
            <a:avLst>
              <a:gd name="adj" fmla="val 12308"/>
            </a:avLst>
          </a:prstGeom>
          <a:solidFill>
            <a:srgbClr val="15233F"/>
          </a:solidFill>
          <a:ln/>
        </p:spPr>
        <p:txBody>
          <a:bodyPr wrap="square" lIns="135342" tIns="0" rIns="72858" bIns="0" rtlCol="0" anchor="ctr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83.33: fair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4625975" y="3559175"/>
            <a:ext cx="4184650" cy="819150"/>
          </a:xfrm>
          <a:prstGeom prst="roundRect">
            <a:avLst>
              <a:gd name="adj" fmla="val 12016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4806950" y="3613150"/>
            <a:ext cx="304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Q3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5200650" y="3857327"/>
            <a:ext cx="353187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cgpa = 8.75;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966200" y="3556000"/>
            <a:ext cx="2413000" cy="825500"/>
          </a:xfrm>
          <a:prstGeom prst="roundRect">
            <a:avLst>
              <a:gd name="adj" fmla="val 12308"/>
            </a:avLst>
          </a:prstGeom>
          <a:solidFill>
            <a:srgbClr val="15233F"/>
          </a:solidFill>
          <a:ln/>
        </p:spPr>
        <p:txBody>
          <a:bodyPr wrap="square" lIns="135342" tIns="0" rIns="72858" bIns="0" rtlCol="0" anchor="ctr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8: Riya loses 0.75!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4625975" y="4511675"/>
            <a:ext cx="4184650" cy="819150"/>
          </a:xfrm>
          <a:prstGeom prst="roundRect">
            <a:avLst>
              <a:gd name="adj" fmla="val 12016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4806950" y="4565650"/>
            <a:ext cx="3048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Q4</a:t>
            </a:r>
            <a:endParaRPr lang="en-US" sz="2000" dirty="0"/>
          </a:p>
        </p:txBody>
      </p:sp>
      <p:sp>
        <p:nvSpPr>
          <p:cNvPr id="26" name="Text 21"/>
          <p:cNvSpPr/>
          <p:nvPr/>
        </p:nvSpPr>
        <p:spPr>
          <a:xfrm>
            <a:off x="5200650" y="4809827"/>
            <a:ext cx="353187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 share = (float)(250 / 3);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8966200" y="4508500"/>
            <a:ext cx="2413000" cy="825500"/>
          </a:xfrm>
          <a:prstGeom prst="roundRect">
            <a:avLst>
              <a:gd name="adj" fmla="val 12308"/>
            </a:avLst>
          </a:prstGeom>
          <a:solidFill>
            <a:srgbClr val="15233F"/>
          </a:solidFill>
          <a:ln/>
        </p:spPr>
        <p:txBody>
          <a:bodyPr wrap="square" lIns="135342" tIns="0" rIns="72858" bIns="0" rtlCol="0" anchor="ctr">
            <a:normAutofit/>
          </a:bodyPr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83.00: cast too late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350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2 OF 3 · TYPE CONVERSION AND TYPE CASTING · FILL IN THE BLANKS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94233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Type conversion practice: 5 blanks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525240"/>
            <a:ext cx="6604000" cy="4277320"/>
          </a:xfrm>
          <a:prstGeom prst="roundRect">
            <a:avLst>
              <a:gd name="adj" fmla="val 2078"/>
            </a:avLst>
          </a:prstGeom>
          <a:solidFill>
            <a:srgbClr val="15233F"/>
          </a:solidFill>
          <a:ln/>
        </p:spPr>
        <p:txBody>
          <a:bodyPr wrap="square" lIns="139062" tIns="100962" rIns="0" bIns="75562" rtlCol="0" anchor="t">
            <a:normAutofit/>
          </a:bodyPr>
          <a:lstStyle/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/* Type conversion: fill in the 5 blanks marked ___ */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#include &lt;stdio.h&gt;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main(void) {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int bill = 250, friends = 3, stars, code;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float wrong, right, half;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wrong = bill / friends;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right = (_____) bill / friends; /* 1 */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stars = (___) 4.6; /* 2 */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code = ___; /* 3: the letter B */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half = 15 / ___; /* 4 */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printf("Wrong share: %.2f\n", wrong);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printf("Right share: %.2f\n", right);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printf("Stars: %d\n", stars);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printf("Code of B: %d\n", code);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printf("Half samosa: Rs %____\n", half); /* 5 */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0;</a:t>
            </a:r>
            <a:endParaRPr lang="en-US" sz="1200" dirty="0"/>
          </a:p>
          <a:p>
            <a:pPr marL="0" indent="0" algn="l">
              <a:lnSpc>
                <a:spcPts val="1584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45400" y="1525240"/>
            <a:ext cx="3845814" cy="522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35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Make every line print the </a:t>
            </a:r>
            <a:r>
              <a:rPr lang="en-US" sz="135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right</a:t>
            </a:r>
            <a:r>
              <a:rPr lang="en-US" sz="135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value, then run it.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645400" y="2124025"/>
            <a:ext cx="38458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Correct output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45400" y="2438946"/>
            <a:ext cx="3733800" cy="1397000"/>
          </a:xfrm>
          <a:prstGeom prst="roundRect">
            <a:avLst>
              <a:gd name="adj" fmla="val 6364"/>
            </a:avLst>
          </a:prstGeom>
          <a:solidFill>
            <a:srgbClr val="0C1528"/>
          </a:solidFill>
          <a:ln/>
        </p:spPr>
        <p:txBody>
          <a:bodyPr wrap="square" lIns="139062" tIns="100962" rIns="36954" bIns="75562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Wrong share: 83.00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Right share: 83.33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Stars: 4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Code of B: 66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Half samosa: Rs 7.50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645400" y="3937546"/>
            <a:ext cx="1270000" cy="1270000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QR code linking to the type conversion fill-in program on OnlineGDB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51750" y="3943896"/>
            <a:ext cx="1257300" cy="1257300"/>
          </a:xfrm>
          <a:prstGeom prst="roundRect">
            <a:avLst>
              <a:gd name="adj" fmla="val 5556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7648575" y="3940721"/>
            <a:ext cx="1263650" cy="1263650"/>
          </a:xfrm>
          <a:prstGeom prst="roundRect">
            <a:avLst>
              <a:gd name="adj" fmla="val 5779"/>
            </a:avLst>
          </a:prstGeom>
          <a:noFill/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042400" y="4227165"/>
            <a:ext cx="1330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Scan or open: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042400" y="4491286"/>
            <a:ext cx="13309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onlinegdb.com/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QD8AGNrgP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645400" y="5309146"/>
            <a:ext cx="384581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 pairs · 5 minutes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2 OF 3 · TYPE CONVERSION AND TYPE CASTING · ANSWERS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1853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Check your answers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44675"/>
            <a:ext cx="6978650" cy="704850"/>
          </a:xfrm>
          <a:prstGeom prst="roundRect">
            <a:avLst>
              <a:gd name="adj" fmla="val 15766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2019300"/>
            <a:ext cx="1771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51905" y="2085677"/>
            <a:ext cx="601726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1: right = (_____) bill / friends;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01000" y="1841500"/>
            <a:ext cx="3378200" cy="711200"/>
          </a:xfrm>
          <a:prstGeom prst="roundRect">
            <a:avLst>
              <a:gd name="adj" fmla="val 16071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float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5975" y="2670175"/>
            <a:ext cx="6978650" cy="704850"/>
          </a:xfrm>
          <a:prstGeom prst="roundRect">
            <a:avLst>
              <a:gd name="adj" fmla="val 15766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7750" y="2844800"/>
            <a:ext cx="215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90650" y="2911177"/>
            <a:ext cx="601726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2: stars = (___) 4.6;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01000" y="2667000"/>
            <a:ext cx="3378200" cy="711200"/>
          </a:xfrm>
          <a:prstGeom prst="roundRect">
            <a:avLst>
              <a:gd name="adj" fmla="val 16071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int (gives 4, not 5)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3495675"/>
            <a:ext cx="6978650" cy="704850"/>
          </a:xfrm>
          <a:prstGeom prst="roundRect">
            <a:avLst>
              <a:gd name="adj" fmla="val 15766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750" y="3670300"/>
            <a:ext cx="2182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92982" y="3736677"/>
            <a:ext cx="601726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3: code = ___; (the letter B)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01000" y="3492500"/>
            <a:ext cx="3378200" cy="711200"/>
          </a:xfrm>
          <a:prstGeom prst="roundRect">
            <a:avLst>
              <a:gd name="adj" fmla="val 16071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'B' (stored as 66)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5975" y="4321175"/>
            <a:ext cx="6978650" cy="704850"/>
          </a:xfrm>
          <a:prstGeom prst="roundRect">
            <a:avLst>
              <a:gd name="adj" fmla="val 15766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47750" y="4495800"/>
            <a:ext cx="2241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98935" y="4562177"/>
            <a:ext cx="601726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4: half = 15 / ___;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01000" y="4318000"/>
            <a:ext cx="3378200" cy="711200"/>
          </a:xfrm>
          <a:prstGeom prst="roundRect">
            <a:avLst>
              <a:gd name="adj" fmla="val 16071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2.0 (int ÷ float = float)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5975" y="5146675"/>
            <a:ext cx="6978650" cy="704850"/>
          </a:xfrm>
          <a:prstGeom prst="roundRect">
            <a:avLst>
              <a:gd name="adj" fmla="val 15766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47750" y="5321300"/>
            <a:ext cx="2148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89608" y="5387677"/>
            <a:ext cx="601726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5: printf("... Rs %____\n", half);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01000" y="5143500"/>
            <a:ext cx="3378200" cy="711200"/>
          </a:xfrm>
          <a:prstGeom prst="roundRect">
            <a:avLst>
              <a:gd name="adj" fmla="val 16071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.2f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3 OF 3 · CONDITIONAL BRANCHING STATEMENTS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9330"/>
            <a:ext cx="11379200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is a conditional statement? A program that chooses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5975" y="1668115"/>
            <a:ext cx="3414167" cy="3387626"/>
          </a:xfrm>
          <a:prstGeom prst="roundRect">
            <a:avLst>
              <a:gd name="adj" fmla="val 3280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6950" y="1836390"/>
            <a:ext cx="762000" cy="1600200"/>
          </a:xfrm>
          <a:prstGeom prst="roundRect">
            <a:avLst>
              <a:gd name="adj" fmla="val 20000"/>
            </a:avLst>
          </a:prstGeom>
          <a:solidFill>
            <a:srgbClr val="15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74750" y="195069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74750" y="243329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5B4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74750" y="291589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1B6B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11350" y="2263130"/>
            <a:ext cx="2201951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 traffic signal: </a:t>
            </a:r>
            <a:r>
              <a:rPr lang="en-US" sz="14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if</a:t>
            </a:r>
            <a:r>
              <a:rPr lang="en-US" sz="14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red, stop; </a:t>
            </a:r>
            <a:r>
              <a:rPr lang="en-US" sz="14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else</a:t>
            </a:r>
            <a:r>
              <a:rPr lang="en-US" sz="14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go. You check, then choose.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8892" y="1668115"/>
            <a:ext cx="3414167" cy="3387626"/>
          </a:xfrm>
          <a:prstGeom prst="roundRect">
            <a:avLst>
              <a:gd name="adj" fmla="val 3280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0" descr="diamon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70450" y="1836390"/>
            <a:ext cx="1651000" cy="8255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98775" y="2725390"/>
            <a:ext cx="13944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Is total &gt; 200?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199072" y="3020020"/>
            <a:ext cx="3183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6B4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Yes</a:t>
            </a:r>
            <a:endParaRPr lang="en-US" sz="1200" dirty="0"/>
          </a:p>
        </p:txBody>
      </p:sp>
      <p:pic>
        <p:nvPicPr>
          <p:cNvPr id="14" name="Image 1" descr="arrow-down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63009" y="3284141"/>
            <a:ext cx="190500" cy="2540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939407" y="3588941"/>
            <a:ext cx="837754" cy="408930"/>
          </a:xfrm>
          <a:prstGeom prst="roundRect">
            <a:avLst>
              <a:gd name="adj" fmla="val 18634"/>
            </a:avLst>
          </a:prstGeom>
          <a:solidFill>
            <a:srgbClr val="1B6B4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D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10% off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515100" y="3020020"/>
            <a:ext cx="2534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23A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</a:t>
            </a:r>
            <a:endParaRPr lang="en-US" sz="1200" dirty="0"/>
          </a:p>
        </p:txBody>
      </p:sp>
      <p:pic>
        <p:nvPicPr>
          <p:cNvPr id="17" name="Image 2" descr="arrow-down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46602" y="3284141"/>
            <a:ext cx="190500" cy="2540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31161" y="3588941"/>
            <a:ext cx="1221383" cy="408930"/>
          </a:xfrm>
          <a:prstGeom prst="roundRect">
            <a:avLst>
              <a:gd name="adj" fmla="val 18634"/>
            </a:avLst>
          </a:prstGeom>
          <a:solidFill>
            <a:srgbClr val="B23A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D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 discount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958634" y="1664940"/>
            <a:ext cx="3420566" cy="3393976"/>
          </a:xfrm>
          <a:prstGeom prst="roundRect">
            <a:avLst>
              <a:gd name="adj" fmla="val 3368"/>
            </a:avLst>
          </a:prstGeom>
          <a:solidFill>
            <a:srgbClr val="15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8136434" y="1830040"/>
            <a:ext cx="315691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6F3E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Five ways to decide in C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136434" y="2147540"/>
            <a:ext cx="16383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9825534" y="2163415"/>
            <a:ext cx="142666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do it only when true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136434" y="2714575"/>
            <a:ext cx="16383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if-else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9825534" y="2730450"/>
            <a:ext cx="142666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choose one of two paths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136434" y="3281611"/>
            <a:ext cx="16383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else-if ladder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9825534" y="3297486"/>
            <a:ext cx="142666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choose one of many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8136434" y="3848646"/>
            <a:ext cx="16383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nested if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9825534" y="3864521"/>
            <a:ext cx="142666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 decision inside a decision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8136434" y="4415681"/>
            <a:ext cx="16383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switch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9825534" y="4431556"/>
            <a:ext cx="1426666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match one value against cases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3 OF 3 · CONDITIONAL BRANCHING STATEMENTS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933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if: do something only when the condition is true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664940"/>
            <a:ext cx="5207000" cy="1391841"/>
          </a:xfrm>
          <a:prstGeom prst="roundRect">
            <a:avLst>
              <a:gd name="adj" fmla="val 6387"/>
            </a:avLst>
          </a:prstGeom>
          <a:solidFill>
            <a:srgbClr val="15233F"/>
          </a:solidFill>
          <a:ln/>
        </p:spPr>
        <p:txBody>
          <a:bodyPr wrap="square" lIns="139062" tIns="100962" rIns="0" bIns="75562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(total &gt; 200) {</a:t>
            </a:r>
            <a:endParaRPr lang="en-US" sz="1400" dirty="0"/>
          </a:p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printf("You get 10% off!\n");</a:t>
            </a:r>
            <a:endParaRPr lang="en-US" sz="1400" dirty="0"/>
          </a:p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  <a:p>
            <a:pPr marL="0" indent="0" algn="l">
              <a:lnSpc>
                <a:spcPts val="2240"/>
              </a:lnSpc>
              <a:buNone/>
            </a:pPr>
            <a:r>
              <a:rPr lang="en-US" sz="14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printf("Thank you!\n");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51575" y="1668115"/>
            <a:ext cx="5124450" cy="1955701"/>
          </a:xfrm>
          <a:prstGeom prst="roundRect">
            <a:avLst>
              <a:gd name="adj" fmla="val 5682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32550" y="1836390"/>
            <a:ext cx="1323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15708" y="1845915"/>
            <a:ext cx="4716722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 condition goes in ( ), using relational and logical operators.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32550" y="2452936"/>
            <a:ext cx="16639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49740" y="2462461"/>
            <a:ext cx="267908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True (1): the block in { } runs.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32550" y="2829471"/>
            <a:ext cx="16802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51377" y="2838996"/>
            <a:ext cx="2836485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False (0): the block is skipped.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32550" y="3206006"/>
            <a:ext cx="17219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55544" y="3215531"/>
            <a:ext cx="4426506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Line 4 runs either way: it is outside the braces.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3 OF 3 · CONDITIONAL BRANCHING STATEMENTS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1853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if-else: choose one of two paths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841500"/>
            <a:ext cx="3810000" cy="1765102"/>
          </a:xfrm>
          <a:prstGeom prst="roundRect">
            <a:avLst>
              <a:gd name="adj" fmla="val 5037"/>
            </a:avLst>
          </a:prstGeom>
          <a:solidFill>
            <a:srgbClr val="15233F"/>
          </a:solidFill>
          <a:ln/>
        </p:spPr>
        <p:txBody>
          <a:bodyPr wrap="square" lIns="139062" tIns="100962" rIns="34668" bIns="75562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1  </a:t>
            </a:r>
            <a:r>
              <a:rPr lang="en-US" sz="14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(total &gt; 200) {</a:t>
            </a:r>
            <a:endParaRPr lang="en-US" sz="14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2  </a:t>
            </a:r>
            <a:r>
              <a:rPr lang="en-US" sz="14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discount = total / 10;</a:t>
            </a:r>
            <a:endParaRPr lang="en-US" sz="14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3  </a:t>
            </a:r>
            <a:r>
              <a:rPr lang="en-US" sz="14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 else {</a:t>
            </a:r>
            <a:endParaRPr lang="en-US" sz="14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4  </a:t>
            </a:r>
            <a:r>
              <a:rPr lang="en-US" sz="14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discount = 0;</a:t>
            </a:r>
            <a:endParaRPr lang="en-US" sz="1400" dirty="0"/>
          </a:p>
          <a:p>
            <a:pPr marL="0" indent="0" algn="l">
              <a:lnSpc>
                <a:spcPts val="238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5  </a:t>
            </a:r>
            <a:r>
              <a:rPr lang="en-US" sz="14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3733602"/>
            <a:ext cx="39243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Exactly </a:t>
            </a:r>
            <a:r>
              <a:rPr lang="en-US" sz="1300" b="1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one</a:t>
            </a: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of the two blocks runs, never both, never neither.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953000" y="1841500"/>
            <a:ext cx="6426200" cy="355600"/>
          </a:xfrm>
          <a:prstGeom prst="roundRect">
            <a:avLst>
              <a:gd name="adj" fmla="val 21429"/>
            </a:avLst>
          </a:prstGeom>
          <a:solidFill>
            <a:srgbClr val="15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67300" y="1912640"/>
            <a:ext cx="330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#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10200" y="191264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total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34100" y="1912640"/>
            <a:ext cx="1130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total &gt; 200?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02500" y="1912640"/>
            <a:ext cx="876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discount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42300" y="1912640"/>
            <a:ext cx="31132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happens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56175" y="2301875"/>
            <a:ext cx="6419850" cy="565150"/>
          </a:xfrm>
          <a:prstGeom prst="roundRect">
            <a:avLst>
              <a:gd name="adj" fmla="val 12921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73650" y="246886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8300" y="2381250"/>
            <a:ext cx="622300" cy="406400"/>
          </a:xfrm>
          <a:prstGeom prst="roundRect">
            <a:avLst>
              <a:gd name="adj" fmla="val 14063"/>
            </a:avLst>
          </a:prstGeom>
          <a:solidFill>
            <a:srgbClr val="FFFDF8"/>
          </a:solidFill>
          <a:ln w="12700">
            <a:solidFill>
              <a:srgbClr val="E2DDD2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2200" y="2381250"/>
            <a:ext cx="1066800" cy="406400"/>
          </a:xfrm>
          <a:prstGeom prst="roundRect">
            <a:avLst>
              <a:gd name="adj" fmla="val 14063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No (0)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40600" y="2381250"/>
            <a:ext cx="812800" cy="406400"/>
          </a:xfrm>
          <a:prstGeom prst="roundRect">
            <a:avLst>
              <a:gd name="adj" fmla="val 14063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48650" y="2489200"/>
            <a:ext cx="3100197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Riya: the else block runs.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56175" y="2936875"/>
            <a:ext cx="6419850" cy="565150"/>
          </a:xfrm>
          <a:prstGeom prst="roundRect">
            <a:avLst>
              <a:gd name="adj" fmla="val 12921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73650" y="310386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48300" y="3016250"/>
            <a:ext cx="622300" cy="406400"/>
          </a:xfrm>
          <a:prstGeom prst="roundRect">
            <a:avLst>
              <a:gd name="adj" fmla="val 14063"/>
            </a:avLst>
          </a:prstGeom>
          <a:solidFill>
            <a:srgbClr val="FFFDF8"/>
          </a:solidFill>
          <a:ln w="12700">
            <a:solidFill>
              <a:srgbClr val="E2DDD2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250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3016250"/>
            <a:ext cx="1066800" cy="406400"/>
          </a:xfrm>
          <a:prstGeom prst="roundRect">
            <a:avLst>
              <a:gd name="adj" fmla="val 14063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Yes (1)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40600" y="3016250"/>
            <a:ext cx="812800" cy="406400"/>
          </a:xfrm>
          <a:prstGeom prst="roundRect">
            <a:avLst>
              <a:gd name="adj" fmla="val 14063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48650" y="3124200"/>
            <a:ext cx="3100197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Hostel group: the if block runs, 250 / 10.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56175" y="3571875"/>
            <a:ext cx="6419850" cy="565150"/>
          </a:xfrm>
          <a:prstGeom prst="roundRect">
            <a:avLst>
              <a:gd name="adj" fmla="val 12921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73650" y="373886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8300" y="3651250"/>
            <a:ext cx="622300" cy="406400"/>
          </a:xfrm>
          <a:prstGeom prst="roundRect">
            <a:avLst>
              <a:gd name="adj" fmla="val 14063"/>
            </a:avLst>
          </a:prstGeom>
          <a:solidFill>
            <a:srgbClr val="FFFDF8"/>
          </a:solidFill>
          <a:ln w="12700">
            <a:solidFill>
              <a:srgbClr val="E2DDD2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3651250"/>
            <a:ext cx="1066800" cy="406400"/>
          </a:xfrm>
          <a:prstGeom prst="roundRect">
            <a:avLst>
              <a:gd name="adj" fmla="val 14063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No (0)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40600" y="3651250"/>
            <a:ext cx="812800" cy="406400"/>
          </a:xfrm>
          <a:prstGeom prst="roundRect">
            <a:avLst>
              <a:gd name="adj" fmla="val 14063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48650" y="3759200"/>
            <a:ext cx="3100197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Exactly 200 is NOT more than 200.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53000" y="4241800"/>
            <a:ext cx="6426200" cy="381000"/>
          </a:xfrm>
          <a:prstGeom prst="roundRect">
            <a:avLst>
              <a:gd name="adj" fmla="val 20000"/>
            </a:avLst>
          </a:prstGeom>
          <a:solidFill>
            <a:srgbClr val="E9893F"/>
          </a:solidFill>
          <a:ln/>
        </p:spPr>
        <p:txBody>
          <a:bodyPr wrap="square" lIns="104682" tIns="0" rIns="104682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523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Test the boundary: 200 gets no discount because &gt; means 'more than'.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3 OF 3 · CONDITIONAL BRANCHING STATEMENTS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933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else-if ladder: choose one of many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9150" y="1671290"/>
            <a:ext cx="2273300" cy="413990"/>
          </a:xfrm>
          <a:prstGeom prst="roundRect">
            <a:avLst>
              <a:gd name="adj" fmla="val 16872"/>
            </a:avLst>
          </a:prstGeom>
          <a:solidFill>
            <a:srgbClr val="FFFDF8"/>
          </a:solidFill>
          <a:ln w="12700">
            <a:solidFill>
              <a:srgbClr val="1B6B45"/>
            </a:solidFill>
            <a:prstDash val="solid"/>
          </a:ln>
        </p:spPr>
        <p:txBody>
          <a:bodyPr wrap="square" lIns="112892" tIns="62092" rIns="52694" bIns="3669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avg &gt;= 90</a:t>
            </a:r>
            <a:endParaRPr lang="en-US" sz="1400" dirty="0"/>
          </a:p>
        </p:txBody>
      </p:sp>
      <p:pic>
        <p:nvPicPr>
          <p:cNvPr id="5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25800" y="1789361"/>
            <a:ext cx="254000" cy="177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06800" y="1687761"/>
            <a:ext cx="508000" cy="381000"/>
          </a:xfrm>
          <a:prstGeom prst="roundRect">
            <a:avLst>
              <a:gd name="adj" fmla="val 20000"/>
            </a:avLst>
          </a:prstGeom>
          <a:solidFill>
            <a:srgbClr val="1B6B45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D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200150" y="2212280"/>
            <a:ext cx="2273300" cy="413990"/>
          </a:xfrm>
          <a:prstGeom prst="roundRect">
            <a:avLst>
              <a:gd name="adj" fmla="val 16872"/>
            </a:avLst>
          </a:prstGeom>
          <a:solidFill>
            <a:srgbClr val="FFFDF8"/>
          </a:solidFill>
          <a:ln w="12700">
            <a:solidFill>
              <a:srgbClr val="2A5BD7"/>
            </a:solidFill>
            <a:prstDash val="solid"/>
          </a:ln>
        </p:spPr>
        <p:txBody>
          <a:bodyPr wrap="square" lIns="112892" tIns="62092" rIns="52694" bIns="3669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avg &gt;= 75</a:t>
            </a:r>
            <a:endParaRPr lang="en-US" sz="1400" dirty="0"/>
          </a:p>
        </p:txBody>
      </p:sp>
      <p:pic>
        <p:nvPicPr>
          <p:cNvPr id="8" name="Image 1" descr="arrow-righ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606800" y="2330351"/>
            <a:ext cx="254000" cy="177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87800" y="2228751"/>
            <a:ext cx="508000" cy="381000"/>
          </a:xfrm>
          <a:prstGeom prst="roundRect">
            <a:avLst>
              <a:gd name="adj" fmla="val 20000"/>
            </a:avLst>
          </a:prstGeom>
          <a:solidFill>
            <a:srgbClr val="2A5BD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D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581150" y="2753271"/>
            <a:ext cx="2273300" cy="413990"/>
          </a:xfrm>
          <a:prstGeom prst="roundRect">
            <a:avLst>
              <a:gd name="adj" fmla="val 16872"/>
            </a:avLst>
          </a:prstGeom>
          <a:solidFill>
            <a:srgbClr val="FFFDF8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112892" tIns="62092" rIns="52694" bIns="3669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avg &gt;= 50</a:t>
            </a:r>
            <a:endParaRPr lang="en-US" sz="1400" dirty="0"/>
          </a:p>
        </p:txBody>
      </p:sp>
      <p:pic>
        <p:nvPicPr>
          <p:cNvPr id="11" name="Image 2" descr="arrow-right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987800" y="2871341"/>
            <a:ext cx="254000" cy="177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68800" y="2769741"/>
            <a:ext cx="508000" cy="381000"/>
          </a:xfrm>
          <a:prstGeom prst="roundRect">
            <a:avLst>
              <a:gd name="adj" fmla="val 20000"/>
            </a:avLst>
          </a:prstGeom>
          <a:solidFill>
            <a:srgbClr val="E9893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D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962150" y="3294261"/>
            <a:ext cx="2273300" cy="413990"/>
          </a:xfrm>
          <a:prstGeom prst="roundRect">
            <a:avLst>
              <a:gd name="adj" fmla="val 16872"/>
            </a:avLst>
          </a:prstGeom>
          <a:solidFill>
            <a:srgbClr val="FFFDF8"/>
          </a:solidFill>
          <a:ln w="12700">
            <a:solidFill>
              <a:srgbClr val="B23A2E"/>
            </a:solidFill>
            <a:prstDash val="solid"/>
          </a:ln>
        </p:spPr>
        <p:txBody>
          <a:bodyPr wrap="square" lIns="112892" tIns="62092" rIns="52694" bIns="3669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otherwise</a:t>
            </a:r>
            <a:endParaRPr lang="en-US" sz="1400" dirty="0"/>
          </a:p>
        </p:txBody>
      </p:sp>
      <p:pic>
        <p:nvPicPr>
          <p:cNvPr id="14" name="Image 3" descr="arrow-right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368800" y="3412331"/>
            <a:ext cx="254000" cy="1778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49800" y="3310731"/>
            <a:ext cx="508000" cy="381000"/>
          </a:xfrm>
          <a:prstGeom prst="roundRect">
            <a:avLst>
              <a:gd name="adj" fmla="val 20000"/>
            </a:avLst>
          </a:prstGeom>
          <a:solidFill>
            <a:srgbClr val="B23A2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D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812800" y="3892401"/>
            <a:ext cx="672363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 checks from the </a:t>
            </a:r>
            <a:r>
              <a:rPr lang="en-US" sz="1350" b="1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</a:t>
            </a:r>
            <a:r>
              <a:rPr lang="en-US" sz="135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and stops at the </a:t>
            </a:r>
            <a:r>
              <a:rPr lang="en-US" sz="1350" b="1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first</a:t>
            </a:r>
            <a:r>
              <a:rPr lang="en-US" sz="135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true condition. An average of 81 skips A, matches B, and never checks C.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7569200" y="1777256"/>
            <a:ext cx="3810000" cy="2482850"/>
          </a:xfrm>
          <a:prstGeom prst="roundRect">
            <a:avLst>
              <a:gd name="adj" fmla="val 3581"/>
            </a:avLst>
          </a:prstGeom>
          <a:solidFill>
            <a:srgbClr val="15233F"/>
          </a:solidFill>
          <a:ln/>
        </p:spPr>
        <p:txBody>
          <a:bodyPr wrap="square" lIns="139062" tIns="100962" rIns="34668" bIns="75562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(avg &gt;= 90) {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printf("A");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 else if (avg &gt;= 75) {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printf("B");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 else if (avg &gt;= 50) {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printf("C");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 else {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printf("F");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3 OF 3 · CONDITIONAL BRANCHING STATEMENTS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933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Nested if: a decision inside a decision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325" y="1883767"/>
            <a:ext cx="4298950" cy="1959471"/>
          </a:xfrm>
          <a:prstGeom prst="roundRect">
            <a:avLst>
              <a:gd name="adj" fmla="val 4699"/>
            </a:avLst>
          </a:prstGeom>
          <a:noFill/>
          <a:ln w="19050">
            <a:solidFill>
              <a:srgbClr val="E98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71550" y="2007592"/>
            <a:ext cx="412051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(pin == 1234)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81075" y="2354907"/>
            <a:ext cx="3981450" cy="925761"/>
          </a:xfrm>
          <a:prstGeom prst="roundRect">
            <a:avLst>
              <a:gd name="adj" fmla="val 9946"/>
            </a:avLst>
          </a:prstGeom>
          <a:noFill/>
          <a:ln w="19050">
            <a:solidFill>
              <a:srgbClr val="2A5B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30300" y="2478732"/>
            <a:ext cx="379349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(amount &lt;= balance)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30300" y="2816523"/>
            <a:ext cx="886817" cy="340320"/>
          </a:xfrm>
          <a:prstGeom prst="roundRect">
            <a:avLst>
              <a:gd name="adj" fmla="val 18659"/>
            </a:avLst>
          </a:prstGeom>
          <a:solidFill>
            <a:srgbClr val="1B6B45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FFD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Give cash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06017" y="2816523"/>
            <a:ext cx="1951484" cy="340320"/>
          </a:xfrm>
          <a:prstGeom prst="roundRect">
            <a:avLst>
              <a:gd name="adj" fmla="val 18659"/>
            </a:avLst>
          </a:prstGeom>
          <a:solidFill>
            <a:srgbClr val="B23A2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FFD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else: Insufficient balance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1550" y="3379093"/>
            <a:ext cx="4000500" cy="340320"/>
          </a:xfrm>
          <a:prstGeom prst="roundRect">
            <a:avLst>
              <a:gd name="adj" fmla="val 18659"/>
            </a:avLst>
          </a:prstGeom>
          <a:solidFill>
            <a:srgbClr val="B23A2E"/>
          </a:solidFill>
          <a:ln/>
        </p:spPr>
        <p:txBody>
          <a:bodyPr wrap="square" lIns="83001" tIns="44901" rIns="0" bIns="1950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FDF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else: Wrong PIN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59400" y="1664940"/>
            <a:ext cx="6019800" cy="2397125"/>
          </a:xfrm>
          <a:prstGeom prst="roundRect">
            <a:avLst>
              <a:gd name="adj" fmla="val 3709"/>
            </a:avLst>
          </a:prstGeom>
          <a:solidFill>
            <a:srgbClr val="15233F"/>
          </a:solidFill>
          <a:ln/>
        </p:spPr>
        <p:txBody>
          <a:bodyPr wrap="square" lIns="139062" tIns="100962" rIns="0" bIns="75562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(pin == 1234) {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if (amount &lt;= balance) {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printf("Take your cash");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} else {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printf("Insufficient balance");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}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 else {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printf("Wrong PIN");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12800" y="4252565"/>
            <a:ext cx="10883392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 ATM checks the balance </a:t>
            </a:r>
            <a:r>
              <a:rPr lang="en-US" sz="135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only if</a:t>
            </a:r>
            <a:r>
              <a:rPr lang="en-US" sz="135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the PIN is right. The inner decision waits for the outer one.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3 OF 3 · CONDITIONAL BRANCHING STATEMENTS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933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switch: like a canteen machine with numbered buttons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2800" y="1664940"/>
            <a:ext cx="2794000" cy="3167311"/>
          </a:xfrm>
          <a:prstGeom prst="roundRect">
            <a:avLst>
              <a:gd name="adj" fmla="val 5000"/>
            </a:avLst>
          </a:prstGeom>
          <a:solidFill>
            <a:srgbClr val="15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5200" y="1817340"/>
            <a:ext cx="25638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CANTEEN MACHINE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5200" y="2106861"/>
            <a:ext cx="2489200" cy="383530"/>
          </a:xfrm>
          <a:prstGeom prst="roundRect">
            <a:avLst>
              <a:gd name="adj" fmla="val 16557"/>
            </a:avLst>
          </a:prstGeom>
          <a:solidFill>
            <a:srgbClr val="0C1528"/>
          </a:solidFill>
          <a:ln/>
        </p:spPr>
        <p:txBody>
          <a:bodyPr wrap="square" lIns="83001" tIns="57601" rIns="14421" bIns="32201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Enter code: 2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5200" y="2566591"/>
            <a:ext cx="2489200" cy="431800"/>
          </a:xfrm>
          <a:prstGeom prst="roundRect">
            <a:avLst>
              <a:gd name="adj" fmla="val 17647"/>
            </a:avLst>
          </a:prstGeom>
          <a:solidFill>
            <a:srgbClr val="1E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66800" y="263009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2D3E6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3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0500" y="2666901"/>
            <a:ext cx="43320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3E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Chai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10407" y="2675830"/>
            <a:ext cx="3021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₹10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65200" y="3074591"/>
            <a:ext cx="2489200" cy="431800"/>
          </a:xfrm>
          <a:prstGeom prst="roundRect">
            <a:avLst>
              <a:gd name="adj" fmla="val 17647"/>
            </a:avLst>
          </a:prstGeom>
          <a:solidFill>
            <a:srgbClr val="E989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66800" y="313809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15233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3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0500" y="3174901"/>
            <a:ext cx="72692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523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Samosa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87426" y="3183830"/>
            <a:ext cx="2958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523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₹15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5200" y="3582591"/>
            <a:ext cx="2489200" cy="431800"/>
          </a:xfrm>
          <a:prstGeom prst="roundRect">
            <a:avLst>
              <a:gd name="adj" fmla="val 17647"/>
            </a:avLst>
          </a:prstGeom>
          <a:solidFill>
            <a:srgbClr val="1E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66800" y="364609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2D3E6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3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0500" y="3682901"/>
            <a:ext cx="57140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3E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Maggi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31901" y="3691830"/>
            <a:ext cx="3369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₹40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5200" y="4090591"/>
            <a:ext cx="2489200" cy="589260"/>
          </a:xfrm>
          <a:prstGeom prst="roundRect">
            <a:avLst>
              <a:gd name="adj" fmla="val 12931"/>
            </a:avLst>
          </a:prstGeom>
          <a:solidFill>
            <a:srgbClr val="5C1F1A"/>
          </a:solidFill>
          <a:ln/>
        </p:spPr>
        <p:txBody>
          <a:bodyPr wrap="square" lIns="79282" tIns="28482" rIns="10702" bIns="28482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6F3E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Any other code → "No such item"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84600" y="2197150"/>
            <a:ext cx="5003800" cy="2102842"/>
          </a:xfrm>
          <a:prstGeom prst="roundRect">
            <a:avLst>
              <a:gd name="adj" fmla="val 4228"/>
            </a:avLst>
          </a:prstGeom>
          <a:solidFill>
            <a:srgbClr val="15233F"/>
          </a:solidFill>
          <a:ln/>
        </p:spPr>
        <p:txBody>
          <a:bodyPr wrap="square" lIns="139062" tIns="100962" rIns="0" bIns="75562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b="1" dirty="0">
                <a:solidFill>
                  <a:srgbClr val="8FB3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switch (code)</a:t>
            </a: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300" b="1" dirty="0">
                <a:solidFill>
                  <a:srgbClr val="E989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case</a:t>
            </a: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1: price = 10; </a:t>
            </a:r>
            <a:r>
              <a:rPr lang="en-US" sz="1300" b="1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break</a:t>
            </a: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300" b="1" dirty="0">
                <a:solidFill>
                  <a:srgbClr val="E989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case</a:t>
            </a: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2: price = 15; </a:t>
            </a:r>
            <a:r>
              <a:rPr lang="en-US" sz="1300" b="1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break</a:t>
            </a: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300" b="1" dirty="0">
                <a:solidFill>
                  <a:srgbClr val="E989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case</a:t>
            </a: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3: price = 40; </a:t>
            </a:r>
            <a:r>
              <a:rPr lang="en-US" sz="1300" b="1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break</a:t>
            </a: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300" b="1" dirty="0">
                <a:solidFill>
                  <a:srgbClr val="F08A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default</a:t>
            </a: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price = 0;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 printf("No such item");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66200" y="1664940"/>
            <a:ext cx="2413000" cy="3167311"/>
          </a:xfrm>
          <a:prstGeom prst="roundRect">
            <a:avLst>
              <a:gd name="adj" fmla="val 4737"/>
            </a:avLst>
          </a:prstGeom>
          <a:solidFill>
            <a:srgbClr val="1E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137650" y="1817340"/>
            <a:ext cx="0" cy="652711"/>
          </a:xfrm>
          <a:prstGeom prst="line">
            <a:avLst/>
          </a:prstGeom>
          <a:noFill/>
          <a:ln w="38100">
            <a:solidFill>
              <a:srgbClr val="8FB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258300" y="1817340"/>
            <a:ext cx="202755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3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switch (code)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58300" y="2073870"/>
            <a:ext cx="2027555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Press a button: the value to check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37650" y="2584351"/>
            <a:ext cx="0" cy="454620"/>
          </a:xfrm>
          <a:prstGeom prst="line">
            <a:avLst/>
          </a:prstGeom>
          <a:noFill/>
          <a:ln w="38100">
            <a:solidFill>
              <a:srgbClr val="E98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258300" y="2584351"/>
            <a:ext cx="202755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3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case 2: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58300" y="2840881"/>
            <a:ext cx="202755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Go straight to slot 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37650" y="3153271"/>
            <a:ext cx="0" cy="454620"/>
          </a:xfrm>
          <a:prstGeom prst="line">
            <a:avLst/>
          </a:prstGeom>
          <a:noFill/>
          <a:ln w="38100">
            <a:solidFill>
              <a:srgbClr val="7FD1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258300" y="3153271"/>
            <a:ext cx="202755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3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break;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258300" y="3409801"/>
            <a:ext cx="2027555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Item drops: stop here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137650" y="3722191"/>
            <a:ext cx="0" cy="652711"/>
          </a:xfrm>
          <a:prstGeom prst="line">
            <a:avLst/>
          </a:prstGeom>
          <a:noFill/>
          <a:ln w="38100">
            <a:solidFill>
              <a:srgbClr val="F08A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258300" y="3722191"/>
            <a:ext cx="202755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3E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default: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258300" y="3978721"/>
            <a:ext cx="2027555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Any other button: error message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5975" y="5025926"/>
            <a:ext cx="10560050" cy="671810"/>
          </a:xfrm>
          <a:prstGeom prst="roundRect">
            <a:avLst>
              <a:gd name="adj" fmla="val 12760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984250" y="5246241"/>
            <a:ext cx="196215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switch or if-else?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016250" y="5130701"/>
            <a:ext cx="843724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switch for </a:t>
            </a:r>
            <a:r>
              <a:rPr lang="en-US" sz="1300" b="1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exact values</a:t>
            </a: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of one variable: menu codes, days, grades A/B/C. if-else for </a:t>
            </a:r>
            <a:r>
              <a:rPr lang="en-US" sz="1300" b="1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ranges</a:t>
            </a: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: marks &gt;= 75, total &gt; 200.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3 OF 3 · CONDITIONAL BRANCHING STATEMENTS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1853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happens without break? Fall-through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841500"/>
            <a:ext cx="3937000" cy="846138"/>
          </a:xfrm>
          <a:prstGeom prst="roundRect">
            <a:avLst>
              <a:gd name="adj" fmla="val 12007"/>
            </a:avLst>
          </a:prstGeom>
          <a:solidFill>
            <a:srgbClr val="FBE3C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Lift"/>
          <p:cNvPicPr>
            <a:picLocks noChangeAspect="1"/>
          </p:cNvPicPr>
          <p:nvPr/>
        </p:nvPicPr>
        <p:blipFill>
          <a:blip r:embed="rId3"/>
          <a:srcRect t="-53875" b="-53875"/>
          <a:stretch/>
        </p:blipFill>
        <p:spPr>
          <a:xfrm>
            <a:off x="939800" y="2010569"/>
            <a:ext cx="244525" cy="50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625" y="1943100"/>
            <a:ext cx="3423901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Like a lift with broken stop buttons: press 2 and the doors open at 2, </a:t>
            </a:r>
            <a:r>
              <a:rPr lang="en-US" sz="125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and</a:t>
            </a:r>
            <a:r>
              <a:rPr lang="en-US" sz="125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at every floor after it.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12800" y="2687638"/>
            <a:ext cx="3937000" cy="1838722"/>
          </a:xfrm>
          <a:prstGeom prst="roundRect">
            <a:avLst>
              <a:gd name="adj" fmla="val 4835"/>
            </a:avLst>
          </a:prstGeom>
          <a:solidFill>
            <a:srgbClr val="15233F"/>
          </a:solidFill>
          <a:ln/>
        </p:spPr>
        <p:txBody>
          <a:bodyPr wrap="square" lIns="139062" tIns="100962" rIns="30858" bIns="75562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1  </a:t>
            </a: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switch (code) {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2  </a:t>
            </a: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case 1: price = 10;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3  </a:t>
            </a: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case 2: price = 15;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4  </a:t>
            </a: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case 3: price = 40;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5  </a:t>
            </a: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default: price = 0;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6  </a:t>
            </a:r>
            <a:r>
              <a:rPr lang="en-US" sz="13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2800" y="4627959"/>
            <a:ext cx="4055110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Riya presses </a:t>
            </a:r>
            <a:r>
              <a:rPr lang="en-US" sz="1250" b="1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code = 2</a:t>
            </a:r>
            <a:r>
              <a:rPr lang="en-US" sz="125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(samosa). The breaks are missing.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080000" y="1841500"/>
            <a:ext cx="6299200" cy="355600"/>
          </a:xfrm>
          <a:prstGeom prst="roundRect">
            <a:avLst>
              <a:gd name="adj" fmla="val 21429"/>
            </a:avLst>
          </a:prstGeom>
          <a:solidFill>
            <a:srgbClr val="15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194300" y="1912640"/>
            <a:ext cx="330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#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537200" y="1912640"/>
            <a:ext cx="685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Line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61100" y="191264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price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137400" y="1912640"/>
            <a:ext cx="42513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happens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83175" y="2301875"/>
            <a:ext cx="6292850" cy="501650"/>
          </a:xfrm>
          <a:prstGeom prst="roundRect">
            <a:avLst>
              <a:gd name="adj" fmla="val 145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200650" y="243711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575300" y="2381250"/>
            <a:ext cx="622300" cy="342900"/>
          </a:xfrm>
          <a:prstGeom prst="roundRect">
            <a:avLst>
              <a:gd name="adj" fmla="val 16667"/>
            </a:avLst>
          </a:prstGeom>
          <a:solidFill>
            <a:srgbClr val="FFFDF8"/>
          </a:solidFill>
          <a:ln w="12700">
            <a:solidFill>
              <a:srgbClr val="E2DDD2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299200" y="2381250"/>
            <a:ext cx="749300" cy="342900"/>
          </a:xfrm>
          <a:prstGeom prst="roundRect">
            <a:avLst>
              <a:gd name="adj" fmla="val 16667"/>
            </a:avLst>
          </a:prstGeom>
          <a:solidFill>
            <a:srgbClr val="FFFDF8"/>
          </a:solidFill>
          <a:ln w="12700">
            <a:solidFill>
              <a:srgbClr val="E2DDD2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–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143750" y="2457450"/>
            <a:ext cx="423824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code is 2: case 1 is skipped.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083175" y="2860675"/>
            <a:ext cx="6292850" cy="501650"/>
          </a:xfrm>
          <a:prstGeom prst="roundRect">
            <a:avLst>
              <a:gd name="adj" fmla="val 145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200650" y="299591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575300" y="2940050"/>
            <a:ext cx="622300" cy="342900"/>
          </a:xfrm>
          <a:prstGeom prst="roundRect">
            <a:avLst>
              <a:gd name="adj" fmla="val 16667"/>
            </a:avLst>
          </a:prstGeom>
          <a:solidFill>
            <a:srgbClr val="FFFDF8"/>
          </a:solidFill>
          <a:ln w="12700">
            <a:solidFill>
              <a:srgbClr val="E2DDD2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299200" y="2940050"/>
            <a:ext cx="749300" cy="342900"/>
          </a:xfrm>
          <a:prstGeom prst="roundRect">
            <a:avLst>
              <a:gd name="adj" fmla="val 16667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143750" y="3016250"/>
            <a:ext cx="423824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Jump to case 2: price = 15.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083175" y="3419475"/>
            <a:ext cx="6292850" cy="501650"/>
          </a:xfrm>
          <a:prstGeom prst="roundRect">
            <a:avLst>
              <a:gd name="adj" fmla="val 145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5200650" y="355471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575300" y="3498850"/>
            <a:ext cx="622300" cy="342900"/>
          </a:xfrm>
          <a:prstGeom prst="roundRect">
            <a:avLst>
              <a:gd name="adj" fmla="val 16667"/>
            </a:avLst>
          </a:prstGeom>
          <a:solidFill>
            <a:srgbClr val="FFFDF8"/>
          </a:solidFill>
          <a:ln w="12700">
            <a:solidFill>
              <a:srgbClr val="E2DDD2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299200" y="3498850"/>
            <a:ext cx="749300" cy="342900"/>
          </a:xfrm>
          <a:prstGeom prst="roundRect">
            <a:avLst>
              <a:gd name="adj" fmla="val 16667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40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143750" y="3575050"/>
            <a:ext cx="423824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 break! Falls into case 3: price = 40.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083175" y="3978275"/>
            <a:ext cx="6292850" cy="501650"/>
          </a:xfrm>
          <a:prstGeom prst="roundRect">
            <a:avLst>
              <a:gd name="adj" fmla="val 1455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5200650" y="4113510"/>
            <a:ext cx="3302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575300" y="4057650"/>
            <a:ext cx="622300" cy="342900"/>
          </a:xfrm>
          <a:prstGeom prst="roundRect">
            <a:avLst>
              <a:gd name="adj" fmla="val 16667"/>
            </a:avLst>
          </a:prstGeom>
          <a:solidFill>
            <a:srgbClr val="FFFDF8"/>
          </a:solidFill>
          <a:ln w="12700">
            <a:solidFill>
              <a:srgbClr val="E2DDD2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299200" y="4057650"/>
            <a:ext cx="749300" cy="342900"/>
          </a:xfrm>
          <a:prstGeom prst="roundRect">
            <a:avLst>
              <a:gd name="adj" fmla="val 16667"/>
            </a:avLst>
          </a:prstGeom>
          <a:solidFill>
            <a:srgbClr val="FBE3CF"/>
          </a:solidFill>
          <a:ln w="12700">
            <a:solidFill>
              <a:srgbClr val="E9893F"/>
            </a:solidFill>
            <a:prstDash val="solid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7143750" y="4133850"/>
            <a:ext cx="423824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Falls into default: price = 0.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80000" y="4572000"/>
            <a:ext cx="6299200" cy="381000"/>
          </a:xfrm>
          <a:prstGeom prst="roundRect">
            <a:avLst>
              <a:gd name="adj" fmla="val 20000"/>
            </a:avLst>
          </a:prstGeom>
          <a:solidFill>
            <a:srgbClr val="E9893F"/>
          </a:solidFill>
          <a:ln/>
        </p:spPr>
        <p:txBody>
          <a:bodyPr wrap="square" lIns="104682" tIns="0" rIns="104682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523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Samosa costs Rs 0? Every case needs a break.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3 OF 3 · CONDITIONAL BRANCHING STATEMENTS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933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Fixed with break, and when fall-through helps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5975" y="1668115"/>
            <a:ext cx="5207000" cy="3008511"/>
          </a:xfrm>
          <a:prstGeom prst="roundRect">
            <a:avLst>
              <a:gd name="adj" fmla="val 3694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6950" y="1836390"/>
            <a:ext cx="499040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B23A2E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Without break ✗: samosa × 3 costs Rs 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6950" y="2141190"/>
            <a:ext cx="4845050" cy="1579761"/>
          </a:xfrm>
          <a:prstGeom prst="roundRect">
            <a:avLst>
              <a:gd name="adj" fmla="val 5627"/>
            </a:avLst>
          </a:prstGeom>
          <a:solidFill>
            <a:srgbClr val="15233F"/>
          </a:solidFill>
          <a:ln/>
        </p:spPr>
        <p:txBody>
          <a:bodyPr wrap="square" lIns="139062" tIns="100962" rIns="3617" bIns="75562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switch (code) {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case 1: price = 10;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case 2: price = 15;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case 3: price = 40;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default: price = 0;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6950" y="3797151"/>
            <a:ext cx="4845050" cy="711200"/>
          </a:xfrm>
          <a:prstGeom prst="roundRect">
            <a:avLst>
              <a:gd name="adj" fmla="val 12500"/>
            </a:avLst>
          </a:prstGeom>
          <a:solidFill>
            <a:srgbClr val="0C1528"/>
          </a:solidFill>
          <a:ln/>
        </p:spPr>
        <p:txBody>
          <a:bodyPr wrap="square" lIns="139062" tIns="100962" rIns="3617" bIns="75562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Item code and quantity? 2 3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Amount: Rs 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69025" y="1668115"/>
            <a:ext cx="5207000" cy="3008511"/>
          </a:xfrm>
          <a:prstGeom prst="roundRect">
            <a:avLst>
              <a:gd name="adj" fmla="val 3694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350000" y="1836390"/>
            <a:ext cx="499040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B6B4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With break ✓: stops at case 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0000" y="2141190"/>
            <a:ext cx="4845050" cy="1579761"/>
          </a:xfrm>
          <a:prstGeom prst="roundRect">
            <a:avLst>
              <a:gd name="adj" fmla="val 5627"/>
            </a:avLst>
          </a:prstGeom>
          <a:solidFill>
            <a:srgbClr val="15233F"/>
          </a:solidFill>
          <a:ln/>
        </p:spPr>
        <p:txBody>
          <a:bodyPr wrap="square" lIns="139062" tIns="100962" rIns="3617" bIns="75562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switch (code) {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case 1: price = 10; break;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case 2: price = 15; break;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case 3: price = 40; break;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default: price = 0;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50000" y="3797151"/>
            <a:ext cx="4845050" cy="711200"/>
          </a:xfrm>
          <a:prstGeom prst="roundRect">
            <a:avLst>
              <a:gd name="adj" fmla="val 12500"/>
            </a:avLst>
          </a:prstGeom>
          <a:solidFill>
            <a:srgbClr val="0C1528"/>
          </a:solidFill>
          <a:ln/>
        </p:spPr>
        <p:txBody>
          <a:bodyPr wrap="square" lIns="139062" tIns="100962" rIns="3617" bIns="75562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Item code and quantity? 2 3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Amount: Rs 45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4870301"/>
            <a:ext cx="10566400" cy="1176338"/>
          </a:xfrm>
          <a:prstGeom prst="roundRect">
            <a:avLst>
              <a:gd name="adj" fmla="val 9717"/>
            </a:avLst>
          </a:prstGeom>
          <a:solidFill>
            <a:srgbClr val="1E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90600" y="4997301"/>
            <a:ext cx="274701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Useful fall-through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90600" y="5276701"/>
            <a:ext cx="2747010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Leave out break </a:t>
            </a:r>
            <a:r>
              <a:rPr lang="en-US" sz="1250" b="1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on purpose</a:t>
            </a:r>
            <a:r>
              <a:rPr lang="en-US" sz="125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to give cases the same action. Day 6 falls into day 7.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835400" y="5011489"/>
            <a:ext cx="7366000" cy="893961"/>
          </a:xfrm>
          <a:prstGeom prst="roundRect">
            <a:avLst>
              <a:gd name="adj" fmla="val 9945"/>
            </a:avLst>
          </a:prstGeom>
          <a:solidFill>
            <a:srgbClr val="0C1528"/>
          </a:solidFill>
          <a:ln/>
        </p:spPr>
        <p:txBody>
          <a:bodyPr wrap="square" lIns="139062" tIns="100962" rIns="0" bIns="75562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case 6: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case 7: printf("Weekend: opens at 9"); break;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default: printf("Weekday: opens at 8");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TOPIC 3 OF 3 · CONDITIONAL BRANCHING STATEMENTS · PREDICT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1853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gets printed?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971675"/>
            <a:ext cx="6978650" cy="946150"/>
          </a:xfrm>
          <a:prstGeom prst="roundRect">
            <a:avLst>
              <a:gd name="adj" fmla="val 11745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2266950"/>
            <a:ext cx="1771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51905" y="2221905"/>
            <a:ext cx="601726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t = 200; if (t &gt; 200) printf("Off"); else printf("Full");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01000" y="1968500"/>
            <a:ext cx="3378200" cy="952500"/>
          </a:xfrm>
          <a:prstGeom prst="roundRect">
            <a:avLst>
              <a:gd name="adj" fmla="val 12000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Full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5975" y="3114675"/>
            <a:ext cx="6978650" cy="946150"/>
          </a:xfrm>
          <a:prstGeom prst="roundRect">
            <a:avLst>
              <a:gd name="adj" fmla="val 11745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7750" y="3409950"/>
            <a:ext cx="215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90650" y="3364905"/>
            <a:ext cx="601726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 avg = 75; if (avg &gt;= 90) printf("A"); else if (avg &gt;= 75) printf("B"); else printf("C");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01000" y="3111500"/>
            <a:ext cx="3378200" cy="952500"/>
          </a:xfrm>
          <a:prstGeom prst="roundRect">
            <a:avLst>
              <a:gd name="adj" fmla="val 12000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B: 75 &gt;= 90 is false, 75 &gt;= 75 is true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4257675"/>
            <a:ext cx="6978650" cy="946150"/>
          </a:xfrm>
          <a:prstGeom prst="roundRect">
            <a:avLst>
              <a:gd name="adj" fmla="val 11745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750" y="4552950"/>
            <a:ext cx="2182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92982" y="4507905"/>
            <a:ext cx="6017260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x = 3; switch (x) { case 3: printf("Maggi"); break; default: printf("?"); }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01000" y="4254500"/>
            <a:ext cx="3378200" cy="952500"/>
          </a:xfrm>
          <a:prstGeom prst="roundRect">
            <a:avLst>
              <a:gd name="adj" fmla="val 12000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Maggi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90439"/>
            <a:ext cx="468299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ALL 3 TOPICS TOGETHER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073970"/>
            <a:ext cx="4682998" cy="751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Riya's bill, now with average and discount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12800" y="2962275"/>
            <a:ext cx="749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13–15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612900" y="2952750"/>
            <a:ext cx="377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 · Arithmetic: + and *, with precedence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3282305"/>
            <a:ext cx="749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12900" y="3272780"/>
            <a:ext cx="255859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 · Casting: (float) before /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3602335"/>
            <a:ext cx="749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12900" y="3592810"/>
            <a:ext cx="23635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 · Relational: total &gt; 200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3922365"/>
            <a:ext cx="749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18–22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12900" y="3912840"/>
            <a:ext cx="248292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 · if-else: discount or not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2800" y="4242395"/>
            <a:ext cx="749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19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12900" y="4232870"/>
            <a:ext cx="133695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 · / gives 10%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2800" y="4562425"/>
            <a:ext cx="749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12900" y="4552900"/>
            <a:ext cx="224057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%.2f prints the average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4936430"/>
            <a:ext cx="468299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Lines 1 to 11 are the same ideas as Class 1.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4200" y="606623"/>
            <a:ext cx="5715000" cy="5644704"/>
          </a:xfrm>
          <a:prstGeom prst="roundRect">
            <a:avLst>
              <a:gd name="adj" fmla="val 1575"/>
            </a:avLst>
          </a:prstGeom>
          <a:solidFill>
            <a:srgbClr val="15233F"/>
          </a:solidFill>
          <a:ln/>
        </p:spPr>
        <p:txBody>
          <a:bodyPr wrap="square" lIns="139062" tIns="100962" rIns="0" bIns="75562" rtlCol="0" anchor="t">
            <a:normAutofit/>
          </a:bodyPr>
          <a:lstStyle/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1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#include &lt;stdio.h&gt;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2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3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main(void) {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4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const int CHAI_PRICE = 10;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5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const int SAMOSA_PRICE = 15;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6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const int MAGGI_PRICE = 40;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7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int chai, samosa, maggi, items, total, discount;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8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float avg;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9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printf("How many chai, samosa, Maggi? ");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11  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scanf("%d %d %d", &amp;chai, &amp;samosa, &amp;maggi);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12  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13  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items = chai + samosa + maggi;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14  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total = chai * CHAI_PRICE + samosa * SAMOSA_PRICE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15  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+ maggi * MAGGI_PRICE;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16  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avg = (float) total / items;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17  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18  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if (total &gt; 200) {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19  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discount = total / 10;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} else {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21  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discount = 0;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22  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}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23  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24  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printf("Items: %d Total: Rs %d\n", items, total);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25  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printf("Average per item: Rs %.2f\n", avg);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26  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printf("Discount: Rs %d\n", discount);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27  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printf("To pay: Rs %d\n", total - discount);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28  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0;</a:t>
            </a:r>
            <a:endParaRPr lang="en-US" sz="1200" dirty="0"/>
          </a:p>
          <a:p>
            <a:pPr marL="0" indent="0" algn="l">
              <a:lnSpc>
                <a:spcPts val="1464"/>
              </a:lnSpc>
              <a:buNone/>
            </a:pPr>
            <a:r>
              <a:rPr lang="en-US" sz="1200" dirty="0">
                <a:solidFill>
                  <a:srgbClr val="5B6B8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29  </a:t>
            </a: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PREDICT BEFORE YOU RUN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1853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will the program print?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2035175"/>
            <a:ext cx="6978650" cy="819150"/>
          </a:xfrm>
          <a:prstGeom prst="roundRect">
            <a:avLst>
              <a:gd name="adj" fmla="val 13566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2266950"/>
            <a:ext cx="1771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51905" y="2324745"/>
            <a:ext cx="601726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Input: 2 1 1. Average? To pay?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01000" y="2032000"/>
            <a:ext cx="3378200" cy="825500"/>
          </a:xfrm>
          <a:prstGeom prst="roundRect">
            <a:avLst>
              <a:gd name="adj" fmla="val 13846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18.75 and Rs 75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5975" y="3051175"/>
            <a:ext cx="6978650" cy="819150"/>
          </a:xfrm>
          <a:prstGeom prst="roundRect">
            <a:avLst>
              <a:gd name="adj" fmla="val 13566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7750" y="3282950"/>
            <a:ext cx="215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90650" y="3340745"/>
            <a:ext cx="601726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Input: 10 10 0. Discount? To pay?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01000" y="3048000"/>
            <a:ext cx="3378200" cy="825500"/>
          </a:xfrm>
          <a:prstGeom prst="roundRect">
            <a:avLst>
              <a:gd name="adj" fmla="val 13846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Rs 25 and Rs 225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4067175"/>
            <a:ext cx="6978650" cy="819150"/>
          </a:xfrm>
          <a:prstGeom prst="roundRect">
            <a:avLst>
              <a:gd name="adj" fmla="val 13566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750" y="4298950"/>
            <a:ext cx="2182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92982" y="4356745"/>
            <a:ext cx="601726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Input: 0 0 5 (Rs 200). Discount?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01000" y="4064000"/>
            <a:ext cx="3378200" cy="825500"/>
          </a:xfrm>
          <a:prstGeom prst="roundRect">
            <a:avLst>
              <a:gd name="adj" fmla="val 13846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Rs 0: 200 is not &gt; 200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RUN IT YOURSELF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933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Two programs to try in OnlineGDB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5975" y="1668115"/>
            <a:ext cx="5200650" cy="2835821"/>
          </a:xfrm>
          <a:prstGeom prst="roundRect">
            <a:avLst>
              <a:gd name="adj" fmla="val 3919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6950" y="1836390"/>
            <a:ext cx="4983861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bill2.c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96950" y="2214811"/>
            <a:ext cx="498386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 canteen bill with average and discount.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6950" y="2522141"/>
            <a:ext cx="49838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Type in the input box first: </a:t>
            </a:r>
            <a:r>
              <a:rPr lang="en-US" sz="12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10 10 0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96950" y="2811661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QR code linking to bill2.c on OnlineGDB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3300" y="2818011"/>
            <a:ext cx="1511300" cy="1511300"/>
          </a:xfrm>
          <a:prstGeom prst="roundRect">
            <a:avLst>
              <a:gd name="adj" fmla="val 4622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1000125" y="2814836"/>
            <a:ext cx="1517650" cy="1517650"/>
          </a:xfrm>
          <a:prstGeom prst="roundRect">
            <a:avLst>
              <a:gd name="adj" fmla="val 4812"/>
            </a:avLst>
          </a:prstGeom>
          <a:noFill/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647950" y="3210471"/>
            <a:ext cx="1437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Scan or open: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647950" y="3474591"/>
            <a:ext cx="143768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u="sng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onlinegdb.com/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u="sng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rUwfGyteW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175375" y="1668115"/>
            <a:ext cx="5200650" cy="2835821"/>
          </a:xfrm>
          <a:prstGeom prst="roundRect">
            <a:avLst>
              <a:gd name="adj" fmla="val 3919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356350" y="1836390"/>
            <a:ext cx="4983861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menu.c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356350" y="2214811"/>
            <a:ext cx="498386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 switch menu: item code and quantity.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356350" y="2522141"/>
            <a:ext cx="49838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Type in the input box first: </a:t>
            </a:r>
            <a:r>
              <a:rPr lang="en-US" sz="12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2 3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356350" y="2811661"/>
            <a:ext cx="1524000" cy="15240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QR code linking to menu.c on OnlineGDB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362700" y="2818011"/>
            <a:ext cx="1511300" cy="1511300"/>
          </a:xfrm>
          <a:prstGeom prst="roundRect">
            <a:avLst>
              <a:gd name="adj" fmla="val 4622"/>
            </a:avLst>
          </a:prstGeom>
        </p:spPr>
      </p:pic>
      <p:sp>
        <p:nvSpPr>
          <p:cNvPr id="19" name="Shape 15"/>
          <p:cNvSpPr/>
          <p:nvPr/>
        </p:nvSpPr>
        <p:spPr>
          <a:xfrm>
            <a:off x="6359525" y="2814836"/>
            <a:ext cx="1517650" cy="1517650"/>
          </a:xfrm>
          <a:prstGeom prst="roundRect">
            <a:avLst>
              <a:gd name="adj" fmla="val 4812"/>
            </a:avLst>
          </a:prstGeom>
          <a:noFill/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8007350" y="3210471"/>
            <a:ext cx="1437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Scan or open: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007350" y="3474591"/>
            <a:ext cx="143768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u="sng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onlinegdb.com/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u="sng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vytRSpLVMZ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350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YOUR TURN · FILL IN THE BLANKS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94233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Complete the program: 5 blanks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12800" y="1525240"/>
            <a:ext cx="6858000" cy="4611985"/>
          </a:xfrm>
          <a:prstGeom prst="roundRect">
            <a:avLst>
              <a:gd name="adj" fmla="val 1928"/>
            </a:avLst>
          </a:prstGeom>
          <a:solidFill>
            <a:srgbClr val="15233F"/>
          </a:solidFill>
          <a:ln/>
        </p:spPr>
        <p:txBody>
          <a:bodyPr wrap="square" lIns="139062" tIns="100962" rIns="0" bIns="75562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/* Fill in the 5 blanks marked ____ */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#include &lt;stdio.h&gt;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main(void) {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int items, total, discount;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float avg;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printf("Items and total? ");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scanf("%d %d", &amp;items, &amp;total);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avg = (_____) total / items; /* blank 1 */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if (total ___ 200) { /* blank 2 */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discount = total __ 10; /* blank 3 */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} ____ { /* blank 4 */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discount = 0;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}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printf("Average: Rs %___\n", avg); /* blank 5 */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printf("To pay: Rs %d\n", total - discount);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0;</a:t>
            </a:r>
            <a:endParaRPr lang="en-US" sz="1200" dirty="0"/>
          </a:p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899400" y="1525240"/>
            <a:ext cx="3584194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One blank per idea from today: a cast, a comparison, an operator, an else and a format.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899400" y="2412851"/>
            <a:ext cx="1397000" cy="1397000"/>
          </a:xfrm>
          <a:prstGeom prst="roundRect">
            <a:avLst>
              <a:gd name="adj" fmla="val 5455"/>
            </a:avLst>
          </a:prstGeom>
          <a:solidFill>
            <a:srgbClr val="FFFD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QR code linking to bill2_blanks.c on OnlineGDB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905750" y="2419201"/>
            <a:ext cx="1384300" cy="1384300"/>
          </a:xfrm>
          <a:prstGeom prst="roundRect">
            <a:avLst>
              <a:gd name="adj" fmla="val 5046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7902575" y="2416026"/>
            <a:ext cx="1390650" cy="1390650"/>
          </a:xfrm>
          <a:prstGeom prst="roundRect">
            <a:avLst>
              <a:gd name="adj" fmla="val 5251"/>
            </a:avLst>
          </a:prstGeom>
          <a:noFill/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423400" y="2765971"/>
            <a:ext cx="1330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Scan or open: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423400" y="3030091"/>
            <a:ext cx="13309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onlinegdb.com/</a:t>
            </a:r>
            <a:endParaRPr lang="en-US" sz="1200" dirty="0"/>
          </a:p>
          <a:p>
            <a:pPr marL="0" indent="0" algn="l">
              <a:lnSpc>
                <a:spcPts val="1680"/>
              </a:lnSpc>
              <a:buNone/>
            </a:pPr>
            <a:r>
              <a:rPr lang="en-US" sz="1200" u="sng" dirty="0">
                <a:solidFill>
                  <a:srgbClr val="2A5BD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VRSF3kAW4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99400" y="3924151"/>
            <a:ext cx="358419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9627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Work in pairs · 5 minutes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FILL IN THE BLANKS · ANSWERS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1853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Check your answers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844675"/>
            <a:ext cx="6978650" cy="704850"/>
          </a:xfrm>
          <a:prstGeom prst="roundRect">
            <a:avLst>
              <a:gd name="adj" fmla="val 15766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7750" y="2019300"/>
            <a:ext cx="1771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51905" y="2085677"/>
            <a:ext cx="601726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Blank 1: avg = (_____) total / items;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01000" y="1841500"/>
            <a:ext cx="3378200" cy="711200"/>
          </a:xfrm>
          <a:prstGeom prst="roundRect">
            <a:avLst>
              <a:gd name="adj" fmla="val 16071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float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5975" y="2670175"/>
            <a:ext cx="6978650" cy="704850"/>
          </a:xfrm>
          <a:prstGeom prst="roundRect">
            <a:avLst>
              <a:gd name="adj" fmla="val 15766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47750" y="2844800"/>
            <a:ext cx="215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90650" y="2911177"/>
            <a:ext cx="601726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Blank 2: if (total ___ 200)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01000" y="2667000"/>
            <a:ext cx="3378200" cy="711200"/>
          </a:xfrm>
          <a:prstGeom prst="roundRect">
            <a:avLst>
              <a:gd name="adj" fmla="val 16071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&gt;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5975" y="3495675"/>
            <a:ext cx="6978650" cy="704850"/>
          </a:xfrm>
          <a:prstGeom prst="roundRect">
            <a:avLst>
              <a:gd name="adj" fmla="val 15766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7750" y="3670300"/>
            <a:ext cx="2182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92982" y="3736677"/>
            <a:ext cx="601726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Blank 3: discount = total __ 10;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001000" y="3492500"/>
            <a:ext cx="3378200" cy="711200"/>
          </a:xfrm>
          <a:prstGeom prst="roundRect">
            <a:avLst>
              <a:gd name="adj" fmla="val 16071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/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5975" y="4321175"/>
            <a:ext cx="6978650" cy="704850"/>
          </a:xfrm>
          <a:prstGeom prst="roundRect">
            <a:avLst>
              <a:gd name="adj" fmla="val 15766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47750" y="4495800"/>
            <a:ext cx="2241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98935" y="4562177"/>
            <a:ext cx="601726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Blank 4: } ____ {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01000" y="4318000"/>
            <a:ext cx="3378200" cy="711200"/>
          </a:xfrm>
          <a:prstGeom prst="roundRect">
            <a:avLst>
              <a:gd name="adj" fmla="val 16071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else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15975" y="5146675"/>
            <a:ext cx="6978650" cy="704850"/>
          </a:xfrm>
          <a:prstGeom prst="roundRect">
            <a:avLst>
              <a:gd name="adj" fmla="val 15766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47750" y="5321300"/>
            <a:ext cx="2148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A5BD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89608" y="5387677"/>
            <a:ext cx="601726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Blank 5: printf("Average: Rs %___\n", avg);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01000" y="5143500"/>
            <a:ext cx="3378200" cy="711200"/>
          </a:xfrm>
          <a:prstGeom prst="roundRect">
            <a:avLst>
              <a:gd name="adj" fmla="val 16071"/>
            </a:avLst>
          </a:prstGeom>
          <a:solidFill>
            <a:srgbClr val="15233F"/>
          </a:solidFill>
          <a:ln/>
        </p:spPr>
        <p:txBody>
          <a:bodyPr wrap="square" lIns="169723" tIns="0" rIns="80569" bIns="0" rtlCol="0" anchor="ctr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.2f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YOUR TURN · TASK 1 OF 3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1853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Electricity bill with slabs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5975" y="1579215"/>
            <a:ext cx="2660650" cy="3287961"/>
          </a:xfrm>
          <a:prstGeom prst="roundRect">
            <a:avLst>
              <a:gd name="adj" fmla="val 417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Electricity mete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38300" y="1734790"/>
            <a:ext cx="1016000" cy="101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4250" y="2839690"/>
            <a:ext cx="2393823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 first 100 units cost Rs 5 each. Every unit above 100 costs Rs 7. Print the bill.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4250" y="3621980"/>
            <a:ext cx="658068" cy="289520"/>
          </a:xfrm>
          <a:prstGeom prst="roundRect">
            <a:avLst>
              <a:gd name="adj" fmla="val 21933"/>
            </a:avLst>
          </a:prstGeom>
          <a:solidFill>
            <a:srgbClr val="FBE3C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23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if-else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705818" y="3621980"/>
            <a:ext cx="1248866" cy="289520"/>
          </a:xfrm>
          <a:prstGeom prst="roundRect">
            <a:avLst>
              <a:gd name="adj" fmla="val 21933"/>
            </a:avLst>
          </a:prstGeom>
          <a:solidFill>
            <a:srgbClr val="FBE3C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23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boundary: 100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22675" y="1579215"/>
            <a:ext cx="4311650" cy="3287961"/>
          </a:xfrm>
          <a:prstGeom prst="roundRect">
            <a:avLst>
              <a:gd name="adj" fmla="val 3380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790950" y="1734790"/>
            <a:ext cx="40943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Pseudocode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790950" y="2052290"/>
            <a:ext cx="3975100" cy="1854200"/>
          </a:xfrm>
          <a:prstGeom prst="roundRect">
            <a:avLst>
              <a:gd name="adj" fmla="val 4795"/>
            </a:avLst>
          </a:prstGeom>
          <a:solidFill>
            <a:srgbClr val="15233F"/>
          </a:solidFill>
          <a:ln/>
        </p:spPr>
        <p:txBody>
          <a:bodyPr wrap="square" lIns="139062" tIns="100962" rIns="29715" bIns="75562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READ units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units &lt;= 100 THEN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bill ← units × 5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bill ← 500 + (units − 100) × 7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END IF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 bill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80375" y="1579215"/>
            <a:ext cx="3295650" cy="3287961"/>
          </a:xfrm>
          <a:prstGeom prst="roundRect">
            <a:avLst>
              <a:gd name="adj" fmla="val 3380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248650" y="1734790"/>
            <a:ext cx="304787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Sample runs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48650" y="2052290"/>
            <a:ext cx="2959100" cy="1397000"/>
          </a:xfrm>
          <a:prstGeom prst="roundRect">
            <a:avLst>
              <a:gd name="adj" fmla="val 6364"/>
            </a:avLst>
          </a:prstGeom>
          <a:solidFill>
            <a:srgbClr val="0C1528"/>
          </a:solidFill>
          <a:ln/>
        </p:spPr>
        <p:txBody>
          <a:bodyPr wrap="square" lIns="139062" tIns="100962" rIns="60195" bIns="75562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Units used? 80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Bill = Rs 400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Units used? 150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Bill = Rs 850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48650" y="3538190"/>
            <a:ext cx="30478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Check yourself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48650" y="3840411"/>
            <a:ext cx="20260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6B4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476655" y="3859461"/>
            <a:ext cx="289619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Which operator means 'up to 100'?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48650" y="4160441"/>
            <a:ext cx="20260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6B4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476655" y="4179491"/>
            <a:ext cx="289619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Test exactly 100: it should be Rs 500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48650" y="4480471"/>
            <a:ext cx="20260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6B4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476655" y="4499521"/>
            <a:ext cx="2181582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Use braces for each block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12800" y="5022751"/>
            <a:ext cx="10566400" cy="477490"/>
          </a:xfrm>
          <a:prstGeom prst="roundRect">
            <a:avLst>
              <a:gd name="adj" fmla="val 21278"/>
            </a:avLst>
          </a:prstGeom>
          <a:solidFill>
            <a:srgbClr val="15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90600" y="5137051"/>
            <a:ext cx="52137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Now: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552079" y="5137051"/>
            <a:ext cx="678406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3E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Write it in C in OnlineGDB. Test every sample, including the boundary.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YOUR TURN · TASK 2 OF 3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1853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Grade calculator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5975" y="1579215"/>
            <a:ext cx="2660650" cy="2830761"/>
          </a:xfrm>
          <a:prstGeom prst="roundRect">
            <a:avLst>
              <a:gd name="adj" fmla="val 417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Report card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38300" y="1734790"/>
            <a:ext cx="1016000" cy="101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4250" y="2839690"/>
            <a:ext cx="2393823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Read marks in 3 subjects. Find the average and print the grade: A (90+), B (75+), C (50+), else F.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4250" y="3853111"/>
            <a:ext cx="738634" cy="289520"/>
          </a:xfrm>
          <a:prstGeom prst="roundRect">
            <a:avLst>
              <a:gd name="adj" fmla="val 21933"/>
            </a:avLst>
          </a:prstGeom>
          <a:solidFill>
            <a:srgbClr val="FBE3C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23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casting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786384" y="3853111"/>
            <a:ext cx="1166713" cy="289520"/>
          </a:xfrm>
          <a:prstGeom prst="roundRect">
            <a:avLst>
              <a:gd name="adj" fmla="val 21933"/>
            </a:avLst>
          </a:prstGeom>
          <a:solidFill>
            <a:srgbClr val="FBE3C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23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else-if ladder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22675" y="1579215"/>
            <a:ext cx="4311650" cy="2830761"/>
          </a:xfrm>
          <a:prstGeom prst="roundRect">
            <a:avLst>
              <a:gd name="adj" fmla="val 3926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790950" y="1734790"/>
            <a:ext cx="40943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Pseudocode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790950" y="2052290"/>
            <a:ext cx="3975100" cy="1854200"/>
          </a:xfrm>
          <a:prstGeom prst="roundRect">
            <a:avLst>
              <a:gd name="adj" fmla="val 4795"/>
            </a:avLst>
          </a:prstGeom>
          <a:solidFill>
            <a:srgbClr val="15233F"/>
          </a:solidFill>
          <a:ln/>
        </p:spPr>
        <p:txBody>
          <a:bodyPr wrap="square" lIns="139062" tIns="100962" rIns="29715" bIns="75562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READ m1, m2, m3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avg ← (float)(m1 + m2 + m3) / 3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avg &gt;= 90 THEN grade ← A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 avg &gt;= 75 THEN grade ← B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 avg &gt;= 50 THEN grade ← C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grade ← F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 avg, grade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80375" y="1579215"/>
            <a:ext cx="3295650" cy="2830761"/>
          </a:xfrm>
          <a:prstGeom prst="roundRect">
            <a:avLst>
              <a:gd name="adj" fmla="val 3926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248650" y="1734790"/>
            <a:ext cx="304787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Sample runs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48650" y="2052290"/>
            <a:ext cx="2959100" cy="939800"/>
          </a:xfrm>
          <a:prstGeom prst="roundRect">
            <a:avLst>
              <a:gd name="adj" fmla="val 9459"/>
            </a:avLst>
          </a:prstGeom>
          <a:solidFill>
            <a:srgbClr val="0C1528"/>
          </a:solidFill>
          <a:ln/>
        </p:spPr>
        <p:txBody>
          <a:bodyPr wrap="square" lIns="139062" tIns="100962" rIns="60195" bIns="75562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Marks in 3 subjects? 85 90 70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Average: 81.67 Grade: B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48650" y="3080990"/>
            <a:ext cx="30478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Check yourself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48650" y="3383211"/>
            <a:ext cx="20260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6B4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476655" y="3402261"/>
            <a:ext cx="2032754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Cast BEFORE you divide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48650" y="3703241"/>
            <a:ext cx="20260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6B4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476655" y="3722291"/>
            <a:ext cx="289619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Check the ladder from the top: 90 first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48650" y="4023271"/>
            <a:ext cx="20260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6B4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476655" y="4042321"/>
            <a:ext cx="2492514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Test 90, 90, 90: it should be 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12800" y="4565551"/>
            <a:ext cx="10566400" cy="477490"/>
          </a:xfrm>
          <a:prstGeom prst="roundRect">
            <a:avLst>
              <a:gd name="adj" fmla="val 21278"/>
            </a:avLst>
          </a:prstGeom>
          <a:solidFill>
            <a:srgbClr val="15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90600" y="4679851"/>
            <a:ext cx="52137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Now: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552079" y="4679851"/>
            <a:ext cx="678406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3E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Write it in C in OnlineGDB. Test every sample, including the boundary.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A94F17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YOUR TURN · TASK 3 OF 3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1853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i="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Auto fare, now in C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5975" y="1579215"/>
            <a:ext cx="2660650" cy="3516561"/>
          </a:xfrm>
          <a:prstGeom prst="roundRect">
            <a:avLst>
              <a:gd name="adj" fmla="val 4177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Auto rickshaw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38300" y="1734790"/>
            <a:ext cx="1016000" cy="101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4250" y="2839690"/>
            <a:ext cx="2393823" cy="1181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An auto charges Rs 30 for the first 2 km and Rs 15 per km after that. You wrote this as pseudocode in Module 1. Now write it in C.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4250" y="4084241"/>
            <a:ext cx="658068" cy="289520"/>
          </a:xfrm>
          <a:prstGeom prst="roundRect">
            <a:avLst>
              <a:gd name="adj" fmla="val 21933"/>
            </a:avLst>
          </a:prstGeom>
          <a:solidFill>
            <a:srgbClr val="FBE3C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23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if-else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705818" y="4084241"/>
            <a:ext cx="1327299" cy="289520"/>
          </a:xfrm>
          <a:prstGeom prst="roundRect">
            <a:avLst>
              <a:gd name="adj" fmla="val 21933"/>
            </a:avLst>
          </a:prstGeom>
          <a:solidFill>
            <a:srgbClr val="FBE3C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523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boundary: 2 km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22675" y="1579215"/>
            <a:ext cx="4311650" cy="3516561"/>
          </a:xfrm>
          <a:prstGeom prst="roundRect">
            <a:avLst>
              <a:gd name="adj" fmla="val 3160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790950" y="1734790"/>
            <a:ext cx="409435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Pseudocode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790950" y="2052290"/>
            <a:ext cx="3975100" cy="1854200"/>
          </a:xfrm>
          <a:prstGeom prst="roundRect">
            <a:avLst>
              <a:gd name="adj" fmla="val 4795"/>
            </a:avLst>
          </a:prstGeom>
          <a:solidFill>
            <a:srgbClr val="15233F"/>
          </a:solidFill>
          <a:ln/>
        </p:spPr>
        <p:txBody>
          <a:bodyPr wrap="square" lIns="139062" tIns="100962" rIns="29715" bIns="75562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READ km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km &lt;= 2 THEN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fare ← 30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fare ← 30 + (km − 2) × 15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END IF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6E9F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PRINT fare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080375" y="1579215"/>
            <a:ext cx="3295650" cy="3516561"/>
          </a:xfrm>
          <a:prstGeom prst="roundRect">
            <a:avLst>
              <a:gd name="adj" fmla="val 3372"/>
            </a:avLst>
          </a:prstGeom>
          <a:solidFill>
            <a:srgbClr val="FFFDF8"/>
          </a:solidFill>
          <a:ln w="6350">
            <a:solidFill>
              <a:srgbClr val="E2D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248650" y="1734790"/>
            <a:ext cx="304787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Sample runs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48650" y="2052290"/>
            <a:ext cx="2959100" cy="1625600"/>
          </a:xfrm>
          <a:prstGeom prst="roundRect">
            <a:avLst>
              <a:gd name="adj" fmla="val 5469"/>
            </a:avLst>
          </a:prstGeom>
          <a:solidFill>
            <a:srgbClr val="0C1528"/>
          </a:solidFill>
          <a:ln/>
        </p:spPr>
        <p:txBody>
          <a:bodyPr wrap="square" lIns="139062" tIns="100962" rIns="60195" bIns="75562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Distance in km? 1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Fare = Rs 30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Distance in km? 2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Fare = Rs 30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Distance in km? 10</a:t>
            </a:r>
            <a:endParaRPr lang="en-US" sz="1200" dirty="0"/>
          </a:p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7FD1A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Fare = Rs 150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48650" y="3766790"/>
            <a:ext cx="304787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C223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Check yourself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48650" y="4069011"/>
            <a:ext cx="20260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6B4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476655" y="4088061"/>
            <a:ext cx="289619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Same steps as your Module 1 answer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48650" y="4389041"/>
            <a:ext cx="20260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6B4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476655" y="4408091"/>
            <a:ext cx="1582460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Test 1, 2 and 10 km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48650" y="4709071"/>
            <a:ext cx="20260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6B4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476655" y="4728121"/>
            <a:ext cx="2008346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3A415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10 km: 30 + 8 × 15 = 150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12800" y="5251351"/>
            <a:ext cx="10566400" cy="477490"/>
          </a:xfrm>
          <a:prstGeom prst="roundRect">
            <a:avLst>
              <a:gd name="adj" fmla="val 21278"/>
            </a:avLst>
          </a:prstGeom>
          <a:solidFill>
            <a:srgbClr val="1523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90600" y="5365651"/>
            <a:ext cx="52137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Now: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552079" y="5365651"/>
            <a:ext cx="678406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3E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Write it in C in OnlineGDB. Test every sample, including the boundary.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5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50" dirty="0">
                <a:solidFill>
                  <a:srgbClr val="E989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TODAY IN ONE SLIDE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69330"/>
            <a:ext cx="10883392" cy="430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90"/>
              </a:lnSpc>
              <a:buNone/>
            </a:pPr>
            <a:r>
              <a:rPr lang="en-US" sz="2900" b="1" i="0" dirty="0">
                <a:solidFill>
                  <a:srgbClr val="F6F3E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Calculate, convert, decide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12800" y="1664940"/>
            <a:ext cx="3437434" cy="2003921"/>
          </a:xfrm>
          <a:prstGeom prst="roundRect">
            <a:avLst>
              <a:gd name="adj" fmla="val 5070"/>
            </a:avLst>
          </a:prstGeom>
          <a:solidFill>
            <a:srgbClr val="1E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0600" y="1830040"/>
            <a:ext cx="3174289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989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90600" y="2226270"/>
            <a:ext cx="317428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3E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Operators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90600" y="2546300"/>
            <a:ext cx="3174289" cy="982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Arithmetic + − * / %, relational &gt; &lt; == !=, logical &amp;&amp; || !, assignment = +=, increment ++ --. Brackets settle the order.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7234" y="1664940"/>
            <a:ext cx="3437483" cy="2003921"/>
          </a:xfrm>
          <a:prstGeom prst="roundRect">
            <a:avLst>
              <a:gd name="adj" fmla="val 5070"/>
            </a:avLst>
          </a:prstGeom>
          <a:solidFill>
            <a:srgbClr val="1E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55034" y="1830040"/>
            <a:ext cx="317434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989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55034" y="2226270"/>
            <a:ext cx="317434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3E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Type conversion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55034" y="2546300"/>
            <a:ext cx="3174340" cy="982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 converts to the bigger type in mixed maths. Storing in a smaller type cuts decimals. Cast with (float) </a:t>
            </a:r>
            <a:r>
              <a:rPr lang="en-US" sz="1300" b="1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before</a:t>
            </a:r>
            <a:r>
              <a:rPr lang="en-US" sz="13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dividing.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41717" y="1664940"/>
            <a:ext cx="3437483" cy="2003921"/>
          </a:xfrm>
          <a:prstGeom prst="roundRect">
            <a:avLst>
              <a:gd name="adj" fmla="val 5070"/>
            </a:avLst>
          </a:prstGeom>
          <a:solidFill>
            <a:srgbClr val="1E31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19517" y="1830040"/>
            <a:ext cx="317434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989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19517" y="2226270"/>
            <a:ext cx="317434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3E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Decisions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19517" y="2546300"/>
            <a:ext cx="3174340" cy="743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C9CFD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if, if-else, else-if ladder, nested if, switch with break. Always test the boundary value.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E98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1523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NEXT CLASS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223790"/>
            <a:ext cx="10883392" cy="1869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1523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Riya's friends keep ordering until they say stop.</a:t>
            </a:r>
            <a:endParaRPr lang="en-US" sz="4400" dirty="0"/>
          </a:p>
          <a:p>
            <a:pPr marL="0" indent="0" algn="l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1523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How does a program repeat?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4296370"/>
            <a:ext cx="915670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dirty="0">
                <a:solidFill>
                  <a:srgbClr val="1523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Class 3: while, do-while, for, nested loops, break and continue.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57785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5233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Before next class: finish one task and fix the broken program.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P Module 2 · Class 2 — Calculate and Decide">
  <a:themeElements>
    <a:clrScheme name="FoCP Module 2 · Class 2 — Calculate and Decide">
      <a:dk1>
        <a:srgbClr val="1C2230"/>
      </a:dk1>
      <a:lt1>
        <a:srgbClr val="F6F3EC"/>
      </a:lt1>
      <a:dk2>
        <a:srgbClr val="53565F"/>
      </a:dk2>
      <a:lt2>
        <a:srgbClr val="E0DED9"/>
      </a:lt2>
      <a:accent1>
        <a:srgbClr val="E9893F"/>
      </a:accent1>
      <a:accent2>
        <a:srgbClr val="2A5BD7"/>
      </a:accent2>
      <a:accent3>
        <a:srgbClr val="A94F17"/>
      </a:accent3>
      <a:accent4>
        <a:srgbClr val="FBE3CF"/>
      </a:accent4>
      <a:accent5>
        <a:srgbClr val="1B6B45"/>
      </a:accent5>
      <a:accent6>
        <a:srgbClr val="1E3157"/>
      </a:accent6>
      <a:hlink>
        <a:srgbClr val="0563C1"/>
      </a:hlink>
      <a:folHlink>
        <a:srgbClr val="954F72"/>
      </a:folHlink>
    </a:clrScheme>
    <a:fontScheme name="FoCP Module 2 · Class 2 — Calculate and Decide">
      <a:majorFont>
        <a:latin typeface="Rubi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ubi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7728</Words>
  <Application>Microsoft Macintosh PowerPoint</Application>
  <PresentationFormat>Widescreen</PresentationFormat>
  <Paragraphs>1091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JetBrains Mono</vt:lpstr>
      <vt:lpstr>Rubik</vt:lpstr>
      <vt:lpstr>FoCP Module 2 · Class 2 — Calculate and Decide</vt:lpstr>
      <vt:lpstr>Calculate and decide</vt:lpstr>
      <vt:lpstr>Three topics, one smarter bill</vt:lpstr>
      <vt:lpstr>A hostel group orders ₹250. The program gives 10% off.</vt:lpstr>
      <vt:lpstr>What is an operator? An action on values</vt:lpstr>
      <vt:lpstr>Arithmetic operators: do the maths</vt:lpstr>
      <vt:lpstr>Integer division and remainder, the samosa way</vt:lpstr>
      <vt:lpstr>Relational operators: compare and answer yes or no</vt:lpstr>
      <vt:lpstr>Logical operators: combine conditions</vt:lpstr>
      <vt:lpstr>Assignment operators: keep a running total</vt:lpstr>
      <vt:lpstr>Increment and decrement: ++ and --</vt:lpstr>
      <vt:lpstr>Precedence: which operator runs first (C's BODMAS)</vt:lpstr>
      <vt:lpstr>What is the answer?</vt:lpstr>
      <vt:lpstr>Be the cashier: change, notes and coins</vt:lpstr>
      <vt:lpstr>Who gets the offer? You decide</vt:lpstr>
      <vt:lpstr>Operators practice: 7 blanks, 7 operators</vt:lpstr>
      <vt:lpstr>Check your operators</vt:lpstr>
      <vt:lpstr>What is type conversion? Moving a value to a different type</vt:lpstr>
      <vt:lpstr>Implicit conversion: what C does on its own</vt:lpstr>
      <vt:lpstr>The 84.00 bug, step by step</vt:lpstr>
      <vt:lpstr>Explicit casting: (type) value</vt:lpstr>
      <vt:lpstr>What is the result?</vt:lpstr>
      <vt:lpstr>Split the bill: is it fair?</vt:lpstr>
      <vt:lpstr>Type conversion practice: 5 blanks</vt:lpstr>
      <vt:lpstr>Check your answers</vt:lpstr>
      <vt:lpstr>What is a conditional statement? A program that chooses</vt:lpstr>
      <vt:lpstr>if: do something only when the condition is true</vt:lpstr>
      <vt:lpstr>if-else: choose one of two paths</vt:lpstr>
      <vt:lpstr>else-if ladder: choose one of many</vt:lpstr>
      <vt:lpstr>Nested if: a decision inside a decision</vt:lpstr>
      <vt:lpstr>switch: like a canteen machine with numbered buttons</vt:lpstr>
      <vt:lpstr>What happens without break? Fall-through</vt:lpstr>
      <vt:lpstr>Fixed with break, and when fall-through helps</vt:lpstr>
      <vt:lpstr>What gets printed?</vt:lpstr>
      <vt:lpstr>Riya's bill, now with average and discount</vt:lpstr>
      <vt:lpstr>What will the program print?</vt:lpstr>
      <vt:lpstr>Two programs to try in OnlineGDB</vt:lpstr>
      <vt:lpstr>Complete the program: 5 blanks</vt:lpstr>
      <vt:lpstr>Check your answers</vt:lpstr>
      <vt:lpstr>Electricity bill with slabs</vt:lpstr>
      <vt:lpstr>Grade calculator</vt:lpstr>
      <vt:lpstr>Auto fare, now in C</vt:lpstr>
      <vt:lpstr>Calculate, convert, decide</vt:lpstr>
      <vt:lpstr>Riya's friends keep ordering until they say stop. How does a program repeat?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FoCP Module 2 · Class 2 — Calculate and Decide</dc:title>
  <dc:subject/>
  <dc:creator/>
  <cp:lastModifiedBy>Sachin Dudda Nagaraju</cp:lastModifiedBy>
  <cp:revision>2</cp:revision>
  <dcterms:created xsi:type="dcterms:W3CDTF">2026-10-12T17:11:03Z</dcterms:created>
  <dcterms:modified xsi:type="dcterms:W3CDTF">2026-10-12T17:30:22Z</dcterms:modified>
</cp:coreProperties>
</file>