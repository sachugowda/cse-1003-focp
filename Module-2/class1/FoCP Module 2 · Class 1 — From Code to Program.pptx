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1 of 3 for Module 2. Method for every topic: real use case, then how the program works, predict questions, run it in OnlineGDB, fill-in-the-blank, and a transfer task. Keep the pace brisk: 8 syllabus topics in 60 minutes, with the lab carrying the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exactly the Module 2 syllabus topics for today, in syllabus order. Tell students to watch the topic number at the top of each slide. Operators, type conversion, decisions and loops come in Classes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finished output first so students know where the class is going. Ask: what parts of C do you think this needs? Collect guesses: printing, reading numbers, storing values, calculating. Each guess is one of today's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program line by line and follow each arrow. 1: #include borrows the toolbox, like taking the canteen's billing machine before starting work. 2: a comment is a sticky note for humans; the compiler ignores it. 3: main is the front door; every program starts running here, and C is case-sensitive, so Main will not work. 4: each statement is one instruction and ends with a semicolon. 5: return 0 is the 'order complete' signal to the system. 6: the closing brace ends main's body. Ask: which line would you change to print Riya's name instead? (Line 5, the printf.)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aloud before each reveal. These connect straight back to the four error types from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kitchen story before any technical words. 1: you write the recipe (bill.c). 2: before cooking, gather everything the recipe lists, like the stdio.h toolbox (preprocessor). 3: translate the recipe into the cook's language, and a good translator refuses a recipe with mistakes (compiler, which finds syntax errors). 4: prepare the parts of the dish (assembler makes machine code). 5: add ready-made items from the store, like chutney you didn't make yourself (linker adds printf and scanf from the C library; a missing main fails here). 6: serve the plate (loader puts the program in memory and the CPU runs it). Next slide walks the same six steps with the real files, one click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click brings in the next stage with its arrow, so you control the pace. For every stage say three things: its kitchen name from the previous slide, what it does, and the file it makes. Stage 3, the compiler, is where syntax errors are caught (missing semicolon). Stage 5, the linker, is where a misspelt main fails. The last click shows that one gcc command runs stages 2 to 5, and ./bill runs the program. The small dark boxes are a peek at what each file looks like; the machine code shown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gcc -E live on your laptop and show the line count jump (wc -l bill.i). Students find it surprising that a 30-line program becomes about 800 lines. The lab sheet has these as a challenge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analogies before showing any code. A STOP sign has one fixed meaning everyone agrees on; 112 is reserved, so no one can take it as a personal number. Keywords are C's reserved words: the compiler already knows exactly what each one means. int always means 'make a whole-number box', so you can't also use int as the name of your variable. Ask: what other reserved words do you know in daily life? (Answers like 'Out' in cricket, or 'Present' in roll call.) Next slide shows all 32 keywords of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ask students to memorise the list. Show that the 32 keywords fall into a few families, each with a job. Today we use the data types (orange). Decisions come in Class 2, loops in Class 3. For each family, read one keyword and its meaning aloud, and connect it to the canteen: int for the number of chai, float for a price like 12.50, if for the 10% discount, a loop for taking orders until the customer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through this slide; it's a map, not a lesson. Point out the three we already used today: const, sizeof and return. Mention goto only to say good programs avoid it, because jumping around makes code hard to follow. struct is worth a teaser: in Module 5 they'll store a whole student record, roll number, name and marks, in one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kitchen analogy: jars in the canteen kitchen are labelled price, qty and total. You choose the label; the label is how you find the jar again; what's inside is the value. In C, int qty = 2; has three parts: int is a keyword, C's own word; qty is an identifier, the name you chose; 2 is the value stored inside. Identifiers name every variable, constant and function you create. Surprise for students: main is not a keyword, it's an identifier, the name of a function. Then contrast with the previous slides: a keyword is like the STOP sign, owned by C; an identifier is like a jar label, chosen by you. Next slide: the rules for writing a valid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Identifiers are the names of variables, constants and functions. Good names make code readable: chai_price beats x. Point out that total and Total are two different identifiers, a common source of confusing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show thumbs up for valid, thumbs down for invalid before each reveal. Fast and fun.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Kitchen first: you never pour chai into a spoon or measure salt with a jug; you choose the container that fits. A data type is exactly that choice in C, made when you declare a variable. It tells the compiler three things: what kind of value goes in, how many bytes of memory to reserve, and which operations make sense. Connect to the jars on the identifier slide: the label is the identifier, the jar size is the data type, what's inside is the value. Next slide: the two families of data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Primitive types are C's basic building blocks: each holds exactly one value, like one cup holds one chai. Non-primitive (also called derived or user-defined) types are built from primitives: an array is a row of identical cups, for example the prices of all 5 menu items; a string is a row of characters; a structure is like a tiffin box with different compartments, a student's roll number, name and marks together; a pointer is a slip of paper that says where a jar is kept. Reassure students: today is only the primitive family; arrays and strings come in Module 4, structures and pointers in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containers in the canteen kitchen. A small cup for one spoon of sugar (char), a glass for chai (int), a bigger jug when you need precision (double). Choose the container that fits the data: quantity is a whole number, so int; a price like 12.50 needs float. The format specifier row matters for printf and scanf later today. Sizes can differ on other systems; sizeof tells you exactly,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Exam-friendly summary table. The int range links back to Module 1: 4 bytes = 32 bits. If time allows, ask: what happens if a count goes past 2.1 billion? (Overflow, a preview of Class 2.) Note: printf uses %f for both float and double; scanf needs %lf for double.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sizes.c live in OnlineGDB. Before running, ask students to predict each size from the previous slide. %zu is the format specifier for sizeof results; students only need to copy it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scoreboard: the board says RUNS all match long, but the number changes after every ball. A variable is the same: the name stays, the value can vary, which is where the word comes from. Then the four parts, pulling together the last three topics: the name is an identifier, the type is a data type, the value is what's stored, and the address is where it sits in memory (shown as 1000; real addresses look different). Contrast with constants, coming soon: a constant is a scoreboard you are not allowed to change. Next slide: step by step, what happens in memory when we create and change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click adds one row: the code line that just ran, the state of the three boxes after it, and what happened. Read the line aloud, ask students to predict the boxes, then click. Row 1: declaring creates the box, but the value is garbage. Row 2: = stores a value. Row 3: declare and initialise together. Row 4: total reads qty and price. Row 5 is the key moment: ask, what is total now? Many will say 30. It is still 20, because total was calculated before qty changed. Row 6 recalculates. The last click shows the rule: variables never update by themselves. Addresses and garbage values are explained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verbs students must be able to tell apart. A quick exam question: identify declaration, initialisation and assignment in a short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per question; students write the answer before the reveal. Question 2 checks the 'variables don't update by themselves' idea from the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everyday constants. The MRP printed on a packet of chips: the shopkeeper can't decide to charge more, it's fixed. And T20 cricket: the runs on the scoreboard change all the time, that's our variable from before, but the number of overs is fixed at 20 by the rules. In C, a constant is a value the program is not allowed to change after it's set. The table puts variable and constant side by side. Naming habit: constants in CAPITALS so everyone can see at a glance that they're fixed. If anyone tries to change a constant, the compiler stops with an error, which protects values like prices and tax rates. Next slide: the two ways to write constants in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literals written straight into code, and named constants. const is a variable that cannot be changed; #define is a preprocessor substitution (it happens in stage 2 of the life cycle, a nice link). Convention: named constants in CAPITALS. Show the compile error live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printf aloud piece by piece. The format string is a template with gaps; the values after the comma fill the gaps in order. Ask: what prints if total is 110? Then: what if we forget the \n? (The next output continues on the same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table students can copy. Ask: how would you print a price as Rs 12.50? (%.2f). Why does %f print 12.500000? (Six decimal places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click adds one step. Read the code in the row, ask what will happen, then click. Step 1: printf shows the question. Step 2: Riya types 2 and presses Enter; scanf waits until Enter. Step 3: %d tells scanf to read a whole number (int). Step 4 is the key idea: &amp;chai means the address of chai. scanf has to put the number INTO the box, so it needs to know where the box is. Step 5: the 2 lands in the box. Step 6: printf only reads the value, so it needs no &amp;. The last click shows the classic mistake of forgetting the &amp;. Addresses come back properly with pointers in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mistakes 1 and 2 live in OnlineGDB so students see the symptoms. Mistake 3 confuses students for weeks: after scanf of a number, the Enter key stays in the input, and %c reads it. The space in ' %c' skips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program top to bottom and name the topic for each part using the line numbers on the left. The calculation on lines 17 and 18 uses * and +, which we study properly next class. This exact file is bill.c, ready to paste into OnlineGDB.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predictions on paper or Menti before you run. Question 3 shows why constants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paste bill.c into OnlineGDB, press Save, then Share, and copy the link. Put the link and a QR code on this slide. Students without laptops can use their phones; OnlineGDB works in a mobile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bill_blanks.c as a second OnlineGDB link. Students fill in the blanks, then run it; if it compiles and prints the right total, they've got them right. Walk around and look at blank 3: the missing &amp; is where most get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at a time and ask a pair to explain each answer: which topic does 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easiest transfer task: almost the same shape as the canteen bill. Let students write it from the pseudocode. Expected answer: const int RATE = 7; int units, bill; scanf with &amp;units; bill = units * RATE. Test inputs: 120 gives 840, 0 gives 0, 350 gives 2450. Solution file: task1_electricity.c.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skill: reading several numbers with one scanf. The bonus is deliberate: if students compute the average as total / 3 with ints, 245 / 3 gives 81 instead of 81.67. Don't explain yet; tell them Class 2 explains exactly why. Solution file: task2_report.c.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modify task rather than write-from-scratch: students open the bill.c OnlineGDB link, fork it, and make 5 small changes. This is how real programmers work, changing existing code. Solution file: task3_canteen_tea.c.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hunt on code students now understand. Give 3 minutes in pairs, then reveal one answer per click. Line 5: missing semicolon, a syntax error; gcc also reports units and bill as undeclared, because one missing ; confuses the compiler about the next lines. That's the tip on the last click. Line 9: missing &amp;, compiles with a warning but may crash. Line 11: + instead of *, runs fine but prints Rs 127 instead of Rs 840 for 120 units. Two more broken programs for practice: task2_broken.c (report card) and task3_broken.c (tea), with 3 bugs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close their notebooks and name as many of the 8 topics as they can. Then reveal this slide. Good moment for a 1-minute Menti: which topic is least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cliffhanger. Mention that the report card average will give a surprising wrong answer, and that next class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13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C2230"/>
                </a:solidFill>
                <a:latin typeface="Rubik" pitchFamily="34" charset="0"/>
                <a:ea typeface="Rubik" pitchFamily="34" charset="-122"/>
                <a:cs typeface="Rubi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44030"/>
            <a:ext cx="10566400" cy="4201170"/>
          </a:xfrm>
          <a:prstGeom prst="rect">
            <a:avLst/>
          </a:prstGeom>
          <a:noFill/>
          <a:ln/>
        </p:spPr>
        <p:txBody>
          <a:bodyPr wrap="square" lIns="0" tIns="0" rIns="0" bIns="0" rtlCol="0" anchor="t"/>
          <a:lstStyle>
            <a:lvl1pPr algn="l" indent="0" marL="0">
              <a:lnSpc>
                <a:spcPct val="140000"/>
              </a:lnSpc>
              <a:buNone/>
              <a:defRPr lang="en-US" sz="1600" dirty="0">
                <a:solidFill>
                  <a:srgbClr val="1C2230"/>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13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C2230"/>
                </a:solidFill>
                <a:latin typeface="Rubik" pitchFamily="34" charset="0"/>
                <a:ea typeface="Rubik" pitchFamily="34" charset="-122"/>
                <a:cs typeface="Rubi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44030"/>
            <a:ext cx="10566400" cy="4201170"/>
          </a:xfrm>
          <a:prstGeom prst="rect">
            <a:avLst/>
          </a:prstGeom>
          <a:noFill/>
          <a:ln/>
        </p:spPr>
        <p:txBody>
          <a:bodyPr wrap="square" lIns="0" tIns="0" rIns="0" bIns="0" rtlCol="0" anchor="t"/>
          <a:lstStyle>
            <a:lvl1pPr algn="l" indent="0" marL="0">
              <a:lnSpc>
                <a:spcPct val="140000"/>
              </a:lnSpc>
              <a:buNone/>
              <a:defRPr lang="en-US" sz="1600" dirty="0">
                <a:solidFill>
                  <a:srgbClr val="1C2230"/>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2.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2.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2.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www.onlinegdb.com/r0IkkMjzI" TargetMode="External"/><Relationship Id="rId2" Type="http://schemas.openxmlformats.org/officeDocument/2006/relationships/image" Target="../media/image-32-1.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onlinegdb.com/sio4ZG1L6" TargetMode="External"/><Relationship Id="rId2" Type="http://schemas.openxmlformats.org/officeDocument/2006/relationships/image" Target="../media/image-33-1.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hyperlink" Target="https://onlinegdb.com/rVU0IAlIQ" TargetMode="External"/><Relationship Id="rId3" Type="http://schemas.openxmlformats.org/officeDocument/2006/relationships/hyperlink" Target="https://onlinegdb.com/rVU0IAlIQ" TargetMode="External"/><Relationship Id="rId1" Type="http://schemas.openxmlformats.org/officeDocument/2006/relationships/image" Target="../media/image-38-1.pn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9893F"/>
                </a:solidFill>
                <a:latin typeface="Rubik" pitchFamily="34" charset="0"/>
                <a:ea typeface="Rubik" pitchFamily="34" charset="-122"/>
                <a:cs typeface="Rubik" pitchFamily="34" charset="-120"/>
              </a:rPr>
              <a:t>CSE-1003 · MODULE 2 · CLASS 1</a:t>
            </a:r>
            <a:endParaRPr lang="en-US" sz="1400" dirty="0"/>
          </a:p>
        </p:txBody>
      </p:sp>
      <p:sp>
        <p:nvSpPr>
          <p:cNvPr id="3" name="Text 1"/>
          <p:cNvSpPr/>
          <p:nvPr>
            <p:ph type="title"/>
          </p:nvPr>
        </p:nvSpPr>
        <p:spPr>
          <a:xfrm>
            <a:off x="812800" y="2639070"/>
            <a:ext cx="10883392" cy="71879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6F3EC"/>
                </a:solidFill>
                <a:latin typeface="Rubik" pitchFamily="34" charset="0"/>
                <a:ea typeface="Rubik" pitchFamily="34" charset="-122"/>
                <a:cs typeface="Rubik" pitchFamily="34" charset="-120"/>
              </a:rPr>
              <a:t>From code to program</a:t>
            </a:r>
            <a:endParaRPr lang="en-US" sz="5200" dirty="0"/>
          </a:p>
        </p:txBody>
      </p:sp>
      <p:sp>
        <p:nvSpPr>
          <p:cNvPr id="4" name="Text 2"/>
          <p:cNvSpPr/>
          <p:nvPr/>
        </p:nvSpPr>
        <p:spPr>
          <a:xfrm>
            <a:off x="812800" y="3561060"/>
            <a:ext cx="850265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FDA"/>
                </a:solidFill>
                <a:latin typeface="Rubik" pitchFamily="34" charset="0"/>
                <a:ea typeface="Rubik" pitchFamily="34" charset="-122"/>
                <a:cs typeface="Rubik" pitchFamily="34" charset="-120"/>
              </a:rPr>
              <a:t>Today we write Riya's canteen bill in C, and learn every piece it needs on the way.</a:t>
            </a:r>
            <a:endParaRPr lang="en-US" sz="1800" dirty="0"/>
          </a:p>
        </p:txBody>
      </p:sp>
      <p:sp>
        <p:nvSpPr>
          <p:cNvPr id="5" name="Text 3"/>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FDA"/>
                </a:solidFill>
                <a:latin typeface="Rubik" pitchFamily="34" charset="0"/>
                <a:ea typeface="Rubik" pitchFamily="34" charset="-122"/>
                <a:cs typeface="Rubik" pitchFamily="34" charset="-120"/>
              </a:rPr>
              <a:t>Basic Programming and Control Statements · Dr Sachin D N · IIIT Bhopal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TODAY'S SYLLABUS TOPICS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Eight topics, one program</a:t>
            </a:r>
            <a:endParaRPr lang="en-US" sz="3000" dirty="0"/>
          </a:p>
        </p:txBody>
      </p:sp>
      <p:sp>
        <p:nvSpPr>
          <p:cNvPr id="4" name="Shape 2"/>
          <p:cNvSpPr/>
          <p:nvPr/>
        </p:nvSpPr>
        <p:spPr>
          <a:xfrm>
            <a:off x="815975" y="1796405"/>
            <a:ext cx="5226050" cy="605780"/>
          </a:xfrm>
          <a:prstGeom prst="roundRect">
            <a:avLst>
              <a:gd name="adj" fmla="val 16248"/>
            </a:avLst>
          </a:prstGeom>
          <a:solidFill>
            <a:srgbClr val="FFFDF8"/>
          </a:solidFill>
          <a:ln w="6350">
            <a:solidFill>
              <a:srgbClr val="E2DDD2"/>
            </a:solidFill>
            <a:prstDash val="solid"/>
          </a:ln>
        </p:spPr>
      </p:sp>
      <p:sp>
        <p:nvSpPr>
          <p:cNvPr id="5" name="Text 3"/>
          <p:cNvSpPr/>
          <p:nvPr/>
        </p:nvSpPr>
        <p:spPr>
          <a:xfrm>
            <a:off x="996950" y="1939280"/>
            <a:ext cx="4064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94F17"/>
                </a:solidFill>
                <a:latin typeface="JetBrains Mono" pitchFamily="49" charset="0"/>
                <a:ea typeface="JetBrains Mono" pitchFamily="49" charset="-122"/>
                <a:cs typeface="JetBrains Mono" pitchFamily="49" charset="-120"/>
              </a:rPr>
              <a:t>1</a:t>
            </a:r>
            <a:endParaRPr lang="en-US" sz="1800" dirty="0"/>
          </a:p>
        </p:txBody>
      </p:sp>
      <p:sp>
        <p:nvSpPr>
          <p:cNvPr id="6" name="Text 4"/>
          <p:cNvSpPr/>
          <p:nvPr/>
        </p:nvSpPr>
        <p:spPr>
          <a:xfrm>
            <a:off x="1479550" y="1965920"/>
            <a:ext cx="278695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Structure of a C program</a:t>
            </a:r>
            <a:endParaRPr lang="en-US" sz="1500" dirty="0"/>
          </a:p>
        </p:txBody>
      </p:sp>
      <p:sp>
        <p:nvSpPr>
          <p:cNvPr id="7" name="Shape 5"/>
          <p:cNvSpPr/>
          <p:nvPr/>
        </p:nvSpPr>
        <p:spPr>
          <a:xfrm>
            <a:off x="6149975" y="1796405"/>
            <a:ext cx="5226050" cy="605780"/>
          </a:xfrm>
          <a:prstGeom prst="roundRect">
            <a:avLst>
              <a:gd name="adj" fmla="val 16248"/>
            </a:avLst>
          </a:prstGeom>
          <a:solidFill>
            <a:srgbClr val="FFFDF8"/>
          </a:solidFill>
          <a:ln w="6350">
            <a:solidFill>
              <a:srgbClr val="E2DDD2"/>
            </a:solidFill>
            <a:prstDash val="solid"/>
          </a:ln>
        </p:spPr>
      </p:sp>
      <p:sp>
        <p:nvSpPr>
          <p:cNvPr id="8" name="Text 6"/>
          <p:cNvSpPr/>
          <p:nvPr/>
        </p:nvSpPr>
        <p:spPr>
          <a:xfrm>
            <a:off x="6330950" y="1939280"/>
            <a:ext cx="4064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94F17"/>
                </a:solidFill>
                <a:latin typeface="JetBrains Mono" pitchFamily="49" charset="0"/>
                <a:ea typeface="JetBrains Mono" pitchFamily="49" charset="-122"/>
                <a:cs typeface="JetBrains Mono" pitchFamily="49" charset="-120"/>
              </a:rPr>
              <a:t>2</a:t>
            </a:r>
            <a:endParaRPr lang="en-US" sz="1800" dirty="0"/>
          </a:p>
        </p:txBody>
      </p:sp>
      <p:sp>
        <p:nvSpPr>
          <p:cNvPr id="9" name="Text 7"/>
          <p:cNvSpPr/>
          <p:nvPr/>
        </p:nvSpPr>
        <p:spPr>
          <a:xfrm>
            <a:off x="6813550" y="1965920"/>
            <a:ext cx="412468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Life cycle: source code to executable</a:t>
            </a:r>
            <a:endParaRPr lang="en-US" sz="1500" dirty="0"/>
          </a:p>
        </p:txBody>
      </p:sp>
      <p:sp>
        <p:nvSpPr>
          <p:cNvPr id="10" name="Shape 8"/>
          <p:cNvSpPr/>
          <p:nvPr/>
        </p:nvSpPr>
        <p:spPr>
          <a:xfrm>
            <a:off x="815975" y="2510135"/>
            <a:ext cx="5226050" cy="605780"/>
          </a:xfrm>
          <a:prstGeom prst="roundRect">
            <a:avLst>
              <a:gd name="adj" fmla="val 16248"/>
            </a:avLst>
          </a:prstGeom>
          <a:solidFill>
            <a:srgbClr val="FFFDF8"/>
          </a:solidFill>
          <a:ln w="6350">
            <a:solidFill>
              <a:srgbClr val="E2DDD2"/>
            </a:solidFill>
            <a:prstDash val="solid"/>
          </a:ln>
        </p:spPr>
      </p:sp>
      <p:sp>
        <p:nvSpPr>
          <p:cNvPr id="11" name="Text 9"/>
          <p:cNvSpPr/>
          <p:nvPr/>
        </p:nvSpPr>
        <p:spPr>
          <a:xfrm>
            <a:off x="996950" y="2653010"/>
            <a:ext cx="4064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94F17"/>
                </a:solidFill>
                <a:latin typeface="JetBrains Mono" pitchFamily="49" charset="0"/>
                <a:ea typeface="JetBrains Mono" pitchFamily="49" charset="-122"/>
                <a:cs typeface="JetBrains Mono" pitchFamily="49" charset="-120"/>
              </a:rPr>
              <a:t>3</a:t>
            </a:r>
            <a:endParaRPr lang="en-US" sz="1800" dirty="0"/>
          </a:p>
        </p:txBody>
      </p:sp>
      <p:sp>
        <p:nvSpPr>
          <p:cNvPr id="12" name="Text 10"/>
          <p:cNvSpPr/>
          <p:nvPr/>
        </p:nvSpPr>
        <p:spPr>
          <a:xfrm>
            <a:off x="1479550" y="2679650"/>
            <a:ext cx="109126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Keywords</a:t>
            </a:r>
            <a:endParaRPr lang="en-US" sz="1500" dirty="0"/>
          </a:p>
        </p:txBody>
      </p:sp>
      <p:sp>
        <p:nvSpPr>
          <p:cNvPr id="13" name="Shape 11"/>
          <p:cNvSpPr/>
          <p:nvPr/>
        </p:nvSpPr>
        <p:spPr>
          <a:xfrm>
            <a:off x="6149975" y="2510135"/>
            <a:ext cx="5226050" cy="605780"/>
          </a:xfrm>
          <a:prstGeom prst="roundRect">
            <a:avLst>
              <a:gd name="adj" fmla="val 16248"/>
            </a:avLst>
          </a:prstGeom>
          <a:solidFill>
            <a:srgbClr val="FFFDF8"/>
          </a:solidFill>
          <a:ln w="6350">
            <a:solidFill>
              <a:srgbClr val="E2DDD2"/>
            </a:solidFill>
            <a:prstDash val="solid"/>
          </a:ln>
        </p:spPr>
      </p:sp>
      <p:sp>
        <p:nvSpPr>
          <p:cNvPr id="14" name="Text 12"/>
          <p:cNvSpPr/>
          <p:nvPr/>
        </p:nvSpPr>
        <p:spPr>
          <a:xfrm>
            <a:off x="6330950" y="2653010"/>
            <a:ext cx="4064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94F17"/>
                </a:solidFill>
                <a:latin typeface="JetBrains Mono" pitchFamily="49" charset="0"/>
                <a:ea typeface="JetBrains Mono" pitchFamily="49" charset="-122"/>
                <a:cs typeface="JetBrains Mono" pitchFamily="49" charset="-120"/>
              </a:rPr>
              <a:t>4</a:t>
            </a:r>
            <a:endParaRPr lang="en-US" sz="1800" dirty="0"/>
          </a:p>
        </p:txBody>
      </p:sp>
      <p:sp>
        <p:nvSpPr>
          <p:cNvPr id="15" name="Text 13"/>
          <p:cNvSpPr/>
          <p:nvPr/>
        </p:nvSpPr>
        <p:spPr>
          <a:xfrm>
            <a:off x="6813550" y="2679650"/>
            <a:ext cx="115978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Identifiers</a:t>
            </a:r>
            <a:endParaRPr lang="en-US" sz="1500" dirty="0"/>
          </a:p>
        </p:txBody>
      </p:sp>
      <p:sp>
        <p:nvSpPr>
          <p:cNvPr id="16" name="Shape 14"/>
          <p:cNvSpPr/>
          <p:nvPr/>
        </p:nvSpPr>
        <p:spPr>
          <a:xfrm>
            <a:off x="815975" y="3223865"/>
            <a:ext cx="5226050" cy="605780"/>
          </a:xfrm>
          <a:prstGeom prst="roundRect">
            <a:avLst>
              <a:gd name="adj" fmla="val 16248"/>
            </a:avLst>
          </a:prstGeom>
          <a:solidFill>
            <a:srgbClr val="FFFDF8"/>
          </a:solidFill>
          <a:ln w="6350">
            <a:solidFill>
              <a:srgbClr val="E2DDD2"/>
            </a:solidFill>
            <a:prstDash val="solid"/>
          </a:ln>
        </p:spPr>
      </p:sp>
      <p:sp>
        <p:nvSpPr>
          <p:cNvPr id="17" name="Text 15"/>
          <p:cNvSpPr/>
          <p:nvPr/>
        </p:nvSpPr>
        <p:spPr>
          <a:xfrm>
            <a:off x="996950" y="3366740"/>
            <a:ext cx="4064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94F17"/>
                </a:solidFill>
                <a:latin typeface="JetBrains Mono" pitchFamily="49" charset="0"/>
                <a:ea typeface="JetBrains Mono" pitchFamily="49" charset="-122"/>
                <a:cs typeface="JetBrains Mono" pitchFamily="49" charset="-120"/>
              </a:rPr>
              <a:t>5</a:t>
            </a:r>
            <a:endParaRPr lang="en-US" sz="1800" dirty="0"/>
          </a:p>
        </p:txBody>
      </p:sp>
      <p:sp>
        <p:nvSpPr>
          <p:cNvPr id="18" name="Text 16"/>
          <p:cNvSpPr/>
          <p:nvPr/>
        </p:nvSpPr>
        <p:spPr>
          <a:xfrm>
            <a:off x="1479550" y="3393380"/>
            <a:ext cx="225438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Primitive data types</a:t>
            </a:r>
            <a:endParaRPr lang="en-US" sz="1500" dirty="0"/>
          </a:p>
        </p:txBody>
      </p:sp>
      <p:sp>
        <p:nvSpPr>
          <p:cNvPr id="19" name="Shape 17"/>
          <p:cNvSpPr/>
          <p:nvPr/>
        </p:nvSpPr>
        <p:spPr>
          <a:xfrm>
            <a:off x="6149975" y="3223865"/>
            <a:ext cx="5226050" cy="605780"/>
          </a:xfrm>
          <a:prstGeom prst="roundRect">
            <a:avLst>
              <a:gd name="adj" fmla="val 16248"/>
            </a:avLst>
          </a:prstGeom>
          <a:solidFill>
            <a:srgbClr val="FFFDF8"/>
          </a:solidFill>
          <a:ln w="6350">
            <a:solidFill>
              <a:srgbClr val="E2DDD2"/>
            </a:solidFill>
            <a:prstDash val="solid"/>
          </a:ln>
        </p:spPr>
      </p:sp>
      <p:sp>
        <p:nvSpPr>
          <p:cNvPr id="20" name="Text 18"/>
          <p:cNvSpPr/>
          <p:nvPr/>
        </p:nvSpPr>
        <p:spPr>
          <a:xfrm>
            <a:off x="6330950" y="3366740"/>
            <a:ext cx="4064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94F17"/>
                </a:solidFill>
                <a:latin typeface="JetBrains Mono" pitchFamily="49" charset="0"/>
                <a:ea typeface="JetBrains Mono" pitchFamily="49" charset="-122"/>
                <a:cs typeface="JetBrains Mono" pitchFamily="49" charset="-120"/>
              </a:rPr>
              <a:t>6</a:t>
            </a:r>
            <a:endParaRPr lang="en-US" sz="1800" dirty="0"/>
          </a:p>
        </p:txBody>
      </p:sp>
      <p:sp>
        <p:nvSpPr>
          <p:cNvPr id="21" name="Text 19"/>
          <p:cNvSpPr/>
          <p:nvPr/>
        </p:nvSpPr>
        <p:spPr>
          <a:xfrm>
            <a:off x="6813550" y="3393380"/>
            <a:ext cx="10329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Variables</a:t>
            </a:r>
            <a:endParaRPr lang="en-US" sz="1500" dirty="0"/>
          </a:p>
        </p:txBody>
      </p:sp>
      <p:sp>
        <p:nvSpPr>
          <p:cNvPr id="22" name="Shape 20"/>
          <p:cNvSpPr/>
          <p:nvPr/>
        </p:nvSpPr>
        <p:spPr>
          <a:xfrm>
            <a:off x="815975" y="3937595"/>
            <a:ext cx="5226050" cy="605780"/>
          </a:xfrm>
          <a:prstGeom prst="roundRect">
            <a:avLst>
              <a:gd name="adj" fmla="val 16248"/>
            </a:avLst>
          </a:prstGeom>
          <a:solidFill>
            <a:srgbClr val="FFFDF8"/>
          </a:solidFill>
          <a:ln w="6350">
            <a:solidFill>
              <a:srgbClr val="E2DDD2"/>
            </a:solidFill>
            <a:prstDash val="solid"/>
          </a:ln>
        </p:spPr>
      </p:sp>
      <p:sp>
        <p:nvSpPr>
          <p:cNvPr id="23" name="Text 21"/>
          <p:cNvSpPr/>
          <p:nvPr/>
        </p:nvSpPr>
        <p:spPr>
          <a:xfrm>
            <a:off x="996950" y="4080470"/>
            <a:ext cx="4064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94F17"/>
                </a:solidFill>
                <a:latin typeface="JetBrains Mono" pitchFamily="49" charset="0"/>
                <a:ea typeface="JetBrains Mono" pitchFamily="49" charset="-122"/>
                <a:cs typeface="JetBrains Mono" pitchFamily="49" charset="-120"/>
              </a:rPr>
              <a:t>7</a:t>
            </a:r>
            <a:endParaRPr lang="en-US" sz="1800" dirty="0"/>
          </a:p>
        </p:txBody>
      </p:sp>
      <p:sp>
        <p:nvSpPr>
          <p:cNvPr id="24" name="Text 22"/>
          <p:cNvSpPr/>
          <p:nvPr/>
        </p:nvSpPr>
        <p:spPr>
          <a:xfrm>
            <a:off x="1479550" y="4107111"/>
            <a:ext cx="116865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Constants</a:t>
            </a:r>
            <a:endParaRPr lang="en-US" sz="1500" dirty="0"/>
          </a:p>
        </p:txBody>
      </p:sp>
      <p:sp>
        <p:nvSpPr>
          <p:cNvPr id="25" name="Shape 23"/>
          <p:cNvSpPr/>
          <p:nvPr/>
        </p:nvSpPr>
        <p:spPr>
          <a:xfrm>
            <a:off x="6149975" y="3937595"/>
            <a:ext cx="5226050" cy="605780"/>
          </a:xfrm>
          <a:prstGeom prst="roundRect">
            <a:avLst>
              <a:gd name="adj" fmla="val 16248"/>
            </a:avLst>
          </a:prstGeom>
          <a:solidFill>
            <a:srgbClr val="FFFDF8"/>
          </a:solidFill>
          <a:ln w="6350">
            <a:solidFill>
              <a:srgbClr val="E2DDD2"/>
            </a:solidFill>
            <a:prstDash val="solid"/>
          </a:ln>
        </p:spPr>
      </p:sp>
      <p:sp>
        <p:nvSpPr>
          <p:cNvPr id="26" name="Text 24"/>
          <p:cNvSpPr/>
          <p:nvPr/>
        </p:nvSpPr>
        <p:spPr>
          <a:xfrm>
            <a:off x="6330950" y="4080470"/>
            <a:ext cx="4064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94F17"/>
                </a:solidFill>
                <a:latin typeface="JetBrains Mono" pitchFamily="49" charset="0"/>
                <a:ea typeface="JetBrains Mono" pitchFamily="49" charset="-122"/>
                <a:cs typeface="JetBrains Mono" pitchFamily="49" charset="-120"/>
              </a:rPr>
              <a:t>8</a:t>
            </a:r>
            <a:endParaRPr lang="en-US" sz="1800" dirty="0"/>
          </a:p>
        </p:txBody>
      </p:sp>
      <p:sp>
        <p:nvSpPr>
          <p:cNvPr id="27" name="Text 25"/>
          <p:cNvSpPr/>
          <p:nvPr/>
        </p:nvSpPr>
        <p:spPr>
          <a:xfrm>
            <a:off x="6813550" y="4107111"/>
            <a:ext cx="283904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Input/output statements</a:t>
            </a:r>
            <a:endParaRPr lang="en-US" sz="1500" dirty="0"/>
          </a:p>
        </p:txBody>
      </p:sp>
      <p:sp>
        <p:nvSpPr>
          <p:cNvPr id="28" name="Text 26"/>
          <p:cNvSpPr/>
          <p:nvPr/>
        </p:nvSpPr>
        <p:spPr>
          <a:xfrm>
            <a:off x="812800" y="480055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6273"/>
                </a:solidFill>
                <a:latin typeface="Rubik" pitchFamily="34" charset="0"/>
                <a:ea typeface="Rubik" pitchFamily="34" charset="-122"/>
                <a:cs typeface="Rubik" pitchFamily="34" charset="-120"/>
              </a:rPr>
              <a:t>Every slide shows its topic number at the top, so you always know where we are.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2246660"/>
            <a:ext cx="5677154"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TODAY'S GOAL</a:t>
            </a:r>
            <a:endParaRPr lang="en-US" sz="1300" dirty="0"/>
          </a:p>
        </p:txBody>
      </p:sp>
      <p:sp>
        <p:nvSpPr>
          <p:cNvPr id="3" name="Text 1"/>
          <p:cNvSpPr/>
          <p:nvPr>
            <p:ph type="title"/>
          </p:nvPr>
        </p:nvSpPr>
        <p:spPr>
          <a:xfrm>
            <a:off x="812800" y="2655590"/>
            <a:ext cx="5677154"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230"/>
                </a:solidFill>
                <a:latin typeface="Rubik" pitchFamily="34" charset="0"/>
                <a:ea typeface="Rubik" pitchFamily="34" charset="-122"/>
                <a:cs typeface="Rubik" pitchFamily="34" charset="-120"/>
              </a:rPr>
              <a:t>By the end of class, you will write this</a:t>
            </a:r>
            <a:endParaRPr lang="en-US" sz="3200" dirty="0"/>
          </a:p>
        </p:txBody>
      </p:sp>
      <p:sp>
        <p:nvSpPr>
          <p:cNvPr id="4" name="Text 2"/>
          <p:cNvSpPr/>
          <p:nvPr/>
        </p:nvSpPr>
        <p:spPr>
          <a:xfrm>
            <a:off x="812800" y="3727450"/>
            <a:ext cx="5677154"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A4150"/>
                </a:solidFill>
                <a:latin typeface="Rubik" pitchFamily="34" charset="0"/>
                <a:ea typeface="Rubik" pitchFamily="34" charset="-122"/>
                <a:cs typeface="Rubik" pitchFamily="34" charset="-120"/>
              </a:rPr>
              <a:t>A program that asks Riya what she ordered and prints her bill. The same ₹75 bill from Module 1, but this time </a:t>
            </a:r>
            <a:r>
              <a:rPr lang="en-US" sz="1600" b="1" dirty="0">
                <a:solidFill>
                  <a:srgbClr val="3A4150"/>
                </a:solidFill>
                <a:latin typeface="Rubik" pitchFamily="34" charset="0"/>
                <a:ea typeface="Rubik" pitchFamily="34" charset="-122"/>
                <a:cs typeface="Rubik" pitchFamily="34" charset="-120"/>
              </a:rPr>
              <a:t>you</a:t>
            </a:r>
            <a:r>
              <a:rPr lang="en-US" sz="1600" dirty="0">
                <a:solidFill>
                  <a:srgbClr val="3A4150"/>
                </a:solidFill>
                <a:latin typeface="Rubik" pitchFamily="34" charset="0"/>
                <a:ea typeface="Rubik" pitchFamily="34" charset="-122"/>
                <a:cs typeface="Rubik" pitchFamily="34" charset="-120"/>
              </a:rPr>
              <a:t> write the code.</a:t>
            </a:r>
            <a:endParaRPr lang="en-US" sz="1600" dirty="0"/>
          </a:p>
        </p:txBody>
      </p:sp>
      <p:sp>
        <p:nvSpPr>
          <p:cNvPr id="5" name="Text 3"/>
          <p:cNvSpPr/>
          <p:nvPr/>
        </p:nvSpPr>
        <p:spPr>
          <a:xfrm>
            <a:off x="6937375" y="2033290"/>
            <a:ext cx="4438650" cy="2791371"/>
          </a:xfrm>
          <a:prstGeom prst="roundRect">
            <a:avLst>
              <a:gd name="adj" fmla="val 3071"/>
            </a:avLst>
          </a:prstGeom>
          <a:solidFill>
            <a:srgbClr val="0C1528"/>
          </a:solidFill>
          <a:ln w="6350">
            <a:solidFill>
              <a:srgbClr val="2D3E63"/>
            </a:solidFill>
            <a:prstDash val="solid"/>
          </a:ln>
        </p:spPr>
        <p:txBody>
          <a:bodyPr wrap="square" lIns="168567" tIns="130467" rIns="47028" bIns="105067" rtlCol="0" anchor="t">
            <a:normAutofit/>
          </a:bodyPr>
          <a:lstStyle/>
          <a:p>
            <a:pPr algn="l" indent="0" marL="0">
              <a:lnSpc>
                <a:spcPts val="2170"/>
              </a:lnSpc>
              <a:buNone/>
            </a:pPr>
            <a:r>
              <a:rPr lang="en-US" sz="1400" dirty="0">
                <a:solidFill>
                  <a:srgbClr val="7FD1A4"/>
                </a:solidFill>
                <a:latin typeface="JetBrains Mono" pitchFamily="49" charset="0"/>
                <a:ea typeface="JetBrains Mono" pitchFamily="49" charset="-122"/>
                <a:cs typeface="JetBrains Mono" pitchFamily="49" charset="-120"/>
              </a:rPr>
              <a:t>=== IIIT Canteen ===</a:t>
            </a:r>
            <a:endParaRPr lang="en-US" sz="1400" dirty="0"/>
          </a:p>
          <a:p>
            <a:pPr algn="l" indent="0" marL="0">
              <a:lnSpc>
                <a:spcPts val="2170"/>
              </a:lnSpc>
              <a:buNone/>
            </a:pPr>
            <a:r>
              <a:rPr lang="en-US" sz="1400" dirty="0">
                <a:solidFill>
                  <a:srgbClr val="7FD1A4"/>
                </a:solidFill>
                <a:latin typeface="JetBrains Mono" pitchFamily="49" charset="0"/>
                <a:ea typeface="JetBrains Mono" pitchFamily="49" charset="-122"/>
                <a:cs typeface="JetBrains Mono" pitchFamily="49" charset="-120"/>
              </a:rPr>
              <a:t>How many chai? 2</a:t>
            </a:r>
            <a:endParaRPr lang="en-US" sz="1400" dirty="0"/>
          </a:p>
          <a:p>
            <a:pPr algn="l" indent="0" marL="0">
              <a:lnSpc>
                <a:spcPts val="2170"/>
              </a:lnSpc>
              <a:buNone/>
            </a:pPr>
            <a:r>
              <a:rPr lang="en-US" sz="1400" dirty="0">
                <a:solidFill>
                  <a:srgbClr val="7FD1A4"/>
                </a:solidFill>
                <a:latin typeface="JetBrains Mono" pitchFamily="49" charset="0"/>
                <a:ea typeface="JetBrains Mono" pitchFamily="49" charset="-122"/>
                <a:cs typeface="JetBrains Mono" pitchFamily="49" charset="-120"/>
              </a:rPr>
              <a:t>How many samosa? 1</a:t>
            </a:r>
            <a:endParaRPr lang="en-US" sz="1400" dirty="0"/>
          </a:p>
          <a:p>
            <a:pPr algn="l" indent="0" marL="0">
              <a:lnSpc>
                <a:spcPts val="2170"/>
              </a:lnSpc>
              <a:buNone/>
            </a:pPr>
            <a:r>
              <a:rPr lang="en-US" sz="1400" dirty="0">
                <a:solidFill>
                  <a:srgbClr val="7FD1A4"/>
                </a:solidFill>
                <a:latin typeface="JetBrains Mono" pitchFamily="49" charset="0"/>
                <a:ea typeface="JetBrains Mono" pitchFamily="49" charset="-122"/>
                <a:cs typeface="JetBrains Mono" pitchFamily="49" charset="-120"/>
              </a:rPr>
              <a:t>How many Maggi? 1</a:t>
            </a:r>
            <a:endParaRPr lang="en-US" sz="1400" dirty="0"/>
          </a:p>
          <a:p>
            <a:pPr algn="l" indent="0" marL="0">
              <a:lnSpc>
                <a:spcPts val="2170"/>
              </a:lnSpc>
              <a:buNone/>
            </a:pPr>
            <a:endParaRPr lang="en-US" sz="1400" dirty="0"/>
          </a:p>
          <a:p>
            <a:pPr algn="l" indent="0" marL="0">
              <a:lnSpc>
                <a:spcPts val="2170"/>
              </a:lnSpc>
              <a:buNone/>
            </a:pPr>
            <a:r>
              <a:rPr lang="en-US" sz="1400" dirty="0">
                <a:solidFill>
                  <a:srgbClr val="7FD1A4"/>
                </a:solidFill>
                <a:latin typeface="JetBrains Mono" pitchFamily="49" charset="0"/>
                <a:ea typeface="JetBrains Mono" pitchFamily="49" charset="-122"/>
                <a:cs typeface="JetBrains Mono" pitchFamily="49" charset="-120"/>
              </a:rPr>
              <a:t>Chai x 2 = Rs 20</a:t>
            </a:r>
            <a:endParaRPr lang="en-US" sz="1400" dirty="0"/>
          </a:p>
          <a:p>
            <a:pPr algn="l" indent="0" marL="0">
              <a:lnSpc>
                <a:spcPts val="2170"/>
              </a:lnSpc>
              <a:buNone/>
            </a:pPr>
            <a:r>
              <a:rPr lang="en-US" sz="1400" dirty="0">
                <a:solidFill>
                  <a:srgbClr val="7FD1A4"/>
                </a:solidFill>
                <a:latin typeface="JetBrains Mono" pitchFamily="49" charset="0"/>
                <a:ea typeface="JetBrains Mono" pitchFamily="49" charset="-122"/>
                <a:cs typeface="JetBrains Mono" pitchFamily="49" charset="-120"/>
              </a:rPr>
              <a:t>Samosa x 1 = Rs 15</a:t>
            </a:r>
            <a:endParaRPr lang="en-US" sz="1400" dirty="0"/>
          </a:p>
          <a:p>
            <a:pPr algn="l" indent="0" marL="0">
              <a:lnSpc>
                <a:spcPts val="2170"/>
              </a:lnSpc>
              <a:buNone/>
            </a:pPr>
            <a:r>
              <a:rPr lang="en-US" sz="1400" dirty="0">
                <a:solidFill>
                  <a:srgbClr val="7FD1A4"/>
                </a:solidFill>
                <a:latin typeface="JetBrains Mono" pitchFamily="49" charset="0"/>
                <a:ea typeface="JetBrains Mono" pitchFamily="49" charset="-122"/>
                <a:cs typeface="JetBrains Mono" pitchFamily="49" charset="-120"/>
              </a:rPr>
              <a:t>Maggi x 1 = Rs 40</a:t>
            </a:r>
            <a:endParaRPr lang="en-US" sz="1400" dirty="0"/>
          </a:p>
          <a:p>
            <a:pPr algn="l" indent="0" marL="0">
              <a:lnSpc>
                <a:spcPts val="2170"/>
              </a:lnSpc>
              <a:buNone/>
            </a:pPr>
            <a:r>
              <a:rPr lang="en-US" sz="1400" dirty="0">
                <a:solidFill>
                  <a:srgbClr val="7FD1A4"/>
                </a:solidFill>
                <a:latin typeface="JetBrains Mono" pitchFamily="49" charset="0"/>
                <a:ea typeface="JetBrains Mono" pitchFamily="49" charset="-122"/>
                <a:cs typeface="JetBrains Mono" pitchFamily="49" charset="-120"/>
              </a:rPr>
              <a:t>TOTAL = Rs 75</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1 OF 8 · STRUCTURE OF A C PROGRAM</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Every C program has the same parts</a:t>
            </a:r>
            <a:endParaRPr lang="en-US" sz="3000" dirty="0"/>
          </a:p>
        </p:txBody>
      </p:sp>
      <p:sp>
        <p:nvSpPr>
          <p:cNvPr id="4" name="Shape 2"/>
          <p:cNvSpPr/>
          <p:nvPr/>
        </p:nvSpPr>
        <p:spPr>
          <a:xfrm>
            <a:off x="812800" y="1905000"/>
            <a:ext cx="5207000" cy="2946400"/>
          </a:xfrm>
          <a:prstGeom prst="roundRect">
            <a:avLst>
              <a:gd name="adj" fmla="val 3879"/>
            </a:avLst>
          </a:prstGeom>
          <a:solidFill>
            <a:srgbClr val="15233F"/>
          </a:solidFill>
          <a:ln/>
        </p:spPr>
      </p:sp>
      <p:sp>
        <p:nvSpPr>
          <p:cNvPr id="5" name="Text 3"/>
          <p:cNvSpPr/>
          <p:nvPr/>
        </p:nvSpPr>
        <p:spPr>
          <a:xfrm>
            <a:off x="1041400" y="2133600"/>
            <a:ext cx="4892294" cy="381000"/>
          </a:xfrm>
          <a:prstGeom prst="rect">
            <a:avLst/>
          </a:prstGeom>
          <a:noFill/>
          <a:ln/>
        </p:spPr>
        <p:txBody>
          <a:bodyPr wrap="square" lIns="0" tIns="0" rIns="0" bIns="0" rtlCol="0" anchor="t">
            <a:normAutofit/>
          </a:bodyPr>
          <a:lstStyle/>
          <a:p>
            <a:pPr algn="l" indent="0" marL="0">
              <a:lnSpc>
                <a:spcPts val="2800"/>
              </a:lnSpc>
              <a:buNone/>
            </a:pPr>
            <a:r>
              <a:rPr lang="en-US" sz="1600" b="1" dirty="0">
                <a:solidFill>
                  <a:srgbClr val="E9893F"/>
                </a:solidFill>
                <a:latin typeface="JetBrains Mono" pitchFamily="49" charset="0"/>
                <a:ea typeface="JetBrains Mono" pitchFamily="49" charset="-122"/>
                <a:cs typeface="JetBrains Mono" pitchFamily="49" charset="-120"/>
              </a:rPr>
              <a:t>1 </a:t>
            </a:r>
            <a:r>
              <a:rPr lang="en-US" sz="1600" dirty="0">
                <a:solidFill>
                  <a:srgbClr val="FFC857"/>
                </a:solidFill>
                <a:latin typeface="JetBrains Mono" pitchFamily="49" charset="0"/>
                <a:ea typeface="JetBrains Mono" pitchFamily="49" charset="-122"/>
                <a:cs typeface="JetBrains Mono" pitchFamily="49" charset="-120"/>
              </a:rPr>
              <a:t>#include &lt;stdio.h&gt;</a:t>
            </a:r>
            <a:endParaRPr lang="en-US" sz="1600" dirty="0"/>
          </a:p>
        </p:txBody>
      </p:sp>
      <p:sp>
        <p:nvSpPr>
          <p:cNvPr id="6" name="Text 4"/>
          <p:cNvSpPr/>
          <p:nvPr/>
        </p:nvSpPr>
        <p:spPr>
          <a:xfrm>
            <a:off x="1041400" y="2844800"/>
            <a:ext cx="4892294" cy="381000"/>
          </a:xfrm>
          <a:prstGeom prst="rect">
            <a:avLst/>
          </a:prstGeom>
          <a:noFill/>
          <a:ln/>
        </p:spPr>
        <p:txBody>
          <a:bodyPr wrap="square" lIns="0" tIns="0" rIns="0" bIns="0" rtlCol="0" anchor="t">
            <a:normAutofit/>
          </a:bodyPr>
          <a:lstStyle/>
          <a:p>
            <a:pPr algn="l" indent="0" marL="0">
              <a:lnSpc>
                <a:spcPts val="2800"/>
              </a:lnSpc>
              <a:buNone/>
            </a:pPr>
            <a:r>
              <a:rPr lang="en-US" sz="1600" b="1" dirty="0">
                <a:solidFill>
                  <a:srgbClr val="E9893F"/>
                </a:solidFill>
                <a:latin typeface="JetBrains Mono" pitchFamily="49" charset="0"/>
                <a:ea typeface="JetBrains Mono" pitchFamily="49" charset="-122"/>
                <a:cs typeface="JetBrains Mono" pitchFamily="49" charset="-120"/>
              </a:rPr>
              <a:t>2 </a:t>
            </a:r>
            <a:r>
              <a:rPr lang="en-US" sz="1600" dirty="0">
                <a:solidFill>
                  <a:srgbClr val="FFC857"/>
                </a:solidFill>
                <a:latin typeface="JetBrains Mono" pitchFamily="49" charset="0"/>
                <a:ea typeface="JetBrains Mono" pitchFamily="49" charset="-122"/>
                <a:cs typeface="JetBrains Mono" pitchFamily="49" charset="-120"/>
              </a:rPr>
              <a:t>/* Riya's canteen bill */</a:t>
            </a:r>
            <a:endParaRPr lang="en-US" sz="1600" dirty="0"/>
          </a:p>
        </p:txBody>
      </p:sp>
      <p:sp>
        <p:nvSpPr>
          <p:cNvPr id="7" name="Text 5"/>
          <p:cNvSpPr/>
          <p:nvPr/>
        </p:nvSpPr>
        <p:spPr>
          <a:xfrm>
            <a:off x="1041400" y="3200400"/>
            <a:ext cx="4892294" cy="381000"/>
          </a:xfrm>
          <a:prstGeom prst="rect">
            <a:avLst/>
          </a:prstGeom>
          <a:noFill/>
          <a:ln/>
        </p:spPr>
        <p:txBody>
          <a:bodyPr wrap="square" lIns="0" tIns="0" rIns="0" bIns="0" rtlCol="0" anchor="t">
            <a:normAutofit/>
          </a:bodyPr>
          <a:lstStyle/>
          <a:p>
            <a:pPr algn="l" indent="0" marL="0">
              <a:lnSpc>
                <a:spcPts val="2800"/>
              </a:lnSpc>
              <a:buNone/>
            </a:pPr>
            <a:r>
              <a:rPr lang="en-US" sz="1600" b="1" dirty="0">
                <a:solidFill>
                  <a:srgbClr val="E9893F"/>
                </a:solidFill>
                <a:latin typeface="JetBrains Mono" pitchFamily="49" charset="0"/>
                <a:ea typeface="JetBrains Mono" pitchFamily="49" charset="-122"/>
                <a:cs typeface="JetBrains Mono" pitchFamily="49" charset="-120"/>
              </a:rPr>
              <a:t>3 </a:t>
            </a:r>
            <a:r>
              <a:rPr lang="en-US" sz="1600" dirty="0">
                <a:solidFill>
                  <a:srgbClr val="FFC857"/>
                </a:solidFill>
                <a:latin typeface="JetBrains Mono" pitchFamily="49" charset="0"/>
                <a:ea typeface="JetBrains Mono" pitchFamily="49" charset="-122"/>
                <a:cs typeface="JetBrains Mono" pitchFamily="49" charset="-120"/>
              </a:rPr>
              <a:t>int main(void) {</a:t>
            </a:r>
            <a:endParaRPr lang="en-US" sz="1600" dirty="0"/>
          </a:p>
        </p:txBody>
      </p:sp>
      <p:sp>
        <p:nvSpPr>
          <p:cNvPr id="8" name="Text 6"/>
          <p:cNvSpPr/>
          <p:nvPr/>
        </p:nvSpPr>
        <p:spPr>
          <a:xfrm>
            <a:off x="1041400" y="3556000"/>
            <a:ext cx="4914900" cy="381000"/>
          </a:xfrm>
          <a:prstGeom prst="rect">
            <a:avLst/>
          </a:prstGeom>
          <a:noFill/>
          <a:ln/>
        </p:spPr>
        <p:txBody>
          <a:bodyPr wrap="square" lIns="0" tIns="0" rIns="0" bIns="0" rtlCol="0" anchor="t">
            <a:normAutofit/>
          </a:bodyPr>
          <a:lstStyle/>
          <a:p>
            <a:pPr algn="l" indent="0" marL="0">
              <a:lnSpc>
                <a:spcPts val="2791"/>
              </a:lnSpc>
              <a:buNone/>
            </a:pPr>
            <a:r>
              <a:rPr lang="en-US" sz="1595" b="1" dirty="0">
                <a:solidFill>
                  <a:srgbClr val="E9893F"/>
                </a:solidFill>
                <a:latin typeface="JetBrains Mono" pitchFamily="49" charset="0"/>
                <a:ea typeface="JetBrains Mono" pitchFamily="49" charset="-122"/>
                <a:cs typeface="JetBrains Mono" pitchFamily="49" charset="-120"/>
              </a:rPr>
              <a:t>4 </a:t>
            </a:r>
            <a:r>
              <a:rPr lang="en-US" sz="1595" dirty="0">
                <a:solidFill>
                  <a:srgbClr val="FFC857"/>
                </a:solidFill>
                <a:latin typeface="JetBrains Mono" pitchFamily="49" charset="0"/>
                <a:ea typeface="JetBrains Mono" pitchFamily="49" charset="-122"/>
                <a:cs typeface="JetBrains Mono" pitchFamily="49" charset="-120"/>
              </a:rPr>
              <a:t>    printf("Hello, IIIT Canteen!\n");</a:t>
            </a:r>
            <a:endParaRPr lang="en-US" sz="1595" dirty="0"/>
          </a:p>
        </p:txBody>
      </p:sp>
      <p:sp>
        <p:nvSpPr>
          <p:cNvPr id="9" name="Text 7"/>
          <p:cNvSpPr/>
          <p:nvPr/>
        </p:nvSpPr>
        <p:spPr>
          <a:xfrm>
            <a:off x="1041400" y="3911600"/>
            <a:ext cx="4892294" cy="381000"/>
          </a:xfrm>
          <a:prstGeom prst="rect">
            <a:avLst/>
          </a:prstGeom>
          <a:noFill/>
          <a:ln/>
        </p:spPr>
        <p:txBody>
          <a:bodyPr wrap="square" lIns="0" tIns="0" rIns="0" bIns="0" rtlCol="0" anchor="t">
            <a:normAutofit/>
          </a:bodyPr>
          <a:lstStyle/>
          <a:p>
            <a:pPr algn="l" indent="0" marL="0">
              <a:lnSpc>
                <a:spcPts val="2800"/>
              </a:lnSpc>
              <a:buNone/>
            </a:pPr>
            <a:r>
              <a:rPr lang="en-US" sz="1600" b="1" dirty="0">
                <a:solidFill>
                  <a:srgbClr val="E9893F"/>
                </a:solidFill>
                <a:latin typeface="JetBrains Mono" pitchFamily="49" charset="0"/>
                <a:ea typeface="JetBrains Mono" pitchFamily="49" charset="-122"/>
                <a:cs typeface="JetBrains Mono" pitchFamily="49" charset="-120"/>
              </a:rPr>
              <a:t>5 </a:t>
            </a:r>
            <a:r>
              <a:rPr lang="en-US" sz="1600" dirty="0">
                <a:solidFill>
                  <a:srgbClr val="FFC857"/>
                </a:solidFill>
                <a:latin typeface="JetBrains Mono" pitchFamily="49" charset="0"/>
                <a:ea typeface="JetBrains Mono" pitchFamily="49" charset="-122"/>
                <a:cs typeface="JetBrains Mono" pitchFamily="49" charset="-120"/>
              </a:rPr>
              <a:t>    return 0;</a:t>
            </a:r>
            <a:endParaRPr lang="en-US" sz="1600" dirty="0"/>
          </a:p>
        </p:txBody>
      </p:sp>
      <p:sp>
        <p:nvSpPr>
          <p:cNvPr id="10" name="Text 8"/>
          <p:cNvSpPr/>
          <p:nvPr/>
        </p:nvSpPr>
        <p:spPr>
          <a:xfrm>
            <a:off x="1041400" y="4267200"/>
            <a:ext cx="4892294" cy="381000"/>
          </a:xfrm>
          <a:prstGeom prst="rect">
            <a:avLst/>
          </a:prstGeom>
          <a:noFill/>
          <a:ln/>
        </p:spPr>
        <p:txBody>
          <a:bodyPr wrap="square" lIns="0" tIns="0" rIns="0" bIns="0" rtlCol="0" anchor="t">
            <a:normAutofit/>
          </a:bodyPr>
          <a:lstStyle/>
          <a:p>
            <a:pPr algn="l" indent="0" marL="0">
              <a:lnSpc>
                <a:spcPts val="2800"/>
              </a:lnSpc>
              <a:buNone/>
            </a:pPr>
            <a:r>
              <a:rPr lang="en-US" sz="1600" b="1" dirty="0">
                <a:solidFill>
                  <a:srgbClr val="E9893F"/>
                </a:solidFill>
                <a:latin typeface="JetBrains Mono" pitchFamily="49" charset="0"/>
                <a:ea typeface="JetBrains Mono" pitchFamily="49" charset="-122"/>
                <a:cs typeface="JetBrains Mono" pitchFamily="49" charset="-120"/>
              </a:rPr>
              <a:t>6 </a:t>
            </a:r>
            <a:r>
              <a:rPr lang="en-US" sz="1600" dirty="0">
                <a:solidFill>
                  <a:srgbClr val="FFC857"/>
                </a:solidFill>
                <a:latin typeface="JetBrains Mono" pitchFamily="49" charset="0"/>
                <a:ea typeface="JetBrains Mono" pitchFamily="49" charset="-122"/>
                <a:cs typeface="JetBrains Mono" pitchFamily="49" charset="-120"/>
              </a:rPr>
              <a:t>}</a:t>
            </a:r>
            <a:endParaRPr lang="en-US" sz="1600" dirty="0"/>
          </a:p>
        </p:txBody>
      </p:sp>
      <p:sp>
        <p:nvSpPr>
          <p:cNvPr id="11" name="Shape 9"/>
          <p:cNvSpPr/>
          <p:nvPr/>
        </p:nvSpPr>
        <p:spPr>
          <a:xfrm>
            <a:off x="815975" y="5032375"/>
            <a:ext cx="5200650" cy="704850"/>
          </a:xfrm>
          <a:prstGeom prst="roundRect">
            <a:avLst>
              <a:gd name="adj" fmla="val 13964"/>
            </a:avLst>
          </a:prstGeom>
          <a:solidFill>
            <a:srgbClr val="0C1528"/>
          </a:solidFill>
          <a:ln w="6350">
            <a:solidFill>
              <a:srgbClr val="2D3E63"/>
            </a:solidFill>
            <a:prstDash val="solid"/>
          </a:ln>
        </p:spPr>
      </p:sp>
      <p:sp>
        <p:nvSpPr>
          <p:cNvPr id="12" name="Text 10"/>
          <p:cNvSpPr/>
          <p:nvPr/>
        </p:nvSpPr>
        <p:spPr>
          <a:xfrm>
            <a:off x="1047750" y="5278140"/>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Rubik" pitchFamily="34" charset="0"/>
                <a:ea typeface="Rubik" pitchFamily="34" charset="-122"/>
                <a:cs typeface="Rubik" pitchFamily="34" charset="-120"/>
              </a:rPr>
              <a:t>Output</a:t>
            </a:r>
            <a:endParaRPr lang="en-US" sz="1200" dirty="0"/>
          </a:p>
        </p:txBody>
      </p:sp>
      <p:sp>
        <p:nvSpPr>
          <p:cNvPr id="13" name="Text 11"/>
          <p:cNvSpPr/>
          <p:nvPr/>
        </p:nvSpPr>
        <p:spPr>
          <a:xfrm>
            <a:off x="1936750" y="5251450"/>
            <a:ext cx="2743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7FD1A4"/>
                </a:solidFill>
                <a:latin typeface="JetBrains Mono" pitchFamily="49" charset="0"/>
                <a:ea typeface="JetBrains Mono" pitchFamily="49" charset="-122"/>
                <a:cs typeface="JetBrains Mono" pitchFamily="49" charset="-120"/>
              </a:rPr>
              <a:t>Hello, IIIT Canteen!</a:t>
            </a:r>
            <a:endParaRPr lang="en-US" sz="1500" dirty="0"/>
          </a:p>
        </p:txBody>
      </p:sp>
      <p:pic>
        <p:nvPicPr>
          <p:cNvPr id="14" name="Image 0" descr="connector">    </p:cNvPr>
          <p:cNvPicPr>
            <a:picLocks noChangeAspect="1"/>
          </p:cNvPicPr>
          <p:nvPr/>
        </p:nvPicPr>
        <p:blipFill>
          <a:blip r:embed="rId1"/>
          <a:srcRect l="0" r="0" t="0" b="0"/>
          <a:stretch/>
        </p:blipFill>
        <p:spPr>
          <a:xfrm>
            <a:off x="5956300" y="2146300"/>
            <a:ext cx="1600200" cy="228600"/>
          </a:xfrm>
          <a:prstGeom prst="rect">
            <a:avLst/>
          </a:prstGeom>
        </p:spPr>
      </p:pic>
      <p:pic>
        <p:nvPicPr>
          <p:cNvPr id="15" name="Image 1" descr="connector">    </p:cNvPr>
          <p:cNvPicPr>
            <a:picLocks noChangeAspect="1"/>
          </p:cNvPicPr>
          <p:nvPr/>
        </p:nvPicPr>
        <p:blipFill>
          <a:blip r:embed="rId2"/>
          <a:srcRect l="0" r="0" t="0" b="0"/>
          <a:stretch/>
        </p:blipFill>
        <p:spPr>
          <a:xfrm>
            <a:off x="5956300" y="2832100"/>
            <a:ext cx="1600200" cy="254000"/>
          </a:xfrm>
          <a:prstGeom prst="rect">
            <a:avLst/>
          </a:prstGeom>
        </p:spPr>
      </p:pic>
      <p:pic>
        <p:nvPicPr>
          <p:cNvPr id="16" name="Image 2" descr="connector">    </p:cNvPr>
          <p:cNvPicPr>
            <a:picLocks noChangeAspect="1"/>
          </p:cNvPicPr>
          <p:nvPr/>
        </p:nvPicPr>
        <p:blipFill>
          <a:blip r:embed="rId3"/>
          <a:srcRect l="0" r="0" t="0" b="0"/>
          <a:stretch/>
        </p:blipFill>
        <p:spPr>
          <a:xfrm>
            <a:off x="5956300" y="3314700"/>
            <a:ext cx="1600200" cy="330200"/>
          </a:xfrm>
          <a:prstGeom prst="rect">
            <a:avLst/>
          </a:prstGeom>
        </p:spPr>
      </p:pic>
      <p:pic>
        <p:nvPicPr>
          <p:cNvPr id="17" name="Image 3" descr="connector">    </p:cNvPr>
          <p:cNvPicPr>
            <a:picLocks noChangeAspect="1"/>
          </p:cNvPicPr>
          <p:nvPr/>
        </p:nvPicPr>
        <p:blipFill>
          <a:blip r:embed="rId4"/>
          <a:srcRect l="0" r="0" t="0" b="0"/>
          <a:stretch/>
        </p:blipFill>
        <p:spPr>
          <a:xfrm>
            <a:off x="5956300" y="3670300"/>
            <a:ext cx="1600200" cy="660400"/>
          </a:xfrm>
          <a:prstGeom prst="rect">
            <a:avLst/>
          </a:prstGeom>
        </p:spPr>
      </p:pic>
      <p:pic>
        <p:nvPicPr>
          <p:cNvPr id="18" name="Image 4" descr="connector">    </p:cNvPr>
          <p:cNvPicPr>
            <a:picLocks noChangeAspect="1"/>
          </p:cNvPicPr>
          <p:nvPr/>
        </p:nvPicPr>
        <p:blipFill>
          <a:blip r:embed="rId5"/>
          <a:srcRect l="0" r="0" t="0" b="0"/>
          <a:stretch/>
        </p:blipFill>
        <p:spPr>
          <a:xfrm>
            <a:off x="5956300" y="4025900"/>
            <a:ext cx="1600200" cy="990600"/>
          </a:xfrm>
          <a:prstGeom prst="rect">
            <a:avLst/>
          </a:prstGeom>
        </p:spPr>
      </p:pic>
      <p:pic>
        <p:nvPicPr>
          <p:cNvPr id="19" name="Image 5" descr="connector">    </p:cNvPr>
          <p:cNvPicPr>
            <a:picLocks noChangeAspect="1"/>
          </p:cNvPicPr>
          <p:nvPr/>
        </p:nvPicPr>
        <p:blipFill>
          <a:blip r:embed="rId6"/>
          <a:srcRect l="0" r="0" t="0" b="0"/>
          <a:stretch/>
        </p:blipFill>
        <p:spPr>
          <a:xfrm>
            <a:off x="5956300" y="4381500"/>
            <a:ext cx="1600200" cy="1320800"/>
          </a:xfrm>
          <a:prstGeom prst="rect">
            <a:avLst/>
          </a:prstGeom>
        </p:spPr>
      </p:pic>
      <p:sp>
        <p:nvSpPr>
          <p:cNvPr id="20" name="Shape 12"/>
          <p:cNvSpPr/>
          <p:nvPr/>
        </p:nvSpPr>
        <p:spPr>
          <a:xfrm>
            <a:off x="7496175" y="1908175"/>
            <a:ext cx="3879850" cy="603250"/>
          </a:xfrm>
          <a:prstGeom prst="roundRect">
            <a:avLst>
              <a:gd name="adj" fmla="val 14211"/>
            </a:avLst>
          </a:prstGeom>
          <a:solidFill>
            <a:srgbClr val="FFFDF8"/>
          </a:solidFill>
          <a:ln w="6350">
            <a:solidFill>
              <a:srgbClr val="E2DDD2"/>
            </a:solidFill>
            <a:prstDash val="solid"/>
          </a:ln>
        </p:spPr>
      </p:sp>
      <p:pic>
        <p:nvPicPr>
          <p:cNvPr id="21" name="Image 6" descr="Toolbox">    </p:cNvPr>
          <p:cNvPicPr>
            <a:picLocks noChangeAspect="1"/>
          </p:cNvPicPr>
          <p:nvPr/>
        </p:nvPicPr>
        <p:blipFill>
          <a:blip r:embed="rId7"/>
          <a:srcRect l="0" r="0" t="0" b="0"/>
          <a:stretch/>
        </p:blipFill>
        <p:spPr>
          <a:xfrm>
            <a:off x="7651750" y="2006600"/>
            <a:ext cx="406400" cy="406400"/>
          </a:xfrm>
          <a:prstGeom prst="rect">
            <a:avLst/>
          </a:prstGeom>
        </p:spPr>
      </p:pic>
      <p:sp>
        <p:nvSpPr>
          <p:cNvPr id="22" name="Text 13"/>
          <p:cNvSpPr/>
          <p:nvPr/>
        </p:nvSpPr>
        <p:spPr>
          <a:xfrm>
            <a:off x="8185150" y="1972320"/>
            <a:ext cx="222646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1</a:t>
            </a:r>
            <a:r>
              <a:rPr lang="en-US" sz="1400" b="1" dirty="0">
                <a:solidFill>
                  <a:srgbClr val="1C2230"/>
                </a:solidFill>
                <a:latin typeface="Rubik" pitchFamily="34" charset="0"/>
                <a:ea typeface="Rubik" pitchFamily="34" charset="-122"/>
                <a:cs typeface="Rubik" pitchFamily="34" charset="-120"/>
              </a:rPr>
              <a:t>  Borrow the toolbox</a:t>
            </a:r>
            <a:endParaRPr lang="en-US" sz="1400" dirty="0"/>
          </a:p>
        </p:txBody>
      </p:sp>
      <p:sp>
        <p:nvSpPr>
          <p:cNvPr id="23" name="Text 14"/>
          <p:cNvSpPr/>
          <p:nvPr/>
        </p:nvSpPr>
        <p:spPr>
          <a:xfrm>
            <a:off x="8185150" y="2233910"/>
            <a:ext cx="1911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Rubik" pitchFamily="34" charset="0"/>
                <a:ea typeface="Rubik" pitchFamily="34" charset="-122"/>
                <a:cs typeface="Rubik" pitchFamily="34" charset="-120"/>
              </a:rPr>
              <a:t>Gives us printf and scanf</a:t>
            </a:r>
            <a:endParaRPr lang="en-US" sz="1200" dirty="0"/>
          </a:p>
        </p:txBody>
      </p:sp>
      <p:sp>
        <p:nvSpPr>
          <p:cNvPr id="24" name="Shape 15"/>
          <p:cNvSpPr/>
          <p:nvPr/>
        </p:nvSpPr>
        <p:spPr>
          <a:xfrm>
            <a:off x="7496175" y="2593975"/>
            <a:ext cx="3879850" cy="603250"/>
          </a:xfrm>
          <a:prstGeom prst="roundRect">
            <a:avLst>
              <a:gd name="adj" fmla="val 14211"/>
            </a:avLst>
          </a:prstGeom>
          <a:solidFill>
            <a:srgbClr val="FFFDF8"/>
          </a:solidFill>
          <a:ln w="6350">
            <a:solidFill>
              <a:srgbClr val="E2DDD2"/>
            </a:solidFill>
            <a:prstDash val="solid"/>
          </a:ln>
        </p:spPr>
      </p:sp>
      <p:pic>
        <p:nvPicPr>
          <p:cNvPr id="25" name="Image 7" descr="Sticky note">    </p:cNvPr>
          <p:cNvPicPr>
            <a:picLocks noChangeAspect="1"/>
          </p:cNvPicPr>
          <p:nvPr/>
        </p:nvPicPr>
        <p:blipFill>
          <a:blip r:embed="rId8"/>
          <a:srcRect l="0" r="0" t="0" b="0"/>
          <a:stretch/>
        </p:blipFill>
        <p:spPr>
          <a:xfrm>
            <a:off x="7651750" y="2692400"/>
            <a:ext cx="406400" cy="406400"/>
          </a:xfrm>
          <a:prstGeom prst="rect">
            <a:avLst/>
          </a:prstGeom>
        </p:spPr>
      </p:pic>
      <p:sp>
        <p:nvSpPr>
          <p:cNvPr id="26" name="Text 16"/>
          <p:cNvSpPr/>
          <p:nvPr/>
        </p:nvSpPr>
        <p:spPr>
          <a:xfrm>
            <a:off x="8185150" y="2658120"/>
            <a:ext cx="233879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2</a:t>
            </a:r>
            <a:r>
              <a:rPr lang="en-US" sz="1400" b="1" dirty="0">
                <a:solidFill>
                  <a:srgbClr val="1C2230"/>
                </a:solidFill>
                <a:latin typeface="Rubik" pitchFamily="34" charset="0"/>
                <a:ea typeface="Rubik" pitchFamily="34" charset="-122"/>
                <a:cs typeface="Rubik" pitchFamily="34" charset="-120"/>
              </a:rPr>
              <a:t>  A note for humans</a:t>
            </a:r>
            <a:endParaRPr lang="en-US" sz="1400" dirty="0"/>
          </a:p>
        </p:txBody>
      </p:sp>
      <p:sp>
        <p:nvSpPr>
          <p:cNvPr id="27" name="Text 17"/>
          <p:cNvSpPr/>
          <p:nvPr/>
        </p:nvSpPr>
        <p:spPr>
          <a:xfrm>
            <a:off x="8185150" y="2919710"/>
            <a:ext cx="27248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Rubik" pitchFamily="34" charset="0"/>
                <a:ea typeface="Rubik" pitchFamily="34" charset="-122"/>
                <a:cs typeface="Rubik" pitchFamily="34" charset="-120"/>
              </a:rPr>
              <a:t>The compiler ignores comments</a:t>
            </a:r>
            <a:endParaRPr lang="en-US" sz="1200" dirty="0"/>
          </a:p>
        </p:txBody>
      </p:sp>
      <p:sp>
        <p:nvSpPr>
          <p:cNvPr id="28" name="Shape 18"/>
          <p:cNvSpPr/>
          <p:nvPr/>
        </p:nvSpPr>
        <p:spPr>
          <a:xfrm>
            <a:off x="7496175" y="3279775"/>
            <a:ext cx="3879850" cy="603250"/>
          </a:xfrm>
          <a:prstGeom prst="roundRect">
            <a:avLst>
              <a:gd name="adj" fmla="val 14211"/>
            </a:avLst>
          </a:prstGeom>
          <a:solidFill>
            <a:srgbClr val="FFFDF8"/>
          </a:solidFill>
          <a:ln w="6350">
            <a:solidFill>
              <a:srgbClr val="E2DDD2"/>
            </a:solidFill>
            <a:prstDash val="solid"/>
          </a:ln>
        </p:spPr>
      </p:sp>
      <p:pic>
        <p:nvPicPr>
          <p:cNvPr id="29" name="Image 8" descr="Open door">    </p:cNvPr>
          <p:cNvPicPr>
            <a:picLocks noChangeAspect="1"/>
          </p:cNvPicPr>
          <p:nvPr/>
        </p:nvPicPr>
        <p:blipFill>
          <a:blip r:embed="rId9"/>
          <a:srcRect l="0" r="0" t="0" b="0"/>
          <a:stretch/>
        </p:blipFill>
        <p:spPr>
          <a:xfrm>
            <a:off x="7651750" y="3378200"/>
            <a:ext cx="406400" cy="406400"/>
          </a:xfrm>
          <a:prstGeom prst="rect">
            <a:avLst/>
          </a:prstGeom>
        </p:spPr>
      </p:pic>
      <p:sp>
        <p:nvSpPr>
          <p:cNvPr id="30" name="Text 19"/>
          <p:cNvSpPr/>
          <p:nvPr/>
        </p:nvSpPr>
        <p:spPr>
          <a:xfrm>
            <a:off x="8185150" y="3343920"/>
            <a:ext cx="23746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3</a:t>
            </a:r>
            <a:r>
              <a:rPr lang="en-US" sz="1400" b="1" dirty="0">
                <a:solidFill>
                  <a:srgbClr val="1C2230"/>
                </a:solidFill>
                <a:latin typeface="Rubik" pitchFamily="34" charset="0"/>
                <a:ea typeface="Rubik" pitchFamily="34" charset="-122"/>
                <a:cs typeface="Rubik" pitchFamily="34" charset="-120"/>
              </a:rPr>
              <a:t>  The front door</a:t>
            </a:r>
            <a:endParaRPr lang="en-US" sz="1400" dirty="0"/>
          </a:p>
        </p:txBody>
      </p:sp>
      <p:sp>
        <p:nvSpPr>
          <p:cNvPr id="31" name="Text 20"/>
          <p:cNvSpPr/>
          <p:nvPr/>
        </p:nvSpPr>
        <p:spPr>
          <a:xfrm>
            <a:off x="8185150" y="3605510"/>
            <a:ext cx="27665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Rubik" pitchFamily="34" charset="0"/>
                <a:ea typeface="Rubik" pitchFamily="34" charset="-122"/>
                <a:cs typeface="Rubik" pitchFamily="34" charset="-120"/>
              </a:rPr>
              <a:t>The program starts running here</a:t>
            </a:r>
            <a:endParaRPr lang="en-US" sz="1200" dirty="0"/>
          </a:p>
        </p:txBody>
      </p:sp>
      <p:sp>
        <p:nvSpPr>
          <p:cNvPr id="32" name="Shape 21"/>
          <p:cNvSpPr/>
          <p:nvPr/>
        </p:nvSpPr>
        <p:spPr>
          <a:xfrm>
            <a:off x="7496175" y="3965575"/>
            <a:ext cx="3879850" cy="603250"/>
          </a:xfrm>
          <a:prstGeom prst="roundRect">
            <a:avLst>
              <a:gd name="adj" fmla="val 14211"/>
            </a:avLst>
          </a:prstGeom>
          <a:solidFill>
            <a:srgbClr val="FFFDF8"/>
          </a:solidFill>
          <a:ln w="6350">
            <a:solidFill>
              <a:srgbClr val="E2DDD2"/>
            </a:solidFill>
            <a:prstDash val="solid"/>
          </a:ln>
        </p:spPr>
      </p:sp>
      <p:pic>
        <p:nvPicPr>
          <p:cNvPr id="33" name="Image 9" descr="Instruction card">    </p:cNvPr>
          <p:cNvPicPr>
            <a:picLocks noChangeAspect="1"/>
          </p:cNvPicPr>
          <p:nvPr/>
        </p:nvPicPr>
        <p:blipFill>
          <a:blip r:embed="rId10"/>
          <a:srcRect l="0" r="0" t="0" b="0"/>
          <a:stretch/>
        </p:blipFill>
        <p:spPr>
          <a:xfrm>
            <a:off x="7651750" y="4064000"/>
            <a:ext cx="406400" cy="406400"/>
          </a:xfrm>
          <a:prstGeom prst="rect">
            <a:avLst/>
          </a:prstGeom>
        </p:spPr>
      </p:pic>
      <p:sp>
        <p:nvSpPr>
          <p:cNvPr id="34" name="Text 22"/>
          <p:cNvSpPr/>
          <p:nvPr/>
        </p:nvSpPr>
        <p:spPr>
          <a:xfrm>
            <a:off x="8185150" y="4029720"/>
            <a:ext cx="203649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4</a:t>
            </a:r>
            <a:r>
              <a:rPr lang="en-US" sz="1400" b="1" dirty="0">
                <a:solidFill>
                  <a:srgbClr val="1C2230"/>
                </a:solidFill>
                <a:latin typeface="Rubik" pitchFamily="34" charset="0"/>
                <a:ea typeface="Rubik" pitchFamily="34" charset="-122"/>
                <a:cs typeface="Rubik" pitchFamily="34" charset="-120"/>
              </a:rPr>
              <a:t>  One instruction</a:t>
            </a:r>
            <a:endParaRPr lang="en-US" sz="1400" dirty="0"/>
          </a:p>
        </p:txBody>
      </p:sp>
      <p:sp>
        <p:nvSpPr>
          <p:cNvPr id="35" name="Text 23"/>
          <p:cNvSpPr/>
          <p:nvPr/>
        </p:nvSpPr>
        <p:spPr>
          <a:xfrm>
            <a:off x="8185150" y="4291310"/>
            <a:ext cx="2372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Rubik" pitchFamily="34" charset="0"/>
                <a:ea typeface="Rubik" pitchFamily="34" charset="-122"/>
                <a:cs typeface="Rubik" pitchFamily="34" charset="-120"/>
              </a:rPr>
              <a:t>Every statement ends with ;</a:t>
            </a:r>
            <a:endParaRPr lang="en-US" sz="1200" dirty="0"/>
          </a:p>
        </p:txBody>
      </p:sp>
      <p:sp>
        <p:nvSpPr>
          <p:cNvPr id="36" name="Shape 24"/>
          <p:cNvSpPr/>
          <p:nvPr/>
        </p:nvSpPr>
        <p:spPr>
          <a:xfrm>
            <a:off x="7496175" y="4651375"/>
            <a:ext cx="3879850" cy="603250"/>
          </a:xfrm>
          <a:prstGeom prst="roundRect">
            <a:avLst>
              <a:gd name="adj" fmla="val 14211"/>
            </a:avLst>
          </a:prstGeom>
          <a:solidFill>
            <a:srgbClr val="FFFDF8"/>
          </a:solidFill>
          <a:ln w="6350">
            <a:solidFill>
              <a:srgbClr val="E2DDD2"/>
            </a:solidFill>
            <a:prstDash val="solid"/>
          </a:ln>
        </p:spPr>
      </p:sp>
      <p:pic>
        <p:nvPicPr>
          <p:cNvPr id="37" name="Image 10" descr="Done tick">    </p:cNvPr>
          <p:cNvPicPr>
            <a:picLocks noChangeAspect="1"/>
          </p:cNvPicPr>
          <p:nvPr/>
        </p:nvPicPr>
        <p:blipFill>
          <a:blip r:embed="rId11"/>
          <a:srcRect l="0" r="0" t="0" b="0"/>
          <a:stretch/>
        </p:blipFill>
        <p:spPr>
          <a:xfrm>
            <a:off x="7651750" y="4749800"/>
            <a:ext cx="406400" cy="406400"/>
          </a:xfrm>
          <a:prstGeom prst="rect">
            <a:avLst/>
          </a:prstGeom>
        </p:spPr>
      </p:pic>
      <p:sp>
        <p:nvSpPr>
          <p:cNvPr id="38" name="Text 25"/>
          <p:cNvSpPr/>
          <p:nvPr/>
        </p:nvSpPr>
        <p:spPr>
          <a:xfrm>
            <a:off x="8185150" y="4715520"/>
            <a:ext cx="206005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5</a:t>
            </a:r>
            <a:r>
              <a:rPr lang="en-US" sz="1400" b="1" dirty="0">
                <a:solidFill>
                  <a:srgbClr val="1C2230"/>
                </a:solidFill>
                <a:latin typeface="Rubik" pitchFamily="34" charset="0"/>
                <a:ea typeface="Rubik" pitchFamily="34" charset="-122"/>
                <a:cs typeface="Rubik" pitchFamily="34" charset="-120"/>
              </a:rPr>
              <a:t>  Job done</a:t>
            </a:r>
            <a:endParaRPr lang="en-US" sz="1400" dirty="0"/>
          </a:p>
        </p:txBody>
      </p:sp>
      <p:sp>
        <p:nvSpPr>
          <p:cNvPr id="39" name="Text 26"/>
          <p:cNvSpPr/>
          <p:nvPr/>
        </p:nvSpPr>
        <p:spPr>
          <a:xfrm>
            <a:off x="8185150" y="4977110"/>
            <a:ext cx="24000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Rubik" pitchFamily="34" charset="0"/>
                <a:ea typeface="Rubik" pitchFamily="34" charset="-122"/>
                <a:cs typeface="Rubik" pitchFamily="34" charset="-120"/>
              </a:rPr>
              <a:t>Tells the system: finished OK</a:t>
            </a:r>
            <a:endParaRPr lang="en-US" sz="1200" dirty="0"/>
          </a:p>
        </p:txBody>
      </p:sp>
      <p:sp>
        <p:nvSpPr>
          <p:cNvPr id="40" name="Shape 27"/>
          <p:cNvSpPr/>
          <p:nvPr/>
        </p:nvSpPr>
        <p:spPr>
          <a:xfrm>
            <a:off x="7496175" y="5337175"/>
            <a:ext cx="3879850" cy="603250"/>
          </a:xfrm>
          <a:prstGeom prst="roundRect">
            <a:avLst>
              <a:gd name="adj" fmla="val 14211"/>
            </a:avLst>
          </a:prstGeom>
          <a:solidFill>
            <a:srgbClr val="FFFDF8"/>
          </a:solidFill>
          <a:ln w="6350">
            <a:solidFill>
              <a:srgbClr val="E2DDD2"/>
            </a:solidFill>
            <a:prstDash val="solid"/>
          </a:ln>
        </p:spPr>
      </p:sp>
      <p:pic>
        <p:nvPicPr>
          <p:cNvPr id="41" name="Image 11" descr="Closing brace">    </p:cNvPr>
          <p:cNvPicPr>
            <a:picLocks noChangeAspect="1"/>
          </p:cNvPicPr>
          <p:nvPr/>
        </p:nvPicPr>
        <p:blipFill>
          <a:blip r:embed="rId12"/>
          <a:srcRect l="0" r="0" t="0" b="0"/>
          <a:stretch/>
        </p:blipFill>
        <p:spPr>
          <a:xfrm>
            <a:off x="7651750" y="5435600"/>
            <a:ext cx="406400" cy="406400"/>
          </a:xfrm>
          <a:prstGeom prst="rect">
            <a:avLst/>
          </a:prstGeom>
        </p:spPr>
      </p:pic>
      <p:sp>
        <p:nvSpPr>
          <p:cNvPr id="42" name="Text 28"/>
          <p:cNvSpPr/>
          <p:nvPr/>
        </p:nvSpPr>
        <p:spPr>
          <a:xfrm>
            <a:off x="8185150" y="5401320"/>
            <a:ext cx="185600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6</a:t>
            </a:r>
            <a:r>
              <a:rPr lang="en-US" sz="1400" b="1" dirty="0">
                <a:solidFill>
                  <a:srgbClr val="1C2230"/>
                </a:solidFill>
                <a:latin typeface="Rubik" pitchFamily="34" charset="0"/>
                <a:ea typeface="Rubik" pitchFamily="34" charset="-122"/>
                <a:cs typeface="Rubik" pitchFamily="34" charset="-120"/>
              </a:rPr>
              <a:t>  Close the room</a:t>
            </a:r>
            <a:endParaRPr lang="en-US" sz="1400" dirty="0"/>
          </a:p>
        </p:txBody>
      </p:sp>
      <p:sp>
        <p:nvSpPr>
          <p:cNvPr id="43" name="Text 29"/>
          <p:cNvSpPr/>
          <p:nvPr/>
        </p:nvSpPr>
        <p:spPr>
          <a:xfrm>
            <a:off x="8185150" y="5662910"/>
            <a:ext cx="18560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Rubik" pitchFamily="34" charset="0"/>
                <a:ea typeface="Rubik" pitchFamily="34" charset="-122"/>
                <a:cs typeface="Rubik" pitchFamily="34" charset="-120"/>
              </a:rPr>
              <a:t>Ends main's body { … }</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1 OF 8 · STRUCTURE OF A C PROGRAM · PREDICT</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What happens if…</a:t>
            </a:r>
            <a:endParaRPr lang="en-US" sz="3000" dirty="0"/>
          </a:p>
        </p:txBody>
      </p:sp>
      <p:sp>
        <p:nvSpPr>
          <p:cNvPr id="4" name="Shape 2"/>
          <p:cNvSpPr/>
          <p:nvPr/>
        </p:nvSpPr>
        <p:spPr>
          <a:xfrm>
            <a:off x="815975" y="2035175"/>
            <a:ext cx="6978650" cy="882650"/>
          </a:xfrm>
          <a:prstGeom prst="roundRect">
            <a:avLst>
              <a:gd name="adj" fmla="val 12590"/>
            </a:avLst>
          </a:prstGeom>
          <a:solidFill>
            <a:srgbClr val="FFFDF8"/>
          </a:solidFill>
          <a:ln w="6350">
            <a:solidFill>
              <a:srgbClr val="E2DDD2"/>
            </a:solidFill>
            <a:prstDash val="solid"/>
          </a:ln>
        </p:spPr>
      </p:sp>
      <p:sp>
        <p:nvSpPr>
          <p:cNvPr id="5" name="Text 3"/>
          <p:cNvSpPr/>
          <p:nvPr/>
        </p:nvSpPr>
        <p:spPr>
          <a:xfrm>
            <a:off x="1047750" y="2298700"/>
            <a:ext cx="17715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351905" y="2347913"/>
            <a:ext cx="60172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You delete the ; after printf("Hello")?</a:t>
            </a:r>
            <a:endParaRPr lang="en-US" sz="1500" dirty="0"/>
          </a:p>
        </p:txBody>
      </p:sp>
      <p:sp>
        <p:nvSpPr>
          <p:cNvPr id="7" name="Text 5"/>
          <p:cNvSpPr/>
          <p:nvPr/>
        </p:nvSpPr>
        <p:spPr>
          <a:xfrm>
            <a:off x="8001000" y="2032000"/>
            <a:ext cx="3378200" cy="889000"/>
          </a:xfrm>
          <a:prstGeom prst="roundRect">
            <a:avLst>
              <a:gd name="adj" fmla="val 12857"/>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Compile error: syntax</a:t>
            </a:r>
            <a:endParaRPr lang="en-US" sz="1400" dirty="0"/>
          </a:p>
        </p:txBody>
      </p:sp>
      <p:sp>
        <p:nvSpPr>
          <p:cNvPr id="8" name="Shape 6"/>
          <p:cNvSpPr/>
          <p:nvPr/>
        </p:nvSpPr>
        <p:spPr>
          <a:xfrm>
            <a:off x="815975" y="3114675"/>
            <a:ext cx="6978650" cy="882650"/>
          </a:xfrm>
          <a:prstGeom prst="roundRect">
            <a:avLst>
              <a:gd name="adj" fmla="val 12590"/>
            </a:avLst>
          </a:prstGeom>
          <a:solidFill>
            <a:srgbClr val="FFFDF8"/>
          </a:solidFill>
          <a:ln w="6350">
            <a:solidFill>
              <a:srgbClr val="E2DDD2"/>
            </a:solidFill>
            <a:prstDash val="solid"/>
          </a:ln>
        </p:spPr>
      </p:sp>
      <p:sp>
        <p:nvSpPr>
          <p:cNvPr id="9" name="Text 7"/>
          <p:cNvSpPr/>
          <p:nvPr/>
        </p:nvSpPr>
        <p:spPr>
          <a:xfrm>
            <a:off x="1047750" y="3378200"/>
            <a:ext cx="2159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2</a:t>
            </a:r>
            <a:endParaRPr lang="en-US" sz="2000" dirty="0"/>
          </a:p>
        </p:txBody>
      </p:sp>
      <p:sp>
        <p:nvSpPr>
          <p:cNvPr id="10" name="Text 8"/>
          <p:cNvSpPr/>
          <p:nvPr/>
        </p:nvSpPr>
        <p:spPr>
          <a:xfrm>
            <a:off x="1390650" y="3427413"/>
            <a:ext cx="60172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You write Main instead of main?</a:t>
            </a:r>
            <a:endParaRPr lang="en-US" sz="1500" dirty="0"/>
          </a:p>
        </p:txBody>
      </p:sp>
      <p:sp>
        <p:nvSpPr>
          <p:cNvPr id="11" name="Text 9"/>
          <p:cNvSpPr/>
          <p:nvPr/>
        </p:nvSpPr>
        <p:spPr>
          <a:xfrm>
            <a:off x="8001000" y="3111500"/>
            <a:ext cx="3378200" cy="889000"/>
          </a:xfrm>
          <a:prstGeom prst="roundRect">
            <a:avLst>
              <a:gd name="adj" fmla="val 12857"/>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Linker error: C is case-sensitive</a:t>
            </a:r>
            <a:endParaRPr lang="en-US" sz="1400" dirty="0"/>
          </a:p>
        </p:txBody>
      </p:sp>
      <p:sp>
        <p:nvSpPr>
          <p:cNvPr id="12" name="Shape 10"/>
          <p:cNvSpPr/>
          <p:nvPr/>
        </p:nvSpPr>
        <p:spPr>
          <a:xfrm>
            <a:off x="815975" y="4194175"/>
            <a:ext cx="6978650" cy="882650"/>
          </a:xfrm>
          <a:prstGeom prst="roundRect">
            <a:avLst>
              <a:gd name="adj" fmla="val 12590"/>
            </a:avLst>
          </a:prstGeom>
          <a:solidFill>
            <a:srgbClr val="FFFDF8"/>
          </a:solidFill>
          <a:ln w="6350">
            <a:solidFill>
              <a:srgbClr val="E2DDD2"/>
            </a:solidFill>
            <a:prstDash val="solid"/>
          </a:ln>
        </p:spPr>
      </p:sp>
      <p:sp>
        <p:nvSpPr>
          <p:cNvPr id="13" name="Text 11"/>
          <p:cNvSpPr/>
          <p:nvPr/>
        </p:nvSpPr>
        <p:spPr>
          <a:xfrm>
            <a:off x="1047750" y="4457700"/>
            <a:ext cx="21823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3</a:t>
            </a:r>
            <a:endParaRPr lang="en-US" sz="2000" dirty="0"/>
          </a:p>
        </p:txBody>
      </p:sp>
      <p:sp>
        <p:nvSpPr>
          <p:cNvPr id="14" name="Text 12"/>
          <p:cNvSpPr/>
          <p:nvPr/>
        </p:nvSpPr>
        <p:spPr>
          <a:xfrm>
            <a:off x="1392982" y="4506913"/>
            <a:ext cx="60172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You delete the comment line?</a:t>
            </a:r>
            <a:endParaRPr lang="en-US" sz="1500" dirty="0"/>
          </a:p>
        </p:txBody>
      </p:sp>
      <p:sp>
        <p:nvSpPr>
          <p:cNvPr id="15" name="Text 13"/>
          <p:cNvSpPr/>
          <p:nvPr/>
        </p:nvSpPr>
        <p:spPr>
          <a:xfrm>
            <a:off x="8001000" y="4191000"/>
            <a:ext cx="3378200" cy="889000"/>
          </a:xfrm>
          <a:prstGeom prst="roundRect">
            <a:avLst>
              <a:gd name="adj" fmla="val 12857"/>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Nothing: comments are ignored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2 OF 8 · LIFE CYCLE: SOURCE CODE TO EXECUTABLE</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Like a canteen kitchen turning a recipe into a dish</a:t>
            </a:r>
            <a:endParaRPr lang="en-US" sz="3000" dirty="0"/>
          </a:p>
        </p:txBody>
      </p:sp>
      <p:sp>
        <p:nvSpPr>
          <p:cNvPr id="4" name="Shape 2"/>
          <p:cNvSpPr/>
          <p:nvPr/>
        </p:nvSpPr>
        <p:spPr>
          <a:xfrm>
            <a:off x="815975" y="1796405"/>
            <a:ext cx="1479550" cy="2647752"/>
          </a:xfrm>
          <a:prstGeom prst="roundRect">
            <a:avLst>
              <a:gd name="adj" fmla="val 7511"/>
            </a:avLst>
          </a:prstGeom>
          <a:solidFill>
            <a:srgbClr val="FFFDF8"/>
          </a:solidFill>
          <a:ln w="6350">
            <a:solidFill>
              <a:srgbClr val="E2DDD2"/>
            </a:solidFill>
            <a:prstDash val="solid"/>
          </a:ln>
        </p:spPr>
      </p:sp>
      <p:pic>
        <p:nvPicPr>
          <p:cNvPr id="5" name="Image 0" descr="Recipe paper">    </p:cNvPr>
          <p:cNvPicPr>
            <a:picLocks noChangeAspect="1"/>
          </p:cNvPicPr>
          <p:nvPr/>
        </p:nvPicPr>
        <p:blipFill>
          <a:blip r:embed="rId1"/>
          <a:srcRect l="0" r="0" t="0" b="0"/>
          <a:stretch/>
        </p:blipFill>
        <p:spPr>
          <a:xfrm>
            <a:off x="1250950" y="1977380"/>
            <a:ext cx="609600" cy="609600"/>
          </a:xfrm>
          <a:prstGeom prst="rect">
            <a:avLst/>
          </a:prstGeom>
        </p:spPr>
      </p:pic>
      <p:sp>
        <p:nvSpPr>
          <p:cNvPr id="6" name="Text 3"/>
          <p:cNvSpPr/>
          <p:nvPr/>
        </p:nvSpPr>
        <p:spPr>
          <a:xfrm>
            <a:off x="882650" y="2675880"/>
            <a:ext cx="1346200" cy="42158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C2230"/>
                </a:solidFill>
                <a:latin typeface="Rubik" pitchFamily="34" charset="0"/>
                <a:ea typeface="Rubik" pitchFamily="34" charset="-122"/>
                <a:cs typeface="Rubik" pitchFamily="34" charset="-120"/>
              </a:rPr>
              <a:t>Write the recipe</a:t>
            </a:r>
            <a:endParaRPr lang="en-US" sz="1300" dirty="0"/>
          </a:p>
        </p:txBody>
      </p:sp>
      <p:sp>
        <p:nvSpPr>
          <p:cNvPr id="7" name="Shape 4"/>
          <p:cNvSpPr/>
          <p:nvPr/>
        </p:nvSpPr>
        <p:spPr>
          <a:xfrm>
            <a:off x="908050" y="3160961"/>
            <a:ext cx="1295400" cy="12700"/>
          </a:xfrm>
          <a:prstGeom prst="rect">
            <a:avLst/>
          </a:prstGeom>
          <a:solidFill>
            <a:srgbClr val="E2DDD2"/>
          </a:solidFill>
          <a:ln/>
        </p:spPr>
      </p:sp>
      <p:sp>
        <p:nvSpPr>
          <p:cNvPr id="8" name="Text 5"/>
          <p:cNvSpPr/>
          <p:nvPr/>
        </p:nvSpPr>
        <p:spPr>
          <a:xfrm>
            <a:off x="1368648" y="3262561"/>
            <a:ext cx="37415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96273"/>
                </a:solidFill>
                <a:latin typeface="Rubik" pitchFamily="34" charset="0"/>
                <a:ea typeface="Rubik" pitchFamily="34" charset="-122"/>
                <a:cs typeface="Rubik" pitchFamily="34" charset="-120"/>
              </a:rPr>
              <a:t>In C:</a:t>
            </a:r>
            <a:endParaRPr lang="en-US" sz="1200" dirty="0"/>
          </a:p>
        </p:txBody>
      </p:sp>
      <p:sp>
        <p:nvSpPr>
          <p:cNvPr id="9" name="Text 6"/>
          <p:cNvSpPr/>
          <p:nvPr/>
        </p:nvSpPr>
        <p:spPr>
          <a:xfrm>
            <a:off x="882650" y="3564781"/>
            <a:ext cx="1346200" cy="42158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5BD7"/>
                </a:solidFill>
                <a:latin typeface="Rubik" pitchFamily="34" charset="0"/>
                <a:ea typeface="Rubik" pitchFamily="34" charset="-122"/>
                <a:cs typeface="Rubik" pitchFamily="34" charset="-120"/>
              </a:rPr>
              <a:t>You write the code</a:t>
            </a:r>
            <a:endParaRPr lang="en-US" sz="1300" dirty="0"/>
          </a:p>
        </p:txBody>
      </p:sp>
      <p:sp>
        <p:nvSpPr>
          <p:cNvPr id="10" name="Text 7"/>
          <p:cNvSpPr/>
          <p:nvPr/>
        </p:nvSpPr>
        <p:spPr>
          <a:xfrm>
            <a:off x="1226542" y="4049861"/>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bill.c</a:t>
            </a:r>
            <a:endParaRPr lang="en-US" sz="1200" dirty="0"/>
          </a:p>
        </p:txBody>
      </p:sp>
      <p:pic>
        <p:nvPicPr>
          <p:cNvPr id="11" name="Image 1" descr="arrow-right">    </p:cNvPr>
          <p:cNvPicPr>
            <a:picLocks noChangeAspect="1"/>
          </p:cNvPicPr>
          <p:nvPr/>
        </p:nvPicPr>
        <p:blipFill>
          <a:blip r:embed="rId2"/>
          <a:srcRect l="0" r="0" t="0" b="0"/>
          <a:stretch/>
        </p:blipFill>
        <p:spPr>
          <a:xfrm>
            <a:off x="2349500" y="3031381"/>
            <a:ext cx="228600" cy="177800"/>
          </a:xfrm>
          <a:prstGeom prst="rect">
            <a:avLst/>
          </a:prstGeom>
        </p:spPr>
      </p:pic>
      <p:sp>
        <p:nvSpPr>
          <p:cNvPr id="12" name="Shape 8"/>
          <p:cNvSpPr/>
          <p:nvPr/>
        </p:nvSpPr>
        <p:spPr>
          <a:xfrm>
            <a:off x="2632075" y="1895425"/>
            <a:ext cx="1479550" cy="2449661"/>
          </a:xfrm>
          <a:prstGeom prst="roundRect">
            <a:avLst>
              <a:gd name="adj" fmla="val 7511"/>
            </a:avLst>
          </a:prstGeom>
          <a:solidFill>
            <a:srgbClr val="FFFDF8"/>
          </a:solidFill>
          <a:ln w="6350">
            <a:solidFill>
              <a:srgbClr val="E2DDD2"/>
            </a:solidFill>
            <a:prstDash val="solid"/>
          </a:ln>
        </p:spPr>
      </p:sp>
      <p:pic>
        <p:nvPicPr>
          <p:cNvPr id="13" name="Image 2" descr="Basket of ingredients">    </p:cNvPr>
          <p:cNvPicPr>
            <a:picLocks noChangeAspect="1"/>
          </p:cNvPicPr>
          <p:nvPr/>
        </p:nvPicPr>
        <p:blipFill>
          <a:blip r:embed="rId3"/>
          <a:srcRect l="0" r="0" t="0" b="0"/>
          <a:stretch/>
        </p:blipFill>
        <p:spPr>
          <a:xfrm>
            <a:off x="3067050" y="2076400"/>
            <a:ext cx="609600" cy="609600"/>
          </a:xfrm>
          <a:prstGeom prst="rect">
            <a:avLst/>
          </a:prstGeom>
        </p:spPr>
      </p:pic>
      <p:sp>
        <p:nvSpPr>
          <p:cNvPr id="14" name="Text 9"/>
          <p:cNvSpPr/>
          <p:nvPr/>
        </p:nvSpPr>
        <p:spPr>
          <a:xfrm>
            <a:off x="2698750" y="2774900"/>
            <a:ext cx="1346200" cy="42158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C2230"/>
                </a:solidFill>
                <a:latin typeface="Rubik" pitchFamily="34" charset="0"/>
                <a:ea typeface="Rubik" pitchFamily="34" charset="-122"/>
                <a:cs typeface="Rubik" pitchFamily="34" charset="-120"/>
              </a:rPr>
              <a:t>Gather what it lists</a:t>
            </a:r>
            <a:endParaRPr lang="en-US" sz="1300" dirty="0"/>
          </a:p>
        </p:txBody>
      </p:sp>
      <p:sp>
        <p:nvSpPr>
          <p:cNvPr id="15" name="Shape 10"/>
          <p:cNvSpPr/>
          <p:nvPr/>
        </p:nvSpPr>
        <p:spPr>
          <a:xfrm>
            <a:off x="2724150" y="3259981"/>
            <a:ext cx="1295400" cy="12700"/>
          </a:xfrm>
          <a:prstGeom prst="rect">
            <a:avLst/>
          </a:prstGeom>
          <a:solidFill>
            <a:srgbClr val="E2DDD2"/>
          </a:solidFill>
          <a:ln/>
        </p:spPr>
      </p:sp>
      <p:sp>
        <p:nvSpPr>
          <p:cNvPr id="16" name="Text 11"/>
          <p:cNvSpPr/>
          <p:nvPr/>
        </p:nvSpPr>
        <p:spPr>
          <a:xfrm>
            <a:off x="3184748" y="3361581"/>
            <a:ext cx="37415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96273"/>
                </a:solidFill>
                <a:latin typeface="Rubik" pitchFamily="34" charset="0"/>
                <a:ea typeface="Rubik" pitchFamily="34" charset="-122"/>
                <a:cs typeface="Rubik" pitchFamily="34" charset="-120"/>
              </a:rPr>
              <a:t>In C:</a:t>
            </a:r>
            <a:endParaRPr lang="en-US" sz="1200" dirty="0"/>
          </a:p>
        </p:txBody>
      </p:sp>
      <p:sp>
        <p:nvSpPr>
          <p:cNvPr id="17" name="Text 12"/>
          <p:cNvSpPr/>
          <p:nvPr/>
        </p:nvSpPr>
        <p:spPr>
          <a:xfrm>
            <a:off x="2701533" y="3663801"/>
            <a:ext cx="1340584"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5BD7"/>
                </a:solidFill>
                <a:latin typeface="Rubik" pitchFamily="34" charset="0"/>
                <a:ea typeface="Rubik" pitchFamily="34" charset="-122"/>
                <a:cs typeface="Rubik" pitchFamily="34" charset="-120"/>
              </a:rPr>
              <a:t>Preprocessor</a:t>
            </a:r>
            <a:endParaRPr lang="en-US" sz="1300" dirty="0"/>
          </a:p>
        </p:txBody>
      </p:sp>
      <p:sp>
        <p:nvSpPr>
          <p:cNvPr id="18" name="Text 13"/>
          <p:cNvSpPr/>
          <p:nvPr/>
        </p:nvSpPr>
        <p:spPr>
          <a:xfrm>
            <a:off x="3042642" y="3950791"/>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bill.i</a:t>
            </a:r>
            <a:endParaRPr lang="en-US" sz="1200" dirty="0"/>
          </a:p>
        </p:txBody>
      </p:sp>
      <p:pic>
        <p:nvPicPr>
          <p:cNvPr id="19" name="Image 3" descr="arrow-right">    </p:cNvPr>
          <p:cNvPicPr>
            <a:picLocks noChangeAspect="1"/>
          </p:cNvPicPr>
          <p:nvPr/>
        </p:nvPicPr>
        <p:blipFill>
          <a:blip r:embed="rId4"/>
          <a:srcRect l="0" r="0" t="0" b="0"/>
          <a:stretch/>
        </p:blipFill>
        <p:spPr>
          <a:xfrm>
            <a:off x="4165600" y="3031381"/>
            <a:ext cx="228600" cy="177800"/>
          </a:xfrm>
          <a:prstGeom prst="rect">
            <a:avLst/>
          </a:prstGeom>
        </p:spPr>
      </p:pic>
      <p:sp>
        <p:nvSpPr>
          <p:cNvPr id="20" name="Shape 14"/>
          <p:cNvSpPr/>
          <p:nvPr/>
        </p:nvSpPr>
        <p:spPr>
          <a:xfrm>
            <a:off x="4448175" y="1895425"/>
            <a:ext cx="1479550" cy="2449661"/>
          </a:xfrm>
          <a:prstGeom prst="roundRect">
            <a:avLst>
              <a:gd name="adj" fmla="val 7511"/>
            </a:avLst>
          </a:prstGeom>
          <a:solidFill>
            <a:srgbClr val="FFFDF8"/>
          </a:solidFill>
          <a:ln w="6350">
            <a:solidFill>
              <a:srgbClr val="E2DDD2"/>
            </a:solidFill>
            <a:prstDash val="solid"/>
          </a:ln>
        </p:spPr>
      </p:sp>
      <p:pic>
        <p:nvPicPr>
          <p:cNvPr id="21" name="Image 4" descr="Translator">    </p:cNvPr>
          <p:cNvPicPr>
            <a:picLocks noChangeAspect="1"/>
          </p:cNvPicPr>
          <p:nvPr/>
        </p:nvPicPr>
        <p:blipFill>
          <a:blip r:embed="rId5"/>
          <a:srcRect l="0" r="0" t="0" b="0"/>
          <a:stretch/>
        </p:blipFill>
        <p:spPr>
          <a:xfrm>
            <a:off x="4883150" y="2076400"/>
            <a:ext cx="609600" cy="609600"/>
          </a:xfrm>
          <a:prstGeom prst="rect">
            <a:avLst/>
          </a:prstGeom>
        </p:spPr>
      </p:pic>
      <p:sp>
        <p:nvSpPr>
          <p:cNvPr id="22" name="Text 15"/>
          <p:cNvSpPr/>
          <p:nvPr/>
        </p:nvSpPr>
        <p:spPr>
          <a:xfrm>
            <a:off x="4514850" y="2774900"/>
            <a:ext cx="1346200" cy="42158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C2230"/>
                </a:solidFill>
                <a:latin typeface="Rubik" pitchFamily="34" charset="0"/>
                <a:ea typeface="Rubik" pitchFamily="34" charset="-122"/>
                <a:cs typeface="Rubik" pitchFamily="34" charset="-120"/>
              </a:rPr>
              <a:t>Translate for the cook</a:t>
            </a:r>
            <a:endParaRPr lang="en-US" sz="1300" dirty="0"/>
          </a:p>
        </p:txBody>
      </p:sp>
      <p:sp>
        <p:nvSpPr>
          <p:cNvPr id="23" name="Shape 16"/>
          <p:cNvSpPr/>
          <p:nvPr/>
        </p:nvSpPr>
        <p:spPr>
          <a:xfrm>
            <a:off x="4540250" y="3259981"/>
            <a:ext cx="1295400" cy="12700"/>
          </a:xfrm>
          <a:prstGeom prst="rect">
            <a:avLst/>
          </a:prstGeom>
          <a:solidFill>
            <a:srgbClr val="E2DDD2"/>
          </a:solidFill>
          <a:ln/>
        </p:spPr>
      </p:sp>
      <p:sp>
        <p:nvSpPr>
          <p:cNvPr id="24" name="Text 17"/>
          <p:cNvSpPr/>
          <p:nvPr/>
        </p:nvSpPr>
        <p:spPr>
          <a:xfrm>
            <a:off x="5000848" y="3361581"/>
            <a:ext cx="37415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96273"/>
                </a:solidFill>
                <a:latin typeface="Rubik" pitchFamily="34" charset="0"/>
                <a:ea typeface="Rubik" pitchFamily="34" charset="-122"/>
                <a:cs typeface="Rubik" pitchFamily="34" charset="-120"/>
              </a:rPr>
              <a:t>In C:</a:t>
            </a:r>
            <a:endParaRPr lang="en-US" sz="1200" dirty="0"/>
          </a:p>
        </p:txBody>
      </p:sp>
      <p:sp>
        <p:nvSpPr>
          <p:cNvPr id="25" name="Text 18"/>
          <p:cNvSpPr/>
          <p:nvPr/>
        </p:nvSpPr>
        <p:spPr>
          <a:xfrm>
            <a:off x="4744204" y="3663801"/>
            <a:ext cx="887492"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5BD7"/>
                </a:solidFill>
                <a:latin typeface="Rubik" pitchFamily="34" charset="0"/>
                <a:ea typeface="Rubik" pitchFamily="34" charset="-122"/>
                <a:cs typeface="Rubik" pitchFamily="34" charset="-120"/>
              </a:rPr>
              <a:t>Compiler</a:t>
            </a:r>
            <a:endParaRPr lang="en-US" sz="1300" dirty="0"/>
          </a:p>
        </p:txBody>
      </p:sp>
      <p:sp>
        <p:nvSpPr>
          <p:cNvPr id="26" name="Text 19"/>
          <p:cNvSpPr/>
          <p:nvPr/>
        </p:nvSpPr>
        <p:spPr>
          <a:xfrm>
            <a:off x="4858742" y="3950791"/>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bill.s</a:t>
            </a:r>
            <a:endParaRPr lang="en-US" sz="1200" dirty="0"/>
          </a:p>
        </p:txBody>
      </p:sp>
      <p:pic>
        <p:nvPicPr>
          <p:cNvPr id="27" name="Image 5" descr="arrow-right">    </p:cNvPr>
          <p:cNvPicPr>
            <a:picLocks noChangeAspect="1"/>
          </p:cNvPicPr>
          <p:nvPr/>
        </p:nvPicPr>
        <p:blipFill>
          <a:blip r:embed="rId6"/>
          <a:srcRect l="0" r="0" t="0" b="0"/>
          <a:stretch/>
        </p:blipFill>
        <p:spPr>
          <a:xfrm>
            <a:off x="5981700" y="3031381"/>
            <a:ext cx="228600" cy="177800"/>
          </a:xfrm>
          <a:prstGeom prst="rect">
            <a:avLst/>
          </a:prstGeom>
        </p:spPr>
      </p:pic>
      <p:sp>
        <p:nvSpPr>
          <p:cNvPr id="28" name="Shape 20"/>
          <p:cNvSpPr/>
          <p:nvPr/>
        </p:nvSpPr>
        <p:spPr>
          <a:xfrm>
            <a:off x="6264275" y="1895425"/>
            <a:ext cx="1479550" cy="2449661"/>
          </a:xfrm>
          <a:prstGeom prst="roundRect">
            <a:avLst>
              <a:gd name="adj" fmla="val 7511"/>
            </a:avLst>
          </a:prstGeom>
          <a:solidFill>
            <a:srgbClr val="FFFDF8"/>
          </a:solidFill>
          <a:ln w="6350">
            <a:solidFill>
              <a:srgbClr val="E2DDD2"/>
            </a:solidFill>
            <a:prstDash val="solid"/>
          </a:ln>
        </p:spPr>
      </p:sp>
      <p:pic>
        <p:nvPicPr>
          <p:cNvPr id="29" name="Image 6" descr="Cooking pot">    </p:cNvPr>
          <p:cNvPicPr>
            <a:picLocks noChangeAspect="1"/>
          </p:cNvPicPr>
          <p:nvPr/>
        </p:nvPicPr>
        <p:blipFill>
          <a:blip r:embed="rId7"/>
          <a:srcRect l="0" r="0" t="0" b="0"/>
          <a:stretch/>
        </p:blipFill>
        <p:spPr>
          <a:xfrm>
            <a:off x="6699250" y="2076400"/>
            <a:ext cx="609600" cy="609600"/>
          </a:xfrm>
          <a:prstGeom prst="rect">
            <a:avLst/>
          </a:prstGeom>
        </p:spPr>
      </p:pic>
      <p:sp>
        <p:nvSpPr>
          <p:cNvPr id="30" name="Text 21"/>
          <p:cNvSpPr/>
          <p:nvPr/>
        </p:nvSpPr>
        <p:spPr>
          <a:xfrm>
            <a:off x="6330950" y="2774900"/>
            <a:ext cx="1346200" cy="42158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C2230"/>
                </a:solidFill>
                <a:latin typeface="Rubik" pitchFamily="34" charset="0"/>
                <a:ea typeface="Rubik" pitchFamily="34" charset="-122"/>
                <a:cs typeface="Rubik" pitchFamily="34" charset="-120"/>
              </a:rPr>
              <a:t>Prepare the parts</a:t>
            </a:r>
            <a:endParaRPr lang="en-US" sz="1300" dirty="0"/>
          </a:p>
        </p:txBody>
      </p:sp>
      <p:sp>
        <p:nvSpPr>
          <p:cNvPr id="31" name="Shape 22"/>
          <p:cNvSpPr/>
          <p:nvPr/>
        </p:nvSpPr>
        <p:spPr>
          <a:xfrm>
            <a:off x="6356350" y="3259981"/>
            <a:ext cx="1295400" cy="12700"/>
          </a:xfrm>
          <a:prstGeom prst="rect">
            <a:avLst/>
          </a:prstGeom>
          <a:solidFill>
            <a:srgbClr val="E2DDD2"/>
          </a:solidFill>
          <a:ln/>
        </p:spPr>
      </p:sp>
      <p:sp>
        <p:nvSpPr>
          <p:cNvPr id="32" name="Text 23"/>
          <p:cNvSpPr/>
          <p:nvPr/>
        </p:nvSpPr>
        <p:spPr>
          <a:xfrm>
            <a:off x="6816948" y="3361581"/>
            <a:ext cx="37415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96273"/>
                </a:solidFill>
                <a:latin typeface="Rubik" pitchFamily="34" charset="0"/>
                <a:ea typeface="Rubik" pitchFamily="34" charset="-122"/>
                <a:cs typeface="Rubik" pitchFamily="34" charset="-120"/>
              </a:rPr>
              <a:t>In C:</a:t>
            </a:r>
            <a:endParaRPr lang="en-US" sz="1200" dirty="0"/>
          </a:p>
        </p:txBody>
      </p:sp>
      <p:sp>
        <p:nvSpPr>
          <p:cNvPr id="33" name="Text 24"/>
          <p:cNvSpPr/>
          <p:nvPr/>
        </p:nvSpPr>
        <p:spPr>
          <a:xfrm>
            <a:off x="6479287" y="3663801"/>
            <a:ext cx="1049476"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5BD7"/>
                </a:solidFill>
                <a:latin typeface="Rubik" pitchFamily="34" charset="0"/>
                <a:ea typeface="Rubik" pitchFamily="34" charset="-122"/>
                <a:cs typeface="Rubik" pitchFamily="34" charset="-120"/>
              </a:rPr>
              <a:t>Assembler</a:t>
            </a:r>
            <a:endParaRPr lang="en-US" sz="1300" dirty="0"/>
          </a:p>
        </p:txBody>
      </p:sp>
      <p:sp>
        <p:nvSpPr>
          <p:cNvPr id="34" name="Text 25"/>
          <p:cNvSpPr/>
          <p:nvPr/>
        </p:nvSpPr>
        <p:spPr>
          <a:xfrm>
            <a:off x="6674842" y="3950791"/>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bill.o</a:t>
            </a:r>
            <a:endParaRPr lang="en-US" sz="1200" dirty="0"/>
          </a:p>
        </p:txBody>
      </p:sp>
      <p:pic>
        <p:nvPicPr>
          <p:cNvPr id="35" name="Image 7" descr="arrow-right">    </p:cNvPr>
          <p:cNvPicPr>
            <a:picLocks noChangeAspect="1"/>
          </p:cNvPicPr>
          <p:nvPr/>
        </p:nvPicPr>
        <p:blipFill>
          <a:blip r:embed="rId8"/>
          <a:srcRect l="0" r="0" t="0" b="0"/>
          <a:stretch/>
        </p:blipFill>
        <p:spPr>
          <a:xfrm>
            <a:off x="7797800" y="3031381"/>
            <a:ext cx="228600" cy="177800"/>
          </a:xfrm>
          <a:prstGeom prst="rect">
            <a:avLst/>
          </a:prstGeom>
        </p:spPr>
      </p:pic>
      <p:sp>
        <p:nvSpPr>
          <p:cNvPr id="36" name="Shape 26"/>
          <p:cNvSpPr/>
          <p:nvPr/>
        </p:nvSpPr>
        <p:spPr>
          <a:xfrm>
            <a:off x="8080375" y="1895425"/>
            <a:ext cx="1479550" cy="2449661"/>
          </a:xfrm>
          <a:prstGeom prst="roundRect">
            <a:avLst>
              <a:gd name="adj" fmla="val 7511"/>
            </a:avLst>
          </a:prstGeom>
          <a:solidFill>
            <a:srgbClr val="FFFDF8"/>
          </a:solidFill>
          <a:ln w="6350">
            <a:solidFill>
              <a:srgbClr val="E2DDD2"/>
            </a:solidFill>
            <a:prstDash val="solid"/>
          </a:ln>
        </p:spPr>
      </p:sp>
      <p:pic>
        <p:nvPicPr>
          <p:cNvPr id="37" name="Image 8" descr="Store shelf with jars">    </p:cNvPr>
          <p:cNvPicPr>
            <a:picLocks noChangeAspect="1"/>
          </p:cNvPicPr>
          <p:nvPr/>
        </p:nvPicPr>
        <p:blipFill>
          <a:blip r:embed="rId9"/>
          <a:srcRect l="0" r="0" t="0" b="0"/>
          <a:stretch/>
        </p:blipFill>
        <p:spPr>
          <a:xfrm>
            <a:off x="8515350" y="2076400"/>
            <a:ext cx="609600" cy="609600"/>
          </a:xfrm>
          <a:prstGeom prst="rect">
            <a:avLst/>
          </a:prstGeom>
        </p:spPr>
      </p:pic>
      <p:sp>
        <p:nvSpPr>
          <p:cNvPr id="38" name="Text 27"/>
          <p:cNvSpPr/>
          <p:nvPr/>
        </p:nvSpPr>
        <p:spPr>
          <a:xfrm>
            <a:off x="8147050" y="2774900"/>
            <a:ext cx="1346200" cy="42158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C2230"/>
                </a:solidFill>
                <a:latin typeface="Rubik" pitchFamily="34" charset="0"/>
                <a:ea typeface="Rubik" pitchFamily="34" charset="-122"/>
                <a:cs typeface="Rubik" pitchFamily="34" charset="-120"/>
              </a:rPr>
              <a:t>Add ready-made items</a:t>
            </a:r>
            <a:endParaRPr lang="en-US" sz="1300" dirty="0"/>
          </a:p>
        </p:txBody>
      </p:sp>
      <p:sp>
        <p:nvSpPr>
          <p:cNvPr id="39" name="Shape 28"/>
          <p:cNvSpPr/>
          <p:nvPr/>
        </p:nvSpPr>
        <p:spPr>
          <a:xfrm>
            <a:off x="8172450" y="3259981"/>
            <a:ext cx="1295400" cy="12700"/>
          </a:xfrm>
          <a:prstGeom prst="rect">
            <a:avLst/>
          </a:prstGeom>
          <a:solidFill>
            <a:srgbClr val="E2DDD2"/>
          </a:solidFill>
          <a:ln/>
        </p:spPr>
      </p:sp>
      <p:sp>
        <p:nvSpPr>
          <p:cNvPr id="40" name="Text 29"/>
          <p:cNvSpPr/>
          <p:nvPr/>
        </p:nvSpPr>
        <p:spPr>
          <a:xfrm>
            <a:off x="8633048" y="3361581"/>
            <a:ext cx="37415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96273"/>
                </a:solidFill>
                <a:latin typeface="Rubik" pitchFamily="34" charset="0"/>
                <a:ea typeface="Rubik" pitchFamily="34" charset="-122"/>
                <a:cs typeface="Rubik" pitchFamily="34" charset="-120"/>
              </a:rPr>
              <a:t>In C:</a:t>
            </a:r>
            <a:endParaRPr lang="en-US" sz="1200" dirty="0"/>
          </a:p>
        </p:txBody>
      </p:sp>
      <p:sp>
        <p:nvSpPr>
          <p:cNvPr id="41" name="Text 30"/>
          <p:cNvSpPr/>
          <p:nvPr/>
        </p:nvSpPr>
        <p:spPr>
          <a:xfrm>
            <a:off x="8509635" y="3663801"/>
            <a:ext cx="621030"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5BD7"/>
                </a:solidFill>
                <a:latin typeface="Rubik" pitchFamily="34" charset="0"/>
                <a:ea typeface="Rubik" pitchFamily="34" charset="-122"/>
                <a:cs typeface="Rubik" pitchFamily="34" charset="-120"/>
              </a:rPr>
              <a:t>Linker</a:t>
            </a:r>
            <a:endParaRPr lang="en-US" sz="1300" dirty="0"/>
          </a:p>
        </p:txBody>
      </p:sp>
      <p:sp>
        <p:nvSpPr>
          <p:cNvPr id="42" name="Text 31"/>
          <p:cNvSpPr/>
          <p:nvPr/>
        </p:nvSpPr>
        <p:spPr>
          <a:xfrm>
            <a:off x="8600663" y="3950791"/>
            <a:ext cx="43892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bill</a:t>
            </a:r>
            <a:endParaRPr lang="en-US" sz="1200" dirty="0"/>
          </a:p>
        </p:txBody>
      </p:sp>
      <p:pic>
        <p:nvPicPr>
          <p:cNvPr id="43" name="Image 9" descr="arrow-right">    </p:cNvPr>
          <p:cNvPicPr>
            <a:picLocks noChangeAspect="1"/>
          </p:cNvPicPr>
          <p:nvPr/>
        </p:nvPicPr>
        <p:blipFill>
          <a:blip r:embed="rId10"/>
          <a:srcRect l="0" r="0" t="0" b="0"/>
          <a:stretch/>
        </p:blipFill>
        <p:spPr>
          <a:xfrm>
            <a:off x="9613900" y="3031381"/>
            <a:ext cx="228600" cy="177800"/>
          </a:xfrm>
          <a:prstGeom prst="rect">
            <a:avLst/>
          </a:prstGeom>
        </p:spPr>
      </p:pic>
      <p:sp>
        <p:nvSpPr>
          <p:cNvPr id="44" name="Shape 32"/>
          <p:cNvSpPr/>
          <p:nvPr/>
        </p:nvSpPr>
        <p:spPr>
          <a:xfrm>
            <a:off x="9896475" y="1994495"/>
            <a:ext cx="1479550" cy="2251571"/>
          </a:xfrm>
          <a:prstGeom prst="roundRect">
            <a:avLst>
              <a:gd name="adj" fmla="val 7511"/>
            </a:avLst>
          </a:prstGeom>
          <a:solidFill>
            <a:srgbClr val="FFFDF8"/>
          </a:solidFill>
          <a:ln w="6350">
            <a:solidFill>
              <a:srgbClr val="E2DDD2"/>
            </a:solidFill>
            <a:prstDash val="solid"/>
          </a:ln>
        </p:spPr>
      </p:sp>
      <p:pic>
        <p:nvPicPr>
          <p:cNvPr id="45" name="Image 10" descr="Served plate">    </p:cNvPr>
          <p:cNvPicPr>
            <a:picLocks noChangeAspect="1"/>
          </p:cNvPicPr>
          <p:nvPr/>
        </p:nvPicPr>
        <p:blipFill>
          <a:blip r:embed="rId11"/>
          <a:srcRect l="0" r="0" t="0" b="0"/>
          <a:stretch/>
        </p:blipFill>
        <p:spPr>
          <a:xfrm>
            <a:off x="10331450" y="2175470"/>
            <a:ext cx="609600" cy="609600"/>
          </a:xfrm>
          <a:prstGeom prst="rect">
            <a:avLst/>
          </a:prstGeom>
        </p:spPr>
      </p:pic>
      <p:sp>
        <p:nvSpPr>
          <p:cNvPr id="46" name="Text 33"/>
          <p:cNvSpPr/>
          <p:nvPr/>
        </p:nvSpPr>
        <p:spPr>
          <a:xfrm>
            <a:off x="9899650" y="2873970"/>
            <a:ext cx="1473200"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C2230"/>
                </a:solidFill>
                <a:latin typeface="Rubik" pitchFamily="34" charset="0"/>
                <a:ea typeface="Rubik" pitchFamily="34" charset="-122"/>
                <a:cs typeface="Rubik" pitchFamily="34" charset="-120"/>
              </a:rPr>
              <a:t>Serve the plate</a:t>
            </a:r>
            <a:endParaRPr lang="en-US" sz="1300" dirty="0"/>
          </a:p>
        </p:txBody>
      </p:sp>
      <p:sp>
        <p:nvSpPr>
          <p:cNvPr id="47" name="Shape 34"/>
          <p:cNvSpPr/>
          <p:nvPr/>
        </p:nvSpPr>
        <p:spPr>
          <a:xfrm>
            <a:off x="9988550" y="3160961"/>
            <a:ext cx="1295400" cy="12700"/>
          </a:xfrm>
          <a:prstGeom prst="rect">
            <a:avLst/>
          </a:prstGeom>
          <a:solidFill>
            <a:srgbClr val="E2DDD2"/>
          </a:solidFill>
          <a:ln/>
        </p:spPr>
      </p:sp>
      <p:sp>
        <p:nvSpPr>
          <p:cNvPr id="48" name="Text 35"/>
          <p:cNvSpPr/>
          <p:nvPr/>
        </p:nvSpPr>
        <p:spPr>
          <a:xfrm>
            <a:off x="10449148" y="3262561"/>
            <a:ext cx="37415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96273"/>
                </a:solidFill>
                <a:latin typeface="Rubik" pitchFamily="34" charset="0"/>
                <a:ea typeface="Rubik" pitchFamily="34" charset="-122"/>
                <a:cs typeface="Rubik" pitchFamily="34" charset="-120"/>
              </a:rPr>
              <a:t>In C:</a:t>
            </a:r>
            <a:endParaRPr lang="en-US" sz="1200" dirty="0"/>
          </a:p>
        </p:txBody>
      </p:sp>
      <p:sp>
        <p:nvSpPr>
          <p:cNvPr id="49" name="Text 36"/>
          <p:cNvSpPr/>
          <p:nvPr/>
        </p:nvSpPr>
        <p:spPr>
          <a:xfrm>
            <a:off x="9983614" y="3564781"/>
            <a:ext cx="1305223"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A5BD7"/>
                </a:solidFill>
                <a:latin typeface="Rubik" pitchFamily="34" charset="0"/>
                <a:ea typeface="Rubik" pitchFamily="34" charset="-122"/>
                <a:cs typeface="Rubik" pitchFamily="34" charset="-120"/>
              </a:rPr>
              <a:t>Loader + CPU</a:t>
            </a:r>
            <a:endParaRPr lang="en-US" sz="1300" dirty="0"/>
          </a:p>
        </p:txBody>
      </p:sp>
      <p:sp>
        <p:nvSpPr>
          <p:cNvPr id="50" name="Text 37"/>
          <p:cNvSpPr/>
          <p:nvPr/>
        </p:nvSpPr>
        <p:spPr>
          <a:xfrm>
            <a:off x="10252159" y="3851771"/>
            <a:ext cx="76813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running</a:t>
            </a:r>
            <a:endParaRPr lang="en-US" sz="1200" dirty="0"/>
          </a:p>
        </p:txBody>
      </p:sp>
      <p:sp>
        <p:nvSpPr>
          <p:cNvPr id="51" name="Shape 38"/>
          <p:cNvSpPr/>
          <p:nvPr/>
        </p:nvSpPr>
        <p:spPr>
          <a:xfrm>
            <a:off x="812800" y="4701332"/>
            <a:ext cx="10566400" cy="596900"/>
          </a:xfrm>
          <a:prstGeom prst="roundRect">
            <a:avLst>
              <a:gd name="adj" fmla="val 19149"/>
            </a:avLst>
          </a:prstGeom>
          <a:solidFill>
            <a:srgbClr val="15233F"/>
          </a:solidFill>
          <a:ln/>
        </p:spPr>
      </p:sp>
      <p:sp>
        <p:nvSpPr>
          <p:cNvPr id="52" name="Text 39"/>
          <p:cNvSpPr/>
          <p:nvPr/>
        </p:nvSpPr>
        <p:spPr>
          <a:xfrm>
            <a:off x="1041400" y="4875312"/>
            <a:ext cx="1193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In short</a:t>
            </a:r>
            <a:endParaRPr lang="en-US" sz="1400" dirty="0"/>
          </a:p>
        </p:txBody>
      </p:sp>
      <p:sp>
        <p:nvSpPr>
          <p:cNvPr id="53" name="Text 40"/>
          <p:cNvSpPr/>
          <p:nvPr/>
        </p:nvSpPr>
        <p:spPr>
          <a:xfrm>
            <a:off x="2311400" y="4866432"/>
            <a:ext cx="860637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3EC"/>
                </a:solidFill>
                <a:latin typeface="Rubik" pitchFamily="34" charset="0"/>
                <a:ea typeface="Rubik" pitchFamily="34" charset="-122"/>
                <a:cs typeface="Rubik" pitchFamily="34" charset="-120"/>
              </a:rPr>
              <a:t>You write C. </a:t>
            </a:r>
            <a:r>
              <a:rPr lang="en-US" sz="1500" b="1" dirty="0">
                <a:solidFill>
                  <a:srgbClr val="F6F3EC"/>
                </a:solidFill>
                <a:latin typeface="Rubik" pitchFamily="34" charset="0"/>
                <a:ea typeface="Rubik" pitchFamily="34" charset="-122"/>
                <a:cs typeface="Rubik" pitchFamily="34" charset="-120"/>
              </a:rPr>
              <a:t>gcc</a:t>
            </a:r>
            <a:r>
              <a:rPr lang="en-US" sz="1500" dirty="0">
                <a:solidFill>
                  <a:srgbClr val="F6F3EC"/>
                </a:solidFill>
                <a:latin typeface="Rubik" pitchFamily="34" charset="0"/>
                <a:ea typeface="Rubik" pitchFamily="34" charset="-122"/>
                <a:cs typeface="Rubik" pitchFamily="34" charset="-120"/>
              </a:rPr>
              <a:t> translates it into the computer's language. The computer runs 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2 OF 8 · LIFE CYCLE: SOURCE CODE TO EXECUTABLE</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From bill.c to a running program, step by step</a:t>
            </a:r>
            <a:endParaRPr lang="en-US" sz="3000" dirty="0"/>
          </a:p>
        </p:txBody>
      </p:sp>
      <p:sp>
        <p:nvSpPr>
          <p:cNvPr id="4" name="Shape 2"/>
          <p:cNvSpPr/>
          <p:nvPr/>
        </p:nvSpPr>
        <p:spPr>
          <a:xfrm>
            <a:off x="819150" y="2101850"/>
            <a:ext cx="1447800" cy="1384201"/>
          </a:xfrm>
          <a:prstGeom prst="roundRect">
            <a:avLst>
              <a:gd name="adj" fmla="val 6881"/>
            </a:avLst>
          </a:prstGeom>
          <a:solidFill>
            <a:srgbClr val="15233F"/>
          </a:solidFill>
          <a:ln w="12700">
            <a:solidFill>
              <a:srgbClr val="E9893F"/>
            </a:solidFill>
            <a:prstDash val="solid"/>
          </a:ln>
        </p:spPr>
      </p:sp>
      <p:pic>
        <p:nvPicPr>
          <p:cNvPr id="5" name="Image 0" descr="Recipe paper">    </p:cNvPr>
          <p:cNvPicPr>
            <a:picLocks noChangeAspect="1"/>
          </p:cNvPicPr>
          <p:nvPr/>
        </p:nvPicPr>
        <p:blipFill>
          <a:blip r:embed="rId1"/>
          <a:srcRect l="0" r="0" t="0" b="0"/>
          <a:stretch/>
        </p:blipFill>
        <p:spPr>
          <a:xfrm>
            <a:off x="1339850" y="2235200"/>
            <a:ext cx="406400" cy="406400"/>
          </a:xfrm>
          <a:prstGeom prst="rect">
            <a:avLst/>
          </a:prstGeom>
        </p:spPr>
      </p:pic>
      <p:sp>
        <p:nvSpPr>
          <p:cNvPr id="6" name="Text 3"/>
          <p:cNvSpPr/>
          <p:nvPr/>
        </p:nvSpPr>
        <p:spPr>
          <a:xfrm>
            <a:off x="863600" y="2692400"/>
            <a:ext cx="1358900" cy="42158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F6F3EC"/>
                </a:solidFill>
                <a:latin typeface="Rubik" pitchFamily="34" charset="0"/>
                <a:ea typeface="Rubik" pitchFamily="34" charset="-122"/>
                <a:cs typeface="Rubik" pitchFamily="34" charset="-120"/>
              </a:rPr>
              <a:t>You write the code</a:t>
            </a:r>
            <a:endParaRPr lang="en-US" sz="1300" dirty="0"/>
          </a:p>
        </p:txBody>
      </p:sp>
      <p:sp>
        <p:nvSpPr>
          <p:cNvPr id="7" name="Text 4"/>
          <p:cNvSpPr/>
          <p:nvPr/>
        </p:nvSpPr>
        <p:spPr>
          <a:xfrm>
            <a:off x="1213842" y="3139380"/>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9893F"/>
                </a:solidFill>
                <a:latin typeface="JetBrains Mono" pitchFamily="49" charset="0"/>
                <a:ea typeface="JetBrains Mono" pitchFamily="49" charset="-122"/>
                <a:cs typeface="JetBrains Mono" pitchFamily="49" charset="-120"/>
              </a:rPr>
              <a:t>bill.c</a:t>
            </a:r>
            <a:endParaRPr lang="en-US" sz="1200" dirty="0"/>
          </a:p>
        </p:txBody>
      </p:sp>
      <p:sp>
        <p:nvSpPr>
          <p:cNvPr id="8" name="Text 5"/>
          <p:cNvSpPr/>
          <p:nvPr/>
        </p:nvSpPr>
        <p:spPr>
          <a:xfrm>
            <a:off x="812800" y="3581301"/>
            <a:ext cx="15113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Your C code, typed in an editor.</a:t>
            </a:r>
            <a:endParaRPr lang="en-US" sz="1200" dirty="0"/>
          </a:p>
        </p:txBody>
      </p:sp>
      <p:sp>
        <p:nvSpPr>
          <p:cNvPr id="9" name="Text 6"/>
          <p:cNvSpPr/>
          <p:nvPr/>
        </p:nvSpPr>
        <p:spPr>
          <a:xfrm>
            <a:off x="812800" y="4081661"/>
            <a:ext cx="1460500" cy="553641"/>
          </a:xfrm>
          <a:prstGeom prst="roundRect">
            <a:avLst>
              <a:gd name="adj" fmla="val 11470"/>
            </a:avLst>
          </a:prstGeom>
          <a:solidFill>
            <a:srgbClr val="0C1528"/>
          </a:solidFill>
          <a:ln/>
        </p:spPr>
        <p:txBody>
          <a:bodyPr wrap="square" lIns="57601" tIns="44901" rIns="6801" bIns="1950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printf("Hello");</a:t>
            </a:r>
            <a:endParaRPr lang="en-US" sz="1200" dirty="0"/>
          </a:p>
        </p:txBody>
      </p:sp>
      <p:pic>
        <p:nvPicPr>
          <p:cNvPr id="10" name="Image 1" descr="arrow-right">    </p:cNvPr>
          <p:cNvPicPr>
            <a:picLocks noChangeAspect="1"/>
          </p:cNvPicPr>
          <p:nvPr/>
        </p:nvPicPr>
        <p:blipFill>
          <a:blip r:embed="rId2"/>
          <a:srcRect l="0" r="0" t="0" b="0"/>
          <a:stretch/>
        </p:blipFill>
        <p:spPr>
          <a:xfrm>
            <a:off x="2273300" y="2673350"/>
            <a:ext cx="228600" cy="177800"/>
          </a:xfrm>
          <a:prstGeom prst="rect">
            <a:avLst/>
          </a:prstGeom>
        </p:spPr>
      </p:pic>
      <p:sp>
        <p:nvSpPr>
          <p:cNvPr id="11" name="Shape 7"/>
          <p:cNvSpPr/>
          <p:nvPr/>
        </p:nvSpPr>
        <p:spPr>
          <a:xfrm>
            <a:off x="2559050" y="2101850"/>
            <a:ext cx="1447800" cy="1186111"/>
          </a:xfrm>
          <a:prstGeom prst="roundRect">
            <a:avLst>
              <a:gd name="adj" fmla="val 8030"/>
            </a:avLst>
          </a:prstGeom>
          <a:solidFill>
            <a:srgbClr val="FFFDF8"/>
          </a:solidFill>
          <a:ln w="12700">
            <a:solidFill>
              <a:srgbClr val="2A5BD7"/>
            </a:solidFill>
            <a:prstDash val="solid"/>
          </a:ln>
        </p:spPr>
      </p:sp>
      <p:pic>
        <p:nvPicPr>
          <p:cNvPr id="12" name="Image 2" descr="Basket of ingredients">    </p:cNvPr>
          <p:cNvPicPr>
            <a:picLocks noChangeAspect="1"/>
          </p:cNvPicPr>
          <p:nvPr/>
        </p:nvPicPr>
        <p:blipFill>
          <a:blip r:embed="rId3"/>
          <a:srcRect l="0" r="0" t="0" b="0"/>
          <a:stretch/>
        </p:blipFill>
        <p:spPr>
          <a:xfrm>
            <a:off x="3079750" y="2235200"/>
            <a:ext cx="406400" cy="406400"/>
          </a:xfrm>
          <a:prstGeom prst="rect">
            <a:avLst/>
          </a:prstGeom>
        </p:spPr>
      </p:pic>
      <p:sp>
        <p:nvSpPr>
          <p:cNvPr id="13" name="Text 8"/>
          <p:cNvSpPr/>
          <p:nvPr/>
        </p:nvSpPr>
        <p:spPr>
          <a:xfrm>
            <a:off x="2612633" y="2692400"/>
            <a:ext cx="1340584"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C2230"/>
                </a:solidFill>
                <a:latin typeface="Rubik" pitchFamily="34" charset="0"/>
                <a:ea typeface="Rubik" pitchFamily="34" charset="-122"/>
                <a:cs typeface="Rubik" pitchFamily="34" charset="-120"/>
              </a:rPr>
              <a:t>Preprocessor</a:t>
            </a:r>
            <a:endParaRPr lang="en-US" sz="1300" dirty="0"/>
          </a:p>
        </p:txBody>
      </p:sp>
      <p:sp>
        <p:nvSpPr>
          <p:cNvPr id="14" name="Text 9"/>
          <p:cNvSpPr/>
          <p:nvPr/>
        </p:nvSpPr>
        <p:spPr>
          <a:xfrm>
            <a:off x="2953742" y="2941290"/>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bill.i</a:t>
            </a:r>
            <a:endParaRPr lang="en-US" sz="1200" dirty="0"/>
          </a:p>
        </p:txBody>
      </p:sp>
      <p:sp>
        <p:nvSpPr>
          <p:cNvPr id="15" name="Text 10"/>
          <p:cNvSpPr/>
          <p:nvPr/>
        </p:nvSpPr>
        <p:spPr>
          <a:xfrm>
            <a:off x="2552700" y="3383211"/>
            <a:ext cx="15113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Pastes in stdio.h and removes comments.</a:t>
            </a:r>
            <a:endParaRPr lang="en-US" sz="1200" dirty="0"/>
          </a:p>
        </p:txBody>
      </p:sp>
      <p:sp>
        <p:nvSpPr>
          <p:cNvPr id="16" name="Text 11"/>
          <p:cNvSpPr/>
          <p:nvPr/>
        </p:nvSpPr>
        <p:spPr>
          <a:xfrm>
            <a:off x="2552700" y="4089301"/>
            <a:ext cx="1460500" cy="340320"/>
          </a:xfrm>
          <a:prstGeom prst="roundRect">
            <a:avLst>
              <a:gd name="adj" fmla="val 18659"/>
            </a:avLst>
          </a:prstGeom>
          <a:solidFill>
            <a:srgbClr val="0C1528"/>
          </a:solidFill>
          <a:ln/>
        </p:spPr>
        <p:txBody>
          <a:bodyPr wrap="square" lIns="57601" tIns="44901" rIns="6801" bIns="1950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~800 lines</a:t>
            </a:r>
            <a:endParaRPr lang="en-US" sz="1200" dirty="0"/>
          </a:p>
        </p:txBody>
      </p:sp>
      <p:pic>
        <p:nvPicPr>
          <p:cNvPr id="17" name="Image 3" descr="arrow-right">    </p:cNvPr>
          <p:cNvPicPr>
            <a:picLocks noChangeAspect="1"/>
          </p:cNvPicPr>
          <p:nvPr/>
        </p:nvPicPr>
        <p:blipFill>
          <a:blip r:embed="rId4"/>
          <a:srcRect l="0" r="0" t="0" b="0"/>
          <a:stretch/>
        </p:blipFill>
        <p:spPr>
          <a:xfrm>
            <a:off x="4013200" y="2673350"/>
            <a:ext cx="228600" cy="177800"/>
          </a:xfrm>
          <a:prstGeom prst="rect">
            <a:avLst/>
          </a:prstGeom>
        </p:spPr>
      </p:pic>
      <p:sp>
        <p:nvSpPr>
          <p:cNvPr id="18" name="Shape 12"/>
          <p:cNvSpPr/>
          <p:nvPr/>
        </p:nvSpPr>
        <p:spPr>
          <a:xfrm>
            <a:off x="4298950" y="2101850"/>
            <a:ext cx="1447800" cy="1186111"/>
          </a:xfrm>
          <a:prstGeom prst="roundRect">
            <a:avLst>
              <a:gd name="adj" fmla="val 8030"/>
            </a:avLst>
          </a:prstGeom>
          <a:solidFill>
            <a:srgbClr val="FFFDF8"/>
          </a:solidFill>
          <a:ln w="12700">
            <a:solidFill>
              <a:srgbClr val="2A5BD7"/>
            </a:solidFill>
            <a:prstDash val="solid"/>
          </a:ln>
        </p:spPr>
      </p:sp>
      <p:pic>
        <p:nvPicPr>
          <p:cNvPr id="19" name="Image 4" descr="Translator">    </p:cNvPr>
          <p:cNvPicPr>
            <a:picLocks noChangeAspect="1"/>
          </p:cNvPicPr>
          <p:nvPr/>
        </p:nvPicPr>
        <p:blipFill>
          <a:blip r:embed="rId5"/>
          <a:srcRect l="0" r="0" t="0" b="0"/>
          <a:stretch/>
        </p:blipFill>
        <p:spPr>
          <a:xfrm>
            <a:off x="4819650" y="2235200"/>
            <a:ext cx="406400" cy="406400"/>
          </a:xfrm>
          <a:prstGeom prst="rect">
            <a:avLst/>
          </a:prstGeom>
        </p:spPr>
      </p:pic>
      <p:sp>
        <p:nvSpPr>
          <p:cNvPr id="20" name="Text 13"/>
          <p:cNvSpPr/>
          <p:nvPr/>
        </p:nvSpPr>
        <p:spPr>
          <a:xfrm>
            <a:off x="4579104" y="2692400"/>
            <a:ext cx="887492"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C2230"/>
                </a:solidFill>
                <a:latin typeface="Rubik" pitchFamily="34" charset="0"/>
                <a:ea typeface="Rubik" pitchFamily="34" charset="-122"/>
                <a:cs typeface="Rubik" pitchFamily="34" charset="-120"/>
              </a:rPr>
              <a:t>Compiler</a:t>
            </a:r>
            <a:endParaRPr lang="en-US" sz="1300" dirty="0"/>
          </a:p>
        </p:txBody>
      </p:sp>
      <p:sp>
        <p:nvSpPr>
          <p:cNvPr id="21" name="Text 14"/>
          <p:cNvSpPr/>
          <p:nvPr/>
        </p:nvSpPr>
        <p:spPr>
          <a:xfrm>
            <a:off x="4693642" y="2941290"/>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bill.s</a:t>
            </a:r>
            <a:endParaRPr lang="en-US" sz="1200" dirty="0"/>
          </a:p>
        </p:txBody>
      </p:sp>
      <p:sp>
        <p:nvSpPr>
          <p:cNvPr id="22" name="Text 15"/>
          <p:cNvSpPr/>
          <p:nvPr/>
        </p:nvSpPr>
        <p:spPr>
          <a:xfrm>
            <a:off x="4292600" y="3383211"/>
            <a:ext cx="15113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Checks for mistakes, then turns C into assembly.</a:t>
            </a:r>
            <a:endParaRPr lang="en-US" sz="1200" dirty="0"/>
          </a:p>
        </p:txBody>
      </p:sp>
      <p:sp>
        <p:nvSpPr>
          <p:cNvPr id="23" name="Text 16"/>
          <p:cNvSpPr/>
          <p:nvPr/>
        </p:nvSpPr>
        <p:spPr>
          <a:xfrm>
            <a:off x="4292600" y="4089301"/>
            <a:ext cx="1460500" cy="340320"/>
          </a:xfrm>
          <a:prstGeom prst="roundRect">
            <a:avLst>
              <a:gd name="adj" fmla="val 18659"/>
            </a:avLst>
          </a:prstGeom>
          <a:solidFill>
            <a:srgbClr val="0C1528"/>
          </a:solidFill>
          <a:ln/>
        </p:spPr>
        <p:txBody>
          <a:bodyPr wrap="square" lIns="57601" tIns="44901" rIns="6801" bIns="1950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call printf</a:t>
            </a:r>
            <a:endParaRPr lang="en-US" sz="1200" dirty="0"/>
          </a:p>
        </p:txBody>
      </p:sp>
      <p:pic>
        <p:nvPicPr>
          <p:cNvPr id="24" name="Image 5" descr="arrow-right">    </p:cNvPr>
          <p:cNvPicPr>
            <a:picLocks noChangeAspect="1"/>
          </p:cNvPicPr>
          <p:nvPr/>
        </p:nvPicPr>
        <p:blipFill>
          <a:blip r:embed="rId6"/>
          <a:srcRect l="0" r="0" t="0" b="0"/>
          <a:stretch/>
        </p:blipFill>
        <p:spPr>
          <a:xfrm>
            <a:off x="5753100" y="2673350"/>
            <a:ext cx="228600" cy="177800"/>
          </a:xfrm>
          <a:prstGeom prst="rect">
            <a:avLst/>
          </a:prstGeom>
        </p:spPr>
      </p:pic>
      <p:sp>
        <p:nvSpPr>
          <p:cNvPr id="25" name="Shape 17"/>
          <p:cNvSpPr/>
          <p:nvPr/>
        </p:nvSpPr>
        <p:spPr>
          <a:xfrm>
            <a:off x="6038850" y="2101850"/>
            <a:ext cx="1447800" cy="1186111"/>
          </a:xfrm>
          <a:prstGeom prst="roundRect">
            <a:avLst>
              <a:gd name="adj" fmla="val 8030"/>
            </a:avLst>
          </a:prstGeom>
          <a:solidFill>
            <a:srgbClr val="FFFDF8"/>
          </a:solidFill>
          <a:ln w="12700">
            <a:solidFill>
              <a:srgbClr val="2A5BD7"/>
            </a:solidFill>
            <a:prstDash val="solid"/>
          </a:ln>
        </p:spPr>
      </p:sp>
      <p:pic>
        <p:nvPicPr>
          <p:cNvPr id="26" name="Image 6" descr="Cooking pot">    </p:cNvPr>
          <p:cNvPicPr>
            <a:picLocks noChangeAspect="1"/>
          </p:cNvPicPr>
          <p:nvPr/>
        </p:nvPicPr>
        <p:blipFill>
          <a:blip r:embed="rId7"/>
          <a:srcRect l="0" r="0" t="0" b="0"/>
          <a:stretch/>
        </p:blipFill>
        <p:spPr>
          <a:xfrm>
            <a:off x="6559550" y="2235200"/>
            <a:ext cx="406400" cy="406400"/>
          </a:xfrm>
          <a:prstGeom prst="rect">
            <a:avLst/>
          </a:prstGeom>
        </p:spPr>
      </p:pic>
      <p:sp>
        <p:nvSpPr>
          <p:cNvPr id="27" name="Text 18"/>
          <p:cNvSpPr/>
          <p:nvPr/>
        </p:nvSpPr>
        <p:spPr>
          <a:xfrm>
            <a:off x="6237987" y="2692400"/>
            <a:ext cx="1049476"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C2230"/>
                </a:solidFill>
                <a:latin typeface="Rubik" pitchFamily="34" charset="0"/>
                <a:ea typeface="Rubik" pitchFamily="34" charset="-122"/>
                <a:cs typeface="Rubik" pitchFamily="34" charset="-120"/>
              </a:rPr>
              <a:t>Assembler</a:t>
            </a:r>
            <a:endParaRPr lang="en-US" sz="1300" dirty="0"/>
          </a:p>
        </p:txBody>
      </p:sp>
      <p:sp>
        <p:nvSpPr>
          <p:cNvPr id="28" name="Text 19"/>
          <p:cNvSpPr/>
          <p:nvPr/>
        </p:nvSpPr>
        <p:spPr>
          <a:xfrm>
            <a:off x="6433542" y="2941290"/>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bill.o</a:t>
            </a:r>
            <a:endParaRPr lang="en-US" sz="1200" dirty="0"/>
          </a:p>
        </p:txBody>
      </p:sp>
      <p:sp>
        <p:nvSpPr>
          <p:cNvPr id="29" name="Text 20"/>
          <p:cNvSpPr/>
          <p:nvPr/>
        </p:nvSpPr>
        <p:spPr>
          <a:xfrm>
            <a:off x="6032500" y="3383211"/>
            <a:ext cx="15113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Turns assembly into machine code: 0s and 1s.</a:t>
            </a:r>
            <a:endParaRPr lang="en-US" sz="1200" dirty="0"/>
          </a:p>
        </p:txBody>
      </p:sp>
      <p:sp>
        <p:nvSpPr>
          <p:cNvPr id="30" name="Text 21"/>
          <p:cNvSpPr/>
          <p:nvPr/>
        </p:nvSpPr>
        <p:spPr>
          <a:xfrm>
            <a:off x="6032500" y="4089301"/>
            <a:ext cx="1460500" cy="340320"/>
          </a:xfrm>
          <a:prstGeom prst="roundRect">
            <a:avLst>
              <a:gd name="adj" fmla="val 18659"/>
            </a:avLst>
          </a:prstGeom>
          <a:solidFill>
            <a:srgbClr val="0C1528"/>
          </a:solidFill>
          <a:ln/>
        </p:spPr>
        <p:txBody>
          <a:bodyPr wrap="square" lIns="57601" tIns="44901" rIns="6801" bIns="1950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01001000…</a:t>
            </a:r>
            <a:endParaRPr lang="en-US" sz="1200" dirty="0"/>
          </a:p>
        </p:txBody>
      </p:sp>
      <p:pic>
        <p:nvPicPr>
          <p:cNvPr id="31" name="Image 7" descr="arrow-right">    </p:cNvPr>
          <p:cNvPicPr>
            <a:picLocks noChangeAspect="1"/>
          </p:cNvPicPr>
          <p:nvPr/>
        </p:nvPicPr>
        <p:blipFill>
          <a:blip r:embed="rId8"/>
          <a:srcRect l="0" r="0" t="0" b="0"/>
          <a:stretch/>
        </p:blipFill>
        <p:spPr>
          <a:xfrm>
            <a:off x="7493000" y="2673350"/>
            <a:ext cx="228600" cy="177800"/>
          </a:xfrm>
          <a:prstGeom prst="rect">
            <a:avLst/>
          </a:prstGeom>
        </p:spPr>
      </p:pic>
      <p:sp>
        <p:nvSpPr>
          <p:cNvPr id="32" name="Shape 22"/>
          <p:cNvSpPr/>
          <p:nvPr/>
        </p:nvSpPr>
        <p:spPr>
          <a:xfrm>
            <a:off x="7778750" y="2101850"/>
            <a:ext cx="1447800" cy="1186111"/>
          </a:xfrm>
          <a:prstGeom prst="roundRect">
            <a:avLst>
              <a:gd name="adj" fmla="val 8030"/>
            </a:avLst>
          </a:prstGeom>
          <a:solidFill>
            <a:srgbClr val="FFFDF8"/>
          </a:solidFill>
          <a:ln w="12700">
            <a:solidFill>
              <a:srgbClr val="2A5BD7"/>
            </a:solidFill>
            <a:prstDash val="solid"/>
          </a:ln>
        </p:spPr>
      </p:sp>
      <p:pic>
        <p:nvPicPr>
          <p:cNvPr id="33" name="Image 8" descr="Store shelf with jars">    </p:cNvPr>
          <p:cNvPicPr>
            <a:picLocks noChangeAspect="1"/>
          </p:cNvPicPr>
          <p:nvPr/>
        </p:nvPicPr>
        <p:blipFill>
          <a:blip r:embed="rId9"/>
          <a:srcRect l="0" r="0" t="0" b="0"/>
          <a:stretch/>
        </p:blipFill>
        <p:spPr>
          <a:xfrm>
            <a:off x="8299450" y="2235200"/>
            <a:ext cx="406400" cy="406400"/>
          </a:xfrm>
          <a:prstGeom prst="rect">
            <a:avLst/>
          </a:prstGeom>
        </p:spPr>
      </p:pic>
      <p:sp>
        <p:nvSpPr>
          <p:cNvPr id="34" name="Text 23"/>
          <p:cNvSpPr/>
          <p:nvPr/>
        </p:nvSpPr>
        <p:spPr>
          <a:xfrm>
            <a:off x="8192135" y="2692400"/>
            <a:ext cx="621030"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C2230"/>
                </a:solidFill>
                <a:latin typeface="Rubik" pitchFamily="34" charset="0"/>
                <a:ea typeface="Rubik" pitchFamily="34" charset="-122"/>
                <a:cs typeface="Rubik" pitchFamily="34" charset="-120"/>
              </a:rPr>
              <a:t>Linker</a:t>
            </a:r>
            <a:endParaRPr lang="en-US" sz="1300" dirty="0"/>
          </a:p>
        </p:txBody>
      </p:sp>
      <p:sp>
        <p:nvSpPr>
          <p:cNvPr id="35" name="Text 24"/>
          <p:cNvSpPr/>
          <p:nvPr/>
        </p:nvSpPr>
        <p:spPr>
          <a:xfrm>
            <a:off x="8283163" y="2941290"/>
            <a:ext cx="43892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bill</a:t>
            </a:r>
            <a:endParaRPr lang="en-US" sz="1200" dirty="0"/>
          </a:p>
        </p:txBody>
      </p:sp>
      <p:sp>
        <p:nvSpPr>
          <p:cNvPr id="36" name="Text 25"/>
          <p:cNvSpPr/>
          <p:nvPr/>
        </p:nvSpPr>
        <p:spPr>
          <a:xfrm>
            <a:off x="7772400" y="3383211"/>
            <a:ext cx="15113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Adds printf and scanf from the C library.</a:t>
            </a:r>
            <a:endParaRPr lang="en-US" sz="1200" dirty="0"/>
          </a:p>
        </p:txBody>
      </p:sp>
      <p:sp>
        <p:nvSpPr>
          <p:cNvPr id="37" name="Text 26"/>
          <p:cNvSpPr/>
          <p:nvPr/>
        </p:nvSpPr>
        <p:spPr>
          <a:xfrm>
            <a:off x="7772400" y="4089301"/>
            <a:ext cx="1460500" cy="340320"/>
          </a:xfrm>
          <a:prstGeom prst="roundRect">
            <a:avLst>
              <a:gd name="adj" fmla="val 18659"/>
            </a:avLst>
          </a:prstGeom>
          <a:solidFill>
            <a:srgbClr val="0C1528"/>
          </a:solidFill>
          <a:ln/>
        </p:spPr>
        <p:txBody>
          <a:bodyPr wrap="square" lIns="57601" tIns="44901" rIns="6801" bIns="1950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bill.o+printf</a:t>
            </a:r>
            <a:endParaRPr lang="en-US" sz="1200" dirty="0"/>
          </a:p>
        </p:txBody>
      </p:sp>
      <p:pic>
        <p:nvPicPr>
          <p:cNvPr id="38" name="Image 9" descr="arrow-right">    </p:cNvPr>
          <p:cNvPicPr>
            <a:picLocks noChangeAspect="1"/>
          </p:cNvPicPr>
          <p:nvPr/>
        </p:nvPicPr>
        <p:blipFill>
          <a:blip r:embed="rId10"/>
          <a:srcRect l="0" r="0" t="0" b="0"/>
          <a:stretch/>
        </p:blipFill>
        <p:spPr>
          <a:xfrm>
            <a:off x="9232900" y="2673350"/>
            <a:ext cx="228600" cy="177800"/>
          </a:xfrm>
          <a:prstGeom prst="rect">
            <a:avLst/>
          </a:prstGeom>
        </p:spPr>
      </p:pic>
      <p:sp>
        <p:nvSpPr>
          <p:cNvPr id="39" name="Shape 27"/>
          <p:cNvSpPr/>
          <p:nvPr/>
        </p:nvSpPr>
        <p:spPr>
          <a:xfrm>
            <a:off x="9518650" y="2101850"/>
            <a:ext cx="1447800" cy="1186111"/>
          </a:xfrm>
          <a:prstGeom prst="roundRect">
            <a:avLst>
              <a:gd name="adj" fmla="val 8030"/>
            </a:avLst>
          </a:prstGeom>
          <a:solidFill>
            <a:srgbClr val="15233F"/>
          </a:solidFill>
          <a:ln w="12700">
            <a:solidFill>
              <a:srgbClr val="E9893F"/>
            </a:solidFill>
            <a:prstDash val="solid"/>
          </a:ln>
        </p:spPr>
      </p:sp>
      <p:pic>
        <p:nvPicPr>
          <p:cNvPr id="40" name="Image 10" descr="Served plate">    </p:cNvPr>
          <p:cNvPicPr>
            <a:picLocks noChangeAspect="1"/>
          </p:cNvPicPr>
          <p:nvPr/>
        </p:nvPicPr>
        <p:blipFill>
          <a:blip r:embed="rId11"/>
          <a:srcRect l="0" r="0" t="0" b="0"/>
          <a:stretch/>
        </p:blipFill>
        <p:spPr>
          <a:xfrm>
            <a:off x="10039350" y="2235200"/>
            <a:ext cx="406400" cy="406400"/>
          </a:xfrm>
          <a:prstGeom prst="rect">
            <a:avLst/>
          </a:prstGeom>
        </p:spPr>
      </p:pic>
      <p:sp>
        <p:nvSpPr>
          <p:cNvPr id="41" name="Text 28"/>
          <p:cNvSpPr/>
          <p:nvPr/>
        </p:nvSpPr>
        <p:spPr>
          <a:xfrm>
            <a:off x="9589914" y="2692400"/>
            <a:ext cx="1305223"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F6F3EC"/>
                </a:solidFill>
                <a:latin typeface="Rubik" pitchFamily="34" charset="0"/>
                <a:ea typeface="Rubik" pitchFamily="34" charset="-122"/>
                <a:cs typeface="Rubik" pitchFamily="34" charset="-120"/>
              </a:rPr>
              <a:t>Loader + CPU</a:t>
            </a:r>
            <a:endParaRPr lang="en-US" sz="1300" dirty="0"/>
          </a:p>
        </p:txBody>
      </p:sp>
      <p:sp>
        <p:nvSpPr>
          <p:cNvPr id="42" name="Text 29"/>
          <p:cNvSpPr/>
          <p:nvPr/>
        </p:nvSpPr>
        <p:spPr>
          <a:xfrm>
            <a:off x="9858459" y="2941290"/>
            <a:ext cx="76813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9893F"/>
                </a:solidFill>
                <a:latin typeface="JetBrains Mono" pitchFamily="49" charset="0"/>
                <a:ea typeface="JetBrains Mono" pitchFamily="49" charset="-122"/>
                <a:cs typeface="JetBrains Mono" pitchFamily="49" charset="-120"/>
              </a:rPr>
              <a:t>running</a:t>
            </a:r>
            <a:endParaRPr lang="en-US" sz="1200" dirty="0"/>
          </a:p>
        </p:txBody>
      </p:sp>
      <p:sp>
        <p:nvSpPr>
          <p:cNvPr id="43" name="Text 30"/>
          <p:cNvSpPr/>
          <p:nvPr/>
        </p:nvSpPr>
        <p:spPr>
          <a:xfrm>
            <a:off x="9512300" y="3383211"/>
            <a:ext cx="15113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Copies the program into memory. The CPU runs it.</a:t>
            </a:r>
            <a:endParaRPr lang="en-US" sz="1200" dirty="0"/>
          </a:p>
        </p:txBody>
      </p:sp>
      <p:sp>
        <p:nvSpPr>
          <p:cNvPr id="44" name="Text 31"/>
          <p:cNvSpPr/>
          <p:nvPr/>
        </p:nvSpPr>
        <p:spPr>
          <a:xfrm>
            <a:off x="9512300" y="4089301"/>
            <a:ext cx="1460500" cy="340320"/>
          </a:xfrm>
          <a:prstGeom prst="roundRect">
            <a:avLst>
              <a:gd name="adj" fmla="val 18659"/>
            </a:avLst>
          </a:prstGeom>
          <a:solidFill>
            <a:srgbClr val="0C1528"/>
          </a:solidFill>
          <a:ln/>
        </p:spPr>
        <p:txBody>
          <a:bodyPr wrap="square" lIns="57601" tIns="44901" rIns="6801" bIns="1950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Hello!</a:t>
            </a:r>
            <a:endParaRPr lang="en-US" sz="1200" dirty="0"/>
          </a:p>
        </p:txBody>
      </p:sp>
      <p:sp>
        <p:nvSpPr>
          <p:cNvPr id="45" name="Shape 32"/>
          <p:cNvSpPr/>
          <p:nvPr/>
        </p:nvSpPr>
        <p:spPr>
          <a:xfrm>
            <a:off x="812800" y="5397500"/>
            <a:ext cx="10566400" cy="571500"/>
          </a:xfrm>
          <a:prstGeom prst="roundRect">
            <a:avLst>
              <a:gd name="adj" fmla="val 17778"/>
            </a:avLst>
          </a:prstGeom>
          <a:solidFill>
            <a:srgbClr val="15233F"/>
          </a:solidFill>
          <a:ln/>
        </p:spPr>
      </p:sp>
      <p:sp>
        <p:nvSpPr>
          <p:cNvPr id="46" name="Text 33"/>
          <p:cNvSpPr/>
          <p:nvPr/>
        </p:nvSpPr>
        <p:spPr>
          <a:xfrm>
            <a:off x="1016000" y="5558780"/>
            <a:ext cx="282183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Rubik" pitchFamily="34" charset="0"/>
                <a:ea typeface="Rubik" pitchFamily="34" charset="-122"/>
                <a:cs typeface="Rubik" pitchFamily="34" charset="-120"/>
              </a:rPr>
              <a:t>One command does steps 2 to 5:</a:t>
            </a:r>
            <a:endParaRPr lang="en-US" sz="1400" dirty="0"/>
          </a:p>
        </p:txBody>
      </p:sp>
      <p:sp>
        <p:nvSpPr>
          <p:cNvPr id="47" name="Text 34"/>
          <p:cNvSpPr/>
          <p:nvPr/>
        </p:nvSpPr>
        <p:spPr>
          <a:xfrm>
            <a:off x="3837831" y="5558780"/>
            <a:ext cx="204723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JetBrains Mono" pitchFamily="49" charset="0"/>
                <a:ea typeface="JetBrains Mono" pitchFamily="49" charset="-122"/>
                <a:cs typeface="JetBrains Mono" pitchFamily="49" charset="-120"/>
              </a:rPr>
              <a:t>gcc bill.c -o bill</a:t>
            </a:r>
            <a:endParaRPr lang="en-US" sz="1400" dirty="0"/>
          </a:p>
        </p:txBody>
      </p:sp>
      <p:sp>
        <p:nvSpPr>
          <p:cNvPr id="48" name="Text 35"/>
          <p:cNvSpPr/>
          <p:nvPr/>
        </p:nvSpPr>
        <p:spPr>
          <a:xfrm>
            <a:off x="5885061" y="5558780"/>
            <a:ext cx="46220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Rubik" pitchFamily="34" charset="0"/>
                <a:ea typeface="Rubik" pitchFamily="34" charset="-122"/>
                <a:cs typeface="Rubik" pitchFamily="34" charset="-120"/>
              </a:rPr>
              <a:t>then</a:t>
            </a:r>
            <a:endParaRPr lang="en-US" sz="1400" dirty="0"/>
          </a:p>
        </p:txBody>
      </p:sp>
      <p:sp>
        <p:nvSpPr>
          <p:cNvPr id="49" name="Text 36"/>
          <p:cNvSpPr/>
          <p:nvPr/>
        </p:nvSpPr>
        <p:spPr>
          <a:xfrm>
            <a:off x="6397228" y="5558780"/>
            <a:ext cx="7671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JetBrains Mono" pitchFamily="49" charset="0"/>
                <a:ea typeface="JetBrains Mono" pitchFamily="49" charset="-122"/>
                <a:cs typeface="JetBrains Mono" pitchFamily="49" charset="-120"/>
              </a:rPr>
              <a:t>./bill</a:t>
            </a:r>
            <a:endParaRPr lang="en-US" sz="1400" dirty="0"/>
          </a:p>
        </p:txBody>
      </p:sp>
      <p:sp>
        <p:nvSpPr>
          <p:cNvPr id="50" name="Text 37"/>
          <p:cNvSpPr/>
          <p:nvPr/>
        </p:nvSpPr>
        <p:spPr>
          <a:xfrm>
            <a:off x="7164338" y="5558780"/>
            <a:ext cx="68859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Rubik" pitchFamily="34" charset="0"/>
                <a:ea typeface="Rubik" pitchFamily="34" charset="-122"/>
                <a:cs typeface="Rubik" pitchFamily="34" charset="-120"/>
              </a:rPr>
              <a:t>runs it.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2 OF 8 · LIFE CYCLE: SOURCE CODE TO EXECUTABLE</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Watch each stage with gcc</a:t>
            </a:r>
            <a:endParaRPr lang="en-US" sz="3000" dirty="0"/>
          </a:p>
        </p:txBody>
      </p:sp>
      <p:sp>
        <p:nvSpPr>
          <p:cNvPr id="4" name="Shape 2"/>
          <p:cNvSpPr/>
          <p:nvPr/>
        </p:nvSpPr>
        <p:spPr>
          <a:xfrm>
            <a:off x="812800" y="1793230"/>
            <a:ext cx="10566400" cy="3021211"/>
          </a:xfrm>
          <a:prstGeom prst="rect">
            <a:avLst/>
          </a:prstGeom>
          <a:solidFill>
            <a:srgbClr val="FFFDF8"/>
          </a:solidFill>
          <a:ln/>
        </p:spPr>
      </p:sp>
      <p:sp>
        <p:nvSpPr>
          <p:cNvPr id="5" name="Shape 3"/>
          <p:cNvSpPr/>
          <p:nvPr/>
        </p:nvSpPr>
        <p:spPr>
          <a:xfrm>
            <a:off x="11376025" y="1793230"/>
            <a:ext cx="0" cy="3021211"/>
          </a:xfrm>
          <a:prstGeom prst="line">
            <a:avLst/>
          </a:prstGeom>
          <a:noFill/>
          <a:ln w="6350">
            <a:solidFill>
              <a:srgbClr val="E2DDD2"/>
            </a:solidFill>
            <a:prstDash val="solid"/>
          </a:ln>
        </p:spPr>
      </p:sp>
      <p:sp>
        <p:nvSpPr>
          <p:cNvPr id="6" name="Shape 4"/>
          <p:cNvSpPr/>
          <p:nvPr/>
        </p:nvSpPr>
        <p:spPr>
          <a:xfrm>
            <a:off x="812800" y="4811266"/>
            <a:ext cx="10566400" cy="0"/>
          </a:xfrm>
          <a:prstGeom prst="line">
            <a:avLst/>
          </a:prstGeom>
          <a:noFill/>
          <a:ln w="6350">
            <a:solidFill>
              <a:srgbClr val="E2DDD2"/>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05930"/>
          <a:ext cx="10547350" cy="3002161"/>
        </p:xfrm>
        <a:graphic>
          <a:graphicData uri="http://schemas.openxmlformats.org/drawingml/2006/table">
            <a:tbl>
              <a:tblPr/>
              <a:tblGrid>
                <a:gridCol w="3515783"/>
                <a:gridCol w="3515783"/>
                <a:gridCol w="3515783"/>
              </a:tblGrid>
              <a:tr h="500360">
                <a:tc>
                  <a:txBody>
                    <a:bodyPr/>
                    <a:lstStyle/>
                    <a:p>
                      <a:pPr indent="0" marL="0">
                        <a:lnSpc>
                          <a:spcPts val="2240"/>
                        </a:lnSpc>
                        <a:buNone/>
                      </a:pPr>
                      <a:r>
                        <a:rPr lang="en-US" sz="1600" b="1" dirty="0">
                          <a:solidFill>
                            <a:srgbClr val="E9893F"/>
                          </a:solidFill>
                          <a:latin typeface="Rubik" pitchFamily="34" charset="0"/>
                          <a:ea typeface="Rubik" pitchFamily="34" charset="-122"/>
                          <a:cs typeface="Rubik" pitchFamily="34" charset="-120"/>
                        </a:rPr>
                        <a:t>Command</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2240"/>
                        </a:lnSpc>
                        <a:buNone/>
                      </a:pPr>
                      <a:r>
                        <a:rPr lang="en-US" sz="1600" b="1" dirty="0">
                          <a:solidFill>
                            <a:srgbClr val="E9893F"/>
                          </a:solidFill>
                          <a:latin typeface="Rubik" pitchFamily="34" charset="0"/>
                          <a:ea typeface="Rubik" pitchFamily="34" charset="-122"/>
                          <a:cs typeface="Rubik" pitchFamily="34" charset="-120"/>
                        </a:rPr>
                        <a:t>Stops after</a:t>
                      </a:r>
                      <a:endParaRPr lang="en-US" sz="1600" dirty="0">
                        <a:latin typeface="Rubik" charset="0"/>
                        <a:ea typeface="Rubik" charset="0"/>
                        <a:cs typeface="Rubik" charset="0"/>
                      </a:endParaRPr>
                    </a:p>
                  </a:txBody>
                  <a:tcPr marL="139700" marR="139700" marT="101600" marB="10160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2240"/>
                        </a:lnSpc>
                        <a:buNone/>
                      </a:pPr>
                      <a:r>
                        <a:rPr lang="en-US" sz="1600" b="1" dirty="0">
                          <a:solidFill>
                            <a:srgbClr val="E9893F"/>
                          </a:solidFill>
                          <a:latin typeface="Rubik" pitchFamily="34" charset="0"/>
                          <a:ea typeface="Rubik" pitchFamily="34" charset="-122"/>
                          <a:cs typeface="Rubik" pitchFamily="34" charset="-120"/>
                        </a:rPr>
                        <a:t>You get</a:t>
                      </a:r>
                      <a:endParaRPr lang="en-US" sz="1600" dirty="0">
                        <a:latin typeface="Rubik" charset="0"/>
                        <a:ea typeface="Rubik" charset="0"/>
                        <a:cs typeface="Rubik" charset="0"/>
                      </a:endParaRPr>
                    </a:p>
                  </a:txBody>
                  <a:tcPr marL="139700" marR="139700" marT="101600" marB="10160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500360">
                <a:tc>
                  <a:txBody>
                    <a:bodyPr/>
                    <a:lstStyle/>
                    <a:p>
                      <a:pPr indent="0" marL="0">
                        <a:lnSpc>
                          <a:spcPts val="2240"/>
                        </a:lnSpc>
                        <a:buNone/>
                      </a:pPr>
                      <a:r>
                        <a:rPr lang="en-US" sz="1600" dirty="0">
                          <a:solidFill>
                            <a:srgbClr val="2A5BD7"/>
                          </a:solidFill>
                          <a:latin typeface="Rubik" pitchFamily="34" charset="0"/>
                          <a:ea typeface="Rubik" pitchFamily="34" charset="-122"/>
                          <a:cs typeface="Rubik" pitchFamily="34" charset="-120"/>
                        </a:rPr>
                        <a:t>gcc -E bill.c -o bill.i</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Preprocessor only</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bill.i: #include expanded</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00360">
                <a:tc>
                  <a:txBody>
                    <a:bodyPr/>
                    <a:lstStyle/>
                    <a:p>
                      <a:pPr indent="0" marL="0">
                        <a:lnSpc>
                          <a:spcPts val="2240"/>
                        </a:lnSpc>
                        <a:buNone/>
                      </a:pPr>
                      <a:r>
                        <a:rPr lang="en-US" sz="1600" dirty="0">
                          <a:solidFill>
                            <a:srgbClr val="2A5BD7"/>
                          </a:solidFill>
                          <a:latin typeface="Rubik" pitchFamily="34" charset="0"/>
                          <a:ea typeface="Rubik" pitchFamily="34" charset="-122"/>
                          <a:cs typeface="Rubik" pitchFamily="34" charset="-120"/>
                        </a:rPr>
                        <a:t>gcc -S bill.c</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Up to the compiler</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bill.s: assembly code</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00360">
                <a:tc>
                  <a:txBody>
                    <a:bodyPr/>
                    <a:lstStyle/>
                    <a:p>
                      <a:pPr indent="0" marL="0">
                        <a:lnSpc>
                          <a:spcPts val="2240"/>
                        </a:lnSpc>
                        <a:buNone/>
                      </a:pPr>
                      <a:r>
                        <a:rPr lang="en-US" sz="1600" dirty="0">
                          <a:solidFill>
                            <a:srgbClr val="2A5BD7"/>
                          </a:solidFill>
                          <a:latin typeface="Rubik" pitchFamily="34" charset="0"/>
                          <a:ea typeface="Rubik" pitchFamily="34" charset="-122"/>
                          <a:cs typeface="Rubik" pitchFamily="34" charset="-120"/>
                        </a:rPr>
                        <a:t>gcc -c bill.c</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Up to the assembler</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bill.o: machine code, not linked</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00360">
                <a:tc>
                  <a:txBody>
                    <a:bodyPr/>
                    <a:lstStyle/>
                    <a:p>
                      <a:pPr indent="0" marL="0">
                        <a:lnSpc>
                          <a:spcPts val="2240"/>
                        </a:lnSpc>
                        <a:buNone/>
                      </a:pPr>
                      <a:r>
                        <a:rPr lang="en-US" sz="1600" dirty="0">
                          <a:solidFill>
                            <a:srgbClr val="2A5BD7"/>
                          </a:solidFill>
                          <a:latin typeface="Rubik" pitchFamily="34" charset="0"/>
                          <a:ea typeface="Rubik" pitchFamily="34" charset="-122"/>
                          <a:cs typeface="Rubik" pitchFamily="34" charset="-120"/>
                        </a:rPr>
                        <a:t>gcc bill.c -o bill</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All four stages</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bill: the program you run</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00360">
                <a:tc>
                  <a:txBody>
                    <a:bodyPr/>
                    <a:lstStyle/>
                    <a:p>
                      <a:pPr indent="0" marL="0">
                        <a:lnSpc>
                          <a:spcPts val="2240"/>
                        </a:lnSpc>
                        <a:buNone/>
                      </a:pPr>
                      <a:r>
                        <a:rPr lang="en-US" sz="1600" dirty="0">
                          <a:solidFill>
                            <a:srgbClr val="2A5BD7"/>
                          </a:solidFill>
                          <a:latin typeface="Rubik" pitchFamily="34" charset="0"/>
                          <a:ea typeface="Rubik" pitchFamily="34" charset="-122"/>
                          <a:cs typeface="Rubik" pitchFamily="34" charset="-120"/>
                        </a:rPr>
                        <a:t>./bill</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Loader runs it</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Output on the screen</a:t>
                      </a:r>
                      <a:endParaRPr lang="en-US" sz="1600" dirty="0">
                        <a:latin typeface="Rubik" charset="0"/>
                        <a:ea typeface="Rubik" charset="0"/>
                        <a:cs typeface="Rubik" charset="0"/>
                      </a:endParaRPr>
                    </a:p>
                  </a:txBody>
                  <a:tcPr marL="139700" marR="139700" marT="101600" marB="1016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8" name="Text 5"/>
          <p:cNvSpPr/>
          <p:nvPr/>
        </p:nvSpPr>
        <p:spPr>
          <a:xfrm>
            <a:off x="812800" y="506844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6273"/>
                </a:solidFill>
                <a:latin typeface="Rubik" pitchFamily="34" charset="0"/>
                <a:ea typeface="Rubik" pitchFamily="34" charset="-122"/>
                <a:cs typeface="Rubik" pitchFamily="34" charset="-120"/>
              </a:rPr>
              <a:t>Try these in the lab terminal. OnlineGDB runs all stages at once when you press Run.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3 OF 8 · KEYWORDS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What is a keyword? A word with a fixed meaning</a:t>
            </a:r>
            <a:endParaRPr lang="en-US" sz="3000" dirty="0"/>
          </a:p>
        </p:txBody>
      </p:sp>
      <p:sp>
        <p:nvSpPr>
          <p:cNvPr id="4" name="Shape 2"/>
          <p:cNvSpPr/>
          <p:nvPr/>
        </p:nvSpPr>
        <p:spPr>
          <a:xfrm>
            <a:off x="815975" y="1745605"/>
            <a:ext cx="5200650" cy="1131540"/>
          </a:xfrm>
          <a:prstGeom prst="roundRect">
            <a:avLst>
              <a:gd name="adj" fmla="val 9821"/>
            </a:avLst>
          </a:prstGeom>
          <a:solidFill>
            <a:srgbClr val="FFFDF8"/>
          </a:solidFill>
          <a:ln w="6350">
            <a:solidFill>
              <a:srgbClr val="E2DDD2"/>
            </a:solidFill>
            <a:prstDash val="solid"/>
          </a:ln>
        </p:spPr>
      </p:sp>
      <p:pic>
        <p:nvPicPr>
          <p:cNvPr id="5" name="Image 0" descr="Red octagon stop sign">    </p:cNvPr>
          <p:cNvPicPr>
            <a:picLocks noChangeAspect="1"/>
          </p:cNvPicPr>
          <p:nvPr/>
        </p:nvPicPr>
        <p:blipFill>
          <a:blip r:embed="rId1"/>
          <a:srcRect l="0" r="0" t="-15945" b="-15945"/>
          <a:stretch/>
        </p:blipFill>
        <p:spPr>
          <a:xfrm>
            <a:off x="1022350" y="1930350"/>
            <a:ext cx="577751" cy="762000"/>
          </a:xfrm>
          <a:prstGeom prst="rect">
            <a:avLst/>
          </a:prstGeom>
        </p:spPr>
      </p:pic>
      <p:sp>
        <p:nvSpPr>
          <p:cNvPr id="6" name="Text 3"/>
          <p:cNvSpPr/>
          <p:nvPr/>
        </p:nvSpPr>
        <p:spPr>
          <a:xfrm>
            <a:off x="1777901" y="1926580"/>
            <a:ext cx="41533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230"/>
                </a:solidFill>
                <a:latin typeface="Rubik" pitchFamily="34" charset="0"/>
                <a:ea typeface="Rubik" pitchFamily="34" charset="-122"/>
                <a:cs typeface="Rubik" pitchFamily="34" charset="-120"/>
              </a:rPr>
              <a:t>Road sign: </a:t>
            </a:r>
            <a:r>
              <a:rPr lang="en-US" sz="1600" b="1" dirty="0">
                <a:solidFill>
                  <a:srgbClr val="B23A2E"/>
                </a:solidFill>
                <a:latin typeface="Rubik" pitchFamily="34" charset="0"/>
                <a:ea typeface="Rubik" pitchFamily="34" charset="-122"/>
                <a:cs typeface="Rubik" pitchFamily="34" charset="-120"/>
              </a:rPr>
              <a:t>STOP</a:t>
            </a:r>
            <a:endParaRPr lang="en-US" sz="1600" dirty="0"/>
          </a:p>
        </p:txBody>
      </p:sp>
      <p:sp>
        <p:nvSpPr>
          <p:cNvPr id="7" name="Text 4"/>
          <p:cNvSpPr/>
          <p:nvPr/>
        </p:nvSpPr>
        <p:spPr>
          <a:xfrm>
            <a:off x="1777901" y="2233910"/>
            <a:ext cx="41533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It always means stop. Nobody can put up a STOP sign that means 'go'.</a:t>
            </a:r>
            <a:endParaRPr lang="en-US" sz="1300" dirty="0"/>
          </a:p>
        </p:txBody>
      </p:sp>
      <p:sp>
        <p:nvSpPr>
          <p:cNvPr id="8" name="Shape 5"/>
          <p:cNvSpPr/>
          <p:nvPr/>
        </p:nvSpPr>
        <p:spPr>
          <a:xfrm>
            <a:off x="6175375" y="1745605"/>
            <a:ext cx="5200650" cy="1131540"/>
          </a:xfrm>
          <a:prstGeom prst="roundRect">
            <a:avLst>
              <a:gd name="adj" fmla="val 9821"/>
            </a:avLst>
          </a:prstGeom>
          <a:solidFill>
            <a:srgbClr val="FFFDF8"/>
          </a:solidFill>
          <a:ln w="6350">
            <a:solidFill>
              <a:srgbClr val="E2DDD2"/>
            </a:solidFill>
            <a:prstDash val="solid"/>
          </a:ln>
        </p:spPr>
      </p:sp>
      <p:pic>
        <p:nvPicPr>
          <p:cNvPr id="9" name="Image 1" descr="Phone showing an emergency call">    </p:cNvPr>
          <p:cNvPicPr>
            <a:picLocks noChangeAspect="1"/>
          </p:cNvPicPr>
          <p:nvPr/>
        </p:nvPicPr>
        <p:blipFill>
          <a:blip r:embed="rId2"/>
          <a:srcRect l="0" r="0" t="-18388" b="-18388"/>
          <a:stretch/>
        </p:blipFill>
        <p:spPr>
          <a:xfrm>
            <a:off x="6381750" y="1930350"/>
            <a:ext cx="557113" cy="762000"/>
          </a:xfrm>
          <a:prstGeom prst="rect">
            <a:avLst/>
          </a:prstGeom>
        </p:spPr>
      </p:pic>
      <p:sp>
        <p:nvSpPr>
          <p:cNvPr id="10" name="Text 6"/>
          <p:cNvSpPr/>
          <p:nvPr/>
        </p:nvSpPr>
        <p:spPr>
          <a:xfrm>
            <a:off x="7116663" y="1926580"/>
            <a:ext cx="41745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230"/>
                </a:solidFill>
                <a:latin typeface="Rubik" pitchFamily="34" charset="0"/>
                <a:ea typeface="Rubik" pitchFamily="34" charset="-122"/>
                <a:cs typeface="Rubik" pitchFamily="34" charset="-120"/>
              </a:rPr>
              <a:t>Phone number: </a:t>
            </a:r>
            <a:r>
              <a:rPr lang="en-US" sz="1600" b="1" dirty="0">
                <a:solidFill>
                  <a:srgbClr val="B23A2E"/>
                </a:solidFill>
                <a:latin typeface="Rubik" pitchFamily="34" charset="0"/>
                <a:ea typeface="Rubik" pitchFamily="34" charset="-122"/>
                <a:cs typeface="Rubik" pitchFamily="34" charset="-120"/>
              </a:rPr>
              <a:t>112</a:t>
            </a:r>
            <a:endParaRPr lang="en-US" sz="1600" dirty="0"/>
          </a:p>
        </p:txBody>
      </p:sp>
      <p:sp>
        <p:nvSpPr>
          <p:cNvPr id="11" name="Text 7"/>
          <p:cNvSpPr/>
          <p:nvPr/>
        </p:nvSpPr>
        <p:spPr>
          <a:xfrm>
            <a:off x="7116663" y="2233910"/>
            <a:ext cx="417457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Reserved for emergencies. You can't get 112 as your own mobile number.</a:t>
            </a:r>
            <a:endParaRPr lang="en-US" sz="1300" dirty="0"/>
          </a:p>
        </p:txBody>
      </p:sp>
      <p:sp>
        <p:nvSpPr>
          <p:cNvPr id="12" name="Text 8"/>
          <p:cNvSpPr/>
          <p:nvPr/>
        </p:nvSpPr>
        <p:spPr>
          <a:xfrm>
            <a:off x="812800" y="30835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In C, keywords work the same way:</a:t>
            </a:r>
            <a:endParaRPr lang="en-US" sz="1500" dirty="0"/>
          </a:p>
        </p:txBody>
      </p:sp>
      <p:sp>
        <p:nvSpPr>
          <p:cNvPr id="13" name="Shape 9"/>
          <p:cNvSpPr/>
          <p:nvPr/>
        </p:nvSpPr>
        <p:spPr>
          <a:xfrm>
            <a:off x="812800" y="3553420"/>
            <a:ext cx="3437434" cy="1095921"/>
          </a:xfrm>
          <a:prstGeom prst="roundRect">
            <a:avLst>
              <a:gd name="adj" fmla="val 9271"/>
            </a:avLst>
          </a:prstGeom>
          <a:solidFill>
            <a:srgbClr val="15233F"/>
          </a:solidFill>
          <a:ln/>
        </p:spPr>
      </p:sp>
      <p:sp>
        <p:nvSpPr>
          <p:cNvPr id="14" name="Text 10"/>
          <p:cNvSpPr/>
          <p:nvPr/>
        </p:nvSpPr>
        <p:spPr>
          <a:xfrm>
            <a:off x="977900" y="3693120"/>
            <a:ext cx="3200451"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9893F"/>
                </a:solidFill>
                <a:latin typeface="JetBrains Mono" pitchFamily="49" charset="0"/>
                <a:ea typeface="JetBrains Mono" pitchFamily="49" charset="-122"/>
                <a:cs typeface="JetBrains Mono" pitchFamily="49" charset="-120"/>
              </a:rPr>
              <a:t>int</a:t>
            </a:r>
            <a:endParaRPr lang="en-US" sz="1800" dirty="0"/>
          </a:p>
        </p:txBody>
      </p:sp>
      <p:sp>
        <p:nvSpPr>
          <p:cNvPr id="15" name="Text 11"/>
          <p:cNvSpPr/>
          <p:nvPr/>
        </p:nvSpPr>
        <p:spPr>
          <a:xfrm>
            <a:off x="977900" y="4063950"/>
            <a:ext cx="320045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FDA"/>
                </a:solidFill>
                <a:latin typeface="Rubik" pitchFamily="34" charset="0"/>
                <a:ea typeface="Rubik" pitchFamily="34" charset="-122"/>
                <a:cs typeface="Rubik" pitchFamily="34" charset="-120"/>
              </a:rPr>
              <a:t>always means: make a box for a whole number</a:t>
            </a:r>
            <a:endParaRPr lang="en-US" sz="1300" dirty="0"/>
          </a:p>
        </p:txBody>
      </p:sp>
      <p:sp>
        <p:nvSpPr>
          <p:cNvPr id="16" name="Shape 12"/>
          <p:cNvSpPr/>
          <p:nvPr/>
        </p:nvSpPr>
        <p:spPr>
          <a:xfrm>
            <a:off x="4377234" y="3553420"/>
            <a:ext cx="3437483" cy="1095921"/>
          </a:xfrm>
          <a:prstGeom prst="roundRect">
            <a:avLst>
              <a:gd name="adj" fmla="val 9271"/>
            </a:avLst>
          </a:prstGeom>
          <a:solidFill>
            <a:srgbClr val="15233F"/>
          </a:solidFill>
          <a:ln/>
        </p:spPr>
      </p:sp>
      <p:sp>
        <p:nvSpPr>
          <p:cNvPr id="17" name="Text 13"/>
          <p:cNvSpPr/>
          <p:nvPr/>
        </p:nvSpPr>
        <p:spPr>
          <a:xfrm>
            <a:off x="4542334" y="3693120"/>
            <a:ext cx="320050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9893F"/>
                </a:solidFill>
                <a:latin typeface="JetBrains Mono" pitchFamily="49" charset="0"/>
                <a:ea typeface="JetBrains Mono" pitchFamily="49" charset="-122"/>
                <a:cs typeface="JetBrains Mono" pitchFamily="49" charset="-120"/>
              </a:rPr>
              <a:t>float</a:t>
            </a:r>
            <a:endParaRPr lang="en-US" sz="1800" dirty="0"/>
          </a:p>
        </p:txBody>
      </p:sp>
      <p:sp>
        <p:nvSpPr>
          <p:cNvPr id="18" name="Text 14"/>
          <p:cNvSpPr/>
          <p:nvPr/>
        </p:nvSpPr>
        <p:spPr>
          <a:xfrm>
            <a:off x="4542334" y="4063950"/>
            <a:ext cx="320050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FDA"/>
                </a:solidFill>
                <a:latin typeface="Rubik" pitchFamily="34" charset="0"/>
                <a:ea typeface="Rubik" pitchFamily="34" charset="-122"/>
                <a:cs typeface="Rubik" pitchFamily="34" charset="-120"/>
              </a:rPr>
              <a:t>always means: make a box for a decimal number</a:t>
            </a:r>
            <a:endParaRPr lang="en-US" sz="1300" dirty="0"/>
          </a:p>
        </p:txBody>
      </p:sp>
      <p:sp>
        <p:nvSpPr>
          <p:cNvPr id="19" name="Shape 15"/>
          <p:cNvSpPr/>
          <p:nvPr/>
        </p:nvSpPr>
        <p:spPr>
          <a:xfrm>
            <a:off x="7941717" y="3553420"/>
            <a:ext cx="3437483" cy="1095921"/>
          </a:xfrm>
          <a:prstGeom prst="roundRect">
            <a:avLst>
              <a:gd name="adj" fmla="val 9271"/>
            </a:avLst>
          </a:prstGeom>
          <a:solidFill>
            <a:srgbClr val="15233F"/>
          </a:solidFill>
          <a:ln/>
        </p:spPr>
      </p:sp>
      <p:sp>
        <p:nvSpPr>
          <p:cNvPr id="20" name="Text 16"/>
          <p:cNvSpPr/>
          <p:nvPr/>
        </p:nvSpPr>
        <p:spPr>
          <a:xfrm>
            <a:off x="8106817" y="3693120"/>
            <a:ext cx="320050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9893F"/>
                </a:solidFill>
                <a:latin typeface="JetBrains Mono" pitchFamily="49" charset="0"/>
                <a:ea typeface="JetBrains Mono" pitchFamily="49" charset="-122"/>
                <a:cs typeface="JetBrains Mono" pitchFamily="49" charset="-120"/>
              </a:rPr>
              <a:t>return</a:t>
            </a:r>
            <a:endParaRPr lang="en-US" sz="1800" dirty="0"/>
          </a:p>
        </p:txBody>
      </p:sp>
      <p:sp>
        <p:nvSpPr>
          <p:cNvPr id="21" name="Text 17"/>
          <p:cNvSpPr/>
          <p:nvPr/>
        </p:nvSpPr>
        <p:spPr>
          <a:xfrm>
            <a:off x="8106817" y="4063950"/>
            <a:ext cx="320050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FDA"/>
                </a:solidFill>
                <a:latin typeface="Rubik" pitchFamily="34" charset="0"/>
                <a:ea typeface="Rubik" pitchFamily="34" charset="-122"/>
                <a:cs typeface="Rubik" pitchFamily="34" charset="-120"/>
              </a:rPr>
              <a:t>always means: send back a value and finish</a:t>
            </a:r>
            <a:endParaRPr lang="en-US" sz="1300" dirty="0"/>
          </a:p>
        </p:txBody>
      </p:sp>
      <p:sp>
        <p:nvSpPr>
          <p:cNvPr id="22" name="Shape 18"/>
          <p:cNvSpPr/>
          <p:nvPr/>
        </p:nvSpPr>
        <p:spPr>
          <a:xfrm>
            <a:off x="815975" y="4855716"/>
            <a:ext cx="10560050" cy="758130"/>
          </a:xfrm>
          <a:prstGeom prst="roundRect">
            <a:avLst>
              <a:gd name="adj" fmla="val 12983"/>
            </a:avLst>
          </a:prstGeom>
          <a:solidFill>
            <a:srgbClr val="FFFDF8"/>
          </a:solidFill>
          <a:ln w="6350">
            <a:solidFill>
              <a:srgbClr val="E2DDD2"/>
            </a:solidFill>
            <a:prstDash val="solid"/>
          </a:ln>
        </p:spPr>
      </p:sp>
      <p:sp>
        <p:nvSpPr>
          <p:cNvPr id="23" name="Text 19"/>
          <p:cNvSpPr/>
          <p:nvPr/>
        </p:nvSpPr>
        <p:spPr>
          <a:xfrm>
            <a:off x="1009650" y="4985891"/>
            <a:ext cx="196215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230"/>
                </a:solidFill>
                <a:latin typeface="Rubik" pitchFamily="34" charset="0"/>
                <a:ea typeface="Rubik" pitchFamily="34" charset="-122"/>
                <a:cs typeface="Rubik" pitchFamily="34" charset="-120"/>
              </a:rPr>
              <a:t>So you can't use one as a name:</a:t>
            </a:r>
            <a:endParaRPr lang="en-US" sz="1400" dirty="0"/>
          </a:p>
        </p:txBody>
      </p:sp>
      <p:sp>
        <p:nvSpPr>
          <p:cNvPr id="24" name="Text 20"/>
          <p:cNvSpPr/>
          <p:nvPr/>
        </p:nvSpPr>
        <p:spPr>
          <a:xfrm>
            <a:off x="3067050" y="5101431"/>
            <a:ext cx="186729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23A2E"/>
                </a:solidFill>
                <a:latin typeface="JetBrains Mono" pitchFamily="49" charset="0"/>
                <a:ea typeface="JetBrains Mono" pitchFamily="49" charset="-122"/>
                <a:cs typeface="JetBrains Mono" pitchFamily="49" charset="-120"/>
              </a:rPr>
              <a:t>int int = 5;  ✗</a:t>
            </a:r>
            <a:endParaRPr lang="en-US" sz="1500" dirty="0"/>
          </a:p>
        </p:txBody>
      </p:sp>
      <p:sp>
        <p:nvSpPr>
          <p:cNvPr id="25" name="Text 21"/>
          <p:cNvSpPr/>
          <p:nvPr/>
        </p:nvSpPr>
        <p:spPr>
          <a:xfrm>
            <a:off x="4934347" y="5101431"/>
            <a:ext cx="205787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6B45"/>
                </a:solidFill>
                <a:latin typeface="JetBrains Mono" pitchFamily="49" charset="0"/>
                <a:ea typeface="JetBrains Mono" pitchFamily="49" charset="-122"/>
                <a:cs typeface="JetBrains Mono" pitchFamily="49" charset="-120"/>
              </a:rPr>
              <a:t>int qty = 5;  ✓</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39713"/>
          </a:xfrm>
          <a:prstGeom prst="rect">
            <a:avLst/>
          </a:prstGeom>
          <a:noFill/>
          <a:ln/>
        </p:spPr>
        <p:txBody>
          <a:bodyPr wrap="square" lIns="0" tIns="0" rIns="0" bIns="0" rtlCol="0" anchor="t">
            <a:normAutofit/>
          </a:bodyPr>
          <a:lstStyle/>
          <a:p>
            <a:pPr algn="l" indent="0" marL="0">
              <a:lnSpc>
                <a:spcPts val="1723"/>
              </a:lnSpc>
              <a:buNone/>
            </a:pPr>
            <a:r>
              <a:rPr lang="en-US" sz="1231" b="1" spc="150" kern="0" dirty="0">
                <a:solidFill>
                  <a:srgbClr val="A94F17"/>
                </a:solidFill>
                <a:latin typeface="Rubik" pitchFamily="34" charset="0"/>
                <a:ea typeface="Rubik" pitchFamily="34" charset="-122"/>
                <a:cs typeface="Rubik" pitchFamily="34" charset="-120"/>
              </a:rPr>
              <a:t>TOPIC 3 OF 8 · KEYWORDS · 1 OF 2</a:t>
            </a:r>
            <a:endParaRPr lang="en-US" sz="1231" dirty="0"/>
          </a:p>
        </p:txBody>
      </p:sp>
      <p:sp>
        <p:nvSpPr>
          <p:cNvPr id="3" name="Text 1"/>
          <p:cNvSpPr/>
          <p:nvPr>
            <p:ph type="title"/>
          </p:nvPr>
        </p:nvSpPr>
        <p:spPr>
          <a:xfrm>
            <a:off x="812800" y="1001713"/>
            <a:ext cx="10883392" cy="388193"/>
          </a:xfrm>
          <a:prstGeom prst="rect">
            <a:avLst/>
          </a:prstGeom>
          <a:noFill/>
          <a:ln/>
        </p:spPr>
        <p:txBody>
          <a:bodyPr wrap="square" lIns="0" tIns="0" rIns="0" bIns="0" rtlCol="0" anchor="t">
            <a:normAutofit/>
          </a:bodyPr>
          <a:lstStyle/>
          <a:p>
            <a:pPr algn="l" indent="0" marL="0">
              <a:lnSpc>
                <a:spcPts val="2868"/>
              </a:lnSpc>
              <a:buNone/>
            </a:pPr>
            <a:r>
              <a:rPr lang="en-US" sz="2608" b="1" i="0" dirty="0">
                <a:solidFill>
                  <a:srgbClr val="1C2230"/>
                </a:solidFill>
                <a:latin typeface="Rubik" pitchFamily="34" charset="0"/>
                <a:ea typeface="Rubik" pitchFamily="34" charset="-122"/>
                <a:cs typeface="Rubik" pitchFamily="34" charset="-120"/>
              </a:rPr>
              <a:t>C has 32 keywords. These 19 come first</a:t>
            </a:r>
            <a:endParaRPr lang="en-US" sz="2608" dirty="0"/>
          </a:p>
        </p:txBody>
      </p:sp>
      <p:sp>
        <p:nvSpPr>
          <p:cNvPr id="4" name="Shape 2"/>
          <p:cNvSpPr/>
          <p:nvPr/>
        </p:nvSpPr>
        <p:spPr>
          <a:xfrm>
            <a:off x="815975" y="1545481"/>
            <a:ext cx="5213350" cy="2232372"/>
          </a:xfrm>
          <a:prstGeom prst="roundRect">
            <a:avLst>
              <a:gd name="adj" fmla="val 4978"/>
            </a:avLst>
          </a:prstGeom>
          <a:solidFill>
            <a:srgbClr val="FFFDF8"/>
          </a:solidFill>
          <a:ln w="6350">
            <a:solidFill>
              <a:srgbClr val="E2DDD2"/>
            </a:solidFill>
            <a:prstDash val="solid"/>
          </a:ln>
        </p:spPr>
      </p:sp>
      <p:pic>
        <p:nvPicPr>
          <p:cNvPr id="5" name="Image 0" descr="Boxes">    </p:cNvPr>
          <p:cNvPicPr>
            <a:picLocks noChangeAspect="1"/>
          </p:cNvPicPr>
          <p:nvPr/>
        </p:nvPicPr>
        <p:blipFill>
          <a:blip r:embed="rId1"/>
          <a:srcRect l="0" r="0" t="0" b="0"/>
          <a:stretch/>
        </p:blipFill>
        <p:spPr>
          <a:xfrm>
            <a:off x="996950" y="1729284"/>
            <a:ext cx="355600" cy="355600"/>
          </a:xfrm>
          <a:prstGeom prst="rect">
            <a:avLst/>
          </a:prstGeom>
        </p:spPr>
      </p:pic>
      <p:sp>
        <p:nvSpPr>
          <p:cNvPr id="6" name="Text 3"/>
          <p:cNvSpPr/>
          <p:nvPr/>
        </p:nvSpPr>
        <p:spPr>
          <a:xfrm>
            <a:off x="1454150" y="1679823"/>
            <a:ext cx="32090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Data types: what kind of box</a:t>
            </a:r>
            <a:endParaRPr lang="en-US" sz="1500" dirty="0"/>
          </a:p>
        </p:txBody>
      </p:sp>
      <p:sp>
        <p:nvSpPr>
          <p:cNvPr id="7" name="Text 4"/>
          <p:cNvSpPr/>
          <p:nvPr/>
        </p:nvSpPr>
        <p:spPr>
          <a:xfrm>
            <a:off x="1454150" y="1921123"/>
            <a:ext cx="27544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Today</a:t>
            </a:r>
            <a:endParaRPr lang="en-US" sz="1200" dirty="0"/>
          </a:p>
        </p:txBody>
      </p:sp>
      <p:sp>
        <p:nvSpPr>
          <p:cNvPr id="8" name="Text 5"/>
          <p:cNvSpPr/>
          <p:nvPr/>
        </p:nvSpPr>
        <p:spPr>
          <a:xfrm>
            <a:off x="996950" y="2189361"/>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char</a:t>
            </a:r>
            <a:endParaRPr lang="en-US" sz="1400" dirty="0"/>
          </a:p>
        </p:txBody>
      </p:sp>
      <p:sp>
        <p:nvSpPr>
          <p:cNvPr id="9" name="Text 6"/>
          <p:cNvSpPr/>
          <p:nvPr/>
        </p:nvSpPr>
        <p:spPr>
          <a:xfrm>
            <a:off x="2178050" y="2227461"/>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one character, like 'C'</a:t>
            </a:r>
            <a:endParaRPr lang="en-US" sz="1200" dirty="0"/>
          </a:p>
        </p:txBody>
      </p:sp>
      <p:sp>
        <p:nvSpPr>
          <p:cNvPr id="10" name="Text 7"/>
          <p:cNvSpPr/>
          <p:nvPr/>
        </p:nvSpPr>
        <p:spPr>
          <a:xfrm>
            <a:off x="996950" y="2491184"/>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int</a:t>
            </a:r>
            <a:endParaRPr lang="en-US" sz="1400" dirty="0"/>
          </a:p>
        </p:txBody>
      </p:sp>
      <p:sp>
        <p:nvSpPr>
          <p:cNvPr id="11" name="Text 8"/>
          <p:cNvSpPr/>
          <p:nvPr/>
        </p:nvSpPr>
        <p:spPr>
          <a:xfrm>
            <a:off x="2178050" y="2529284"/>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a whole number, like 2</a:t>
            </a:r>
            <a:endParaRPr lang="en-US" sz="1200" dirty="0"/>
          </a:p>
        </p:txBody>
      </p:sp>
      <p:sp>
        <p:nvSpPr>
          <p:cNvPr id="12" name="Text 9"/>
          <p:cNvSpPr/>
          <p:nvPr/>
        </p:nvSpPr>
        <p:spPr>
          <a:xfrm>
            <a:off x="996950" y="2793008"/>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float</a:t>
            </a:r>
            <a:endParaRPr lang="en-US" sz="1400" dirty="0"/>
          </a:p>
        </p:txBody>
      </p:sp>
      <p:sp>
        <p:nvSpPr>
          <p:cNvPr id="13" name="Text 10"/>
          <p:cNvSpPr/>
          <p:nvPr/>
        </p:nvSpPr>
        <p:spPr>
          <a:xfrm>
            <a:off x="2178050" y="2831108"/>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a decimal number, like 12.5</a:t>
            </a:r>
            <a:endParaRPr lang="en-US" sz="1200" dirty="0"/>
          </a:p>
        </p:txBody>
      </p:sp>
      <p:sp>
        <p:nvSpPr>
          <p:cNvPr id="14" name="Text 11"/>
          <p:cNvSpPr/>
          <p:nvPr/>
        </p:nvSpPr>
        <p:spPr>
          <a:xfrm>
            <a:off x="996950" y="3094831"/>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double</a:t>
            </a:r>
            <a:endParaRPr lang="en-US" sz="1400" dirty="0"/>
          </a:p>
        </p:txBody>
      </p:sp>
      <p:sp>
        <p:nvSpPr>
          <p:cNvPr id="15" name="Text 12"/>
          <p:cNvSpPr/>
          <p:nvPr/>
        </p:nvSpPr>
        <p:spPr>
          <a:xfrm>
            <a:off x="2178050" y="3132931"/>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a more precise decimal</a:t>
            </a:r>
            <a:endParaRPr lang="en-US" sz="1200" dirty="0"/>
          </a:p>
        </p:txBody>
      </p:sp>
      <p:sp>
        <p:nvSpPr>
          <p:cNvPr id="16" name="Text 13"/>
          <p:cNvSpPr/>
          <p:nvPr/>
        </p:nvSpPr>
        <p:spPr>
          <a:xfrm>
            <a:off x="996950" y="3396655"/>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void</a:t>
            </a:r>
            <a:endParaRPr lang="en-US" sz="1400" dirty="0"/>
          </a:p>
        </p:txBody>
      </p:sp>
      <p:sp>
        <p:nvSpPr>
          <p:cNvPr id="17" name="Text 14"/>
          <p:cNvSpPr/>
          <p:nvPr/>
        </p:nvSpPr>
        <p:spPr>
          <a:xfrm>
            <a:off x="2178050" y="3434755"/>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nothing, no value</a:t>
            </a:r>
            <a:endParaRPr lang="en-US" sz="1200" dirty="0"/>
          </a:p>
        </p:txBody>
      </p:sp>
      <p:sp>
        <p:nvSpPr>
          <p:cNvPr id="18" name="Shape 15"/>
          <p:cNvSpPr/>
          <p:nvPr/>
        </p:nvSpPr>
        <p:spPr>
          <a:xfrm>
            <a:off x="6162675" y="1545481"/>
            <a:ext cx="5213350" cy="2232372"/>
          </a:xfrm>
          <a:prstGeom prst="roundRect">
            <a:avLst>
              <a:gd name="adj" fmla="val 4978"/>
            </a:avLst>
          </a:prstGeom>
          <a:solidFill>
            <a:srgbClr val="FFFDF8"/>
          </a:solidFill>
          <a:ln w="6350">
            <a:solidFill>
              <a:srgbClr val="E2DDD2"/>
            </a:solidFill>
            <a:prstDash val="solid"/>
          </a:ln>
        </p:spPr>
      </p:sp>
      <p:pic>
        <p:nvPicPr>
          <p:cNvPr id="19" name="Image 1" descr="Resize arrows">    </p:cNvPr>
          <p:cNvPicPr>
            <a:picLocks noChangeAspect="1"/>
          </p:cNvPicPr>
          <p:nvPr/>
        </p:nvPicPr>
        <p:blipFill>
          <a:blip r:embed="rId2"/>
          <a:srcRect l="0" r="0" t="0" b="0"/>
          <a:stretch/>
        </p:blipFill>
        <p:spPr>
          <a:xfrm>
            <a:off x="6343650" y="1750566"/>
            <a:ext cx="355600" cy="355600"/>
          </a:xfrm>
          <a:prstGeom prst="rect">
            <a:avLst/>
          </a:prstGeom>
        </p:spPr>
      </p:pic>
      <p:sp>
        <p:nvSpPr>
          <p:cNvPr id="20" name="Text 16"/>
          <p:cNvSpPr/>
          <p:nvPr/>
        </p:nvSpPr>
        <p:spPr>
          <a:xfrm>
            <a:off x="6800850" y="1701056"/>
            <a:ext cx="3776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Modifiers: change the size or sign</a:t>
            </a:r>
            <a:endParaRPr lang="en-US" sz="1500" dirty="0"/>
          </a:p>
        </p:txBody>
      </p:sp>
      <p:sp>
        <p:nvSpPr>
          <p:cNvPr id="21" name="Text 17"/>
          <p:cNvSpPr/>
          <p:nvPr/>
        </p:nvSpPr>
        <p:spPr>
          <a:xfrm>
            <a:off x="6800850" y="1942356"/>
            <a:ext cx="32416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Today, in the lab</a:t>
            </a:r>
            <a:endParaRPr lang="en-US" sz="1200" dirty="0"/>
          </a:p>
        </p:txBody>
      </p:sp>
      <p:sp>
        <p:nvSpPr>
          <p:cNvPr id="22" name="Text 18"/>
          <p:cNvSpPr/>
          <p:nvPr/>
        </p:nvSpPr>
        <p:spPr>
          <a:xfrm>
            <a:off x="6343650" y="2231876"/>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short</a:t>
            </a:r>
            <a:endParaRPr lang="en-US" sz="1400" dirty="0"/>
          </a:p>
        </p:txBody>
      </p:sp>
      <p:sp>
        <p:nvSpPr>
          <p:cNvPr id="23" name="Text 19"/>
          <p:cNvSpPr/>
          <p:nvPr/>
        </p:nvSpPr>
        <p:spPr>
          <a:xfrm>
            <a:off x="7524750" y="2269976"/>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a smaller whole number</a:t>
            </a:r>
            <a:endParaRPr lang="en-US" sz="1200" dirty="0"/>
          </a:p>
        </p:txBody>
      </p:sp>
      <p:sp>
        <p:nvSpPr>
          <p:cNvPr id="24" name="Text 20"/>
          <p:cNvSpPr/>
          <p:nvPr/>
        </p:nvSpPr>
        <p:spPr>
          <a:xfrm>
            <a:off x="6343650" y="2556966"/>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long</a:t>
            </a:r>
            <a:endParaRPr lang="en-US" sz="1400" dirty="0"/>
          </a:p>
        </p:txBody>
      </p:sp>
      <p:sp>
        <p:nvSpPr>
          <p:cNvPr id="25" name="Text 21"/>
          <p:cNvSpPr/>
          <p:nvPr/>
        </p:nvSpPr>
        <p:spPr>
          <a:xfrm>
            <a:off x="7524750" y="2595066"/>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a bigger whole number</a:t>
            </a:r>
            <a:endParaRPr lang="en-US" sz="1200" dirty="0"/>
          </a:p>
        </p:txBody>
      </p:sp>
      <p:sp>
        <p:nvSpPr>
          <p:cNvPr id="26" name="Text 22"/>
          <p:cNvSpPr/>
          <p:nvPr/>
        </p:nvSpPr>
        <p:spPr>
          <a:xfrm>
            <a:off x="6343650" y="2882057"/>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signed</a:t>
            </a:r>
            <a:endParaRPr lang="en-US" sz="1400" dirty="0"/>
          </a:p>
        </p:txBody>
      </p:sp>
      <p:sp>
        <p:nvSpPr>
          <p:cNvPr id="27" name="Text 23"/>
          <p:cNvSpPr/>
          <p:nvPr/>
        </p:nvSpPr>
        <p:spPr>
          <a:xfrm>
            <a:off x="7524750" y="2920157"/>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can be negative (the default)</a:t>
            </a:r>
            <a:endParaRPr lang="en-US" sz="1200" dirty="0"/>
          </a:p>
        </p:txBody>
      </p:sp>
      <p:sp>
        <p:nvSpPr>
          <p:cNvPr id="28" name="Text 24"/>
          <p:cNvSpPr/>
          <p:nvPr/>
        </p:nvSpPr>
        <p:spPr>
          <a:xfrm>
            <a:off x="6343650" y="3207147"/>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unsigned</a:t>
            </a:r>
            <a:endParaRPr lang="en-US" sz="1400" dirty="0"/>
          </a:p>
        </p:txBody>
      </p:sp>
      <p:sp>
        <p:nvSpPr>
          <p:cNvPr id="29" name="Text 25"/>
          <p:cNvSpPr/>
          <p:nvPr/>
        </p:nvSpPr>
        <p:spPr>
          <a:xfrm>
            <a:off x="7524750" y="3245247"/>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only zero and positive</a:t>
            </a:r>
            <a:endParaRPr lang="en-US" sz="1200" dirty="0"/>
          </a:p>
        </p:txBody>
      </p:sp>
      <p:sp>
        <p:nvSpPr>
          <p:cNvPr id="30" name="Shape 26"/>
          <p:cNvSpPr/>
          <p:nvPr/>
        </p:nvSpPr>
        <p:spPr>
          <a:xfrm>
            <a:off x="815975" y="3911203"/>
            <a:ext cx="5213350" cy="2232422"/>
          </a:xfrm>
          <a:prstGeom prst="roundRect">
            <a:avLst>
              <a:gd name="adj" fmla="val 4978"/>
            </a:avLst>
          </a:prstGeom>
          <a:solidFill>
            <a:srgbClr val="FFFDF8"/>
          </a:solidFill>
          <a:ln w="6350">
            <a:solidFill>
              <a:srgbClr val="E2DDD2"/>
            </a:solidFill>
            <a:prstDash val="solid"/>
          </a:ln>
        </p:spPr>
      </p:sp>
      <p:pic>
        <p:nvPicPr>
          <p:cNvPr id="31" name="Image 2" descr="Decision fork">    </p:cNvPr>
          <p:cNvPicPr>
            <a:picLocks noChangeAspect="1"/>
          </p:cNvPicPr>
          <p:nvPr/>
        </p:nvPicPr>
        <p:blipFill>
          <a:blip r:embed="rId3"/>
          <a:srcRect l="0" r="0" t="0" b="0"/>
          <a:stretch/>
        </p:blipFill>
        <p:spPr>
          <a:xfrm>
            <a:off x="996950" y="4095055"/>
            <a:ext cx="355600" cy="355600"/>
          </a:xfrm>
          <a:prstGeom prst="rect">
            <a:avLst/>
          </a:prstGeom>
        </p:spPr>
      </p:pic>
      <p:sp>
        <p:nvSpPr>
          <p:cNvPr id="32" name="Text 27"/>
          <p:cNvSpPr/>
          <p:nvPr/>
        </p:nvSpPr>
        <p:spPr>
          <a:xfrm>
            <a:off x="1454150" y="4045545"/>
            <a:ext cx="32918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Decisions: choose what to do</a:t>
            </a:r>
            <a:endParaRPr lang="en-US" sz="1500" dirty="0"/>
          </a:p>
        </p:txBody>
      </p:sp>
      <p:sp>
        <p:nvSpPr>
          <p:cNvPr id="33" name="Text 28"/>
          <p:cNvSpPr/>
          <p:nvPr/>
        </p:nvSpPr>
        <p:spPr>
          <a:xfrm>
            <a:off x="1454150" y="4286845"/>
            <a:ext cx="28254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Class 2</a:t>
            </a:r>
            <a:endParaRPr lang="en-US" sz="1200" dirty="0"/>
          </a:p>
        </p:txBody>
      </p:sp>
      <p:sp>
        <p:nvSpPr>
          <p:cNvPr id="34" name="Text 29"/>
          <p:cNvSpPr/>
          <p:nvPr/>
        </p:nvSpPr>
        <p:spPr>
          <a:xfrm>
            <a:off x="996950" y="4555133"/>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if</a:t>
            </a:r>
            <a:endParaRPr lang="en-US" sz="1400" dirty="0"/>
          </a:p>
        </p:txBody>
      </p:sp>
      <p:sp>
        <p:nvSpPr>
          <p:cNvPr id="35" name="Text 30"/>
          <p:cNvSpPr/>
          <p:nvPr/>
        </p:nvSpPr>
        <p:spPr>
          <a:xfrm>
            <a:off x="2178050" y="4593233"/>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do this only when it is true</a:t>
            </a:r>
            <a:endParaRPr lang="en-US" sz="1200" dirty="0"/>
          </a:p>
        </p:txBody>
      </p:sp>
      <p:sp>
        <p:nvSpPr>
          <p:cNvPr id="36" name="Text 31"/>
          <p:cNvSpPr/>
          <p:nvPr/>
        </p:nvSpPr>
        <p:spPr>
          <a:xfrm>
            <a:off x="996950" y="4856956"/>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else</a:t>
            </a:r>
            <a:endParaRPr lang="en-US" sz="1400" dirty="0"/>
          </a:p>
        </p:txBody>
      </p:sp>
      <p:sp>
        <p:nvSpPr>
          <p:cNvPr id="37" name="Text 32"/>
          <p:cNvSpPr/>
          <p:nvPr/>
        </p:nvSpPr>
        <p:spPr>
          <a:xfrm>
            <a:off x="2178050" y="4895056"/>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otherwise, do this</a:t>
            </a:r>
            <a:endParaRPr lang="en-US" sz="1200" dirty="0"/>
          </a:p>
        </p:txBody>
      </p:sp>
      <p:sp>
        <p:nvSpPr>
          <p:cNvPr id="38" name="Text 33"/>
          <p:cNvSpPr/>
          <p:nvPr/>
        </p:nvSpPr>
        <p:spPr>
          <a:xfrm>
            <a:off x="996950" y="5158780"/>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switch</a:t>
            </a:r>
            <a:endParaRPr lang="en-US" sz="1400" dirty="0"/>
          </a:p>
        </p:txBody>
      </p:sp>
      <p:sp>
        <p:nvSpPr>
          <p:cNvPr id="39" name="Text 34"/>
          <p:cNvSpPr/>
          <p:nvPr/>
        </p:nvSpPr>
        <p:spPr>
          <a:xfrm>
            <a:off x="2178050" y="5196880"/>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pick one of many options</a:t>
            </a:r>
            <a:endParaRPr lang="en-US" sz="1200" dirty="0"/>
          </a:p>
        </p:txBody>
      </p:sp>
      <p:sp>
        <p:nvSpPr>
          <p:cNvPr id="40" name="Text 35"/>
          <p:cNvSpPr/>
          <p:nvPr/>
        </p:nvSpPr>
        <p:spPr>
          <a:xfrm>
            <a:off x="996950" y="5460603"/>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case</a:t>
            </a:r>
            <a:endParaRPr lang="en-US" sz="1400" dirty="0"/>
          </a:p>
        </p:txBody>
      </p:sp>
      <p:sp>
        <p:nvSpPr>
          <p:cNvPr id="41" name="Text 36"/>
          <p:cNvSpPr/>
          <p:nvPr/>
        </p:nvSpPr>
        <p:spPr>
          <a:xfrm>
            <a:off x="2178050" y="5498703"/>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one option inside a switch</a:t>
            </a:r>
            <a:endParaRPr lang="en-US" sz="1200" dirty="0"/>
          </a:p>
        </p:txBody>
      </p:sp>
      <p:sp>
        <p:nvSpPr>
          <p:cNvPr id="42" name="Text 37"/>
          <p:cNvSpPr/>
          <p:nvPr/>
        </p:nvSpPr>
        <p:spPr>
          <a:xfrm>
            <a:off x="996950" y="5762427"/>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default</a:t>
            </a:r>
            <a:endParaRPr lang="en-US" sz="1400" dirty="0"/>
          </a:p>
        </p:txBody>
      </p:sp>
      <p:sp>
        <p:nvSpPr>
          <p:cNvPr id="43" name="Text 38"/>
          <p:cNvSpPr/>
          <p:nvPr/>
        </p:nvSpPr>
        <p:spPr>
          <a:xfrm>
            <a:off x="2178050" y="5800527"/>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when no case matches</a:t>
            </a:r>
            <a:endParaRPr lang="en-US" sz="1200" dirty="0"/>
          </a:p>
        </p:txBody>
      </p:sp>
      <p:sp>
        <p:nvSpPr>
          <p:cNvPr id="44" name="Shape 39"/>
          <p:cNvSpPr/>
          <p:nvPr/>
        </p:nvSpPr>
        <p:spPr>
          <a:xfrm>
            <a:off x="6162675" y="3911203"/>
            <a:ext cx="5213350" cy="2232422"/>
          </a:xfrm>
          <a:prstGeom prst="roundRect">
            <a:avLst>
              <a:gd name="adj" fmla="val 4978"/>
            </a:avLst>
          </a:prstGeom>
          <a:solidFill>
            <a:srgbClr val="FFFDF8"/>
          </a:solidFill>
          <a:ln w="6350">
            <a:solidFill>
              <a:srgbClr val="E2DDD2"/>
            </a:solidFill>
            <a:prstDash val="solid"/>
          </a:ln>
        </p:spPr>
      </p:sp>
      <p:pic>
        <p:nvPicPr>
          <p:cNvPr id="45" name="Image 3" descr="Loop arrow">    </p:cNvPr>
          <p:cNvPicPr>
            <a:picLocks noChangeAspect="1"/>
          </p:cNvPicPr>
          <p:nvPr/>
        </p:nvPicPr>
        <p:blipFill>
          <a:blip r:embed="rId4"/>
          <a:srcRect l="0" r="0" t="0" b="0"/>
          <a:stretch/>
        </p:blipFill>
        <p:spPr>
          <a:xfrm>
            <a:off x="6343650" y="4095055"/>
            <a:ext cx="355600" cy="355600"/>
          </a:xfrm>
          <a:prstGeom prst="rect">
            <a:avLst/>
          </a:prstGeom>
        </p:spPr>
      </p:pic>
      <p:sp>
        <p:nvSpPr>
          <p:cNvPr id="46" name="Text 40"/>
          <p:cNvSpPr/>
          <p:nvPr/>
        </p:nvSpPr>
        <p:spPr>
          <a:xfrm>
            <a:off x="6800850" y="4045545"/>
            <a:ext cx="216854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Loops: repeat work</a:t>
            </a:r>
            <a:endParaRPr lang="en-US" sz="1500" dirty="0"/>
          </a:p>
        </p:txBody>
      </p:sp>
      <p:sp>
        <p:nvSpPr>
          <p:cNvPr id="47" name="Text 41"/>
          <p:cNvSpPr/>
          <p:nvPr/>
        </p:nvSpPr>
        <p:spPr>
          <a:xfrm>
            <a:off x="6800850" y="4286845"/>
            <a:ext cx="18613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Class 3</a:t>
            </a:r>
            <a:endParaRPr lang="en-US" sz="1200" dirty="0"/>
          </a:p>
        </p:txBody>
      </p:sp>
      <p:sp>
        <p:nvSpPr>
          <p:cNvPr id="48" name="Text 42"/>
          <p:cNvSpPr/>
          <p:nvPr/>
        </p:nvSpPr>
        <p:spPr>
          <a:xfrm>
            <a:off x="6343650" y="4555133"/>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for</a:t>
            </a:r>
            <a:endParaRPr lang="en-US" sz="1400" dirty="0"/>
          </a:p>
        </p:txBody>
      </p:sp>
      <p:sp>
        <p:nvSpPr>
          <p:cNvPr id="49" name="Text 43"/>
          <p:cNvSpPr/>
          <p:nvPr/>
        </p:nvSpPr>
        <p:spPr>
          <a:xfrm>
            <a:off x="7524750" y="4593233"/>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repeat a fixed number of times</a:t>
            </a:r>
            <a:endParaRPr lang="en-US" sz="1200" dirty="0"/>
          </a:p>
        </p:txBody>
      </p:sp>
      <p:sp>
        <p:nvSpPr>
          <p:cNvPr id="50" name="Text 44"/>
          <p:cNvSpPr/>
          <p:nvPr/>
        </p:nvSpPr>
        <p:spPr>
          <a:xfrm>
            <a:off x="6343650" y="4856956"/>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while</a:t>
            </a:r>
            <a:endParaRPr lang="en-US" sz="1400" dirty="0"/>
          </a:p>
        </p:txBody>
      </p:sp>
      <p:sp>
        <p:nvSpPr>
          <p:cNvPr id="51" name="Text 45"/>
          <p:cNvSpPr/>
          <p:nvPr/>
        </p:nvSpPr>
        <p:spPr>
          <a:xfrm>
            <a:off x="7524750" y="4895056"/>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repeat while something is true</a:t>
            </a:r>
            <a:endParaRPr lang="en-US" sz="1200" dirty="0"/>
          </a:p>
        </p:txBody>
      </p:sp>
      <p:sp>
        <p:nvSpPr>
          <p:cNvPr id="52" name="Text 46"/>
          <p:cNvSpPr/>
          <p:nvPr/>
        </p:nvSpPr>
        <p:spPr>
          <a:xfrm>
            <a:off x="6343650" y="5158780"/>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do</a:t>
            </a:r>
            <a:endParaRPr lang="en-US" sz="1400" dirty="0"/>
          </a:p>
        </p:txBody>
      </p:sp>
      <p:sp>
        <p:nvSpPr>
          <p:cNvPr id="53" name="Text 47"/>
          <p:cNvSpPr/>
          <p:nvPr/>
        </p:nvSpPr>
        <p:spPr>
          <a:xfrm>
            <a:off x="7524750" y="5196880"/>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run once, then repeat while true</a:t>
            </a:r>
            <a:endParaRPr lang="en-US" sz="1200" dirty="0"/>
          </a:p>
        </p:txBody>
      </p:sp>
      <p:sp>
        <p:nvSpPr>
          <p:cNvPr id="54" name="Text 48"/>
          <p:cNvSpPr/>
          <p:nvPr/>
        </p:nvSpPr>
        <p:spPr>
          <a:xfrm>
            <a:off x="6343650" y="5460603"/>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break</a:t>
            </a:r>
            <a:endParaRPr lang="en-US" sz="1400" dirty="0"/>
          </a:p>
        </p:txBody>
      </p:sp>
      <p:sp>
        <p:nvSpPr>
          <p:cNvPr id="55" name="Text 49"/>
          <p:cNvSpPr/>
          <p:nvPr/>
        </p:nvSpPr>
        <p:spPr>
          <a:xfrm>
            <a:off x="7524750" y="5498703"/>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stop the loop right now</a:t>
            </a:r>
            <a:endParaRPr lang="en-US" sz="1200" dirty="0"/>
          </a:p>
        </p:txBody>
      </p:sp>
      <p:sp>
        <p:nvSpPr>
          <p:cNvPr id="56" name="Text 50"/>
          <p:cNvSpPr/>
          <p:nvPr/>
        </p:nvSpPr>
        <p:spPr>
          <a:xfrm>
            <a:off x="6343650" y="5762427"/>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continue</a:t>
            </a:r>
            <a:endParaRPr lang="en-US" sz="1400" dirty="0"/>
          </a:p>
        </p:txBody>
      </p:sp>
      <p:sp>
        <p:nvSpPr>
          <p:cNvPr id="57" name="Text 51"/>
          <p:cNvSpPr/>
          <p:nvPr/>
        </p:nvSpPr>
        <p:spPr>
          <a:xfrm>
            <a:off x="7524750" y="5800527"/>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skip to the next round</a:t>
            </a:r>
            <a:endParaRPr lang="en-US" sz="1200" dirty="0"/>
          </a:p>
        </p:txBody>
      </p:sp>
      <p:sp>
        <p:nvSpPr>
          <p:cNvPr id="58" name="Text 52"/>
          <p:cNvSpPr/>
          <p:nvPr/>
        </p:nvSpPr>
        <p:spPr>
          <a:xfrm>
            <a:off x="812800" y="6339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F17"/>
                </a:solidFill>
                <a:latin typeface="Rubik" pitchFamily="34" charset="0"/>
                <a:ea typeface="Rubik" pitchFamily="34" charset="-122"/>
                <a:cs typeface="Rubik" pitchFamily="34" charset="-120"/>
              </a:rPr>
              <a:t>Orange</a:t>
            </a:r>
            <a:r>
              <a:rPr lang="en-US" sz="1200" dirty="0">
                <a:solidFill>
                  <a:srgbClr val="596273"/>
                </a:solidFill>
                <a:latin typeface="Rubik" pitchFamily="34" charset="0"/>
                <a:ea typeface="Rubik" pitchFamily="34" charset="-122"/>
                <a:cs typeface="Rubik" pitchFamily="34" charset="-120"/>
              </a:rPr>
              <a:t> keywords are the ones we use today. Blue ones come in the next classes.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3 OF 8 · KEYWORDS · 2 OF 2</a:t>
            </a:r>
            <a:endParaRPr lang="en-US" sz="1300" dirty="0"/>
          </a:p>
        </p:txBody>
      </p:sp>
      <p:sp>
        <p:nvSpPr>
          <p:cNvPr id="3" name="Text 1"/>
          <p:cNvSpPr/>
          <p:nvPr>
            <p:ph type="title"/>
          </p:nvPr>
        </p:nvSpPr>
        <p:spPr>
          <a:xfrm>
            <a:off x="812800" y="101853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C2230"/>
                </a:solidFill>
                <a:latin typeface="Rubik" pitchFamily="34" charset="0"/>
                <a:ea typeface="Rubik" pitchFamily="34" charset="-122"/>
                <a:cs typeface="Rubik" pitchFamily="34" charset="-120"/>
              </a:rPr>
              <a:t>The other 13: you'll meet them later</a:t>
            </a:r>
            <a:endParaRPr lang="en-US" sz="2800" dirty="0"/>
          </a:p>
        </p:txBody>
      </p:sp>
      <p:sp>
        <p:nvSpPr>
          <p:cNvPr id="4" name="Shape 2"/>
          <p:cNvSpPr/>
          <p:nvPr/>
        </p:nvSpPr>
        <p:spPr>
          <a:xfrm>
            <a:off x="815975" y="1590625"/>
            <a:ext cx="5213350" cy="2066131"/>
          </a:xfrm>
          <a:prstGeom prst="roundRect">
            <a:avLst>
              <a:gd name="adj" fmla="val 5378"/>
            </a:avLst>
          </a:prstGeom>
          <a:solidFill>
            <a:srgbClr val="FFFDF8"/>
          </a:solidFill>
          <a:ln w="6350">
            <a:solidFill>
              <a:srgbClr val="E2DDD2"/>
            </a:solidFill>
            <a:prstDash val="solid"/>
          </a:ln>
        </p:spPr>
      </p:sp>
      <p:pic>
        <p:nvPicPr>
          <p:cNvPr id="5" name="Image 0" descr="Drawers">    </p:cNvPr>
          <p:cNvPicPr>
            <a:picLocks noChangeAspect="1"/>
          </p:cNvPicPr>
          <p:nvPr/>
        </p:nvPicPr>
        <p:blipFill>
          <a:blip r:embed="rId1"/>
          <a:srcRect l="0" r="0" t="0" b="0"/>
          <a:stretch/>
        </p:blipFill>
        <p:spPr>
          <a:xfrm>
            <a:off x="996950" y="1795711"/>
            <a:ext cx="355600" cy="355600"/>
          </a:xfrm>
          <a:prstGeom prst="rect">
            <a:avLst/>
          </a:prstGeom>
        </p:spPr>
      </p:pic>
      <p:sp>
        <p:nvSpPr>
          <p:cNvPr id="6" name="Text 3"/>
          <p:cNvSpPr/>
          <p:nvPr/>
        </p:nvSpPr>
        <p:spPr>
          <a:xfrm>
            <a:off x="1454150" y="1746200"/>
            <a:ext cx="345465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Storage: where a variable lives</a:t>
            </a:r>
            <a:endParaRPr lang="en-US" sz="1500" dirty="0"/>
          </a:p>
        </p:txBody>
      </p:sp>
      <p:sp>
        <p:nvSpPr>
          <p:cNvPr id="7" name="Text 4"/>
          <p:cNvSpPr/>
          <p:nvPr/>
        </p:nvSpPr>
        <p:spPr>
          <a:xfrm>
            <a:off x="1454150" y="1987500"/>
            <a:ext cx="29652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Module 3</a:t>
            </a:r>
            <a:endParaRPr lang="en-US" sz="1200" dirty="0"/>
          </a:p>
        </p:txBody>
      </p:sp>
      <p:sp>
        <p:nvSpPr>
          <p:cNvPr id="8" name="Text 5"/>
          <p:cNvSpPr/>
          <p:nvPr/>
        </p:nvSpPr>
        <p:spPr>
          <a:xfrm>
            <a:off x="996950" y="2277021"/>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auto</a:t>
            </a:r>
            <a:endParaRPr lang="en-US" sz="1400" dirty="0"/>
          </a:p>
        </p:txBody>
      </p:sp>
      <p:sp>
        <p:nvSpPr>
          <p:cNvPr id="9" name="Text 6"/>
          <p:cNvSpPr/>
          <p:nvPr/>
        </p:nvSpPr>
        <p:spPr>
          <a:xfrm>
            <a:off x="2178050" y="2315121"/>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a normal local variable (default)</a:t>
            </a:r>
            <a:endParaRPr lang="en-US" sz="1200" dirty="0"/>
          </a:p>
        </p:txBody>
      </p:sp>
      <p:sp>
        <p:nvSpPr>
          <p:cNvPr id="10" name="Text 7"/>
          <p:cNvSpPr/>
          <p:nvPr/>
        </p:nvSpPr>
        <p:spPr>
          <a:xfrm>
            <a:off x="996950" y="2602111"/>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register</a:t>
            </a:r>
            <a:endParaRPr lang="en-US" sz="1400" dirty="0"/>
          </a:p>
        </p:txBody>
      </p:sp>
      <p:sp>
        <p:nvSpPr>
          <p:cNvPr id="11" name="Text 8"/>
          <p:cNvSpPr/>
          <p:nvPr/>
        </p:nvSpPr>
        <p:spPr>
          <a:xfrm>
            <a:off x="2178050" y="2640211"/>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hint: keep it in a fast CPU register</a:t>
            </a:r>
            <a:endParaRPr lang="en-US" sz="1200" dirty="0"/>
          </a:p>
        </p:txBody>
      </p:sp>
      <p:sp>
        <p:nvSpPr>
          <p:cNvPr id="12" name="Text 9"/>
          <p:cNvSpPr/>
          <p:nvPr/>
        </p:nvSpPr>
        <p:spPr>
          <a:xfrm>
            <a:off x="996950" y="2927201"/>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static</a:t>
            </a:r>
            <a:endParaRPr lang="en-US" sz="1400" dirty="0"/>
          </a:p>
        </p:txBody>
      </p:sp>
      <p:sp>
        <p:nvSpPr>
          <p:cNvPr id="13" name="Text 10"/>
          <p:cNvSpPr/>
          <p:nvPr/>
        </p:nvSpPr>
        <p:spPr>
          <a:xfrm>
            <a:off x="2178050" y="2965301"/>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keeps its value between calls</a:t>
            </a:r>
            <a:endParaRPr lang="en-US" sz="1200" dirty="0"/>
          </a:p>
        </p:txBody>
      </p:sp>
      <p:sp>
        <p:nvSpPr>
          <p:cNvPr id="14" name="Text 11"/>
          <p:cNvSpPr/>
          <p:nvPr/>
        </p:nvSpPr>
        <p:spPr>
          <a:xfrm>
            <a:off x="996950" y="3252291"/>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extern</a:t>
            </a:r>
            <a:endParaRPr lang="en-US" sz="1400" dirty="0"/>
          </a:p>
        </p:txBody>
      </p:sp>
      <p:sp>
        <p:nvSpPr>
          <p:cNvPr id="15" name="Text 12"/>
          <p:cNvSpPr/>
          <p:nvPr/>
        </p:nvSpPr>
        <p:spPr>
          <a:xfrm>
            <a:off x="2178050" y="3290391"/>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it is declared in another file</a:t>
            </a:r>
            <a:endParaRPr lang="en-US" sz="1200" dirty="0"/>
          </a:p>
        </p:txBody>
      </p:sp>
      <p:sp>
        <p:nvSpPr>
          <p:cNvPr id="16" name="Shape 13"/>
          <p:cNvSpPr/>
          <p:nvPr/>
        </p:nvSpPr>
        <p:spPr>
          <a:xfrm>
            <a:off x="815975" y="3790107"/>
            <a:ext cx="5213350" cy="2066131"/>
          </a:xfrm>
          <a:prstGeom prst="roundRect">
            <a:avLst>
              <a:gd name="adj" fmla="val 5378"/>
            </a:avLst>
          </a:prstGeom>
          <a:solidFill>
            <a:srgbClr val="FFFDF8"/>
          </a:solidFill>
          <a:ln w="6350">
            <a:solidFill>
              <a:srgbClr val="E2DDD2"/>
            </a:solidFill>
            <a:prstDash val="solid"/>
          </a:ln>
        </p:spPr>
      </p:sp>
      <p:pic>
        <p:nvPicPr>
          <p:cNvPr id="17" name="Image 1" descr="Building blocks">    </p:cNvPr>
          <p:cNvPicPr>
            <a:picLocks noChangeAspect="1"/>
          </p:cNvPicPr>
          <p:nvPr/>
        </p:nvPicPr>
        <p:blipFill>
          <a:blip r:embed="rId2"/>
          <a:srcRect l="0" r="0" t="0" b="0"/>
          <a:stretch/>
        </p:blipFill>
        <p:spPr>
          <a:xfrm>
            <a:off x="996950" y="3995192"/>
            <a:ext cx="355600" cy="355600"/>
          </a:xfrm>
          <a:prstGeom prst="rect">
            <a:avLst/>
          </a:prstGeom>
        </p:spPr>
      </p:pic>
      <p:sp>
        <p:nvSpPr>
          <p:cNvPr id="18" name="Text 14"/>
          <p:cNvSpPr/>
          <p:nvPr/>
        </p:nvSpPr>
        <p:spPr>
          <a:xfrm>
            <a:off x="1454150" y="3945682"/>
            <a:ext cx="235940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Build your own types</a:t>
            </a:r>
            <a:endParaRPr lang="en-US" sz="1500" dirty="0"/>
          </a:p>
        </p:txBody>
      </p:sp>
      <p:sp>
        <p:nvSpPr>
          <p:cNvPr id="19" name="Text 15"/>
          <p:cNvSpPr/>
          <p:nvPr/>
        </p:nvSpPr>
        <p:spPr>
          <a:xfrm>
            <a:off x="1454150" y="4186982"/>
            <a:ext cx="20251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Module 5</a:t>
            </a:r>
            <a:endParaRPr lang="en-US" sz="1200" dirty="0"/>
          </a:p>
        </p:txBody>
      </p:sp>
      <p:sp>
        <p:nvSpPr>
          <p:cNvPr id="20" name="Text 16"/>
          <p:cNvSpPr/>
          <p:nvPr/>
        </p:nvSpPr>
        <p:spPr>
          <a:xfrm>
            <a:off x="996950" y="4476502"/>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struct</a:t>
            </a:r>
            <a:endParaRPr lang="en-US" sz="1400" dirty="0"/>
          </a:p>
        </p:txBody>
      </p:sp>
      <p:sp>
        <p:nvSpPr>
          <p:cNvPr id="21" name="Text 17"/>
          <p:cNvSpPr/>
          <p:nvPr/>
        </p:nvSpPr>
        <p:spPr>
          <a:xfrm>
            <a:off x="2178050" y="4514602"/>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group data: a student's roll, name, marks</a:t>
            </a:r>
            <a:endParaRPr lang="en-US" sz="1200" dirty="0"/>
          </a:p>
        </p:txBody>
      </p:sp>
      <p:sp>
        <p:nvSpPr>
          <p:cNvPr id="22" name="Text 18"/>
          <p:cNvSpPr/>
          <p:nvPr/>
        </p:nvSpPr>
        <p:spPr>
          <a:xfrm>
            <a:off x="996950" y="4801592"/>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union</a:t>
            </a:r>
            <a:endParaRPr lang="en-US" sz="1400" dirty="0"/>
          </a:p>
        </p:txBody>
      </p:sp>
      <p:sp>
        <p:nvSpPr>
          <p:cNvPr id="23" name="Text 19"/>
          <p:cNvSpPr/>
          <p:nvPr/>
        </p:nvSpPr>
        <p:spPr>
          <a:xfrm>
            <a:off x="2178050" y="4839692"/>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different data sharing one space</a:t>
            </a:r>
            <a:endParaRPr lang="en-US" sz="1200" dirty="0"/>
          </a:p>
        </p:txBody>
      </p:sp>
      <p:sp>
        <p:nvSpPr>
          <p:cNvPr id="24" name="Text 20"/>
          <p:cNvSpPr/>
          <p:nvPr/>
        </p:nvSpPr>
        <p:spPr>
          <a:xfrm>
            <a:off x="996950" y="5126682"/>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enum</a:t>
            </a:r>
            <a:endParaRPr lang="en-US" sz="1400" dirty="0"/>
          </a:p>
        </p:txBody>
      </p:sp>
      <p:sp>
        <p:nvSpPr>
          <p:cNvPr id="25" name="Text 21"/>
          <p:cNvSpPr/>
          <p:nvPr/>
        </p:nvSpPr>
        <p:spPr>
          <a:xfrm>
            <a:off x="2178050" y="5164782"/>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named values: MON, TUE, WED…</a:t>
            </a:r>
            <a:endParaRPr lang="en-US" sz="1200" dirty="0"/>
          </a:p>
        </p:txBody>
      </p:sp>
      <p:sp>
        <p:nvSpPr>
          <p:cNvPr id="26" name="Text 22"/>
          <p:cNvSpPr/>
          <p:nvPr/>
        </p:nvSpPr>
        <p:spPr>
          <a:xfrm>
            <a:off x="996950" y="5451773"/>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typedef</a:t>
            </a:r>
            <a:endParaRPr lang="en-US" sz="1400" dirty="0"/>
          </a:p>
        </p:txBody>
      </p:sp>
      <p:sp>
        <p:nvSpPr>
          <p:cNvPr id="27" name="Text 23"/>
          <p:cNvSpPr/>
          <p:nvPr/>
        </p:nvSpPr>
        <p:spPr>
          <a:xfrm>
            <a:off x="2178050" y="5489873"/>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give a type a new, shorter name</a:t>
            </a:r>
            <a:endParaRPr lang="en-US" sz="1200" dirty="0"/>
          </a:p>
        </p:txBody>
      </p:sp>
      <p:sp>
        <p:nvSpPr>
          <p:cNvPr id="28" name="Shape 24"/>
          <p:cNvSpPr/>
          <p:nvPr/>
        </p:nvSpPr>
        <p:spPr>
          <a:xfrm>
            <a:off x="6162675" y="1590625"/>
            <a:ext cx="5213350" cy="1415951"/>
          </a:xfrm>
          <a:prstGeom prst="roundRect">
            <a:avLst>
              <a:gd name="adj" fmla="val 7848"/>
            </a:avLst>
          </a:prstGeom>
          <a:solidFill>
            <a:srgbClr val="FFFDF8"/>
          </a:solidFill>
          <a:ln w="6350">
            <a:solidFill>
              <a:srgbClr val="E2DDD2"/>
            </a:solidFill>
            <a:prstDash val="solid"/>
          </a:ln>
        </p:spPr>
      </p:sp>
      <p:pic>
        <p:nvPicPr>
          <p:cNvPr id="29" name="Image 2" descr="Arrow leaving a box">    </p:cNvPr>
          <p:cNvPicPr>
            <a:picLocks noChangeAspect="1"/>
          </p:cNvPicPr>
          <p:nvPr/>
        </p:nvPicPr>
        <p:blipFill>
          <a:blip r:embed="rId3"/>
          <a:srcRect l="0" r="0" t="0" b="0"/>
          <a:stretch/>
        </p:blipFill>
        <p:spPr>
          <a:xfrm>
            <a:off x="6343650" y="1795711"/>
            <a:ext cx="355600" cy="355600"/>
          </a:xfrm>
          <a:prstGeom prst="rect">
            <a:avLst/>
          </a:prstGeom>
        </p:spPr>
      </p:pic>
      <p:sp>
        <p:nvSpPr>
          <p:cNvPr id="30" name="Text 25"/>
          <p:cNvSpPr/>
          <p:nvPr/>
        </p:nvSpPr>
        <p:spPr>
          <a:xfrm>
            <a:off x="6800850" y="1746200"/>
            <a:ext cx="23721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Functions and jumps</a:t>
            </a:r>
            <a:endParaRPr lang="en-US" sz="1500" dirty="0"/>
          </a:p>
        </p:txBody>
      </p:sp>
      <p:sp>
        <p:nvSpPr>
          <p:cNvPr id="31" name="Text 26"/>
          <p:cNvSpPr/>
          <p:nvPr/>
        </p:nvSpPr>
        <p:spPr>
          <a:xfrm>
            <a:off x="6800850" y="1987500"/>
            <a:ext cx="2036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Module 3</a:t>
            </a:r>
            <a:endParaRPr lang="en-US" sz="1200" dirty="0"/>
          </a:p>
        </p:txBody>
      </p:sp>
      <p:sp>
        <p:nvSpPr>
          <p:cNvPr id="32" name="Text 27"/>
          <p:cNvSpPr/>
          <p:nvPr/>
        </p:nvSpPr>
        <p:spPr>
          <a:xfrm>
            <a:off x="6343650" y="2277021"/>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return</a:t>
            </a:r>
            <a:endParaRPr lang="en-US" sz="1400" dirty="0"/>
          </a:p>
        </p:txBody>
      </p:sp>
      <p:sp>
        <p:nvSpPr>
          <p:cNvPr id="33" name="Text 28"/>
          <p:cNvSpPr/>
          <p:nvPr/>
        </p:nvSpPr>
        <p:spPr>
          <a:xfrm>
            <a:off x="7524750" y="2315121"/>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send back a value and finish</a:t>
            </a:r>
            <a:endParaRPr lang="en-US" sz="1200" dirty="0"/>
          </a:p>
        </p:txBody>
      </p:sp>
      <p:sp>
        <p:nvSpPr>
          <p:cNvPr id="34" name="Text 29"/>
          <p:cNvSpPr/>
          <p:nvPr/>
        </p:nvSpPr>
        <p:spPr>
          <a:xfrm>
            <a:off x="6343650" y="2602111"/>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goto</a:t>
            </a:r>
            <a:endParaRPr lang="en-US" sz="1400" dirty="0"/>
          </a:p>
        </p:txBody>
      </p:sp>
      <p:sp>
        <p:nvSpPr>
          <p:cNvPr id="35" name="Text 30"/>
          <p:cNvSpPr/>
          <p:nvPr/>
        </p:nvSpPr>
        <p:spPr>
          <a:xfrm>
            <a:off x="7524750" y="2640211"/>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jump to a labelled line (avoid it)</a:t>
            </a:r>
            <a:endParaRPr lang="en-US" sz="1200" dirty="0"/>
          </a:p>
        </p:txBody>
      </p:sp>
      <p:sp>
        <p:nvSpPr>
          <p:cNvPr id="36" name="Shape 31"/>
          <p:cNvSpPr/>
          <p:nvPr/>
        </p:nvSpPr>
        <p:spPr>
          <a:xfrm>
            <a:off x="6162675" y="3139926"/>
            <a:ext cx="5213350" cy="1415951"/>
          </a:xfrm>
          <a:prstGeom prst="roundRect">
            <a:avLst>
              <a:gd name="adj" fmla="val 7848"/>
            </a:avLst>
          </a:prstGeom>
          <a:solidFill>
            <a:srgbClr val="FFFDF8"/>
          </a:solidFill>
          <a:ln w="6350">
            <a:solidFill>
              <a:srgbClr val="E2DDD2"/>
            </a:solidFill>
            <a:prstDash val="solid"/>
          </a:ln>
        </p:spPr>
      </p:sp>
      <p:pic>
        <p:nvPicPr>
          <p:cNvPr id="37" name="Image 3" descr="Lock">    </p:cNvPr>
          <p:cNvPicPr>
            <a:picLocks noChangeAspect="1"/>
          </p:cNvPicPr>
          <p:nvPr/>
        </p:nvPicPr>
        <p:blipFill>
          <a:blip r:embed="rId4"/>
          <a:srcRect l="0" r="0" t="0" b="0"/>
          <a:stretch/>
        </p:blipFill>
        <p:spPr>
          <a:xfrm>
            <a:off x="6343650" y="3345011"/>
            <a:ext cx="355600" cy="355600"/>
          </a:xfrm>
          <a:prstGeom prst="rect">
            <a:avLst/>
          </a:prstGeom>
        </p:spPr>
      </p:pic>
      <p:sp>
        <p:nvSpPr>
          <p:cNvPr id="38" name="Text 32"/>
          <p:cNvSpPr/>
          <p:nvPr/>
        </p:nvSpPr>
        <p:spPr>
          <a:xfrm>
            <a:off x="6800850" y="3295501"/>
            <a:ext cx="17203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Protect a value</a:t>
            </a:r>
            <a:endParaRPr lang="en-US" sz="1500" dirty="0"/>
          </a:p>
        </p:txBody>
      </p:sp>
      <p:sp>
        <p:nvSpPr>
          <p:cNvPr id="39" name="Text 33"/>
          <p:cNvSpPr/>
          <p:nvPr/>
        </p:nvSpPr>
        <p:spPr>
          <a:xfrm>
            <a:off x="6800850" y="3536801"/>
            <a:ext cx="14844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const: today</a:t>
            </a:r>
            <a:endParaRPr lang="en-US" sz="1200" dirty="0"/>
          </a:p>
        </p:txBody>
      </p:sp>
      <p:sp>
        <p:nvSpPr>
          <p:cNvPr id="40" name="Text 34"/>
          <p:cNvSpPr/>
          <p:nvPr/>
        </p:nvSpPr>
        <p:spPr>
          <a:xfrm>
            <a:off x="6343650" y="3826321"/>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const</a:t>
            </a:r>
            <a:endParaRPr lang="en-US" sz="1400" dirty="0"/>
          </a:p>
        </p:txBody>
      </p:sp>
      <p:sp>
        <p:nvSpPr>
          <p:cNvPr id="41" name="Text 35"/>
          <p:cNvSpPr/>
          <p:nvPr/>
        </p:nvSpPr>
        <p:spPr>
          <a:xfrm>
            <a:off x="7524750" y="3864421"/>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this value can never change</a:t>
            </a:r>
            <a:endParaRPr lang="en-US" sz="1200" dirty="0"/>
          </a:p>
        </p:txBody>
      </p:sp>
      <p:sp>
        <p:nvSpPr>
          <p:cNvPr id="42" name="Text 36"/>
          <p:cNvSpPr/>
          <p:nvPr/>
        </p:nvSpPr>
        <p:spPr>
          <a:xfrm>
            <a:off x="6343650" y="4151412"/>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volatile</a:t>
            </a:r>
            <a:endParaRPr lang="en-US" sz="1400" dirty="0"/>
          </a:p>
        </p:txBody>
      </p:sp>
      <p:sp>
        <p:nvSpPr>
          <p:cNvPr id="43" name="Text 37"/>
          <p:cNvSpPr/>
          <p:nvPr/>
        </p:nvSpPr>
        <p:spPr>
          <a:xfrm>
            <a:off x="7524750" y="4189512"/>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may change outside the program</a:t>
            </a:r>
            <a:endParaRPr lang="en-US" sz="1200" dirty="0"/>
          </a:p>
        </p:txBody>
      </p:sp>
      <p:sp>
        <p:nvSpPr>
          <p:cNvPr id="44" name="Shape 38"/>
          <p:cNvSpPr/>
          <p:nvPr/>
        </p:nvSpPr>
        <p:spPr>
          <a:xfrm>
            <a:off x="6162675" y="4689227"/>
            <a:ext cx="5213350" cy="1090861"/>
          </a:xfrm>
          <a:prstGeom prst="roundRect">
            <a:avLst>
              <a:gd name="adj" fmla="val 10187"/>
            </a:avLst>
          </a:prstGeom>
          <a:solidFill>
            <a:srgbClr val="FFFDF8"/>
          </a:solidFill>
          <a:ln w="6350">
            <a:solidFill>
              <a:srgbClr val="E2DDD2"/>
            </a:solidFill>
            <a:prstDash val="solid"/>
          </a:ln>
        </p:spPr>
      </p:sp>
      <p:pic>
        <p:nvPicPr>
          <p:cNvPr id="45" name="Image 4" descr="Ruler">    </p:cNvPr>
          <p:cNvPicPr>
            <a:picLocks noChangeAspect="1"/>
          </p:cNvPicPr>
          <p:nvPr/>
        </p:nvPicPr>
        <p:blipFill>
          <a:blip r:embed="rId5"/>
          <a:srcRect l="0" r="0" t="0" b="0"/>
          <a:stretch/>
        </p:blipFill>
        <p:spPr>
          <a:xfrm>
            <a:off x="6343650" y="4894312"/>
            <a:ext cx="355600" cy="355600"/>
          </a:xfrm>
          <a:prstGeom prst="rect">
            <a:avLst/>
          </a:prstGeom>
        </p:spPr>
      </p:pic>
      <p:sp>
        <p:nvSpPr>
          <p:cNvPr id="46" name="Text 39"/>
          <p:cNvSpPr/>
          <p:nvPr/>
        </p:nvSpPr>
        <p:spPr>
          <a:xfrm>
            <a:off x="6800850" y="4844802"/>
            <a:ext cx="97137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Measure</a:t>
            </a:r>
            <a:endParaRPr lang="en-US" sz="1500" dirty="0"/>
          </a:p>
        </p:txBody>
      </p:sp>
      <p:sp>
        <p:nvSpPr>
          <p:cNvPr id="47" name="Text 40"/>
          <p:cNvSpPr/>
          <p:nvPr/>
        </p:nvSpPr>
        <p:spPr>
          <a:xfrm>
            <a:off x="6800850" y="5086102"/>
            <a:ext cx="8602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Today</a:t>
            </a:r>
            <a:endParaRPr lang="en-US" sz="1200" dirty="0"/>
          </a:p>
        </p:txBody>
      </p:sp>
      <p:sp>
        <p:nvSpPr>
          <p:cNvPr id="48" name="Text 41"/>
          <p:cNvSpPr/>
          <p:nvPr/>
        </p:nvSpPr>
        <p:spPr>
          <a:xfrm>
            <a:off x="6343650" y="5375622"/>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sizeof</a:t>
            </a:r>
            <a:endParaRPr lang="en-US" sz="1400" dirty="0"/>
          </a:p>
        </p:txBody>
      </p:sp>
      <p:sp>
        <p:nvSpPr>
          <p:cNvPr id="49" name="Text 42"/>
          <p:cNvSpPr/>
          <p:nvPr/>
        </p:nvSpPr>
        <p:spPr>
          <a:xfrm>
            <a:off x="7524750" y="5413722"/>
            <a:ext cx="378040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how many bytes something uses</a:t>
            </a:r>
            <a:endParaRPr lang="en-US" sz="1200" dirty="0"/>
          </a:p>
        </p:txBody>
      </p:sp>
      <p:sp>
        <p:nvSpPr>
          <p:cNvPr id="50" name="Text 43"/>
          <p:cNvSpPr/>
          <p:nvPr/>
        </p:nvSpPr>
        <p:spPr>
          <a:xfrm>
            <a:off x="812800" y="6339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No need to memorise these today. Each keyword comes with its module.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4 OF 8 · IDENTIFIERS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What is an identifier? The name you give to something</a:t>
            </a:r>
            <a:endParaRPr lang="en-US" sz="3000" dirty="0"/>
          </a:p>
        </p:txBody>
      </p:sp>
      <p:sp>
        <p:nvSpPr>
          <p:cNvPr id="4" name="Shape 2"/>
          <p:cNvSpPr/>
          <p:nvPr/>
        </p:nvSpPr>
        <p:spPr>
          <a:xfrm>
            <a:off x="815975" y="1745605"/>
            <a:ext cx="4311650" cy="2907010"/>
          </a:xfrm>
          <a:prstGeom prst="roundRect">
            <a:avLst>
              <a:gd name="adj" fmla="val 3823"/>
            </a:avLst>
          </a:prstGeom>
          <a:solidFill>
            <a:srgbClr val="FFFDF8"/>
          </a:solidFill>
          <a:ln w="6350">
            <a:solidFill>
              <a:srgbClr val="E2DDD2"/>
            </a:solidFill>
            <a:prstDash val="solid"/>
          </a:ln>
        </p:spPr>
      </p:sp>
      <p:sp>
        <p:nvSpPr>
          <p:cNvPr id="5" name="Text 3"/>
          <p:cNvSpPr/>
          <p:nvPr/>
        </p:nvSpPr>
        <p:spPr>
          <a:xfrm>
            <a:off x="1022350" y="1926580"/>
            <a:ext cx="40158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In the canteen kitchen</a:t>
            </a:r>
            <a:endParaRPr lang="en-US" sz="1500" dirty="0"/>
          </a:p>
        </p:txBody>
      </p:sp>
      <p:sp>
        <p:nvSpPr>
          <p:cNvPr id="6" name="Shape 4"/>
          <p:cNvSpPr/>
          <p:nvPr/>
        </p:nvSpPr>
        <p:spPr>
          <a:xfrm>
            <a:off x="1416050" y="2269480"/>
            <a:ext cx="698500" cy="139700"/>
          </a:xfrm>
          <a:prstGeom prst="roundRect">
            <a:avLst>
              <a:gd name="adj" fmla="val 27273"/>
            </a:avLst>
          </a:prstGeom>
          <a:solidFill>
            <a:srgbClr val="15233F"/>
          </a:solidFill>
          <a:ln/>
        </p:spPr>
      </p:sp>
      <p:sp>
        <p:nvSpPr>
          <p:cNvPr id="7" name="Shape 5"/>
          <p:cNvSpPr/>
          <p:nvPr/>
        </p:nvSpPr>
        <p:spPr>
          <a:xfrm>
            <a:off x="1298575" y="2418705"/>
            <a:ext cx="933450" cy="1504950"/>
          </a:xfrm>
          <a:custGeom>
            <a:avLst/>
            <a:gdLst/>
            <a:ahLst/>
            <a:cxnLst/>
            <a:rect l="l" t="t" r="r" b="b"/>
            <a:pathLst>
              <a:path w="933450" h="1504950">
                <a:moveTo>
                  <a:pt x="66675" y="0"/>
                </a:moveTo>
                <a:lnTo>
                  <a:pt x="866775" y="0"/>
                </a:lnTo>
                <a:arcTo hR="66675" wR="66675" stAng="16200000" swAng="5400000"/>
                <a:lnTo>
                  <a:pt x="933450" y="1374775"/>
                </a:lnTo>
                <a:arcTo hR="130175" wR="130175" stAng="0" swAng="5400000"/>
                <a:lnTo>
                  <a:pt x="130175" y="1504950"/>
                </a:lnTo>
                <a:arcTo hR="130175" wR="130175" stAng="5400000" swAng="5400000"/>
                <a:lnTo>
                  <a:pt x="0" y="66675"/>
                </a:lnTo>
                <a:arcTo hR="66675" wR="66675" stAng="10800000" swAng="5400000"/>
                <a:close/>
              </a:path>
            </a:pathLst>
          </a:custGeom>
          <a:solidFill>
            <a:srgbClr val="E3ECF8"/>
          </a:solidFill>
          <a:ln w="19050">
            <a:solidFill>
              <a:srgbClr val="9DB3D6"/>
            </a:solidFill>
            <a:prstDash val="solid"/>
          </a:ln>
        </p:spPr>
      </p:sp>
      <p:sp>
        <p:nvSpPr>
          <p:cNvPr id="8" name="Text 6"/>
          <p:cNvSpPr/>
          <p:nvPr/>
        </p:nvSpPr>
        <p:spPr>
          <a:xfrm>
            <a:off x="1466850" y="2599680"/>
            <a:ext cx="596900" cy="302220"/>
          </a:xfrm>
          <a:prstGeom prst="roundRect">
            <a:avLst>
              <a:gd name="adj" fmla="val 14708"/>
            </a:avLst>
          </a:prstGeom>
          <a:solidFill>
            <a:srgbClr val="FFFDF8"/>
          </a:solidFill>
          <a:ln w="12700">
            <a:solidFill>
              <a:srgbClr val="E9893F"/>
            </a:solidFill>
            <a:prstDash val="solid"/>
          </a:ln>
        </p:spPr>
        <p:txBody>
          <a:bodyPr wrap="none" lIns="0" tIns="0" rIns="0" bIns="0" rtlCol="0" anchor="ctr">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price</a:t>
            </a:r>
            <a:endParaRPr lang="en-US" sz="1200" dirty="0"/>
          </a:p>
        </p:txBody>
      </p:sp>
      <p:sp>
        <p:nvSpPr>
          <p:cNvPr id="9" name="Text 7"/>
          <p:cNvSpPr/>
          <p:nvPr/>
        </p:nvSpPr>
        <p:spPr>
          <a:xfrm>
            <a:off x="1308100" y="3342630"/>
            <a:ext cx="914400" cy="571500"/>
          </a:xfrm>
          <a:custGeom>
            <a:avLst/>
            <a:gdLst/>
            <a:ahLst/>
            <a:cxnLst/>
            <a:rect l="l" t="t" r="r" b="b"/>
            <a:pathLst>
              <a:path w="914400" h="571500">
                <a:moveTo>
                  <a:pt x="914400" y="450850"/>
                </a:moveTo>
                <a:arcTo hR="120650" wR="120650" stAng="0" swAng="5400000"/>
                <a:lnTo>
                  <a:pt x="120650" y="571500"/>
                </a:lnTo>
                <a:arcTo hR="120650" wR="120650" stAng="5400000" swAng="5400000"/>
                <a:lnTo>
                  <a:pt x="0" y="0"/>
                </a:lnTo>
                <a:lnTo>
                  <a:pt x="914400" y="0"/>
                </a:lnTo>
                <a:close/>
              </a:path>
            </a:pathLst>
          </a:custGeom>
          <a:solidFill>
            <a:srgbClr val="A94F17"/>
          </a:solidFill>
          <a:ln/>
        </p:spPr>
        <p:txBody>
          <a:bodyPr wrap="square" lIns="0" tIns="0" rIns="0" bIns="50800" rtlCol="0" anchor="b">
            <a:normAutofit/>
          </a:bodyPr>
          <a:lstStyle/>
          <a:p>
            <a:pPr algn="ctr" indent="0" marL="0">
              <a:lnSpc>
                <a:spcPts val="2100"/>
              </a:lnSpc>
              <a:buNone/>
            </a:pPr>
            <a:r>
              <a:rPr lang="en-US" sz="1500" b="1" dirty="0">
                <a:solidFill>
                  <a:srgbClr val="FFFDF8"/>
                </a:solidFill>
                <a:latin typeface="JetBrains Mono" pitchFamily="49" charset="0"/>
                <a:ea typeface="JetBrains Mono" pitchFamily="49" charset="-122"/>
                <a:cs typeface="JetBrains Mono" pitchFamily="49" charset="-120"/>
              </a:rPr>
              <a:t>10</a:t>
            </a:r>
            <a:endParaRPr lang="en-US" sz="1500" dirty="0"/>
          </a:p>
        </p:txBody>
      </p:sp>
      <p:sp>
        <p:nvSpPr>
          <p:cNvPr id="10" name="Shape 8"/>
          <p:cNvSpPr/>
          <p:nvPr/>
        </p:nvSpPr>
        <p:spPr>
          <a:xfrm>
            <a:off x="2622550" y="2269480"/>
            <a:ext cx="698500" cy="139700"/>
          </a:xfrm>
          <a:prstGeom prst="roundRect">
            <a:avLst>
              <a:gd name="adj" fmla="val 27273"/>
            </a:avLst>
          </a:prstGeom>
          <a:solidFill>
            <a:srgbClr val="15233F"/>
          </a:solidFill>
          <a:ln/>
        </p:spPr>
      </p:sp>
      <p:sp>
        <p:nvSpPr>
          <p:cNvPr id="11" name="Shape 9"/>
          <p:cNvSpPr/>
          <p:nvPr/>
        </p:nvSpPr>
        <p:spPr>
          <a:xfrm>
            <a:off x="2505075" y="2418705"/>
            <a:ext cx="933450" cy="1504950"/>
          </a:xfrm>
          <a:custGeom>
            <a:avLst/>
            <a:gdLst/>
            <a:ahLst/>
            <a:cxnLst/>
            <a:rect l="l" t="t" r="r" b="b"/>
            <a:pathLst>
              <a:path w="933450" h="1504950">
                <a:moveTo>
                  <a:pt x="66675" y="0"/>
                </a:moveTo>
                <a:lnTo>
                  <a:pt x="866775" y="0"/>
                </a:lnTo>
                <a:arcTo hR="66675" wR="66675" stAng="16200000" swAng="5400000"/>
                <a:lnTo>
                  <a:pt x="933450" y="1374775"/>
                </a:lnTo>
                <a:arcTo hR="130175" wR="130175" stAng="0" swAng="5400000"/>
                <a:lnTo>
                  <a:pt x="130175" y="1504950"/>
                </a:lnTo>
                <a:arcTo hR="130175" wR="130175" stAng="5400000" swAng="5400000"/>
                <a:lnTo>
                  <a:pt x="0" y="66675"/>
                </a:lnTo>
                <a:arcTo hR="66675" wR="66675" stAng="10800000" swAng="5400000"/>
                <a:close/>
              </a:path>
            </a:pathLst>
          </a:custGeom>
          <a:solidFill>
            <a:srgbClr val="E3ECF8"/>
          </a:solidFill>
          <a:ln w="19050">
            <a:solidFill>
              <a:srgbClr val="9DB3D6"/>
            </a:solidFill>
            <a:prstDash val="solid"/>
          </a:ln>
        </p:spPr>
      </p:sp>
      <p:sp>
        <p:nvSpPr>
          <p:cNvPr id="12" name="Text 10"/>
          <p:cNvSpPr/>
          <p:nvPr/>
        </p:nvSpPr>
        <p:spPr>
          <a:xfrm>
            <a:off x="2764780" y="2599680"/>
            <a:ext cx="414040" cy="302220"/>
          </a:xfrm>
          <a:prstGeom prst="roundRect">
            <a:avLst>
              <a:gd name="adj" fmla="val 14708"/>
            </a:avLst>
          </a:prstGeom>
          <a:solidFill>
            <a:srgbClr val="FFFDF8"/>
          </a:solidFill>
          <a:ln w="12700">
            <a:solidFill>
              <a:srgbClr val="E9893F"/>
            </a:solidFill>
            <a:prstDash val="solid"/>
          </a:ln>
        </p:spPr>
        <p:txBody>
          <a:bodyPr wrap="none" lIns="0" tIns="0" rIns="0" bIns="0" rtlCol="0" anchor="ctr">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qty</a:t>
            </a:r>
            <a:endParaRPr lang="en-US" sz="1200" dirty="0"/>
          </a:p>
        </p:txBody>
      </p:sp>
      <p:sp>
        <p:nvSpPr>
          <p:cNvPr id="13" name="Text 11"/>
          <p:cNvSpPr/>
          <p:nvPr/>
        </p:nvSpPr>
        <p:spPr>
          <a:xfrm>
            <a:off x="2514600" y="3533130"/>
            <a:ext cx="914400" cy="381000"/>
          </a:xfrm>
          <a:custGeom>
            <a:avLst/>
            <a:gdLst/>
            <a:ahLst/>
            <a:cxnLst/>
            <a:rect l="l" t="t" r="r" b="b"/>
            <a:pathLst>
              <a:path w="914400" h="381000">
                <a:moveTo>
                  <a:pt x="914400" y="260350"/>
                </a:moveTo>
                <a:arcTo hR="120650" wR="120650" stAng="0" swAng="5400000"/>
                <a:lnTo>
                  <a:pt x="120650" y="381000"/>
                </a:lnTo>
                <a:arcTo hR="120650" wR="120650" stAng="5400000" swAng="5400000"/>
                <a:lnTo>
                  <a:pt x="0" y="0"/>
                </a:lnTo>
                <a:lnTo>
                  <a:pt x="914400" y="0"/>
                </a:lnTo>
                <a:close/>
              </a:path>
            </a:pathLst>
          </a:custGeom>
          <a:solidFill>
            <a:srgbClr val="2A5BD7"/>
          </a:solidFill>
          <a:ln/>
        </p:spPr>
        <p:txBody>
          <a:bodyPr wrap="square" lIns="0" tIns="0" rIns="0" bIns="50800" rtlCol="0" anchor="b">
            <a:normAutofit/>
          </a:bodyPr>
          <a:lstStyle/>
          <a:p>
            <a:pPr algn="ctr" indent="0" marL="0">
              <a:lnSpc>
                <a:spcPts val="2100"/>
              </a:lnSpc>
              <a:buNone/>
            </a:pPr>
            <a:r>
              <a:rPr lang="en-US" sz="1500" b="1" dirty="0">
                <a:solidFill>
                  <a:srgbClr val="FFFDF8"/>
                </a:solidFill>
                <a:latin typeface="JetBrains Mono" pitchFamily="49" charset="0"/>
                <a:ea typeface="JetBrains Mono" pitchFamily="49" charset="-122"/>
                <a:cs typeface="JetBrains Mono" pitchFamily="49" charset="-120"/>
              </a:rPr>
              <a:t>2</a:t>
            </a:r>
            <a:endParaRPr lang="en-US" sz="1500" dirty="0"/>
          </a:p>
        </p:txBody>
      </p:sp>
      <p:sp>
        <p:nvSpPr>
          <p:cNvPr id="14" name="Shape 12"/>
          <p:cNvSpPr/>
          <p:nvPr/>
        </p:nvSpPr>
        <p:spPr>
          <a:xfrm>
            <a:off x="3829050" y="2269480"/>
            <a:ext cx="698500" cy="139700"/>
          </a:xfrm>
          <a:prstGeom prst="roundRect">
            <a:avLst>
              <a:gd name="adj" fmla="val 27273"/>
            </a:avLst>
          </a:prstGeom>
          <a:solidFill>
            <a:srgbClr val="15233F"/>
          </a:solidFill>
          <a:ln/>
        </p:spPr>
      </p:sp>
      <p:sp>
        <p:nvSpPr>
          <p:cNvPr id="15" name="Shape 13"/>
          <p:cNvSpPr/>
          <p:nvPr/>
        </p:nvSpPr>
        <p:spPr>
          <a:xfrm>
            <a:off x="3711575" y="2418705"/>
            <a:ext cx="933450" cy="1504950"/>
          </a:xfrm>
          <a:custGeom>
            <a:avLst/>
            <a:gdLst/>
            <a:ahLst/>
            <a:cxnLst/>
            <a:rect l="l" t="t" r="r" b="b"/>
            <a:pathLst>
              <a:path w="933450" h="1504950">
                <a:moveTo>
                  <a:pt x="66675" y="0"/>
                </a:moveTo>
                <a:lnTo>
                  <a:pt x="866775" y="0"/>
                </a:lnTo>
                <a:arcTo hR="66675" wR="66675" stAng="16200000" swAng="5400000"/>
                <a:lnTo>
                  <a:pt x="933450" y="1374775"/>
                </a:lnTo>
                <a:arcTo hR="130175" wR="130175" stAng="0" swAng="5400000"/>
                <a:lnTo>
                  <a:pt x="130175" y="1504950"/>
                </a:lnTo>
                <a:arcTo hR="130175" wR="130175" stAng="5400000" swAng="5400000"/>
                <a:lnTo>
                  <a:pt x="0" y="66675"/>
                </a:lnTo>
                <a:arcTo hR="66675" wR="66675" stAng="10800000" swAng="5400000"/>
                <a:close/>
              </a:path>
            </a:pathLst>
          </a:custGeom>
          <a:solidFill>
            <a:srgbClr val="E3ECF8"/>
          </a:solidFill>
          <a:ln w="19050">
            <a:solidFill>
              <a:srgbClr val="9DB3D6"/>
            </a:solidFill>
            <a:prstDash val="solid"/>
          </a:ln>
        </p:spPr>
      </p:sp>
      <p:sp>
        <p:nvSpPr>
          <p:cNvPr id="16" name="Text 14"/>
          <p:cNvSpPr/>
          <p:nvPr/>
        </p:nvSpPr>
        <p:spPr>
          <a:xfrm>
            <a:off x="3879850" y="2599680"/>
            <a:ext cx="596900" cy="302220"/>
          </a:xfrm>
          <a:prstGeom prst="roundRect">
            <a:avLst>
              <a:gd name="adj" fmla="val 14708"/>
            </a:avLst>
          </a:prstGeom>
          <a:solidFill>
            <a:srgbClr val="FFFDF8"/>
          </a:solidFill>
          <a:ln w="12700">
            <a:solidFill>
              <a:srgbClr val="E9893F"/>
            </a:solidFill>
            <a:prstDash val="solid"/>
          </a:ln>
        </p:spPr>
        <p:txBody>
          <a:bodyPr wrap="none" lIns="0" tIns="0" rIns="0" bIns="0" rtlCol="0" anchor="ctr">
            <a:normAutofit/>
          </a:bodyPr>
          <a:lstStyle/>
          <a:p>
            <a:pPr algn="ctr" indent="0" marL="0">
              <a:lnSpc>
                <a:spcPts val="1680"/>
              </a:lnSpc>
              <a:buNone/>
            </a:pPr>
            <a:r>
              <a:rPr lang="en-US" sz="1200" b="1" dirty="0">
                <a:solidFill>
                  <a:srgbClr val="A94F17"/>
                </a:solidFill>
                <a:latin typeface="JetBrains Mono" pitchFamily="49" charset="0"/>
                <a:ea typeface="JetBrains Mono" pitchFamily="49" charset="-122"/>
                <a:cs typeface="JetBrains Mono" pitchFamily="49" charset="-120"/>
              </a:rPr>
              <a:t>total</a:t>
            </a:r>
            <a:endParaRPr lang="en-US" sz="1200" dirty="0"/>
          </a:p>
        </p:txBody>
      </p:sp>
      <p:sp>
        <p:nvSpPr>
          <p:cNvPr id="17" name="Text 15"/>
          <p:cNvSpPr/>
          <p:nvPr/>
        </p:nvSpPr>
        <p:spPr>
          <a:xfrm>
            <a:off x="3721100" y="3152130"/>
            <a:ext cx="914400" cy="762000"/>
          </a:xfrm>
          <a:custGeom>
            <a:avLst/>
            <a:gdLst/>
            <a:ahLst/>
            <a:cxnLst/>
            <a:rect l="l" t="t" r="r" b="b"/>
            <a:pathLst>
              <a:path w="914400" h="762000">
                <a:moveTo>
                  <a:pt x="914400" y="641350"/>
                </a:moveTo>
                <a:arcTo hR="120650" wR="120650" stAng="0" swAng="5400000"/>
                <a:lnTo>
                  <a:pt x="120650" y="762000"/>
                </a:lnTo>
                <a:arcTo hR="120650" wR="120650" stAng="5400000" swAng="5400000"/>
                <a:lnTo>
                  <a:pt x="0" y="0"/>
                </a:lnTo>
                <a:lnTo>
                  <a:pt x="914400" y="0"/>
                </a:lnTo>
                <a:close/>
              </a:path>
            </a:pathLst>
          </a:custGeom>
          <a:solidFill>
            <a:srgbClr val="1B6B45"/>
          </a:solidFill>
          <a:ln/>
        </p:spPr>
        <p:txBody>
          <a:bodyPr wrap="square" lIns="0" tIns="0" rIns="0" bIns="50800" rtlCol="0" anchor="b">
            <a:normAutofit/>
          </a:bodyPr>
          <a:lstStyle/>
          <a:p>
            <a:pPr algn="ctr" indent="0" marL="0">
              <a:lnSpc>
                <a:spcPts val="2100"/>
              </a:lnSpc>
              <a:buNone/>
            </a:pPr>
            <a:r>
              <a:rPr lang="en-US" sz="1500" b="1" dirty="0">
                <a:solidFill>
                  <a:srgbClr val="FFFDF8"/>
                </a:solidFill>
                <a:latin typeface="JetBrains Mono" pitchFamily="49" charset="0"/>
                <a:ea typeface="JetBrains Mono" pitchFamily="49" charset="-122"/>
                <a:cs typeface="JetBrains Mono" pitchFamily="49" charset="-120"/>
              </a:rPr>
              <a:t>20</a:t>
            </a:r>
            <a:endParaRPr lang="en-US" sz="1500" dirty="0"/>
          </a:p>
        </p:txBody>
      </p:sp>
      <p:sp>
        <p:nvSpPr>
          <p:cNvPr id="18" name="Text 16"/>
          <p:cNvSpPr/>
          <p:nvPr/>
        </p:nvSpPr>
        <p:spPr>
          <a:xfrm>
            <a:off x="1022350" y="4009380"/>
            <a:ext cx="401586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You write the </a:t>
            </a:r>
            <a:r>
              <a:rPr lang="en-US" sz="1300" b="1" dirty="0">
                <a:solidFill>
                  <a:srgbClr val="3A4150"/>
                </a:solidFill>
                <a:latin typeface="Rubik" pitchFamily="34" charset="0"/>
                <a:ea typeface="Rubik" pitchFamily="34" charset="-122"/>
                <a:cs typeface="Rubik" pitchFamily="34" charset="-120"/>
              </a:rPr>
              <a:t>label</a:t>
            </a:r>
            <a:r>
              <a:rPr lang="en-US" sz="1300" dirty="0">
                <a:solidFill>
                  <a:srgbClr val="3A4150"/>
                </a:solidFill>
                <a:latin typeface="Rubik" pitchFamily="34" charset="0"/>
                <a:ea typeface="Rubik" pitchFamily="34" charset="-122"/>
                <a:cs typeface="Rubik" pitchFamily="34" charset="-120"/>
              </a:rPr>
              <a:t>. The label is how you find the jar later.</a:t>
            </a:r>
            <a:endParaRPr lang="en-US" sz="1300" dirty="0"/>
          </a:p>
        </p:txBody>
      </p:sp>
      <p:sp>
        <p:nvSpPr>
          <p:cNvPr id="19" name="Shape 17"/>
          <p:cNvSpPr/>
          <p:nvPr/>
        </p:nvSpPr>
        <p:spPr>
          <a:xfrm>
            <a:off x="5311775" y="1745605"/>
            <a:ext cx="6064250" cy="2907010"/>
          </a:xfrm>
          <a:prstGeom prst="roundRect">
            <a:avLst>
              <a:gd name="adj" fmla="val 3823"/>
            </a:avLst>
          </a:prstGeom>
          <a:solidFill>
            <a:srgbClr val="FFFDF8"/>
          </a:solidFill>
          <a:ln w="6350">
            <a:solidFill>
              <a:srgbClr val="E2DDD2"/>
            </a:solidFill>
            <a:prstDash val="solid"/>
          </a:ln>
        </p:spPr>
      </p:sp>
      <p:sp>
        <p:nvSpPr>
          <p:cNvPr id="20" name="Text 18"/>
          <p:cNvSpPr/>
          <p:nvPr/>
        </p:nvSpPr>
        <p:spPr>
          <a:xfrm>
            <a:off x="5518150" y="1926580"/>
            <a:ext cx="582104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In C</a:t>
            </a:r>
            <a:endParaRPr lang="en-US" sz="1500" dirty="0"/>
          </a:p>
        </p:txBody>
      </p:sp>
      <p:sp>
        <p:nvSpPr>
          <p:cNvPr id="21" name="Text 19"/>
          <p:cNvSpPr/>
          <p:nvPr/>
        </p:nvSpPr>
        <p:spPr>
          <a:xfrm>
            <a:off x="5895330" y="2294880"/>
            <a:ext cx="731540" cy="581620"/>
          </a:xfrm>
          <a:prstGeom prst="roundRect">
            <a:avLst>
              <a:gd name="adj" fmla="val 10918"/>
            </a:avLst>
          </a:prstGeom>
          <a:solidFill>
            <a:srgbClr val="15233F"/>
          </a:solidFill>
          <a:ln/>
        </p:spPr>
        <p:txBody>
          <a:bodyPr wrap="none" lIns="0" tIns="0" rIns="0" bIns="38100" rtlCol="0" anchor="ctr">
            <a:normAutofit/>
          </a:bodyPr>
          <a:lstStyle/>
          <a:p>
            <a:pPr algn="ctr" indent="0" marL="0">
              <a:lnSpc>
                <a:spcPts val="3080"/>
              </a:lnSpc>
              <a:buNone/>
            </a:pPr>
            <a:r>
              <a:rPr lang="en-US" sz="2200" b="1" dirty="0">
                <a:solidFill>
                  <a:srgbClr val="E6E9F0"/>
                </a:solidFill>
                <a:latin typeface="JetBrains Mono" pitchFamily="49" charset="0"/>
                <a:ea typeface="JetBrains Mono" pitchFamily="49" charset="-122"/>
                <a:cs typeface="JetBrains Mono" pitchFamily="49" charset="-120"/>
              </a:rPr>
              <a:t>int</a:t>
            </a:r>
            <a:endParaRPr lang="en-US" sz="2200" dirty="0"/>
          </a:p>
        </p:txBody>
      </p:sp>
      <p:sp>
        <p:nvSpPr>
          <p:cNvPr id="22" name="Shape 20"/>
          <p:cNvSpPr/>
          <p:nvPr/>
        </p:nvSpPr>
        <p:spPr>
          <a:xfrm>
            <a:off x="5895330" y="2294880"/>
            <a:ext cx="731540" cy="581620"/>
          </a:xfrm>
          <a:custGeom>
            <a:avLst/>
            <a:gdLst/>
            <a:ahLst/>
            <a:cxnLst/>
            <a:rect l="l" t="t" r="r" b="b"/>
            <a:pathLst>
              <a:path w="731540" h="581620">
                <a:moveTo>
                  <a:pt x="731540" y="518120"/>
                </a:moveTo>
                <a:lnTo>
                  <a:pt x="731540" y="518120"/>
                </a:lnTo>
                <a:arcTo hR="63500" wR="63500" stAng="0" swAng="5400000"/>
                <a:lnTo>
                  <a:pt x="63500" y="581620"/>
                </a:lnTo>
                <a:arcTo hR="63500" wR="63500" stAng="5400000" swAng="5400000"/>
                <a:lnTo>
                  <a:pt x="0" y="518120"/>
                </a:lnTo>
                <a:arcTo hR="25400" wR="63500" stAng="10800000" swAng="-5400000"/>
                <a:lnTo>
                  <a:pt x="668040" y="543520"/>
                </a:lnTo>
                <a:arcTo hR="25400" wR="63500" stAng="5400000" swAng="-5400000"/>
                <a:close/>
              </a:path>
            </a:pathLst>
          </a:custGeom>
          <a:solidFill>
            <a:srgbClr val="B23A2E"/>
          </a:solidFill>
          <a:ln/>
        </p:spPr>
      </p:sp>
      <p:sp>
        <p:nvSpPr>
          <p:cNvPr id="23" name="Text 21"/>
          <p:cNvSpPr/>
          <p:nvPr/>
        </p:nvSpPr>
        <p:spPr>
          <a:xfrm>
            <a:off x="5873140" y="2940000"/>
            <a:ext cx="77587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3A2E"/>
                </a:solidFill>
                <a:latin typeface="Rubik" pitchFamily="34" charset="0"/>
                <a:ea typeface="Rubik" pitchFamily="34" charset="-122"/>
                <a:cs typeface="Rubik" pitchFamily="34" charset="-120"/>
              </a:rPr>
              <a:t>keyword</a:t>
            </a:r>
            <a:endParaRPr lang="en-US" sz="1200" dirty="0"/>
          </a:p>
        </p:txBody>
      </p:sp>
      <p:sp>
        <p:nvSpPr>
          <p:cNvPr id="24" name="Text 22"/>
          <p:cNvSpPr/>
          <p:nvPr/>
        </p:nvSpPr>
        <p:spPr>
          <a:xfrm>
            <a:off x="5759450" y="3216821"/>
            <a:ext cx="1003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Rubik" pitchFamily="34" charset="0"/>
                <a:ea typeface="Rubik" pitchFamily="34" charset="-122"/>
                <a:cs typeface="Rubik" pitchFamily="34" charset="-120"/>
              </a:rPr>
              <a:t>C's own word</a:t>
            </a:r>
            <a:endParaRPr lang="en-US" sz="1200" dirty="0"/>
          </a:p>
        </p:txBody>
      </p:sp>
      <p:sp>
        <p:nvSpPr>
          <p:cNvPr id="25" name="Text 23"/>
          <p:cNvSpPr/>
          <p:nvPr/>
        </p:nvSpPr>
        <p:spPr>
          <a:xfrm>
            <a:off x="6936730" y="2294880"/>
            <a:ext cx="731540" cy="581620"/>
          </a:xfrm>
          <a:prstGeom prst="roundRect">
            <a:avLst>
              <a:gd name="adj" fmla="val 10918"/>
            </a:avLst>
          </a:prstGeom>
          <a:solidFill>
            <a:srgbClr val="15233F"/>
          </a:solidFill>
          <a:ln/>
        </p:spPr>
        <p:txBody>
          <a:bodyPr wrap="none" lIns="0" tIns="0" rIns="0" bIns="38100" rtlCol="0" anchor="ctr">
            <a:normAutofit/>
          </a:bodyPr>
          <a:lstStyle/>
          <a:p>
            <a:pPr algn="ctr" indent="0" marL="0">
              <a:lnSpc>
                <a:spcPts val="3080"/>
              </a:lnSpc>
              <a:buNone/>
            </a:pPr>
            <a:r>
              <a:rPr lang="en-US" sz="2200" b="1" dirty="0">
                <a:solidFill>
                  <a:srgbClr val="E6E9F0"/>
                </a:solidFill>
                <a:latin typeface="JetBrains Mono" pitchFamily="49" charset="0"/>
                <a:ea typeface="JetBrains Mono" pitchFamily="49" charset="-122"/>
                <a:cs typeface="JetBrains Mono" pitchFamily="49" charset="-120"/>
              </a:rPr>
              <a:t>qty</a:t>
            </a:r>
            <a:endParaRPr lang="en-US" sz="2200" dirty="0"/>
          </a:p>
        </p:txBody>
      </p:sp>
      <p:sp>
        <p:nvSpPr>
          <p:cNvPr id="26" name="Shape 24"/>
          <p:cNvSpPr/>
          <p:nvPr/>
        </p:nvSpPr>
        <p:spPr>
          <a:xfrm>
            <a:off x="6936730" y="2294880"/>
            <a:ext cx="731540" cy="581620"/>
          </a:xfrm>
          <a:custGeom>
            <a:avLst/>
            <a:gdLst/>
            <a:ahLst/>
            <a:cxnLst/>
            <a:rect l="l" t="t" r="r" b="b"/>
            <a:pathLst>
              <a:path w="731540" h="581620">
                <a:moveTo>
                  <a:pt x="731540" y="518120"/>
                </a:moveTo>
                <a:lnTo>
                  <a:pt x="731540" y="518120"/>
                </a:lnTo>
                <a:arcTo hR="63500" wR="63500" stAng="0" swAng="5400000"/>
                <a:lnTo>
                  <a:pt x="63500" y="581620"/>
                </a:lnTo>
                <a:arcTo hR="63500" wR="63500" stAng="5400000" swAng="5400000"/>
                <a:lnTo>
                  <a:pt x="0" y="518120"/>
                </a:lnTo>
                <a:arcTo hR="25400" wR="63500" stAng="10800000" swAng="-5400000"/>
                <a:lnTo>
                  <a:pt x="668040" y="543520"/>
                </a:lnTo>
                <a:arcTo hR="25400" wR="63500" stAng="5400000" swAng="-5400000"/>
                <a:close/>
              </a:path>
            </a:pathLst>
          </a:custGeom>
          <a:solidFill>
            <a:srgbClr val="A94F17"/>
          </a:solidFill>
          <a:ln/>
        </p:spPr>
      </p:sp>
      <p:sp>
        <p:nvSpPr>
          <p:cNvPr id="27" name="Text 25"/>
          <p:cNvSpPr/>
          <p:nvPr/>
        </p:nvSpPr>
        <p:spPr>
          <a:xfrm>
            <a:off x="6879595" y="2940000"/>
            <a:ext cx="84576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F17"/>
                </a:solidFill>
                <a:latin typeface="Rubik" pitchFamily="34" charset="0"/>
                <a:ea typeface="Rubik" pitchFamily="34" charset="-122"/>
                <a:cs typeface="Rubik" pitchFamily="34" charset="-120"/>
              </a:rPr>
              <a:t>identifier</a:t>
            </a:r>
            <a:endParaRPr lang="en-US" sz="1200" dirty="0"/>
          </a:p>
        </p:txBody>
      </p:sp>
      <p:sp>
        <p:nvSpPr>
          <p:cNvPr id="28" name="Text 26"/>
          <p:cNvSpPr/>
          <p:nvPr/>
        </p:nvSpPr>
        <p:spPr>
          <a:xfrm>
            <a:off x="6800850" y="3216821"/>
            <a:ext cx="10033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Rubik" pitchFamily="34" charset="0"/>
                <a:ea typeface="Rubik" pitchFamily="34" charset="-122"/>
                <a:cs typeface="Rubik" pitchFamily="34" charset="-120"/>
              </a:rPr>
              <a:t>the name you chose</a:t>
            </a:r>
            <a:endParaRPr lang="en-US" sz="1200" dirty="0"/>
          </a:p>
        </p:txBody>
      </p:sp>
      <p:sp>
        <p:nvSpPr>
          <p:cNvPr id="29" name="Text 27"/>
          <p:cNvSpPr/>
          <p:nvPr/>
        </p:nvSpPr>
        <p:spPr>
          <a:xfrm>
            <a:off x="8145760" y="2294880"/>
            <a:ext cx="396280" cy="581620"/>
          </a:xfrm>
          <a:prstGeom prst="roundRect">
            <a:avLst>
              <a:gd name="adj" fmla="val 16024"/>
            </a:avLst>
          </a:prstGeom>
          <a:solidFill>
            <a:srgbClr val="15233F"/>
          </a:solidFill>
          <a:ln/>
        </p:spPr>
        <p:txBody>
          <a:bodyPr wrap="none" lIns="0" tIns="0" rIns="0" bIns="38100" rtlCol="0" anchor="ctr">
            <a:normAutofit/>
          </a:bodyPr>
          <a:lstStyle/>
          <a:p>
            <a:pPr algn="ctr" indent="0" marL="0">
              <a:lnSpc>
                <a:spcPts val="3080"/>
              </a:lnSpc>
              <a:buNone/>
            </a:pPr>
            <a:r>
              <a:rPr lang="en-US" sz="2200" b="1" dirty="0">
                <a:solidFill>
                  <a:srgbClr val="E6E9F0"/>
                </a:solidFill>
                <a:latin typeface="JetBrains Mono" pitchFamily="49" charset="0"/>
                <a:ea typeface="JetBrains Mono" pitchFamily="49" charset="-122"/>
                <a:cs typeface="JetBrains Mono" pitchFamily="49" charset="-120"/>
              </a:rPr>
              <a:t>=</a:t>
            </a:r>
            <a:endParaRPr lang="en-US" sz="2200" dirty="0"/>
          </a:p>
        </p:txBody>
      </p:sp>
      <p:sp>
        <p:nvSpPr>
          <p:cNvPr id="30" name="Shape 28"/>
          <p:cNvSpPr/>
          <p:nvPr/>
        </p:nvSpPr>
        <p:spPr>
          <a:xfrm>
            <a:off x="8145760" y="2294880"/>
            <a:ext cx="396280" cy="581620"/>
          </a:xfrm>
          <a:custGeom>
            <a:avLst/>
            <a:gdLst/>
            <a:ahLst/>
            <a:cxnLst/>
            <a:rect l="l" t="t" r="r" b="b"/>
            <a:pathLst>
              <a:path w="396280" h="581620">
                <a:moveTo>
                  <a:pt x="396280" y="518120"/>
                </a:moveTo>
                <a:lnTo>
                  <a:pt x="396280" y="518120"/>
                </a:lnTo>
                <a:arcTo hR="63500" wR="63500" stAng="0" swAng="5400000"/>
                <a:lnTo>
                  <a:pt x="63500" y="581620"/>
                </a:lnTo>
                <a:arcTo hR="63500" wR="63500" stAng="5400000" swAng="5400000"/>
                <a:lnTo>
                  <a:pt x="0" y="518120"/>
                </a:lnTo>
                <a:arcTo hR="25400" wR="63500" stAng="10800000" swAng="-5400000"/>
                <a:lnTo>
                  <a:pt x="332780" y="543520"/>
                </a:lnTo>
                <a:arcTo hR="25400" wR="63500" stAng="5400000" swAng="-5400000"/>
                <a:close/>
              </a:path>
            </a:pathLst>
          </a:custGeom>
          <a:solidFill>
            <a:srgbClr val="596273"/>
          </a:solidFill>
          <a:ln/>
        </p:spPr>
      </p:sp>
      <p:sp>
        <p:nvSpPr>
          <p:cNvPr id="31" name="Text 29"/>
          <p:cNvSpPr/>
          <p:nvPr/>
        </p:nvSpPr>
        <p:spPr>
          <a:xfrm>
            <a:off x="7842250" y="3003500"/>
            <a:ext cx="1003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Rubik" pitchFamily="34" charset="0"/>
                <a:ea typeface="Rubik" pitchFamily="34" charset="-122"/>
                <a:cs typeface="Rubik" pitchFamily="34" charset="-120"/>
              </a:rPr>
              <a:t>store</a:t>
            </a:r>
            <a:endParaRPr lang="en-US" sz="1200" dirty="0"/>
          </a:p>
        </p:txBody>
      </p:sp>
      <p:sp>
        <p:nvSpPr>
          <p:cNvPr id="32" name="Text 30"/>
          <p:cNvSpPr/>
          <p:nvPr/>
        </p:nvSpPr>
        <p:spPr>
          <a:xfrm>
            <a:off x="9187160" y="2294880"/>
            <a:ext cx="396280" cy="581620"/>
          </a:xfrm>
          <a:prstGeom prst="roundRect">
            <a:avLst>
              <a:gd name="adj" fmla="val 16024"/>
            </a:avLst>
          </a:prstGeom>
          <a:solidFill>
            <a:srgbClr val="15233F"/>
          </a:solidFill>
          <a:ln/>
        </p:spPr>
        <p:txBody>
          <a:bodyPr wrap="none" lIns="0" tIns="0" rIns="0" bIns="38100" rtlCol="0" anchor="ctr">
            <a:normAutofit/>
          </a:bodyPr>
          <a:lstStyle/>
          <a:p>
            <a:pPr algn="ctr" indent="0" marL="0">
              <a:lnSpc>
                <a:spcPts val="3080"/>
              </a:lnSpc>
              <a:buNone/>
            </a:pPr>
            <a:r>
              <a:rPr lang="en-US" sz="2200" b="1" dirty="0">
                <a:solidFill>
                  <a:srgbClr val="E6E9F0"/>
                </a:solidFill>
                <a:latin typeface="JetBrains Mono" pitchFamily="49" charset="0"/>
                <a:ea typeface="JetBrains Mono" pitchFamily="49" charset="-122"/>
                <a:cs typeface="JetBrains Mono" pitchFamily="49" charset="-120"/>
              </a:rPr>
              <a:t>2</a:t>
            </a:r>
            <a:endParaRPr lang="en-US" sz="2200" dirty="0"/>
          </a:p>
        </p:txBody>
      </p:sp>
      <p:sp>
        <p:nvSpPr>
          <p:cNvPr id="33" name="Shape 31"/>
          <p:cNvSpPr/>
          <p:nvPr/>
        </p:nvSpPr>
        <p:spPr>
          <a:xfrm>
            <a:off x="9187160" y="2294880"/>
            <a:ext cx="396280" cy="581620"/>
          </a:xfrm>
          <a:custGeom>
            <a:avLst/>
            <a:gdLst/>
            <a:ahLst/>
            <a:cxnLst/>
            <a:rect l="l" t="t" r="r" b="b"/>
            <a:pathLst>
              <a:path w="396280" h="581620">
                <a:moveTo>
                  <a:pt x="396280" y="518120"/>
                </a:moveTo>
                <a:lnTo>
                  <a:pt x="396280" y="518120"/>
                </a:lnTo>
                <a:arcTo hR="63500" wR="63500" stAng="0" swAng="5400000"/>
                <a:lnTo>
                  <a:pt x="63500" y="581620"/>
                </a:lnTo>
                <a:arcTo hR="63500" wR="63500" stAng="5400000" swAng="5400000"/>
                <a:lnTo>
                  <a:pt x="0" y="518120"/>
                </a:lnTo>
                <a:arcTo hR="25400" wR="63500" stAng="10800000" swAng="-5400000"/>
                <a:lnTo>
                  <a:pt x="332780" y="543520"/>
                </a:lnTo>
                <a:arcTo hR="25400" wR="63500" stAng="5400000" swAng="-5400000"/>
                <a:close/>
              </a:path>
            </a:pathLst>
          </a:custGeom>
          <a:solidFill>
            <a:srgbClr val="1B6B45"/>
          </a:solidFill>
          <a:ln/>
        </p:spPr>
      </p:sp>
      <p:sp>
        <p:nvSpPr>
          <p:cNvPr id="34" name="Text 32"/>
          <p:cNvSpPr/>
          <p:nvPr/>
        </p:nvSpPr>
        <p:spPr>
          <a:xfrm>
            <a:off x="9139972" y="2940000"/>
            <a:ext cx="490657"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6B45"/>
                </a:solidFill>
                <a:latin typeface="Rubik" pitchFamily="34" charset="0"/>
                <a:ea typeface="Rubik" pitchFamily="34" charset="-122"/>
                <a:cs typeface="Rubik" pitchFamily="34" charset="-120"/>
              </a:rPr>
              <a:t>value</a:t>
            </a:r>
            <a:endParaRPr lang="en-US" sz="1200" dirty="0"/>
          </a:p>
        </p:txBody>
      </p:sp>
      <p:sp>
        <p:nvSpPr>
          <p:cNvPr id="35" name="Text 33"/>
          <p:cNvSpPr/>
          <p:nvPr/>
        </p:nvSpPr>
        <p:spPr>
          <a:xfrm>
            <a:off x="8883650" y="3216821"/>
            <a:ext cx="10033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Rubik" pitchFamily="34" charset="0"/>
                <a:ea typeface="Rubik" pitchFamily="34" charset="-122"/>
                <a:cs typeface="Rubik" pitchFamily="34" charset="-120"/>
              </a:rPr>
              <a:t>what goes inside</a:t>
            </a:r>
            <a:endParaRPr lang="en-US" sz="1200" dirty="0"/>
          </a:p>
        </p:txBody>
      </p:sp>
      <p:sp>
        <p:nvSpPr>
          <p:cNvPr id="36" name="Text 34"/>
          <p:cNvSpPr/>
          <p:nvPr/>
        </p:nvSpPr>
        <p:spPr>
          <a:xfrm>
            <a:off x="10228560" y="2294880"/>
            <a:ext cx="396280" cy="581620"/>
          </a:xfrm>
          <a:prstGeom prst="roundRect">
            <a:avLst>
              <a:gd name="adj" fmla="val 16024"/>
            </a:avLst>
          </a:prstGeom>
          <a:solidFill>
            <a:srgbClr val="15233F"/>
          </a:solidFill>
          <a:ln/>
        </p:spPr>
        <p:txBody>
          <a:bodyPr wrap="none" lIns="0" tIns="0" rIns="0" bIns="38100" rtlCol="0" anchor="ctr">
            <a:normAutofit/>
          </a:bodyPr>
          <a:lstStyle/>
          <a:p>
            <a:pPr algn="ctr" indent="0" marL="0">
              <a:lnSpc>
                <a:spcPts val="3080"/>
              </a:lnSpc>
              <a:buNone/>
            </a:pPr>
            <a:r>
              <a:rPr lang="en-US" sz="2200" b="1" dirty="0">
                <a:solidFill>
                  <a:srgbClr val="E6E9F0"/>
                </a:solidFill>
                <a:latin typeface="JetBrains Mono" pitchFamily="49" charset="0"/>
                <a:ea typeface="JetBrains Mono" pitchFamily="49" charset="-122"/>
                <a:cs typeface="JetBrains Mono" pitchFamily="49" charset="-120"/>
              </a:rPr>
              <a:t>;</a:t>
            </a:r>
            <a:endParaRPr lang="en-US" sz="2200" dirty="0"/>
          </a:p>
        </p:txBody>
      </p:sp>
      <p:sp>
        <p:nvSpPr>
          <p:cNvPr id="37" name="Shape 35"/>
          <p:cNvSpPr/>
          <p:nvPr/>
        </p:nvSpPr>
        <p:spPr>
          <a:xfrm>
            <a:off x="10228560" y="2294880"/>
            <a:ext cx="396280" cy="581620"/>
          </a:xfrm>
          <a:custGeom>
            <a:avLst/>
            <a:gdLst/>
            <a:ahLst/>
            <a:cxnLst/>
            <a:rect l="l" t="t" r="r" b="b"/>
            <a:pathLst>
              <a:path w="396280" h="581620">
                <a:moveTo>
                  <a:pt x="396280" y="518120"/>
                </a:moveTo>
                <a:lnTo>
                  <a:pt x="396280" y="518120"/>
                </a:lnTo>
                <a:arcTo hR="63500" wR="63500" stAng="0" swAng="5400000"/>
                <a:lnTo>
                  <a:pt x="63500" y="581620"/>
                </a:lnTo>
                <a:arcTo hR="63500" wR="63500" stAng="5400000" swAng="5400000"/>
                <a:lnTo>
                  <a:pt x="0" y="518120"/>
                </a:lnTo>
                <a:arcTo hR="25400" wR="63500" stAng="10800000" swAng="-5400000"/>
                <a:lnTo>
                  <a:pt x="332780" y="543520"/>
                </a:lnTo>
                <a:arcTo hR="25400" wR="63500" stAng="5400000" swAng="-5400000"/>
                <a:close/>
              </a:path>
            </a:pathLst>
          </a:custGeom>
          <a:solidFill>
            <a:srgbClr val="596273"/>
          </a:solidFill>
          <a:ln/>
        </p:spPr>
      </p:sp>
      <p:sp>
        <p:nvSpPr>
          <p:cNvPr id="38" name="Text 36"/>
          <p:cNvSpPr/>
          <p:nvPr/>
        </p:nvSpPr>
        <p:spPr>
          <a:xfrm>
            <a:off x="9925050" y="3003500"/>
            <a:ext cx="1003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Rubik" pitchFamily="34" charset="0"/>
                <a:ea typeface="Rubik" pitchFamily="34" charset="-122"/>
                <a:cs typeface="Rubik" pitchFamily="34" charset="-120"/>
              </a:rPr>
              <a:t>end</a:t>
            </a:r>
            <a:endParaRPr lang="en-US" sz="1200" dirty="0"/>
          </a:p>
        </p:txBody>
      </p:sp>
      <p:sp>
        <p:nvSpPr>
          <p:cNvPr id="39" name="Text 37"/>
          <p:cNvSpPr/>
          <p:nvPr/>
        </p:nvSpPr>
        <p:spPr>
          <a:xfrm>
            <a:off x="5518150" y="3783161"/>
            <a:ext cx="582104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Identifiers name the things </a:t>
            </a:r>
            <a:r>
              <a:rPr lang="en-US" sz="1300" b="1" dirty="0">
                <a:solidFill>
                  <a:srgbClr val="3A4150"/>
                </a:solidFill>
                <a:latin typeface="Rubik" pitchFamily="34" charset="0"/>
                <a:ea typeface="Rubik" pitchFamily="34" charset="-122"/>
                <a:cs typeface="Rubik" pitchFamily="34" charset="-120"/>
              </a:rPr>
              <a:t>you</a:t>
            </a:r>
            <a:r>
              <a:rPr lang="en-US" sz="1300" dirty="0">
                <a:solidFill>
                  <a:srgbClr val="3A4150"/>
                </a:solidFill>
                <a:latin typeface="Rubik" pitchFamily="34" charset="0"/>
                <a:ea typeface="Rubik" pitchFamily="34" charset="-122"/>
                <a:cs typeface="Rubik" pitchFamily="34" charset="-120"/>
              </a:rPr>
              <a:t> create: variables, constants and functions. Even </a:t>
            </a:r>
            <a:r>
              <a:rPr lang="en-US" sz="1300" b="1" dirty="0">
                <a:solidFill>
                  <a:srgbClr val="A94F17"/>
                </a:solidFill>
                <a:latin typeface="Rubik" pitchFamily="34" charset="0"/>
                <a:ea typeface="Rubik" pitchFamily="34" charset="-122"/>
                <a:cs typeface="Rubik" pitchFamily="34" charset="-120"/>
              </a:rPr>
              <a:t>main</a:t>
            </a:r>
            <a:r>
              <a:rPr lang="en-US" sz="1300" dirty="0">
                <a:solidFill>
                  <a:srgbClr val="3A4150"/>
                </a:solidFill>
                <a:latin typeface="Rubik" pitchFamily="34" charset="0"/>
                <a:ea typeface="Rubik" pitchFamily="34" charset="-122"/>
                <a:cs typeface="Rubik" pitchFamily="34" charset="-120"/>
              </a:rPr>
              <a:t> is an identifier.</a:t>
            </a:r>
            <a:endParaRPr lang="en-US" sz="1300" dirty="0"/>
          </a:p>
        </p:txBody>
      </p:sp>
      <p:sp>
        <p:nvSpPr>
          <p:cNvPr id="40" name="Shape 38"/>
          <p:cNvSpPr/>
          <p:nvPr/>
        </p:nvSpPr>
        <p:spPr>
          <a:xfrm>
            <a:off x="812800" y="4858990"/>
            <a:ext cx="5219700" cy="584200"/>
          </a:xfrm>
          <a:prstGeom prst="roundRect">
            <a:avLst>
              <a:gd name="adj" fmla="val 17391"/>
            </a:avLst>
          </a:prstGeom>
          <a:solidFill>
            <a:srgbClr val="15233F"/>
          </a:solidFill>
          <a:ln/>
        </p:spPr>
      </p:sp>
      <p:pic>
        <p:nvPicPr>
          <p:cNvPr id="41" name="Image 0" descr="Stop sign">    </p:cNvPr>
          <p:cNvPicPr>
            <a:picLocks noChangeAspect="1"/>
          </p:cNvPicPr>
          <p:nvPr/>
        </p:nvPicPr>
        <p:blipFill>
          <a:blip r:embed="rId1"/>
          <a:srcRect l="0" r="0" t="0" b="0"/>
          <a:stretch/>
        </p:blipFill>
        <p:spPr>
          <a:xfrm>
            <a:off x="977900" y="4973290"/>
            <a:ext cx="355600" cy="355600"/>
          </a:xfrm>
          <a:prstGeom prst="rect">
            <a:avLst/>
          </a:prstGeom>
        </p:spPr>
      </p:pic>
      <p:sp>
        <p:nvSpPr>
          <p:cNvPr id="42" name="Text 39"/>
          <p:cNvSpPr/>
          <p:nvPr/>
        </p:nvSpPr>
        <p:spPr>
          <a:xfrm>
            <a:off x="1447800" y="5026620"/>
            <a:ext cx="258312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Keyword</a:t>
            </a:r>
            <a:r>
              <a:rPr lang="en-US" sz="1400" dirty="0">
                <a:solidFill>
                  <a:srgbClr val="F6F3EC"/>
                </a:solidFill>
                <a:latin typeface="Rubik" pitchFamily="34" charset="0"/>
                <a:ea typeface="Rubik" pitchFamily="34" charset="-122"/>
                <a:cs typeface="Rubik" pitchFamily="34" charset="-120"/>
              </a:rPr>
              <a:t> = a word C owns</a:t>
            </a:r>
            <a:endParaRPr lang="en-US" sz="1400" dirty="0"/>
          </a:p>
        </p:txBody>
      </p:sp>
      <p:sp>
        <p:nvSpPr>
          <p:cNvPr id="43" name="Shape 40"/>
          <p:cNvSpPr/>
          <p:nvPr/>
        </p:nvSpPr>
        <p:spPr>
          <a:xfrm>
            <a:off x="6159500" y="4858990"/>
            <a:ext cx="5219700" cy="584200"/>
          </a:xfrm>
          <a:prstGeom prst="roundRect">
            <a:avLst>
              <a:gd name="adj" fmla="val 17391"/>
            </a:avLst>
          </a:prstGeom>
          <a:solidFill>
            <a:srgbClr val="15233F"/>
          </a:solidFill>
          <a:ln/>
        </p:spPr>
      </p:sp>
      <p:pic>
        <p:nvPicPr>
          <p:cNvPr id="44" name="Image 1" descr="Labelled jar">    </p:cNvPr>
          <p:cNvPicPr>
            <a:picLocks noChangeAspect="1"/>
          </p:cNvPicPr>
          <p:nvPr/>
        </p:nvPicPr>
        <p:blipFill>
          <a:blip r:embed="rId2"/>
          <a:srcRect l="0" r="0" t="0" b="0"/>
          <a:stretch/>
        </p:blipFill>
        <p:spPr>
          <a:xfrm>
            <a:off x="6324600" y="4973290"/>
            <a:ext cx="355600" cy="355600"/>
          </a:xfrm>
          <a:prstGeom prst="rect">
            <a:avLst/>
          </a:prstGeom>
        </p:spPr>
      </p:pic>
      <p:sp>
        <p:nvSpPr>
          <p:cNvPr id="45" name="Text 41"/>
          <p:cNvSpPr/>
          <p:nvPr/>
        </p:nvSpPr>
        <p:spPr>
          <a:xfrm>
            <a:off x="6794500" y="5026620"/>
            <a:ext cx="313134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Identifier</a:t>
            </a:r>
            <a:r>
              <a:rPr lang="en-US" sz="1400" dirty="0">
                <a:solidFill>
                  <a:srgbClr val="F6F3EC"/>
                </a:solidFill>
                <a:latin typeface="Rubik" pitchFamily="34" charset="0"/>
                <a:ea typeface="Rubik" pitchFamily="34" charset="-122"/>
                <a:cs typeface="Rubik" pitchFamily="34" charset="-120"/>
              </a:rPr>
              <a:t> = a name you choose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4 OF 8 · IDENTIFIERS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Identifiers: names you choose</a:t>
            </a:r>
            <a:endParaRPr lang="en-US" sz="3000" dirty="0"/>
          </a:p>
        </p:txBody>
      </p:sp>
      <p:sp>
        <p:nvSpPr>
          <p:cNvPr id="4" name="Shape 2"/>
          <p:cNvSpPr/>
          <p:nvPr/>
        </p:nvSpPr>
        <p:spPr>
          <a:xfrm>
            <a:off x="812800" y="1793230"/>
            <a:ext cx="5194300" cy="3911600"/>
          </a:xfrm>
          <a:prstGeom prst="roundRect">
            <a:avLst>
              <a:gd name="adj" fmla="val 2922"/>
            </a:avLst>
          </a:prstGeom>
          <a:solidFill>
            <a:srgbClr val="15233F"/>
          </a:solidFill>
          <a:ln/>
        </p:spPr>
      </p:sp>
      <p:sp>
        <p:nvSpPr>
          <p:cNvPr id="5" name="Text 3"/>
          <p:cNvSpPr/>
          <p:nvPr/>
        </p:nvSpPr>
        <p:spPr>
          <a:xfrm>
            <a:off x="1041400" y="2021830"/>
            <a:ext cx="487921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9893F"/>
                </a:solidFill>
                <a:latin typeface="Rubik" pitchFamily="34" charset="0"/>
                <a:ea typeface="Rubik" pitchFamily="34" charset="-122"/>
                <a:cs typeface="Rubik" pitchFamily="34" charset="-120"/>
              </a:rPr>
              <a:t>The rules</a:t>
            </a:r>
            <a:endParaRPr lang="en-US" sz="1700" dirty="0"/>
          </a:p>
        </p:txBody>
      </p:sp>
      <p:sp>
        <p:nvSpPr>
          <p:cNvPr id="6" name="Text 4"/>
          <p:cNvSpPr/>
          <p:nvPr/>
        </p:nvSpPr>
        <p:spPr>
          <a:xfrm>
            <a:off x="1041400" y="2382490"/>
            <a:ext cx="487921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CFDA"/>
                </a:solidFill>
                <a:latin typeface="Rubik" pitchFamily="34" charset="0"/>
                <a:ea typeface="Rubik" pitchFamily="34" charset="-122"/>
                <a:cs typeface="Rubik" pitchFamily="34" charset="-120"/>
              </a:rPr>
              <a:t>1. Letters, digits and underscore ( _ ) only</a:t>
            </a:r>
            <a:endParaRPr lang="en-US" sz="1400" dirty="0"/>
          </a:p>
        </p:txBody>
      </p:sp>
      <p:sp>
        <p:nvSpPr>
          <p:cNvPr id="7" name="Text 5"/>
          <p:cNvSpPr/>
          <p:nvPr/>
        </p:nvSpPr>
        <p:spPr>
          <a:xfrm>
            <a:off x="1041400" y="2724100"/>
            <a:ext cx="487921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CFDA"/>
                </a:solidFill>
                <a:latin typeface="Rubik" pitchFamily="34" charset="0"/>
                <a:ea typeface="Rubik" pitchFamily="34" charset="-122"/>
                <a:cs typeface="Rubik" pitchFamily="34" charset="-120"/>
              </a:rPr>
              <a:t>2. Must not start with a digit</a:t>
            </a:r>
            <a:endParaRPr lang="en-US" sz="1400" dirty="0"/>
          </a:p>
        </p:txBody>
      </p:sp>
      <p:sp>
        <p:nvSpPr>
          <p:cNvPr id="8" name="Text 6"/>
          <p:cNvSpPr/>
          <p:nvPr/>
        </p:nvSpPr>
        <p:spPr>
          <a:xfrm>
            <a:off x="1041400" y="3065711"/>
            <a:ext cx="487921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CFDA"/>
                </a:solidFill>
                <a:latin typeface="Rubik" pitchFamily="34" charset="0"/>
                <a:ea typeface="Rubik" pitchFamily="34" charset="-122"/>
                <a:cs typeface="Rubik" pitchFamily="34" charset="-120"/>
              </a:rPr>
              <a:t>3. No spaces or symbols like - $ #</a:t>
            </a:r>
            <a:endParaRPr lang="en-US" sz="1400" dirty="0"/>
          </a:p>
        </p:txBody>
      </p:sp>
      <p:sp>
        <p:nvSpPr>
          <p:cNvPr id="9" name="Text 7"/>
          <p:cNvSpPr/>
          <p:nvPr/>
        </p:nvSpPr>
        <p:spPr>
          <a:xfrm>
            <a:off x="1041400" y="3407321"/>
            <a:ext cx="487921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CFDA"/>
                </a:solidFill>
                <a:latin typeface="Rubik" pitchFamily="34" charset="0"/>
                <a:ea typeface="Rubik" pitchFamily="34" charset="-122"/>
                <a:cs typeface="Rubik" pitchFamily="34" charset="-120"/>
              </a:rPr>
              <a:t>4. Must not be a keyword</a:t>
            </a:r>
            <a:endParaRPr lang="en-US" sz="1400" dirty="0"/>
          </a:p>
        </p:txBody>
      </p:sp>
      <p:sp>
        <p:nvSpPr>
          <p:cNvPr id="10" name="Text 8"/>
          <p:cNvSpPr/>
          <p:nvPr/>
        </p:nvSpPr>
        <p:spPr>
          <a:xfrm>
            <a:off x="1041400" y="3748931"/>
            <a:ext cx="487921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CFDA"/>
                </a:solidFill>
                <a:latin typeface="Rubik" pitchFamily="34" charset="0"/>
                <a:ea typeface="Rubik" pitchFamily="34" charset="-122"/>
                <a:cs typeface="Rubik" pitchFamily="34" charset="-120"/>
              </a:rPr>
              <a:t>5. Case-sensitive: total and Total are different</a:t>
            </a:r>
            <a:endParaRPr lang="en-US" sz="1400" dirty="0"/>
          </a:p>
        </p:txBody>
      </p:sp>
      <p:sp>
        <p:nvSpPr>
          <p:cNvPr id="11" name="Shape 9"/>
          <p:cNvSpPr/>
          <p:nvPr/>
        </p:nvSpPr>
        <p:spPr>
          <a:xfrm>
            <a:off x="6188075" y="1796405"/>
            <a:ext cx="5187950" cy="1708150"/>
          </a:xfrm>
          <a:prstGeom prst="roundRect">
            <a:avLst>
              <a:gd name="adj" fmla="val 6506"/>
            </a:avLst>
          </a:prstGeom>
          <a:solidFill>
            <a:srgbClr val="FFFDF8"/>
          </a:solidFill>
          <a:ln w="6350">
            <a:solidFill>
              <a:srgbClr val="E2DDD2"/>
            </a:solidFill>
            <a:prstDash val="solid"/>
          </a:ln>
        </p:spPr>
      </p:sp>
      <p:sp>
        <p:nvSpPr>
          <p:cNvPr id="12" name="Text 10"/>
          <p:cNvSpPr/>
          <p:nvPr/>
        </p:nvSpPr>
        <p:spPr>
          <a:xfrm>
            <a:off x="6394450" y="2002780"/>
            <a:ext cx="49184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6B45"/>
                </a:solidFill>
                <a:latin typeface="Rubik" pitchFamily="34" charset="0"/>
                <a:ea typeface="Rubik" pitchFamily="34" charset="-122"/>
                <a:cs typeface="Rubik" pitchFamily="34" charset="-120"/>
              </a:rPr>
              <a:t>Valid</a:t>
            </a:r>
            <a:endParaRPr lang="en-US" sz="1500" dirty="0"/>
          </a:p>
        </p:txBody>
      </p:sp>
      <p:sp>
        <p:nvSpPr>
          <p:cNvPr id="13" name="Text 11"/>
          <p:cNvSpPr/>
          <p:nvPr/>
        </p:nvSpPr>
        <p:spPr>
          <a:xfrm>
            <a:off x="6394450" y="232028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6B45"/>
                </a:solidFill>
                <a:latin typeface="JetBrains Mono" pitchFamily="49" charset="0"/>
                <a:ea typeface="JetBrains Mono" pitchFamily="49" charset="-122"/>
                <a:cs typeface="JetBrains Mono" pitchFamily="49" charset="-120"/>
              </a:rPr>
              <a:t>chai_price</a:t>
            </a:r>
            <a:endParaRPr lang="en-US" sz="1500" dirty="0"/>
          </a:p>
        </p:txBody>
      </p:sp>
      <p:sp>
        <p:nvSpPr>
          <p:cNvPr id="14" name="Text 12"/>
          <p:cNvSpPr/>
          <p:nvPr/>
        </p:nvSpPr>
        <p:spPr>
          <a:xfrm>
            <a:off x="8299450" y="2348855"/>
            <a:ext cx="209728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letters and underscore</a:t>
            </a:r>
            <a:endParaRPr lang="en-US" sz="1300" dirty="0"/>
          </a:p>
        </p:txBody>
      </p:sp>
      <p:sp>
        <p:nvSpPr>
          <p:cNvPr id="15" name="Text 13"/>
          <p:cNvSpPr/>
          <p:nvPr/>
        </p:nvSpPr>
        <p:spPr>
          <a:xfrm>
            <a:off x="6394450" y="267588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6B45"/>
                </a:solidFill>
                <a:latin typeface="JetBrains Mono" pitchFamily="49" charset="0"/>
                <a:ea typeface="JetBrains Mono" pitchFamily="49" charset="-122"/>
                <a:cs typeface="JetBrains Mono" pitchFamily="49" charset="-120"/>
              </a:rPr>
              <a:t>total2</a:t>
            </a:r>
            <a:endParaRPr lang="en-US" sz="1500" dirty="0"/>
          </a:p>
        </p:txBody>
      </p:sp>
      <p:sp>
        <p:nvSpPr>
          <p:cNvPr id="16" name="Text 14"/>
          <p:cNvSpPr/>
          <p:nvPr/>
        </p:nvSpPr>
        <p:spPr>
          <a:xfrm>
            <a:off x="8299450" y="2704455"/>
            <a:ext cx="2211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digit after the first letter</a:t>
            </a:r>
            <a:endParaRPr lang="en-US" sz="1300" dirty="0"/>
          </a:p>
        </p:txBody>
      </p:sp>
      <p:sp>
        <p:nvSpPr>
          <p:cNvPr id="17" name="Text 15"/>
          <p:cNvSpPr/>
          <p:nvPr/>
        </p:nvSpPr>
        <p:spPr>
          <a:xfrm>
            <a:off x="6394450" y="303148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6B45"/>
                </a:solidFill>
                <a:latin typeface="JetBrains Mono" pitchFamily="49" charset="0"/>
                <a:ea typeface="JetBrains Mono" pitchFamily="49" charset="-122"/>
                <a:cs typeface="JetBrains Mono" pitchFamily="49" charset="-120"/>
              </a:rPr>
              <a:t>_count</a:t>
            </a:r>
            <a:endParaRPr lang="en-US" sz="1500" dirty="0"/>
          </a:p>
        </p:txBody>
      </p:sp>
      <p:sp>
        <p:nvSpPr>
          <p:cNvPr id="18" name="Text 16"/>
          <p:cNvSpPr/>
          <p:nvPr/>
        </p:nvSpPr>
        <p:spPr>
          <a:xfrm>
            <a:off x="8299450" y="3060055"/>
            <a:ext cx="256043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may start with _ (but avoid)</a:t>
            </a:r>
            <a:endParaRPr lang="en-US" sz="1300" dirty="0"/>
          </a:p>
        </p:txBody>
      </p:sp>
      <p:sp>
        <p:nvSpPr>
          <p:cNvPr id="19" name="Shape 17"/>
          <p:cNvSpPr/>
          <p:nvPr/>
        </p:nvSpPr>
        <p:spPr>
          <a:xfrm>
            <a:off x="6188075" y="3637905"/>
            <a:ext cx="5187950" cy="2063750"/>
          </a:xfrm>
          <a:prstGeom prst="roundRect">
            <a:avLst>
              <a:gd name="adj" fmla="val 5385"/>
            </a:avLst>
          </a:prstGeom>
          <a:solidFill>
            <a:srgbClr val="FFFDF8"/>
          </a:solidFill>
          <a:ln w="6350">
            <a:solidFill>
              <a:srgbClr val="E2DDD2"/>
            </a:solidFill>
            <a:prstDash val="solid"/>
          </a:ln>
        </p:spPr>
      </p:sp>
      <p:sp>
        <p:nvSpPr>
          <p:cNvPr id="20" name="Text 18"/>
          <p:cNvSpPr/>
          <p:nvPr/>
        </p:nvSpPr>
        <p:spPr>
          <a:xfrm>
            <a:off x="6394450" y="3844280"/>
            <a:ext cx="49184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23A2E"/>
                </a:solidFill>
                <a:latin typeface="Rubik" pitchFamily="34" charset="0"/>
                <a:ea typeface="Rubik" pitchFamily="34" charset="-122"/>
                <a:cs typeface="Rubik" pitchFamily="34" charset="-120"/>
              </a:rPr>
              <a:t>Invalid</a:t>
            </a:r>
            <a:endParaRPr lang="en-US" sz="1500" dirty="0"/>
          </a:p>
        </p:txBody>
      </p:sp>
      <p:sp>
        <p:nvSpPr>
          <p:cNvPr id="21" name="Text 19"/>
          <p:cNvSpPr/>
          <p:nvPr/>
        </p:nvSpPr>
        <p:spPr>
          <a:xfrm>
            <a:off x="6394450" y="416178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23A2E"/>
                </a:solidFill>
                <a:latin typeface="JetBrains Mono" pitchFamily="49" charset="0"/>
                <a:ea typeface="JetBrains Mono" pitchFamily="49" charset="-122"/>
                <a:cs typeface="JetBrains Mono" pitchFamily="49" charset="-120"/>
              </a:rPr>
              <a:t>2chai</a:t>
            </a:r>
            <a:endParaRPr lang="en-US" sz="1500" dirty="0"/>
          </a:p>
        </p:txBody>
      </p:sp>
      <p:sp>
        <p:nvSpPr>
          <p:cNvPr id="22" name="Text 20"/>
          <p:cNvSpPr/>
          <p:nvPr/>
        </p:nvSpPr>
        <p:spPr>
          <a:xfrm>
            <a:off x="8299450" y="4190355"/>
            <a:ext cx="160645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starts with a digit</a:t>
            </a:r>
            <a:endParaRPr lang="en-US" sz="1300" dirty="0"/>
          </a:p>
        </p:txBody>
      </p:sp>
      <p:sp>
        <p:nvSpPr>
          <p:cNvPr id="23" name="Text 21"/>
          <p:cNvSpPr/>
          <p:nvPr/>
        </p:nvSpPr>
        <p:spPr>
          <a:xfrm>
            <a:off x="6394450" y="451738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23A2E"/>
                </a:solidFill>
                <a:latin typeface="JetBrains Mono" pitchFamily="49" charset="0"/>
                <a:ea typeface="JetBrains Mono" pitchFamily="49" charset="-122"/>
                <a:cs typeface="JetBrains Mono" pitchFamily="49" charset="-120"/>
              </a:rPr>
              <a:t>total bill</a:t>
            </a:r>
            <a:endParaRPr lang="en-US" sz="1500" dirty="0"/>
          </a:p>
        </p:txBody>
      </p:sp>
      <p:sp>
        <p:nvSpPr>
          <p:cNvPr id="24" name="Text 22"/>
          <p:cNvSpPr/>
          <p:nvPr/>
        </p:nvSpPr>
        <p:spPr>
          <a:xfrm>
            <a:off x="8299450" y="4545955"/>
            <a:ext cx="108638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has a space</a:t>
            </a:r>
            <a:endParaRPr lang="en-US" sz="1300" dirty="0"/>
          </a:p>
        </p:txBody>
      </p:sp>
      <p:sp>
        <p:nvSpPr>
          <p:cNvPr id="25" name="Text 23"/>
          <p:cNvSpPr/>
          <p:nvPr/>
        </p:nvSpPr>
        <p:spPr>
          <a:xfrm>
            <a:off x="6394450" y="487298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23A2E"/>
                </a:solidFill>
                <a:latin typeface="JetBrains Mono" pitchFamily="49" charset="0"/>
                <a:ea typeface="JetBrains Mono" pitchFamily="49" charset="-122"/>
                <a:cs typeface="JetBrains Mono" pitchFamily="49" charset="-120"/>
              </a:rPr>
              <a:t>float</a:t>
            </a:r>
            <a:endParaRPr lang="en-US" sz="1500" dirty="0"/>
          </a:p>
        </p:txBody>
      </p:sp>
      <p:sp>
        <p:nvSpPr>
          <p:cNvPr id="26" name="Text 24"/>
          <p:cNvSpPr/>
          <p:nvPr/>
        </p:nvSpPr>
        <p:spPr>
          <a:xfrm>
            <a:off x="8299450" y="4901555"/>
            <a:ext cx="11300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is a keyword</a:t>
            </a:r>
            <a:endParaRPr lang="en-US" sz="1300" dirty="0"/>
          </a:p>
        </p:txBody>
      </p:sp>
      <p:sp>
        <p:nvSpPr>
          <p:cNvPr id="27" name="Text 25"/>
          <p:cNvSpPr/>
          <p:nvPr/>
        </p:nvSpPr>
        <p:spPr>
          <a:xfrm>
            <a:off x="6394450" y="522858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23A2E"/>
                </a:solidFill>
                <a:latin typeface="JetBrains Mono" pitchFamily="49" charset="0"/>
                <a:ea typeface="JetBrains Mono" pitchFamily="49" charset="-122"/>
                <a:cs typeface="JetBrains Mono" pitchFamily="49" charset="-120"/>
              </a:rPr>
              <a:t>price-1</a:t>
            </a:r>
            <a:endParaRPr lang="en-US" sz="1500" dirty="0"/>
          </a:p>
        </p:txBody>
      </p:sp>
      <p:sp>
        <p:nvSpPr>
          <p:cNvPr id="28" name="Text 26"/>
          <p:cNvSpPr/>
          <p:nvPr/>
        </p:nvSpPr>
        <p:spPr>
          <a:xfrm>
            <a:off x="8299450" y="5257155"/>
            <a:ext cx="153751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has a minus sign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4 OF 8 · IDENTIFIERS · VALID OR NOT?</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Is this a valid identifier?</a:t>
            </a:r>
            <a:endParaRPr lang="en-US" sz="3000" dirty="0"/>
          </a:p>
        </p:txBody>
      </p:sp>
      <p:sp>
        <p:nvSpPr>
          <p:cNvPr id="4" name="Shape 2"/>
          <p:cNvSpPr/>
          <p:nvPr/>
        </p:nvSpPr>
        <p:spPr>
          <a:xfrm>
            <a:off x="815975" y="1844675"/>
            <a:ext cx="6978650" cy="704850"/>
          </a:xfrm>
          <a:prstGeom prst="roundRect">
            <a:avLst>
              <a:gd name="adj" fmla="val 15766"/>
            </a:avLst>
          </a:prstGeom>
          <a:solidFill>
            <a:srgbClr val="FFFDF8"/>
          </a:solidFill>
          <a:ln w="6350">
            <a:solidFill>
              <a:srgbClr val="E2DDD2"/>
            </a:solidFill>
            <a:prstDash val="solid"/>
          </a:ln>
        </p:spPr>
      </p:sp>
      <p:sp>
        <p:nvSpPr>
          <p:cNvPr id="5" name="Text 3"/>
          <p:cNvSpPr/>
          <p:nvPr/>
        </p:nvSpPr>
        <p:spPr>
          <a:xfrm>
            <a:off x="1047750" y="2019300"/>
            <a:ext cx="17715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351905" y="2068513"/>
            <a:ext cx="60172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samosa_qty</a:t>
            </a:r>
            <a:endParaRPr lang="en-US" sz="1500" dirty="0"/>
          </a:p>
        </p:txBody>
      </p:sp>
      <p:sp>
        <p:nvSpPr>
          <p:cNvPr id="7" name="Text 5"/>
          <p:cNvSpPr/>
          <p:nvPr/>
        </p:nvSpPr>
        <p:spPr>
          <a:xfrm>
            <a:off x="8001000" y="1841500"/>
            <a:ext cx="3378200" cy="711200"/>
          </a:xfrm>
          <a:prstGeom prst="roundRect">
            <a:avLst>
              <a:gd name="adj" fmla="val 16071"/>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Valid</a:t>
            </a:r>
            <a:endParaRPr lang="en-US" sz="1400" dirty="0"/>
          </a:p>
        </p:txBody>
      </p:sp>
      <p:sp>
        <p:nvSpPr>
          <p:cNvPr id="8" name="Shape 6"/>
          <p:cNvSpPr/>
          <p:nvPr/>
        </p:nvSpPr>
        <p:spPr>
          <a:xfrm>
            <a:off x="815975" y="2670175"/>
            <a:ext cx="6978650" cy="704850"/>
          </a:xfrm>
          <a:prstGeom prst="roundRect">
            <a:avLst>
              <a:gd name="adj" fmla="val 15766"/>
            </a:avLst>
          </a:prstGeom>
          <a:solidFill>
            <a:srgbClr val="FFFDF8"/>
          </a:solidFill>
          <a:ln w="6350">
            <a:solidFill>
              <a:srgbClr val="E2DDD2"/>
            </a:solidFill>
            <a:prstDash val="solid"/>
          </a:ln>
        </p:spPr>
      </p:sp>
      <p:sp>
        <p:nvSpPr>
          <p:cNvPr id="9" name="Text 7"/>
          <p:cNvSpPr/>
          <p:nvPr/>
        </p:nvSpPr>
        <p:spPr>
          <a:xfrm>
            <a:off x="1047750" y="2844800"/>
            <a:ext cx="2159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2</a:t>
            </a:r>
            <a:endParaRPr lang="en-US" sz="2000" dirty="0"/>
          </a:p>
        </p:txBody>
      </p:sp>
      <p:sp>
        <p:nvSpPr>
          <p:cNvPr id="10" name="Text 8"/>
          <p:cNvSpPr/>
          <p:nvPr/>
        </p:nvSpPr>
        <p:spPr>
          <a:xfrm>
            <a:off x="1390650" y="2894013"/>
            <a:ext cx="60172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3samosa</a:t>
            </a:r>
            <a:endParaRPr lang="en-US" sz="1500" dirty="0"/>
          </a:p>
        </p:txBody>
      </p:sp>
      <p:sp>
        <p:nvSpPr>
          <p:cNvPr id="11" name="Text 9"/>
          <p:cNvSpPr/>
          <p:nvPr/>
        </p:nvSpPr>
        <p:spPr>
          <a:xfrm>
            <a:off x="8001000" y="2667000"/>
            <a:ext cx="3378200" cy="711200"/>
          </a:xfrm>
          <a:prstGeom prst="roundRect">
            <a:avLst>
              <a:gd name="adj" fmla="val 16071"/>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Invalid: starts with a digit</a:t>
            </a:r>
            <a:endParaRPr lang="en-US" sz="1400" dirty="0"/>
          </a:p>
        </p:txBody>
      </p:sp>
      <p:sp>
        <p:nvSpPr>
          <p:cNvPr id="12" name="Shape 10"/>
          <p:cNvSpPr/>
          <p:nvPr/>
        </p:nvSpPr>
        <p:spPr>
          <a:xfrm>
            <a:off x="815975" y="3495675"/>
            <a:ext cx="6978650" cy="704850"/>
          </a:xfrm>
          <a:prstGeom prst="roundRect">
            <a:avLst>
              <a:gd name="adj" fmla="val 15766"/>
            </a:avLst>
          </a:prstGeom>
          <a:solidFill>
            <a:srgbClr val="FFFDF8"/>
          </a:solidFill>
          <a:ln w="6350">
            <a:solidFill>
              <a:srgbClr val="E2DDD2"/>
            </a:solidFill>
            <a:prstDash val="solid"/>
          </a:ln>
        </p:spPr>
      </p:sp>
      <p:sp>
        <p:nvSpPr>
          <p:cNvPr id="13" name="Text 11"/>
          <p:cNvSpPr/>
          <p:nvPr/>
        </p:nvSpPr>
        <p:spPr>
          <a:xfrm>
            <a:off x="1047750" y="3670300"/>
            <a:ext cx="21823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3</a:t>
            </a:r>
            <a:endParaRPr lang="en-US" sz="2000" dirty="0"/>
          </a:p>
        </p:txBody>
      </p:sp>
      <p:sp>
        <p:nvSpPr>
          <p:cNvPr id="14" name="Text 12"/>
          <p:cNvSpPr/>
          <p:nvPr/>
        </p:nvSpPr>
        <p:spPr>
          <a:xfrm>
            <a:off x="1392982" y="3719512"/>
            <a:ext cx="60172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int</a:t>
            </a:r>
            <a:endParaRPr lang="en-US" sz="1500" dirty="0"/>
          </a:p>
        </p:txBody>
      </p:sp>
      <p:sp>
        <p:nvSpPr>
          <p:cNvPr id="15" name="Text 13"/>
          <p:cNvSpPr/>
          <p:nvPr/>
        </p:nvSpPr>
        <p:spPr>
          <a:xfrm>
            <a:off x="8001000" y="3492500"/>
            <a:ext cx="3378200" cy="711200"/>
          </a:xfrm>
          <a:prstGeom prst="roundRect">
            <a:avLst>
              <a:gd name="adj" fmla="val 16071"/>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Invalid: it is a keyword</a:t>
            </a:r>
            <a:endParaRPr lang="en-US" sz="1400" dirty="0"/>
          </a:p>
        </p:txBody>
      </p:sp>
      <p:sp>
        <p:nvSpPr>
          <p:cNvPr id="16" name="Shape 14"/>
          <p:cNvSpPr/>
          <p:nvPr/>
        </p:nvSpPr>
        <p:spPr>
          <a:xfrm>
            <a:off x="815975" y="4321175"/>
            <a:ext cx="6978650" cy="704850"/>
          </a:xfrm>
          <a:prstGeom prst="roundRect">
            <a:avLst>
              <a:gd name="adj" fmla="val 15766"/>
            </a:avLst>
          </a:prstGeom>
          <a:solidFill>
            <a:srgbClr val="FFFDF8"/>
          </a:solidFill>
          <a:ln w="6350">
            <a:solidFill>
              <a:srgbClr val="E2DDD2"/>
            </a:solidFill>
            <a:prstDash val="solid"/>
          </a:ln>
        </p:spPr>
      </p:sp>
      <p:sp>
        <p:nvSpPr>
          <p:cNvPr id="17" name="Text 15"/>
          <p:cNvSpPr/>
          <p:nvPr/>
        </p:nvSpPr>
        <p:spPr>
          <a:xfrm>
            <a:off x="1047750" y="4495800"/>
            <a:ext cx="22418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4</a:t>
            </a:r>
            <a:endParaRPr lang="en-US" sz="2000" dirty="0"/>
          </a:p>
        </p:txBody>
      </p:sp>
      <p:sp>
        <p:nvSpPr>
          <p:cNvPr id="18" name="Text 16"/>
          <p:cNvSpPr/>
          <p:nvPr/>
        </p:nvSpPr>
        <p:spPr>
          <a:xfrm>
            <a:off x="1398935" y="4545013"/>
            <a:ext cx="60172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maggi price</a:t>
            </a:r>
            <a:endParaRPr lang="en-US" sz="1500" dirty="0"/>
          </a:p>
        </p:txBody>
      </p:sp>
      <p:sp>
        <p:nvSpPr>
          <p:cNvPr id="19" name="Text 17"/>
          <p:cNvSpPr/>
          <p:nvPr/>
        </p:nvSpPr>
        <p:spPr>
          <a:xfrm>
            <a:off x="8001000" y="4318000"/>
            <a:ext cx="3378200" cy="711200"/>
          </a:xfrm>
          <a:prstGeom prst="roundRect">
            <a:avLst>
              <a:gd name="adj" fmla="val 16071"/>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Invalid: has a space</a:t>
            </a:r>
            <a:endParaRPr lang="en-US" sz="1400" dirty="0"/>
          </a:p>
        </p:txBody>
      </p:sp>
      <p:sp>
        <p:nvSpPr>
          <p:cNvPr id="20" name="Shape 18"/>
          <p:cNvSpPr/>
          <p:nvPr/>
        </p:nvSpPr>
        <p:spPr>
          <a:xfrm>
            <a:off x="815975" y="5146675"/>
            <a:ext cx="6978650" cy="704850"/>
          </a:xfrm>
          <a:prstGeom prst="roundRect">
            <a:avLst>
              <a:gd name="adj" fmla="val 15766"/>
            </a:avLst>
          </a:prstGeom>
          <a:solidFill>
            <a:srgbClr val="FFFDF8"/>
          </a:solidFill>
          <a:ln w="6350">
            <a:solidFill>
              <a:srgbClr val="E2DDD2"/>
            </a:solidFill>
            <a:prstDash val="solid"/>
          </a:ln>
        </p:spPr>
      </p:sp>
      <p:sp>
        <p:nvSpPr>
          <p:cNvPr id="21" name="Text 19"/>
          <p:cNvSpPr/>
          <p:nvPr/>
        </p:nvSpPr>
        <p:spPr>
          <a:xfrm>
            <a:off x="1047750" y="5321300"/>
            <a:ext cx="21485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5</a:t>
            </a:r>
            <a:endParaRPr lang="en-US" sz="2000" dirty="0"/>
          </a:p>
        </p:txBody>
      </p:sp>
      <p:sp>
        <p:nvSpPr>
          <p:cNvPr id="22" name="Text 20"/>
          <p:cNvSpPr/>
          <p:nvPr/>
        </p:nvSpPr>
        <p:spPr>
          <a:xfrm>
            <a:off x="1389608" y="5370513"/>
            <a:ext cx="60172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Total and total</a:t>
            </a:r>
            <a:endParaRPr lang="en-US" sz="1500" dirty="0"/>
          </a:p>
        </p:txBody>
      </p:sp>
      <p:sp>
        <p:nvSpPr>
          <p:cNvPr id="23" name="Text 21"/>
          <p:cNvSpPr/>
          <p:nvPr/>
        </p:nvSpPr>
        <p:spPr>
          <a:xfrm>
            <a:off x="8001000" y="5143500"/>
            <a:ext cx="3378200" cy="711200"/>
          </a:xfrm>
          <a:prstGeom prst="roundRect">
            <a:avLst>
              <a:gd name="adj" fmla="val 16071"/>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Both valid, but different names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62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5 OF 8 · PRIMITIVE DATA TYPES</a:t>
            </a:r>
            <a:endParaRPr lang="en-US" sz="1300" dirty="0"/>
          </a:p>
        </p:txBody>
      </p:sp>
      <p:sp>
        <p:nvSpPr>
          <p:cNvPr id="3" name="Text 1"/>
          <p:cNvSpPr/>
          <p:nvPr>
            <p:ph type="title"/>
          </p:nvPr>
        </p:nvSpPr>
        <p:spPr>
          <a:xfrm>
            <a:off x="812800" y="10693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What is a data type? The kind of container</a:t>
            </a:r>
            <a:endParaRPr lang="en-US" sz="3000" dirty="0"/>
          </a:p>
        </p:txBody>
      </p:sp>
      <p:sp>
        <p:nvSpPr>
          <p:cNvPr id="4" name="Text 2"/>
          <p:cNvSpPr/>
          <p:nvPr/>
        </p:nvSpPr>
        <p:spPr>
          <a:xfrm>
            <a:off x="812800" y="2101850"/>
            <a:ext cx="3401060"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230"/>
                </a:solidFill>
                <a:latin typeface="Rubik" pitchFamily="34" charset="0"/>
                <a:ea typeface="Rubik" pitchFamily="34" charset="-122"/>
                <a:cs typeface="Rubik" pitchFamily="34" charset="-120"/>
              </a:rPr>
              <a:t>In the kitchen, you pick the container </a:t>
            </a:r>
            <a:r>
              <a:rPr lang="en-US" sz="1600" b="1" dirty="0">
                <a:solidFill>
                  <a:srgbClr val="1C2230"/>
                </a:solidFill>
                <a:latin typeface="Rubik" pitchFamily="34" charset="0"/>
                <a:ea typeface="Rubik" pitchFamily="34" charset="-122"/>
                <a:cs typeface="Rubik" pitchFamily="34" charset="-120"/>
              </a:rPr>
              <a:t>before</a:t>
            </a:r>
            <a:r>
              <a:rPr lang="en-US" sz="1600" dirty="0">
                <a:solidFill>
                  <a:srgbClr val="1C2230"/>
                </a:solidFill>
                <a:latin typeface="Rubik" pitchFamily="34" charset="0"/>
                <a:ea typeface="Rubik" pitchFamily="34" charset="-122"/>
                <a:cs typeface="Rubik" pitchFamily="34" charset="-120"/>
              </a:rPr>
              <a:t> you fill it: a spoon for salt, a glass for chai, a jug for milk.</a:t>
            </a:r>
            <a:endParaRPr lang="en-US" sz="1600" dirty="0"/>
          </a:p>
        </p:txBody>
      </p:sp>
      <p:sp>
        <p:nvSpPr>
          <p:cNvPr id="5" name="Text 3"/>
          <p:cNvSpPr/>
          <p:nvPr/>
        </p:nvSpPr>
        <p:spPr>
          <a:xfrm>
            <a:off x="812800" y="3341291"/>
            <a:ext cx="34010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94F17"/>
                </a:solidFill>
                <a:latin typeface="Rubik" pitchFamily="34" charset="0"/>
                <a:ea typeface="Rubik" pitchFamily="34" charset="-122"/>
                <a:cs typeface="Rubik" pitchFamily="34" charset="-120"/>
              </a:rPr>
              <a:t>In C, the data type is that choice.</a:t>
            </a:r>
            <a:endParaRPr lang="en-US" sz="1500" dirty="0"/>
          </a:p>
        </p:txBody>
      </p:sp>
      <p:sp>
        <p:nvSpPr>
          <p:cNvPr id="6" name="Shape 4"/>
          <p:cNvSpPr/>
          <p:nvPr/>
        </p:nvSpPr>
        <p:spPr>
          <a:xfrm>
            <a:off x="4270375" y="1669405"/>
            <a:ext cx="2262684" cy="2371030"/>
          </a:xfrm>
          <a:prstGeom prst="roundRect">
            <a:avLst>
              <a:gd name="adj" fmla="val 4911"/>
            </a:avLst>
          </a:prstGeom>
          <a:solidFill>
            <a:srgbClr val="FFFDF8"/>
          </a:solidFill>
          <a:ln w="6350">
            <a:solidFill>
              <a:srgbClr val="E2DDD2"/>
            </a:solidFill>
            <a:prstDash val="solid"/>
          </a:ln>
        </p:spPr>
      </p:sp>
      <p:pic>
        <p:nvPicPr>
          <p:cNvPr id="7" name="Image 0" descr="Spoon">    </p:cNvPr>
          <p:cNvPicPr>
            <a:picLocks noChangeAspect="1"/>
          </p:cNvPicPr>
          <p:nvPr/>
        </p:nvPicPr>
        <p:blipFill>
          <a:blip r:embed="rId1"/>
          <a:srcRect l="0" r="0" t="0" b="0"/>
          <a:stretch/>
        </p:blipFill>
        <p:spPr>
          <a:xfrm>
            <a:off x="5052467" y="1837680"/>
            <a:ext cx="698500" cy="698500"/>
          </a:xfrm>
          <a:prstGeom prst="rect">
            <a:avLst/>
          </a:prstGeom>
        </p:spPr>
      </p:pic>
      <p:sp>
        <p:nvSpPr>
          <p:cNvPr id="8" name="Text 5"/>
          <p:cNvSpPr/>
          <p:nvPr/>
        </p:nvSpPr>
        <p:spPr>
          <a:xfrm>
            <a:off x="4366230" y="2625080"/>
            <a:ext cx="207097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2230"/>
                </a:solidFill>
                <a:latin typeface="Rubik" pitchFamily="34" charset="0"/>
                <a:ea typeface="Rubik" pitchFamily="34" charset="-122"/>
                <a:cs typeface="Rubik" pitchFamily="34" charset="-120"/>
              </a:rPr>
              <a:t>Spoon: a pinch of salt</a:t>
            </a:r>
            <a:endParaRPr lang="en-US" sz="1300" dirty="0"/>
          </a:p>
        </p:txBody>
      </p:sp>
      <p:pic>
        <p:nvPicPr>
          <p:cNvPr id="9" name="Image 1" descr="arrow-down">    </p:cNvPr>
          <p:cNvPicPr>
            <a:picLocks noChangeAspect="1"/>
          </p:cNvPicPr>
          <p:nvPr/>
        </p:nvPicPr>
        <p:blipFill>
          <a:blip r:embed="rId2"/>
          <a:srcRect l="0" r="0" t="0" b="0"/>
          <a:stretch/>
        </p:blipFill>
        <p:spPr>
          <a:xfrm>
            <a:off x="5312817" y="2945110"/>
            <a:ext cx="177800" cy="215900"/>
          </a:xfrm>
          <a:prstGeom prst="rect">
            <a:avLst/>
          </a:prstGeom>
        </p:spPr>
      </p:pic>
      <p:sp>
        <p:nvSpPr>
          <p:cNvPr id="10" name="Text 6"/>
          <p:cNvSpPr/>
          <p:nvPr/>
        </p:nvSpPr>
        <p:spPr>
          <a:xfrm>
            <a:off x="5072509" y="3249910"/>
            <a:ext cx="658416"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2A5BD7"/>
                </a:solidFill>
                <a:latin typeface="JetBrains Mono" pitchFamily="49" charset="0"/>
                <a:ea typeface="JetBrains Mono" pitchFamily="49" charset="-122"/>
                <a:cs typeface="JetBrains Mono" pitchFamily="49" charset="-120"/>
              </a:rPr>
              <a:t>char</a:t>
            </a:r>
            <a:endParaRPr lang="en-US" sz="1800" dirty="0"/>
          </a:p>
        </p:txBody>
      </p:sp>
      <p:sp>
        <p:nvSpPr>
          <p:cNvPr id="11" name="Text 7"/>
          <p:cNvSpPr/>
          <p:nvPr/>
        </p:nvSpPr>
        <p:spPr>
          <a:xfrm>
            <a:off x="4480416" y="3658840"/>
            <a:ext cx="184255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Rubik" pitchFamily="34" charset="0"/>
                <a:ea typeface="Rubik" pitchFamily="34" charset="-122"/>
                <a:cs typeface="Rubik" pitchFamily="34" charset="-120"/>
              </a:rPr>
              <a:t>1 byte · one character</a:t>
            </a:r>
            <a:endParaRPr lang="en-US" sz="1200" dirty="0"/>
          </a:p>
        </p:txBody>
      </p:sp>
      <p:sp>
        <p:nvSpPr>
          <p:cNvPr id="12" name="Shape 8"/>
          <p:cNvSpPr/>
          <p:nvPr/>
        </p:nvSpPr>
        <p:spPr>
          <a:xfrm>
            <a:off x="6691809" y="1669405"/>
            <a:ext cx="2262733" cy="2371030"/>
          </a:xfrm>
          <a:prstGeom prst="roundRect">
            <a:avLst>
              <a:gd name="adj" fmla="val 4911"/>
            </a:avLst>
          </a:prstGeom>
          <a:solidFill>
            <a:srgbClr val="FFFDF8"/>
          </a:solidFill>
          <a:ln w="6350">
            <a:solidFill>
              <a:srgbClr val="E2DDD2"/>
            </a:solidFill>
            <a:prstDash val="solid"/>
          </a:ln>
        </p:spPr>
      </p:sp>
      <p:pic>
        <p:nvPicPr>
          <p:cNvPr id="13" name="Image 2" descr="Glass of chai">    </p:cNvPr>
          <p:cNvPicPr>
            <a:picLocks noChangeAspect="1"/>
          </p:cNvPicPr>
          <p:nvPr/>
        </p:nvPicPr>
        <p:blipFill>
          <a:blip r:embed="rId3"/>
          <a:srcRect l="0" r="0" t="0" b="0"/>
          <a:stretch/>
        </p:blipFill>
        <p:spPr>
          <a:xfrm>
            <a:off x="7473900" y="1837680"/>
            <a:ext cx="698500" cy="698500"/>
          </a:xfrm>
          <a:prstGeom prst="rect">
            <a:avLst/>
          </a:prstGeom>
        </p:spPr>
      </p:pic>
      <p:sp>
        <p:nvSpPr>
          <p:cNvPr id="14" name="Text 9"/>
          <p:cNvSpPr/>
          <p:nvPr/>
        </p:nvSpPr>
        <p:spPr>
          <a:xfrm>
            <a:off x="7103239" y="2625080"/>
            <a:ext cx="143982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2230"/>
                </a:solidFill>
                <a:latin typeface="Rubik" pitchFamily="34" charset="0"/>
                <a:ea typeface="Rubik" pitchFamily="34" charset="-122"/>
                <a:cs typeface="Rubik" pitchFamily="34" charset="-120"/>
              </a:rPr>
              <a:t>Glass: one chai</a:t>
            </a:r>
            <a:endParaRPr lang="en-US" sz="1300" dirty="0"/>
          </a:p>
        </p:txBody>
      </p:sp>
      <p:pic>
        <p:nvPicPr>
          <p:cNvPr id="15" name="Image 3" descr="arrow-down">    </p:cNvPr>
          <p:cNvPicPr>
            <a:picLocks noChangeAspect="1"/>
          </p:cNvPicPr>
          <p:nvPr/>
        </p:nvPicPr>
        <p:blipFill>
          <a:blip r:embed="rId4"/>
          <a:srcRect l="0" r="0" t="0" b="0"/>
          <a:stretch/>
        </p:blipFill>
        <p:spPr>
          <a:xfrm>
            <a:off x="7734250" y="2945110"/>
            <a:ext cx="177800" cy="215900"/>
          </a:xfrm>
          <a:prstGeom prst="rect">
            <a:avLst/>
          </a:prstGeom>
        </p:spPr>
      </p:pic>
      <p:sp>
        <p:nvSpPr>
          <p:cNvPr id="16" name="Text 10"/>
          <p:cNvSpPr/>
          <p:nvPr/>
        </p:nvSpPr>
        <p:spPr>
          <a:xfrm>
            <a:off x="7576269" y="3249910"/>
            <a:ext cx="493812"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2A5BD7"/>
                </a:solidFill>
                <a:latin typeface="JetBrains Mono" pitchFamily="49" charset="0"/>
                <a:ea typeface="JetBrains Mono" pitchFamily="49" charset="-122"/>
                <a:cs typeface="JetBrains Mono" pitchFamily="49" charset="-120"/>
              </a:rPr>
              <a:t>int</a:t>
            </a:r>
            <a:endParaRPr lang="en-US" sz="1800" dirty="0"/>
          </a:p>
        </p:txBody>
      </p:sp>
      <p:sp>
        <p:nvSpPr>
          <p:cNvPr id="17" name="Text 11"/>
          <p:cNvSpPr/>
          <p:nvPr/>
        </p:nvSpPr>
        <p:spPr>
          <a:xfrm>
            <a:off x="6752178" y="3658840"/>
            <a:ext cx="214199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Rubik" pitchFamily="34" charset="0"/>
                <a:ea typeface="Rubik" pitchFamily="34" charset="-122"/>
                <a:cs typeface="Rubik" pitchFamily="34" charset="-120"/>
              </a:rPr>
              <a:t>4 bytes · a whole number</a:t>
            </a:r>
            <a:endParaRPr lang="en-US" sz="1200" dirty="0"/>
          </a:p>
        </p:txBody>
      </p:sp>
      <p:sp>
        <p:nvSpPr>
          <p:cNvPr id="18" name="Shape 12"/>
          <p:cNvSpPr/>
          <p:nvPr/>
        </p:nvSpPr>
        <p:spPr>
          <a:xfrm>
            <a:off x="9113292" y="1669405"/>
            <a:ext cx="2262733" cy="2371030"/>
          </a:xfrm>
          <a:prstGeom prst="roundRect">
            <a:avLst>
              <a:gd name="adj" fmla="val 4911"/>
            </a:avLst>
          </a:prstGeom>
          <a:solidFill>
            <a:srgbClr val="FFFDF8"/>
          </a:solidFill>
          <a:ln w="6350">
            <a:solidFill>
              <a:srgbClr val="E2DDD2"/>
            </a:solidFill>
            <a:prstDash val="solid"/>
          </a:ln>
        </p:spPr>
      </p:sp>
      <p:pic>
        <p:nvPicPr>
          <p:cNvPr id="19" name="Image 4" descr="Big jug">    </p:cNvPr>
          <p:cNvPicPr>
            <a:picLocks noChangeAspect="1"/>
          </p:cNvPicPr>
          <p:nvPr/>
        </p:nvPicPr>
        <p:blipFill>
          <a:blip r:embed="rId5"/>
          <a:srcRect l="0" r="0" t="0" b="0"/>
          <a:stretch/>
        </p:blipFill>
        <p:spPr>
          <a:xfrm>
            <a:off x="9895384" y="1837680"/>
            <a:ext cx="698500" cy="698500"/>
          </a:xfrm>
          <a:prstGeom prst="rect">
            <a:avLst/>
          </a:prstGeom>
        </p:spPr>
      </p:pic>
      <p:sp>
        <p:nvSpPr>
          <p:cNvPr id="20" name="Text 13"/>
          <p:cNvSpPr/>
          <p:nvPr/>
        </p:nvSpPr>
        <p:spPr>
          <a:xfrm>
            <a:off x="9142467" y="2625080"/>
            <a:ext cx="220438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2230"/>
                </a:solidFill>
                <a:latin typeface="Rubik" pitchFamily="34" charset="0"/>
                <a:ea typeface="Rubik" pitchFamily="34" charset="-122"/>
                <a:cs typeface="Rubik" pitchFamily="34" charset="-120"/>
              </a:rPr>
              <a:t>Jug: measured exactly</a:t>
            </a:r>
            <a:endParaRPr lang="en-US" sz="1300" dirty="0"/>
          </a:p>
        </p:txBody>
      </p:sp>
      <p:pic>
        <p:nvPicPr>
          <p:cNvPr id="21" name="Image 5" descr="arrow-down">    </p:cNvPr>
          <p:cNvPicPr>
            <a:picLocks noChangeAspect="1"/>
          </p:cNvPicPr>
          <p:nvPr/>
        </p:nvPicPr>
        <p:blipFill>
          <a:blip r:embed="rId6"/>
          <a:srcRect l="0" r="0" t="0" b="0"/>
          <a:stretch/>
        </p:blipFill>
        <p:spPr>
          <a:xfrm>
            <a:off x="10155734" y="2945110"/>
            <a:ext cx="177800" cy="215900"/>
          </a:xfrm>
          <a:prstGeom prst="rect">
            <a:avLst/>
          </a:prstGeom>
        </p:spPr>
      </p:pic>
      <p:sp>
        <p:nvSpPr>
          <p:cNvPr id="22" name="Text 14"/>
          <p:cNvSpPr/>
          <p:nvPr/>
        </p:nvSpPr>
        <p:spPr>
          <a:xfrm>
            <a:off x="9750876" y="3249910"/>
            <a:ext cx="987564"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2A5BD7"/>
                </a:solidFill>
                <a:latin typeface="JetBrains Mono" pitchFamily="49" charset="0"/>
                <a:ea typeface="JetBrains Mono" pitchFamily="49" charset="-122"/>
                <a:cs typeface="JetBrains Mono" pitchFamily="49" charset="-120"/>
              </a:rPr>
              <a:t>double</a:t>
            </a:r>
            <a:endParaRPr lang="en-US" sz="1800" dirty="0"/>
          </a:p>
        </p:txBody>
      </p:sp>
      <p:sp>
        <p:nvSpPr>
          <p:cNvPr id="23" name="Text 15"/>
          <p:cNvSpPr/>
          <p:nvPr/>
        </p:nvSpPr>
        <p:spPr>
          <a:xfrm>
            <a:off x="9116467" y="3658840"/>
            <a:ext cx="225638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Rubik" pitchFamily="34" charset="0"/>
                <a:ea typeface="Rubik" pitchFamily="34" charset="-122"/>
                <a:cs typeface="Rubik" pitchFamily="34" charset="-120"/>
              </a:rPr>
              <a:t>8 bytes · a precise decimal</a:t>
            </a:r>
            <a:endParaRPr lang="en-US" sz="1200" dirty="0"/>
          </a:p>
        </p:txBody>
      </p:sp>
      <p:sp>
        <p:nvSpPr>
          <p:cNvPr id="24" name="Text 16"/>
          <p:cNvSpPr/>
          <p:nvPr/>
        </p:nvSpPr>
        <p:spPr>
          <a:xfrm>
            <a:off x="812800" y="422141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230"/>
                </a:solidFill>
                <a:latin typeface="Rubik" pitchFamily="34" charset="0"/>
                <a:ea typeface="Rubik" pitchFamily="34" charset="-122"/>
                <a:cs typeface="Rubik" pitchFamily="34" charset="-120"/>
              </a:rPr>
              <a:t>A data type tells C three things:</a:t>
            </a:r>
            <a:endParaRPr lang="en-US" sz="1400" dirty="0"/>
          </a:p>
        </p:txBody>
      </p:sp>
      <p:sp>
        <p:nvSpPr>
          <p:cNvPr id="25" name="Shape 17"/>
          <p:cNvSpPr/>
          <p:nvPr/>
        </p:nvSpPr>
        <p:spPr>
          <a:xfrm>
            <a:off x="812800" y="4546501"/>
            <a:ext cx="3454400" cy="728960"/>
          </a:xfrm>
          <a:prstGeom prst="roundRect">
            <a:avLst>
              <a:gd name="adj" fmla="val 12195"/>
            </a:avLst>
          </a:prstGeom>
          <a:solidFill>
            <a:srgbClr val="1E3157"/>
          </a:solidFill>
          <a:ln/>
        </p:spPr>
      </p:sp>
      <p:sp>
        <p:nvSpPr>
          <p:cNvPr id="26" name="Text 18"/>
          <p:cNvSpPr/>
          <p:nvPr/>
        </p:nvSpPr>
        <p:spPr>
          <a:xfrm>
            <a:off x="965200" y="4673501"/>
            <a:ext cx="324408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9893F"/>
                </a:solidFill>
                <a:latin typeface="Rubik" pitchFamily="34" charset="0"/>
                <a:ea typeface="Rubik" pitchFamily="34" charset="-122"/>
                <a:cs typeface="Rubik" pitchFamily="34" charset="-120"/>
              </a:rPr>
              <a:t>1. What kind of value</a:t>
            </a:r>
            <a:endParaRPr lang="en-US" sz="1300" dirty="0"/>
          </a:p>
        </p:txBody>
      </p:sp>
      <p:sp>
        <p:nvSpPr>
          <p:cNvPr id="27" name="Text 19"/>
          <p:cNvSpPr/>
          <p:nvPr/>
        </p:nvSpPr>
        <p:spPr>
          <a:xfrm>
            <a:off x="965200" y="4942731"/>
            <a:ext cx="3244088"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FDA"/>
                </a:solidFill>
                <a:latin typeface="Rubik" pitchFamily="34" charset="0"/>
                <a:ea typeface="Rubik" pitchFamily="34" charset="-122"/>
                <a:cs typeface="Rubik" pitchFamily="34" charset="-120"/>
              </a:rPr>
              <a:t>a whole number, a decimal or a character</a:t>
            </a:r>
            <a:endParaRPr lang="en-US" sz="1200" dirty="0"/>
          </a:p>
        </p:txBody>
      </p:sp>
      <p:sp>
        <p:nvSpPr>
          <p:cNvPr id="28" name="Shape 20"/>
          <p:cNvSpPr/>
          <p:nvPr/>
        </p:nvSpPr>
        <p:spPr>
          <a:xfrm>
            <a:off x="4368800" y="4546501"/>
            <a:ext cx="3454400" cy="728960"/>
          </a:xfrm>
          <a:prstGeom prst="roundRect">
            <a:avLst>
              <a:gd name="adj" fmla="val 12195"/>
            </a:avLst>
          </a:prstGeom>
          <a:solidFill>
            <a:srgbClr val="1E3157"/>
          </a:solidFill>
          <a:ln/>
        </p:spPr>
      </p:sp>
      <p:sp>
        <p:nvSpPr>
          <p:cNvPr id="29" name="Text 21"/>
          <p:cNvSpPr/>
          <p:nvPr/>
        </p:nvSpPr>
        <p:spPr>
          <a:xfrm>
            <a:off x="4521200" y="4673501"/>
            <a:ext cx="324408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9893F"/>
                </a:solidFill>
                <a:latin typeface="Rubik" pitchFamily="34" charset="0"/>
                <a:ea typeface="Rubik" pitchFamily="34" charset="-122"/>
                <a:cs typeface="Rubik" pitchFamily="34" charset="-120"/>
              </a:rPr>
              <a:t>2. How much memory</a:t>
            </a:r>
            <a:endParaRPr lang="en-US" sz="1300" dirty="0"/>
          </a:p>
        </p:txBody>
      </p:sp>
      <p:sp>
        <p:nvSpPr>
          <p:cNvPr id="30" name="Text 22"/>
          <p:cNvSpPr/>
          <p:nvPr/>
        </p:nvSpPr>
        <p:spPr>
          <a:xfrm>
            <a:off x="4521200" y="4942731"/>
            <a:ext cx="3244088"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FDA"/>
                </a:solidFill>
                <a:latin typeface="Rubik" pitchFamily="34" charset="0"/>
                <a:ea typeface="Rubik" pitchFamily="34" charset="-122"/>
                <a:cs typeface="Rubik" pitchFamily="34" charset="-120"/>
              </a:rPr>
              <a:t>how many bytes to set aside</a:t>
            </a:r>
            <a:endParaRPr lang="en-US" sz="1200" dirty="0"/>
          </a:p>
        </p:txBody>
      </p:sp>
      <p:sp>
        <p:nvSpPr>
          <p:cNvPr id="31" name="Shape 23"/>
          <p:cNvSpPr/>
          <p:nvPr/>
        </p:nvSpPr>
        <p:spPr>
          <a:xfrm>
            <a:off x="7924800" y="4546501"/>
            <a:ext cx="3454400" cy="728960"/>
          </a:xfrm>
          <a:prstGeom prst="roundRect">
            <a:avLst>
              <a:gd name="adj" fmla="val 12195"/>
            </a:avLst>
          </a:prstGeom>
          <a:solidFill>
            <a:srgbClr val="1E3157"/>
          </a:solidFill>
          <a:ln/>
        </p:spPr>
      </p:sp>
      <p:sp>
        <p:nvSpPr>
          <p:cNvPr id="32" name="Text 24"/>
          <p:cNvSpPr/>
          <p:nvPr/>
        </p:nvSpPr>
        <p:spPr>
          <a:xfrm>
            <a:off x="8077200" y="4673501"/>
            <a:ext cx="324408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9893F"/>
                </a:solidFill>
                <a:latin typeface="Rubik" pitchFamily="34" charset="0"/>
                <a:ea typeface="Rubik" pitchFamily="34" charset="-122"/>
                <a:cs typeface="Rubik" pitchFamily="34" charset="-120"/>
              </a:rPr>
              <a:t>3. What you can do</a:t>
            </a:r>
            <a:endParaRPr lang="en-US" sz="1300" dirty="0"/>
          </a:p>
        </p:txBody>
      </p:sp>
      <p:sp>
        <p:nvSpPr>
          <p:cNvPr id="33" name="Text 25"/>
          <p:cNvSpPr/>
          <p:nvPr/>
        </p:nvSpPr>
        <p:spPr>
          <a:xfrm>
            <a:off x="8077200" y="4942731"/>
            <a:ext cx="33020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FDA"/>
                </a:solidFill>
                <a:latin typeface="Rubik" pitchFamily="34" charset="0"/>
                <a:ea typeface="Rubik" pitchFamily="34" charset="-122"/>
                <a:cs typeface="Rubik" pitchFamily="34" charset="-120"/>
              </a:rPr>
              <a:t>for example, add numbers or compare them</a:t>
            </a:r>
            <a:endParaRPr lang="en-US" sz="1200" dirty="0"/>
          </a:p>
        </p:txBody>
      </p:sp>
      <p:sp>
        <p:nvSpPr>
          <p:cNvPr id="34" name="Shape 26"/>
          <p:cNvSpPr/>
          <p:nvPr/>
        </p:nvSpPr>
        <p:spPr>
          <a:xfrm>
            <a:off x="815975" y="5456436"/>
            <a:ext cx="10560050" cy="476250"/>
          </a:xfrm>
          <a:prstGeom prst="roundRect">
            <a:avLst>
              <a:gd name="adj" fmla="val 18000"/>
            </a:avLst>
          </a:prstGeom>
          <a:solidFill>
            <a:srgbClr val="FFFDF8"/>
          </a:solidFill>
          <a:ln w="6350">
            <a:solidFill>
              <a:srgbClr val="E2DDD2"/>
            </a:solidFill>
            <a:prstDash val="solid"/>
          </a:ln>
        </p:spPr>
      </p:sp>
      <p:sp>
        <p:nvSpPr>
          <p:cNvPr id="35" name="Text 27"/>
          <p:cNvSpPr/>
          <p:nvPr/>
        </p:nvSpPr>
        <p:spPr>
          <a:xfrm>
            <a:off x="996950" y="5561211"/>
            <a:ext cx="14986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BD7"/>
                </a:solidFill>
                <a:latin typeface="JetBrains Mono" pitchFamily="49" charset="0"/>
                <a:ea typeface="JetBrains Mono" pitchFamily="49" charset="-122"/>
                <a:cs typeface="JetBrains Mono" pitchFamily="49" charset="-120"/>
              </a:rPr>
              <a:t>int</a:t>
            </a:r>
            <a:r>
              <a:rPr lang="en-US" sz="1500" b="1" dirty="0">
                <a:solidFill>
                  <a:srgbClr val="1C2230"/>
                </a:solidFill>
                <a:latin typeface="JetBrains Mono" pitchFamily="49" charset="0"/>
                <a:ea typeface="JetBrains Mono" pitchFamily="49" charset="-122"/>
                <a:cs typeface="JetBrains Mono" pitchFamily="49" charset="-120"/>
              </a:rPr>
              <a:t> qty = 2;</a:t>
            </a:r>
            <a:endParaRPr lang="en-US" sz="1500" dirty="0"/>
          </a:p>
        </p:txBody>
      </p:sp>
      <p:sp>
        <p:nvSpPr>
          <p:cNvPr id="36" name="Text 28"/>
          <p:cNvSpPr/>
          <p:nvPr/>
        </p:nvSpPr>
        <p:spPr>
          <a:xfrm>
            <a:off x="2495550" y="5578971"/>
            <a:ext cx="510944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int tells C: qty holds a whole number and needs 4 bytes.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62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5 OF 8 · PRIMITIVE DATA TYPES</a:t>
            </a:r>
            <a:endParaRPr lang="en-US" sz="1300" dirty="0"/>
          </a:p>
        </p:txBody>
      </p:sp>
      <p:sp>
        <p:nvSpPr>
          <p:cNvPr id="3" name="Text 1"/>
          <p:cNvSpPr/>
          <p:nvPr>
            <p:ph type="title"/>
          </p:nvPr>
        </p:nvSpPr>
        <p:spPr>
          <a:xfrm>
            <a:off x="812800" y="10693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Primitive and non-primitive data types</a:t>
            </a:r>
            <a:endParaRPr lang="en-US" sz="3000" dirty="0"/>
          </a:p>
        </p:txBody>
      </p:sp>
      <p:sp>
        <p:nvSpPr>
          <p:cNvPr id="4" name="Shape 2"/>
          <p:cNvSpPr/>
          <p:nvPr/>
        </p:nvSpPr>
        <p:spPr>
          <a:xfrm>
            <a:off x="812800" y="1666230"/>
            <a:ext cx="3810000" cy="3900587"/>
          </a:xfrm>
          <a:prstGeom prst="roundRect">
            <a:avLst>
              <a:gd name="adj" fmla="val 3000"/>
            </a:avLst>
          </a:prstGeom>
          <a:solidFill>
            <a:srgbClr val="15233F"/>
          </a:solidFill>
          <a:ln/>
        </p:spPr>
      </p:sp>
      <p:pic>
        <p:nvPicPr>
          <p:cNvPr id="5" name="Image 0" descr="One cup">    </p:cNvPr>
          <p:cNvPicPr>
            <a:picLocks noChangeAspect="1"/>
          </p:cNvPicPr>
          <p:nvPr/>
        </p:nvPicPr>
        <p:blipFill>
          <a:blip r:embed="rId1"/>
          <a:srcRect l="0" r="0" t="0" b="0"/>
          <a:stretch/>
        </p:blipFill>
        <p:spPr>
          <a:xfrm>
            <a:off x="1041400" y="1869430"/>
            <a:ext cx="457200" cy="457200"/>
          </a:xfrm>
          <a:prstGeom prst="rect">
            <a:avLst/>
          </a:prstGeom>
        </p:spPr>
      </p:pic>
      <p:sp>
        <p:nvSpPr>
          <p:cNvPr id="6" name="Text 3"/>
          <p:cNvSpPr/>
          <p:nvPr/>
        </p:nvSpPr>
        <p:spPr>
          <a:xfrm>
            <a:off x="1612900" y="1960860"/>
            <a:ext cx="124503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3EC"/>
                </a:solidFill>
                <a:latin typeface="Rubik" pitchFamily="34" charset="0"/>
                <a:ea typeface="Rubik" pitchFamily="34" charset="-122"/>
                <a:cs typeface="Rubik" pitchFamily="34" charset="-120"/>
              </a:rPr>
              <a:t>Primitive</a:t>
            </a:r>
            <a:endParaRPr lang="en-US" sz="1800" dirty="0"/>
          </a:p>
        </p:txBody>
      </p:sp>
      <p:sp>
        <p:nvSpPr>
          <p:cNvPr id="7" name="Text 4"/>
          <p:cNvSpPr/>
          <p:nvPr/>
        </p:nvSpPr>
        <p:spPr>
          <a:xfrm>
            <a:off x="1041400" y="2440930"/>
            <a:ext cx="345338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A"/>
                </a:solidFill>
                <a:latin typeface="Rubik" pitchFamily="34" charset="0"/>
                <a:ea typeface="Rubik" pitchFamily="34" charset="-122"/>
                <a:cs typeface="Rubik" pitchFamily="34" charset="-120"/>
              </a:rPr>
              <a:t>The basic types </a:t>
            </a:r>
            <a:r>
              <a:rPr lang="en-US" sz="1400" b="1" dirty="0">
                <a:solidFill>
                  <a:srgbClr val="F6F3EC"/>
                </a:solidFill>
                <a:latin typeface="Rubik" pitchFamily="34" charset="0"/>
                <a:ea typeface="Rubik" pitchFamily="34" charset="-122"/>
                <a:cs typeface="Rubik" pitchFamily="34" charset="-120"/>
              </a:rPr>
              <a:t>built into C</a:t>
            </a:r>
            <a:r>
              <a:rPr lang="en-US" sz="1400" dirty="0">
                <a:solidFill>
                  <a:srgbClr val="C9CFDA"/>
                </a:solidFill>
                <a:latin typeface="Rubik" pitchFamily="34" charset="0"/>
                <a:ea typeface="Rubik" pitchFamily="34" charset="-122"/>
                <a:cs typeface="Rubik" pitchFamily="34" charset="-120"/>
              </a:rPr>
              <a:t>. Each holds </a:t>
            </a:r>
            <a:r>
              <a:rPr lang="en-US" sz="1400" b="1" dirty="0">
                <a:solidFill>
                  <a:srgbClr val="F6F3EC"/>
                </a:solidFill>
                <a:latin typeface="Rubik" pitchFamily="34" charset="0"/>
                <a:ea typeface="Rubik" pitchFamily="34" charset="-122"/>
                <a:cs typeface="Rubik" pitchFamily="34" charset="-120"/>
              </a:rPr>
              <a:t>one value</a:t>
            </a:r>
            <a:r>
              <a:rPr lang="en-US" sz="1400" dirty="0">
                <a:solidFill>
                  <a:srgbClr val="C9CFDA"/>
                </a:solidFill>
                <a:latin typeface="Rubik" pitchFamily="34" charset="0"/>
                <a:ea typeface="Rubik" pitchFamily="34" charset="-122"/>
                <a:cs typeface="Rubik" pitchFamily="34" charset="-120"/>
              </a:rPr>
              <a:t>, like one cup holds one chai.</a:t>
            </a:r>
            <a:endParaRPr lang="en-US" sz="1400" dirty="0"/>
          </a:p>
        </p:txBody>
      </p:sp>
      <p:sp>
        <p:nvSpPr>
          <p:cNvPr id="8" name="Text 5"/>
          <p:cNvSpPr/>
          <p:nvPr/>
        </p:nvSpPr>
        <p:spPr>
          <a:xfrm>
            <a:off x="1041400" y="3053011"/>
            <a:ext cx="660400" cy="368300"/>
          </a:xfrm>
          <a:prstGeom prst="roundRect">
            <a:avLst>
              <a:gd name="adj" fmla="val 17241"/>
            </a:avLst>
          </a:prstGeom>
          <a:solidFill>
            <a:srgbClr val="1E3157"/>
          </a:solidFill>
          <a:ln/>
        </p:spPr>
        <p:txBody>
          <a:bodyPr wrap="none" lIns="0" tIns="0" rIns="0" bIns="0" rtlCol="0" anchor="ctr">
            <a:normAutofit/>
          </a:bodyPr>
          <a:lstStyle/>
          <a:p>
            <a:pPr algn="ctr"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char</a:t>
            </a:r>
            <a:endParaRPr lang="en-US" sz="1500" dirty="0"/>
          </a:p>
        </p:txBody>
      </p:sp>
      <p:sp>
        <p:nvSpPr>
          <p:cNvPr id="9" name="Text 6"/>
          <p:cNvSpPr/>
          <p:nvPr/>
        </p:nvSpPr>
        <p:spPr>
          <a:xfrm>
            <a:off x="1778000" y="3053011"/>
            <a:ext cx="546100" cy="368300"/>
          </a:xfrm>
          <a:prstGeom prst="roundRect">
            <a:avLst>
              <a:gd name="adj" fmla="val 17241"/>
            </a:avLst>
          </a:prstGeom>
          <a:solidFill>
            <a:srgbClr val="1E3157"/>
          </a:solidFill>
          <a:ln/>
        </p:spPr>
        <p:txBody>
          <a:bodyPr wrap="none" lIns="0" tIns="0" rIns="0" bIns="0" rtlCol="0" anchor="ctr">
            <a:normAutofit/>
          </a:bodyPr>
          <a:lstStyle/>
          <a:p>
            <a:pPr algn="ctr"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int</a:t>
            </a:r>
            <a:endParaRPr lang="en-US" sz="1500" dirty="0"/>
          </a:p>
        </p:txBody>
      </p:sp>
      <p:sp>
        <p:nvSpPr>
          <p:cNvPr id="10" name="Text 7"/>
          <p:cNvSpPr/>
          <p:nvPr/>
        </p:nvSpPr>
        <p:spPr>
          <a:xfrm>
            <a:off x="2400300" y="3053011"/>
            <a:ext cx="774700" cy="368300"/>
          </a:xfrm>
          <a:prstGeom prst="roundRect">
            <a:avLst>
              <a:gd name="adj" fmla="val 17241"/>
            </a:avLst>
          </a:prstGeom>
          <a:solidFill>
            <a:srgbClr val="1E3157"/>
          </a:solidFill>
          <a:ln/>
        </p:spPr>
        <p:txBody>
          <a:bodyPr wrap="none" lIns="0" tIns="0" rIns="0" bIns="0" rtlCol="0" anchor="ctr">
            <a:normAutofit/>
          </a:bodyPr>
          <a:lstStyle/>
          <a:p>
            <a:pPr algn="ctr"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float</a:t>
            </a:r>
            <a:endParaRPr lang="en-US" sz="1500" dirty="0"/>
          </a:p>
        </p:txBody>
      </p:sp>
      <p:sp>
        <p:nvSpPr>
          <p:cNvPr id="11" name="Text 8"/>
          <p:cNvSpPr/>
          <p:nvPr/>
        </p:nvSpPr>
        <p:spPr>
          <a:xfrm>
            <a:off x="3251200" y="3053011"/>
            <a:ext cx="889000" cy="368300"/>
          </a:xfrm>
          <a:prstGeom prst="roundRect">
            <a:avLst>
              <a:gd name="adj" fmla="val 17241"/>
            </a:avLst>
          </a:prstGeom>
          <a:solidFill>
            <a:srgbClr val="1E3157"/>
          </a:solidFill>
          <a:ln/>
        </p:spPr>
        <p:txBody>
          <a:bodyPr wrap="none" lIns="0" tIns="0" rIns="0" bIns="0" rtlCol="0" anchor="ctr">
            <a:normAutofit/>
          </a:bodyPr>
          <a:lstStyle/>
          <a:p>
            <a:pPr algn="ctr"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double</a:t>
            </a:r>
            <a:endParaRPr lang="en-US" sz="1500" dirty="0"/>
          </a:p>
        </p:txBody>
      </p:sp>
      <p:sp>
        <p:nvSpPr>
          <p:cNvPr id="12" name="Text 9"/>
          <p:cNvSpPr/>
          <p:nvPr/>
        </p:nvSpPr>
        <p:spPr>
          <a:xfrm>
            <a:off x="1041400" y="3497511"/>
            <a:ext cx="660400" cy="368300"/>
          </a:xfrm>
          <a:prstGeom prst="roundRect">
            <a:avLst>
              <a:gd name="adj" fmla="val 17241"/>
            </a:avLst>
          </a:prstGeom>
          <a:solidFill>
            <a:srgbClr val="1E3157"/>
          </a:solidFill>
          <a:ln/>
        </p:spPr>
        <p:txBody>
          <a:bodyPr wrap="none" lIns="0" tIns="0" rIns="0" bIns="0" rtlCol="0" anchor="ctr">
            <a:normAutofit/>
          </a:bodyPr>
          <a:lstStyle/>
          <a:p>
            <a:pPr algn="ctr"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void</a:t>
            </a:r>
            <a:endParaRPr lang="en-US" sz="1500" dirty="0"/>
          </a:p>
        </p:txBody>
      </p:sp>
      <p:sp>
        <p:nvSpPr>
          <p:cNvPr id="13" name="Text 10"/>
          <p:cNvSpPr/>
          <p:nvPr/>
        </p:nvSpPr>
        <p:spPr>
          <a:xfrm>
            <a:off x="1041400" y="3980111"/>
            <a:ext cx="345338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A"/>
                </a:solidFill>
                <a:latin typeface="Rubik" pitchFamily="34" charset="0"/>
                <a:ea typeface="Rubik" pitchFamily="34" charset="-122"/>
                <a:cs typeface="Rubik" pitchFamily="34" charset="-120"/>
              </a:rPr>
              <a:t>We learn these </a:t>
            </a:r>
            <a:r>
              <a:rPr lang="en-US" sz="1300" b="1" dirty="0">
                <a:solidFill>
                  <a:srgbClr val="E9893F"/>
                </a:solidFill>
                <a:latin typeface="Rubik" pitchFamily="34" charset="0"/>
                <a:ea typeface="Rubik" pitchFamily="34" charset="-122"/>
                <a:cs typeface="Rubik" pitchFamily="34" charset="-120"/>
              </a:rPr>
              <a:t>today</a:t>
            </a:r>
            <a:r>
              <a:rPr lang="en-US" sz="1300" dirty="0">
                <a:solidFill>
                  <a:srgbClr val="C9CFDA"/>
                </a:solidFill>
                <a:latin typeface="Rubik" pitchFamily="34" charset="0"/>
                <a:ea typeface="Rubik" pitchFamily="34" charset="-122"/>
                <a:cs typeface="Rubik" pitchFamily="34" charset="-120"/>
              </a:rPr>
              <a:t>.</a:t>
            </a:r>
            <a:endParaRPr lang="en-US" sz="1300" dirty="0"/>
          </a:p>
        </p:txBody>
      </p:sp>
      <p:sp>
        <p:nvSpPr>
          <p:cNvPr id="14" name="Shape 11"/>
          <p:cNvSpPr/>
          <p:nvPr/>
        </p:nvSpPr>
        <p:spPr>
          <a:xfrm>
            <a:off x="4803775" y="1669405"/>
            <a:ext cx="6572250" cy="3894237"/>
          </a:xfrm>
          <a:prstGeom prst="roundRect">
            <a:avLst>
              <a:gd name="adj" fmla="val 2854"/>
            </a:avLst>
          </a:prstGeom>
          <a:solidFill>
            <a:srgbClr val="FFFDF8"/>
          </a:solidFill>
          <a:ln w="6350">
            <a:solidFill>
              <a:srgbClr val="E2DDD2"/>
            </a:solidFill>
            <a:prstDash val="solid"/>
          </a:ln>
        </p:spPr>
      </p:sp>
      <p:sp>
        <p:nvSpPr>
          <p:cNvPr id="15" name="Text 12"/>
          <p:cNvSpPr/>
          <p:nvPr/>
        </p:nvSpPr>
        <p:spPr>
          <a:xfrm>
            <a:off x="5010150" y="1824980"/>
            <a:ext cx="634428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230"/>
                </a:solidFill>
                <a:latin typeface="Rubik" pitchFamily="34" charset="0"/>
                <a:ea typeface="Rubik" pitchFamily="34" charset="-122"/>
                <a:cs typeface="Rubik" pitchFamily="34" charset="-120"/>
              </a:rPr>
              <a:t>Non-primitive</a:t>
            </a:r>
            <a:endParaRPr lang="en-US" sz="1800" dirty="0"/>
          </a:p>
        </p:txBody>
      </p:sp>
      <p:sp>
        <p:nvSpPr>
          <p:cNvPr id="16" name="Text 13"/>
          <p:cNvSpPr/>
          <p:nvPr/>
        </p:nvSpPr>
        <p:spPr>
          <a:xfrm>
            <a:off x="5010150" y="2137370"/>
            <a:ext cx="634428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150"/>
                </a:solidFill>
                <a:latin typeface="Rubik" pitchFamily="34" charset="0"/>
                <a:ea typeface="Rubik" pitchFamily="34" charset="-122"/>
                <a:cs typeface="Rubik" pitchFamily="34" charset="-120"/>
              </a:rPr>
              <a:t>Built </a:t>
            </a:r>
            <a:r>
              <a:rPr lang="en-US" sz="1300" b="1" dirty="0">
                <a:solidFill>
                  <a:srgbClr val="3A4150"/>
                </a:solidFill>
                <a:latin typeface="Rubik" pitchFamily="34" charset="0"/>
                <a:ea typeface="Rubik" pitchFamily="34" charset="-122"/>
                <a:cs typeface="Rubik" pitchFamily="34" charset="-120"/>
              </a:rPr>
              <a:t>from</a:t>
            </a:r>
            <a:r>
              <a:rPr lang="en-US" sz="1300" dirty="0">
                <a:solidFill>
                  <a:srgbClr val="3A4150"/>
                </a:solidFill>
                <a:latin typeface="Rubik" pitchFamily="34" charset="0"/>
                <a:ea typeface="Rubik" pitchFamily="34" charset="-122"/>
                <a:cs typeface="Rubik" pitchFamily="34" charset="-120"/>
              </a:rPr>
              <a:t> primitive types. They can hold </a:t>
            </a:r>
            <a:r>
              <a:rPr lang="en-US" sz="1300" b="1" dirty="0">
                <a:solidFill>
                  <a:srgbClr val="3A4150"/>
                </a:solidFill>
                <a:latin typeface="Rubik" pitchFamily="34" charset="0"/>
                <a:ea typeface="Rubik" pitchFamily="34" charset="-122"/>
                <a:cs typeface="Rubik" pitchFamily="34" charset="-120"/>
              </a:rPr>
              <a:t>many values</a:t>
            </a:r>
            <a:r>
              <a:rPr lang="en-US" sz="1300" dirty="0">
                <a:solidFill>
                  <a:srgbClr val="3A4150"/>
                </a:solidFill>
                <a:latin typeface="Rubik" pitchFamily="34" charset="0"/>
                <a:ea typeface="Rubik" pitchFamily="34" charset="-122"/>
                <a:cs typeface="Rubik" pitchFamily="34" charset="-120"/>
              </a:rPr>
              <a:t>.</a:t>
            </a:r>
            <a:endParaRPr lang="en-US" sz="1300" dirty="0"/>
          </a:p>
        </p:txBody>
      </p:sp>
      <p:sp>
        <p:nvSpPr>
          <p:cNvPr id="17" name="Shape 14"/>
          <p:cNvSpPr/>
          <p:nvPr/>
        </p:nvSpPr>
        <p:spPr>
          <a:xfrm>
            <a:off x="5010150" y="3069481"/>
            <a:ext cx="6159500" cy="0"/>
          </a:xfrm>
          <a:prstGeom prst="line">
            <a:avLst/>
          </a:prstGeom>
          <a:noFill/>
          <a:ln w="6350">
            <a:solidFill>
              <a:srgbClr val="E2DDD2"/>
            </a:solidFill>
            <a:prstDash val="solid"/>
          </a:ln>
        </p:spPr>
      </p:sp>
      <p:pic>
        <p:nvPicPr>
          <p:cNvPr id="18" name="Image 1" descr="Row of cups">    </p:cNvPr>
          <p:cNvPicPr>
            <a:picLocks noChangeAspect="1"/>
          </p:cNvPicPr>
          <p:nvPr/>
        </p:nvPicPr>
        <p:blipFill>
          <a:blip r:embed="rId2"/>
          <a:srcRect l="0" r="0" t="0" b="0"/>
          <a:stretch/>
        </p:blipFill>
        <p:spPr>
          <a:xfrm>
            <a:off x="5010150" y="2503686"/>
            <a:ext cx="457200" cy="457200"/>
          </a:xfrm>
          <a:prstGeom prst="rect">
            <a:avLst/>
          </a:prstGeom>
        </p:spPr>
      </p:pic>
      <p:sp>
        <p:nvSpPr>
          <p:cNvPr id="19" name="Text 15"/>
          <p:cNvSpPr/>
          <p:nvPr/>
        </p:nvSpPr>
        <p:spPr>
          <a:xfrm>
            <a:off x="5594350" y="2487216"/>
            <a:ext cx="57425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Array </a:t>
            </a:r>
            <a:r>
              <a:rPr lang="en-US" sz="1500" b="1" dirty="0">
                <a:solidFill>
                  <a:srgbClr val="596273"/>
                </a:solidFill>
                <a:latin typeface="Rubik" pitchFamily="34" charset="0"/>
                <a:ea typeface="Rubik" pitchFamily="34" charset="-122"/>
                <a:cs typeface="Rubik" pitchFamily="34" charset="-120"/>
              </a:rPr>
              <a:t>· Module 4</a:t>
            </a:r>
            <a:endParaRPr lang="en-US" sz="1500" dirty="0"/>
          </a:p>
        </p:txBody>
      </p:sp>
      <p:sp>
        <p:nvSpPr>
          <p:cNvPr id="20" name="Text 16"/>
          <p:cNvSpPr/>
          <p:nvPr/>
        </p:nvSpPr>
        <p:spPr>
          <a:xfrm>
            <a:off x="5594350" y="2779316"/>
            <a:ext cx="574255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Many values of one type, in a row. Example: Prices of 5 menu items</a:t>
            </a:r>
            <a:endParaRPr lang="en-US" sz="1200" dirty="0"/>
          </a:p>
        </p:txBody>
      </p:sp>
      <p:sp>
        <p:nvSpPr>
          <p:cNvPr id="21" name="Shape 17"/>
          <p:cNvSpPr/>
          <p:nvPr/>
        </p:nvSpPr>
        <p:spPr>
          <a:xfrm>
            <a:off x="5010150" y="3781921"/>
            <a:ext cx="6159500" cy="0"/>
          </a:xfrm>
          <a:prstGeom prst="line">
            <a:avLst/>
          </a:prstGeom>
          <a:noFill/>
          <a:ln w="6350">
            <a:solidFill>
              <a:srgbClr val="E2DDD2"/>
            </a:solidFill>
            <a:prstDash val="solid"/>
          </a:ln>
        </p:spPr>
      </p:sp>
      <p:pic>
        <p:nvPicPr>
          <p:cNvPr id="22" name="Image 2" descr="Letters in a row">    </p:cNvPr>
          <p:cNvPicPr>
            <a:picLocks noChangeAspect="1"/>
          </p:cNvPicPr>
          <p:nvPr/>
        </p:nvPicPr>
        <p:blipFill>
          <a:blip r:embed="rId3"/>
          <a:srcRect l="0" r="0" t="0" b="0"/>
          <a:stretch/>
        </p:blipFill>
        <p:spPr>
          <a:xfrm>
            <a:off x="5010150" y="3216126"/>
            <a:ext cx="457200" cy="457200"/>
          </a:xfrm>
          <a:prstGeom prst="rect">
            <a:avLst/>
          </a:prstGeom>
        </p:spPr>
      </p:pic>
      <p:sp>
        <p:nvSpPr>
          <p:cNvPr id="23" name="Text 18"/>
          <p:cNvSpPr/>
          <p:nvPr/>
        </p:nvSpPr>
        <p:spPr>
          <a:xfrm>
            <a:off x="5594350" y="3199656"/>
            <a:ext cx="57425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String </a:t>
            </a:r>
            <a:r>
              <a:rPr lang="en-US" sz="1500" b="1" dirty="0">
                <a:solidFill>
                  <a:srgbClr val="596273"/>
                </a:solidFill>
                <a:latin typeface="Rubik" pitchFamily="34" charset="0"/>
                <a:ea typeface="Rubik" pitchFamily="34" charset="-122"/>
                <a:cs typeface="Rubik" pitchFamily="34" charset="-120"/>
              </a:rPr>
              <a:t>· Module 4</a:t>
            </a:r>
            <a:endParaRPr lang="en-US" sz="1500" dirty="0"/>
          </a:p>
        </p:txBody>
      </p:sp>
      <p:sp>
        <p:nvSpPr>
          <p:cNvPr id="24" name="Text 19"/>
          <p:cNvSpPr/>
          <p:nvPr/>
        </p:nvSpPr>
        <p:spPr>
          <a:xfrm>
            <a:off x="5594350" y="3491756"/>
            <a:ext cx="574255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A row of characters. Example: The word "Chai"</a:t>
            </a:r>
            <a:endParaRPr lang="en-US" sz="1200" dirty="0"/>
          </a:p>
        </p:txBody>
      </p:sp>
      <p:sp>
        <p:nvSpPr>
          <p:cNvPr id="25" name="Shape 20"/>
          <p:cNvSpPr/>
          <p:nvPr/>
        </p:nvSpPr>
        <p:spPr>
          <a:xfrm>
            <a:off x="5010150" y="4494361"/>
            <a:ext cx="6159500" cy="0"/>
          </a:xfrm>
          <a:prstGeom prst="line">
            <a:avLst/>
          </a:prstGeom>
          <a:noFill/>
          <a:ln w="6350">
            <a:solidFill>
              <a:srgbClr val="E2DDD2"/>
            </a:solidFill>
            <a:prstDash val="solid"/>
          </a:ln>
        </p:spPr>
      </p:sp>
      <p:pic>
        <p:nvPicPr>
          <p:cNvPr id="26" name="Image 3" descr="Tiffin box">    </p:cNvPr>
          <p:cNvPicPr>
            <a:picLocks noChangeAspect="1"/>
          </p:cNvPicPr>
          <p:nvPr/>
        </p:nvPicPr>
        <p:blipFill>
          <a:blip r:embed="rId4"/>
          <a:srcRect l="0" r="0" t="0" b="0"/>
          <a:stretch/>
        </p:blipFill>
        <p:spPr>
          <a:xfrm>
            <a:off x="5010150" y="3928566"/>
            <a:ext cx="457200" cy="457200"/>
          </a:xfrm>
          <a:prstGeom prst="rect">
            <a:avLst/>
          </a:prstGeom>
        </p:spPr>
      </p:pic>
      <p:sp>
        <p:nvSpPr>
          <p:cNvPr id="27" name="Text 21"/>
          <p:cNvSpPr/>
          <p:nvPr/>
        </p:nvSpPr>
        <p:spPr>
          <a:xfrm>
            <a:off x="5594350" y="3912096"/>
            <a:ext cx="57425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Structure </a:t>
            </a:r>
            <a:r>
              <a:rPr lang="en-US" sz="1500" b="1" dirty="0">
                <a:solidFill>
                  <a:srgbClr val="596273"/>
                </a:solidFill>
                <a:latin typeface="Rubik" pitchFamily="34" charset="0"/>
                <a:ea typeface="Rubik" pitchFamily="34" charset="-122"/>
                <a:cs typeface="Rubik" pitchFamily="34" charset="-120"/>
              </a:rPr>
              <a:t>· Module 5</a:t>
            </a:r>
            <a:endParaRPr lang="en-US" sz="1500" dirty="0"/>
          </a:p>
        </p:txBody>
      </p:sp>
      <p:sp>
        <p:nvSpPr>
          <p:cNvPr id="28" name="Text 22"/>
          <p:cNvSpPr/>
          <p:nvPr/>
        </p:nvSpPr>
        <p:spPr>
          <a:xfrm>
            <a:off x="5594350" y="4204196"/>
            <a:ext cx="574255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Different types packed together. Example: A student: roll, name, marks</a:t>
            </a:r>
            <a:endParaRPr lang="en-US" sz="1200" dirty="0"/>
          </a:p>
        </p:txBody>
      </p:sp>
      <p:sp>
        <p:nvSpPr>
          <p:cNvPr id="29" name="Shape 23"/>
          <p:cNvSpPr/>
          <p:nvPr/>
        </p:nvSpPr>
        <p:spPr>
          <a:xfrm>
            <a:off x="5010150" y="5404892"/>
            <a:ext cx="6159500" cy="0"/>
          </a:xfrm>
          <a:prstGeom prst="line">
            <a:avLst/>
          </a:prstGeom>
          <a:noFill/>
          <a:ln w="6350">
            <a:solidFill>
              <a:srgbClr val="E2DDD2"/>
            </a:solidFill>
            <a:prstDash val="solid"/>
          </a:ln>
        </p:spPr>
      </p:sp>
      <p:pic>
        <p:nvPicPr>
          <p:cNvPr id="30" name="Image 4" descr="Address slip">    </p:cNvPr>
          <p:cNvPicPr>
            <a:picLocks noChangeAspect="1"/>
          </p:cNvPicPr>
          <p:nvPr/>
        </p:nvPicPr>
        <p:blipFill>
          <a:blip r:embed="rId5"/>
          <a:srcRect l="0" r="0" t="0" b="0"/>
          <a:stretch/>
        </p:blipFill>
        <p:spPr>
          <a:xfrm>
            <a:off x="5010150" y="4740077"/>
            <a:ext cx="457200" cy="457200"/>
          </a:xfrm>
          <a:prstGeom prst="rect">
            <a:avLst/>
          </a:prstGeom>
        </p:spPr>
      </p:pic>
      <p:sp>
        <p:nvSpPr>
          <p:cNvPr id="31" name="Text 24"/>
          <p:cNvSpPr/>
          <p:nvPr/>
        </p:nvSpPr>
        <p:spPr>
          <a:xfrm>
            <a:off x="5594350" y="4624536"/>
            <a:ext cx="57425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Pointer </a:t>
            </a:r>
            <a:r>
              <a:rPr lang="en-US" sz="1500" b="1" dirty="0">
                <a:solidFill>
                  <a:srgbClr val="596273"/>
                </a:solidFill>
                <a:latin typeface="Rubik" pitchFamily="34" charset="0"/>
                <a:ea typeface="Rubik" pitchFamily="34" charset="-122"/>
                <a:cs typeface="Rubik" pitchFamily="34" charset="-120"/>
              </a:rPr>
              <a:t>· Module 5</a:t>
            </a:r>
            <a:endParaRPr lang="en-US" sz="1500" dirty="0"/>
          </a:p>
        </p:txBody>
      </p:sp>
      <p:sp>
        <p:nvSpPr>
          <p:cNvPr id="32" name="Text 25"/>
          <p:cNvSpPr/>
          <p:nvPr/>
        </p:nvSpPr>
        <p:spPr>
          <a:xfrm>
            <a:off x="5594350" y="4916636"/>
            <a:ext cx="5742559"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150"/>
                </a:solidFill>
                <a:latin typeface="Rubik" pitchFamily="34" charset="0"/>
                <a:ea typeface="Rubik" pitchFamily="34" charset="-122"/>
                <a:cs typeface="Rubik" pitchFamily="34" charset="-120"/>
              </a:rPr>
              <a:t>Holds the address of another variable. Example: A slip saying where a jar is kept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5 OF 8 · PRIMITIVE DATA TYPES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Primitive data types: pick the right container</a:t>
            </a:r>
            <a:endParaRPr lang="en-US" sz="3000" dirty="0"/>
          </a:p>
        </p:txBody>
      </p:sp>
      <p:sp>
        <p:nvSpPr>
          <p:cNvPr id="4" name="Shape 2"/>
          <p:cNvSpPr/>
          <p:nvPr/>
        </p:nvSpPr>
        <p:spPr>
          <a:xfrm>
            <a:off x="815975" y="1796405"/>
            <a:ext cx="2540000" cy="2612330"/>
          </a:xfrm>
          <a:prstGeom prst="roundRect">
            <a:avLst>
              <a:gd name="adj" fmla="val 4375"/>
            </a:avLst>
          </a:prstGeom>
          <a:solidFill>
            <a:srgbClr val="FFFDF8"/>
          </a:solidFill>
          <a:ln w="6350">
            <a:solidFill>
              <a:srgbClr val="E2DDD2"/>
            </a:solidFill>
            <a:prstDash val="solid"/>
          </a:ln>
        </p:spPr>
      </p:sp>
      <p:sp>
        <p:nvSpPr>
          <p:cNvPr id="5" name="Text 3"/>
          <p:cNvSpPr/>
          <p:nvPr/>
        </p:nvSpPr>
        <p:spPr>
          <a:xfrm>
            <a:off x="1022350" y="2002780"/>
            <a:ext cx="219106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JetBrains Mono" pitchFamily="49" charset="0"/>
                <a:ea typeface="JetBrains Mono" pitchFamily="49" charset="-122"/>
                <a:cs typeface="JetBrains Mono" pitchFamily="49" charset="-120"/>
              </a:rPr>
              <a:t>char</a:t>
            </a:r>
            <a:endParaRPr lang="en-US" sz="2000" dirty="0"/>
          </a:p>
        </p:txBody>
      </p:sp>
      <p:sp>
        <p:nvSpPr>
          <p:cNvPr id="6" name="Shape 4"/>
          <p:cNvSpPr/>
          <p:nvPr/>
        </p:nvSpPr>
        <p:spPr>
          <a:xfrm>
            <a:off x="1022350" y="2447280"/>
            <a:ext cx="254000" cy="254000"/>
          </a:xfrm>
          <a:prstGeom prst="roundRect">
            <a:avLst>
              <a:gd name="adj" fmla="val 15000"/>
            </a:avLst>
          </a:prstGeom>
          <a:solidFill>
            <a:srgbClr val="E9893F"/>
          </a:solidFill>
          <a:ln/>
        </p:spPr>
      </p:sp>
      <p:sp>
        <p:nvSpPr>
          <p:cNvPr id="7" name="Text 5"/>
          <p:cNvSpPr/>
          <p:nvPr/>
        </p:nvSpPr>
        <p:spPr>
          <a:xfrm>
            <a:off x="1022350" y="2790180"/>
            <a:ext cx="23304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1 byte · A single character</a:t>
            </a:r>
            <a:endParaRPr lang="en-US" sz="1300" dirty="0"/>
          </a:p>
        </p:txBody>
      </p:sp>
      <p:sp>
        <p:nvSpPr>
          <p:cNvPr id="8" name="Text 6"/>
          <p:cNvSpPr/>
          <p:nvPr/>
        </p:nvSpPr>
        <p:spPr>
          <a:xfrm>
            <a:off x="1022350" y="3110210"/>
            <a:ext cx="219106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Canteen: item code 'C'</a:t>
            </a:r>
            <a:endParaRPr lang="en-US" sz="1300" dirty="0"/>
          </a:p>
        </p:txBody>
      </p:sp>
      <p:sp>
        <p:nvSpPr>
          <p:cNvPr id="9" name="Text 7"/>
          <p:cNvSpPr/>
          <p:nvPr/>
        </p:nvSpPr>
        <p:spPr>
          <a:xfrm>
            <a:off x="1022350" y="3430240"/>
            <a:ext cx="21910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%c</a:t>
            </a:r>
            <a:endParaRPr lang="en-US" sz="1400" dirty="0"/>
          </a:p>
        </p:txBody>
      </p:sp>
      <p:sp>
        <p:nvSpPr>
          <p:cNvPr id="10" name="Shape 8"/>
          <p:cNvSpPr/>
          <p:nvPr/>
        </p:nvSpPr>
        <p:spPr>
          <a:xfrm>
            <a:off x="3489325" y="1796405"/>
            <a:ext cx="2540000" cy="2612330"/>
          </a:xfrm>
          <a:prstGeom prst="roundRect">
            <a:avLst>
              <a:gd name="adj" fmla="val 4375"/>
            </a:avLst>
          </a:prstGeom>
          <a:solidFill>
            <a:srgbClr val="FFFDF8"/>
          </a:solidFill>
          <a:ln w="6350">
            <a:solidFill>
              <a:srgbClr val="E2DDD2"/>
            </a:solidFill>
            <a:prstDash val="solid"/>
          </a:ln>
        </p:spPr>
      </p:sp>
      <p:sp>
        <p:nvSpPr>
          <p:cNvPr id="11" name="Text 9"/>
          <p:cNvSpPr/>
          <p:nvPr/>
        </p:nvSpPr>
        <p:spPr>
          <a:xfrm>
            <a:off x="3695700" y="2002780"/>
            <a:ext cx="219106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JetBrains Mono" pitchFamily="49" charset="0"/>
                <a:ea typeface="JetBrains Mono" pitchFamily="49" charset="-122"/>
                <a:cs typeface="JetBrains Mono" pitchFamily="49" charset="-120"/>
              </a:rPr>
              <a:t>int</a:t>
            </a:r>
            <a:endParaRPr lang="en-US" sz="2000" dirty="0"/>
          </a:p>
        </p:txBody>
      </p:sp>
      <p:sp>
        <p:nvSpPr>
          <p:cNvPr id="12" name="Shape 10"/>
          <p:cNvSpPr/>
          <p:nvPr/>
        </p:nvSpPr>
        <p:spPr>
          <a:xfrm>
            <a:off x="3695700" y="2447280"/>
            <a:ext cx="254000" cy="254000"/>
          </a:xfrm>
          <a:prstGeom prst="roundRect">
            <a:avLst>
              <a:gd name="adj" fmla="val 15000"/>
            </a:avLst>
          </a:prstGeom>
          <a:solidFill>
            <a:srgbClr val="E9893F"/>
          </a:solidFill>
          <a:ln/>
        </p:spPr>
      </p:sp>
      <p:sp>
        <p:nvSpPr>
          <p:cNvPr id="13" name="Shape 11"/>
          <p:cNvSpPr/>
          <p:nvPr/>
        </p:nvSpPr>
        <p:spPr>
          <a:xfrm>
            <a:off x="3987800" y="2447280"/>
            <a:ext cx="254000" cy="254000"/>
          </a:xfrm>
          <a:prstGeom prst="roundRect">
            <a:avLst>
              <a:gd name="adj" fmla="val 15000"/>
            </a:avLst>
          </a:prstGeom>
          <a:solidFill>
            <a:srgbClr val="E9893F"/>
          </a:solidFill>
          <a:ln/>
        </p:spPr>
      </p:sp>
      <p:sp>
        <p:nvSpPr>
          <p:cNvPr id="14" name="Shape 12"/>
          <p:cNvSpPr/>
          <p:nvPr/>
        </p:nvSpPr>
        <p:spPr>
          <a:xfrm>
            <a:off x="4279900" y="2447280"/>
            <a:ext cx="254000" cy="254000"/>
          </a:xfrm>
          <a:prstGeom prst="roundRect">
            <a:avLst>
              <a:gd name="adj" fmla="val 15000"/>
            </a:avLst>
          </a:prstGeom>
          <a:solidFill>
            <a:srgbClr val="E9893F"/>
          </a:solidFill>
          <a:ln/>
        </p:spPr>
      </p:sp>
      <p:sp>
        <p:nvSpPr>
          <p:cNvPr id="15" name="Shape 13"/>
          <p:cNvSpPr/>
          <p:nvPr/>
        </p:nvSpPr>
        <p:spPr>
          <a:xfrm>
            <a:off x="4572000" y="2447280"/>
            <a:ext cx="254000" cy="254000"/>
          </a:xfrm>
          <a:prstGeom prst="roundRect">
            <a:avLst>
              <a:gd name="adj" fmla="val 15000"/>
            </a:avLst>
          </a:prstGeom>
          <a:solidFill>
            <a:srgbClr val="E9893F"/>
          </a:solidFill>
          <a:ln/>
        </p:spPr>
      </p:sp>
      <p:sp>
        <p:nvSpPr>
          <p:cNvPr id="16" name="Text 14"/>
          <p:cNvSpPr/>
          <p:nvPr/>
        </p:nvSpPr>
        <p:spPr>
          <a:xfrm>
            <a:off x="3695700" y="2790180"/>
            <a:ext cx="219106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4 bytes · A whole number</a:t>
            </a:r>
            <a:endParaRPr lang="en-US" sz="1300" dirty="0"/>
          </a:p>
        </p:txBody>
      </p:sp>
      <p:sp>
        <p:nvSpPr>
          <p:cNvPr id="17" name="Text 15"/>
          <p:cNvSpPr/>
          <p:nvPr/>
        </p:nvSpPr>
        <p:spPr>
          <a:xfrm>
            <a:off x="3695700" y="3110210"/>
            <a:ext cx="219106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Canteen: quantity: 2</a:t>
            </a:r>
            <a:endParaRPr lang="en-US" sz="1300" dirty="0"/>
          </a:p>
        </p:txBody>
      </p:sp>
      <p:sp>
        <p:nvSpPr>
          <p:cNvPr id="18" name="Text 16"/>
          <p:cNvSpPr/>
          <p:nvPr/>
        </p:nvSpPr>
        <p:spPr>
          <a:xfrm>
            <a:off x="3695700" y="3430240"/>
            <a:ext cx="21910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%d</a:t>
            </a:r>
            <a:endParaRPr lang="en-US" sz="1400" dirty="0"/>
          </a:p>
        </p:txBody>
      </p:sp>
      <p:sp>
        <p:nvSpPr>
          <p:cNvPr id="19" name="Shape 17"/>
          <p:cNvSpPr/>
          <p:nvPr/>
        </p:nvSpPr>
        <p:spPr>
          <a:xfrm>
            <a:off x="6162675" y="1796405"/>
            <a:ext cx="2540000" cy="2612330"/>
          </a:xfrm>
          <a:prstGeom prst="roundRect">
            <a:avLst>
              <a:gd name="adj" fmla="val 4375"/>
            </a:avLst>
          </a:prstGeom>
          <a:solidFill>
            <a:srgbClr val="FFFDF8"/>
          </a:solidFill>
          <a:ln w="6350">
            <a:solidFill>
              <a:srgbClr val="E2DDD2"/>
            </a:solidFill>
            <a:prstDash val="solid"/>
          </a:ln>
        </p:spPr>
      </p:sp>
      <p:sp>
        <p:nvSpPr>
          <p:cNvPr id="20" name="Text 18"/>
          <p:cNvSpPr/>
          <p:nvPr/>
        </p:nvSpPr>
        <p:spPr>
          <a:xfrm>
            <a:off x="6369050" y="2002780"/>
            <a:ext cx="219106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JetBrains Mono" pitchFamily="49" charset="0"/>
                <a:ea typeface="JetBrains Mono" pitchFamily="49" charset="-122"/>
                <a:cs typeface="JetBrains Mono" pitchFamily="49" charset="-120"/>
              </a:rPr>
              <a:t>float</a:t>
            </a:r>
            <a:endParaRPr lang="en-US" sz="2000" dirty="0"/>
          </a:p>
        </p:txBody>
      </p:sp>
      <p:sp>
        <p:nvSpPr>
          <p:cNvPr id="21" name="Shape 19"/>
          <p:cNvSpPr/>
          <p:nvPr/>
        </p:nvSpPr>
        <p:spPr>
          <a:xfrm>
            <a:off x="6369050" y="2447280"/>
            <a:ext cx="254000" cy="254000"/>
          </a:xfrm>
          <a:prstGeom prst="roundRect">
            <a:avLst>
              <a:gd name="adj" fmla="val 15000"/>
            </a:avLst>
          </a:prstGeom>
          <a:solidFill>
            <a:srgbClr val="E9893F"/>
          </a:solidFill>
          <a:ln/>
        </p:spPr>
      </p:sp>
      <p:sp>
        <p:nvSpPr>
          <p:cNvPr id="22" name="Shape 20"/>
          <p:cNvSpPr/>
          <p:nvPr/>
        </p:nvSpPr>
        <p:spPr>
          <a:xfrm>
            <a:off x="6661150" y="2447280"/>
            <a:ext cx="254000" cy="254000"/>
          </a:xfrm>
          <a:prstGeom prst="roundRect">
            <a:avLst>
              <a:gd name="adj" fmla="val 15000"/>
            </a:avLst>
          </a:prstGeom>
          <a:solidFill>
            <a:srgbClr val="E9893F"/>
          </a:solidFill>
          <a:ln/>
        </p:spPr>
      </p:sp>
      <p:sp>
        <p:nvSpPr>
          <p:cNvPr id="23" name="Shape 21"/>
          <p:cNvSpPr/>
          <p:nvPr/>
        </p:nvSpPr>
        <p:spPr>
          <a:xfrm>
            <a:off x="6953250" y="2447280"/>
            <a:ext cx="254000" cy="254000"/>
          </a:xfrm>
          <a:prstGeom prst="roundRect">
            <a:avLst>
              <a:gd name="adj" fmla="val 15000"/>
            </a:avLst>
          </a:prstGeom>
          <a:solidFill>
            <a:srgbClr val="E9893F"/>
          </a:solidFill>
          <a:ln/>
        </p:spPr>
      </p:sp>
      <p:sp>
        <p:nvSpPr>
          <p:cNvPr id="24" name="Shape 22"/>
          <p:cNvSpPr/>
          <p:nvPr/>
        </p:nvSpPr>
        <p:spPr>
          <a:xfrm>
            <a:off x="7245350" y="2447280"/>
            <a:ext cx="254000" cy="254000"/>
          </a:xfrm>
          <a:prstGeom prst="roundRect">
            <a:avLst>
              <a:gd name="adj" fmla="val 15000"/>
            </a:avLst>
          </a:prstGeom>
          <a:solidFill>
            <a:srgbClr val="E9893F"/>
          </a:solidFill>
          <a:ln/>
        </p:spPr>
      </p:sp>
      <p:sp>
        <p:nvSpPr>
          <p:cNvPr id="25" name="Text 23"/>
          <p:cNvSpPr/>
          <p:nvPr/>
        </p:nvSpPr>
        <p:spPr>
          <a:xfrm>
            <a:off x="6369050" y="2790180"/>
            <a:ext cx="2191068"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4 bytes · A decimal, about 6–7 digits</a:t>
            </a:r>
            <a:endParaRPr lang="en-US" sz="1300" dirty="0"/>
          </a:p>
        </p:txBody>
      </p:sp>
      <p:sp>
        <p:nvSpPr>
          <p:cNvPr id="26" name="Text 24"/>
          <p:cNvSpPr/>
          <p:nvPr/>
        </p:nvSpPr>
        <p:spPr>
          <a:xfrm>
            <a:off x="6369050" y="3341340"/>
            <a:ext cx="219106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Canteen: price 12.50</a:t>
            </a:r>
            <a:endParaRPr lang="en-US" sz="1300" dirty="0"/>
          </a:p>
        </p:txBody>
      </p:sp>
      <p:sp>
        <p:nvSpPr>
          <p:cNvPr id="27" name="Text 25"/>
          <p:cNvSpPr/>
          <p:nvPr/>
        </p:nvSpPr>
        <p:spPr>
          <a:xfrm>
            <a:off x="6369050" y="3661370"/>
            <a:ext cx="21910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%f</a:t>
            </a:r>
            <a:endParaRPr lang="en-US" sz="1400" dirty="0"/>
          </a:p>
        </p:txBody>
      </p:sp>
      <p:sp>
        <p:nvSpPr>
          <p:cNvPr id="28" name="Shape 26"/>
          <p:cNvSpPr/>
          <p:nvPr/>
        </p:nvSpPr>
        <p:spPr>
          <a:xfrm>
            <a:off x="8836025" y="1796405"/>
            <a:ext cx="2540000" cy="2612330"/>
          </a:xfrm>
          <a:prstGeom prst="roundRect">
            <a:avLst>
              <a:gd name="adj" fmla="val 4375"/>
            </a:avLst>
          </a:prstGeom>
          <a:solidFill>
            <a:srgbClr val="FFFDF8"/>
          </a:solidFill>
          <a:ln w="6350">
            <a:solidFill>
              <a:srgbClr val="E2DDD2"/>
            </a:solidFill>
            <a:prstDash val="solid"/>
          </a:ln>
        </p:spPr>
      </p:sp>
      <p:sp>
        <p:nvSpPr>
          <p:cNvPr id="29" name="Text 27"/>
          <p:cNvSpPr/>
          <p:nvPr/>
        </p:nvSpPr>
        <p:spPr>
          <a:xfrm>
            <a:off x="9042400" y="2002780"/>
            <a:ext cx="219106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JetBrains Mono" pitchFamily="49" charset="0"/>
                <a:ea typeface="JetBrains Mono" pitchFamily="49" charset="-122"/>
                <a:cs typeface="JetBrains Mono" pitchFamily="49" charset="-120"/>
              </a:rPr>
              <a:t>double</a:t>
            </a:r>
            <a:endParaRPr lang="en-US" sz="2000" dirty="0"/>
          </a:p>
        </p:txBody>
      </p:sp>
      <p:sp>
        <p:nvSpPr>
          <p:cNvPr id="30" name="Shape 28"/>
          <p:cNvSpPr/>
          <p:nvPr/>
        </p:nvSpPr>
        <p:spPr>
          <a:xfrm>
            <a:off x="9042400" y="2447280"/>
            <a:ext cx="254000" cy="254000"/>
          </a:xfrm>
          <a:prstGeom prst="roundRect">
            <a:avLst>
              <a:gd name="adj" fmla="val 15000"/>
            </a:avLst>
          </a:prstGeom>
          <a:solidFill>
            <a:srgbClr val="E9893F"/>
          </a:solidFill>
          <a:ln/>
        </p:spPr>
      </p:sp>
      <p:sp>
        <p:nvSpPr>
          <p:cNvPr id="31" name="Shape 29"/>
          <p:cNvSpPr/>
          <p:nvPr/>
        </p:nvSpPr>
        <p:spPr>
          <a:xfrm>
            <a:off x="9334500" y="2447280"/>
            <a:ext cx="254000" cy="254000"/>
          </a:xfrm>
          <a:prstGeom prst="roundRect">
            <a:avLst>
              <a:gd name="adj" fmla="val 15000"/>
            </a:avLst>
          </a:prstGeom>
          <a:solidFill>
            <a:srgbClr val="E9893F"/>
          </a:solidFill>
          <a:ln/>
        </p:spPr>
      </p:sp>
      <p:sp>
        <p:nvSpPr>
          <p:cNvPr id="32" name="Shape 30"/>
          <p:cNvSpPr/>
          <p:nvPr/>
        </p:nvSpPr>
        <p:spPr>
          <a:xfrm>
            <a:off x="9626600" y="2447280"/>
            <a:ext cx="254000" cy="254000"/>
          </a:xfrm>
          <a:prstGeom prst="roundRect">
            <a:avLst>
              <a:gd name="adj" fmla="val 15000"/>
            </a:avLst>
          </a:prstGeom>
          <a:solidFill>
            <a:srgbClr val="E9893F"/>
          </a:solidFill>
          <a:ln/>
        </p:spPr>
      </p:sp>
      <p:sp>
        <p:nvSpPr>
          <p:cNvPr id="33" name="Shape 31"/>
          <p:cNvSpPr/>
          <p:nvPr/>
        </p:nvSpPr>
        <p:spPr>
          <a:xfrm>
            <a:off x="9918700" y="2447280"/>
            <a:ext cx="254000" cy="254000"/>
          </a:xfrm>
          <a:prstGeom prst="roundRect">
            <a:avLst>
              <a:gd name="adj" fmla="val 15000"/>
            </a:avLst>
          </a:prstGeom>
          <a:solidFill>
            <a:srgbClr val="E9893F"/>
          </a:solidFill>
          <a:ln/>
        </p:spPr>
      </p:sp>
      <p:sp>
        <p:nvSpPr>
          <p:cNvPr id="34" name="Shape 32"/>
          <p:cNvSpPr/>
          <p:nvPr/>
        </p:nvSpPr>
        <p:spPr>
          <a:xfrm>
            <a:off x="10210800" y="2447280"/>
            <a:ext cx="254000" cy="254000"/>
          </a:xfrm>
          <a:prstGeom prst="roundRect">
            <a:avLst>
              <a:gd name="adj" fmla="val 15000"/>
            </a:avLst>
          </a:prstGeom>
          <a:solidFill>
            <a:srgbClr val="E9893F"/>
          </a:solidFill>
          <a:ln/>
        </p:spPr>
      </p:sp>
      <p:sp>
        <p:nvSpPr>
          <p:cNvPr id="35" name="Shape 33"/>
          <p:cNvSpPr/>
          <p:nvPr/>
        </p:nvSpPr>
        <p:spPr>
          <a:xfrm>
            <a:off x="10502900" y="2447280"/>
            <a:ext cx="254000" cy="254000"/>
          </a:xfrm>
          <a:prstGeom prst="roundRect">
            <a:avLst>
              <a:gd name="adj" fmla="val 15000"/>
            </a:avLst>
          </a:prstGeom>
          <a:solidFill>
            <a:srgbClr val="E9893F"/>
          </a:solidFill>
          <a:ln/>
        </p:spPr>
      </p:sp>
      <p:sp>
        <p:nvSpPr>
          <p:cNvPr id="36" name="Shape 34"/>
          <p:cNvSpPr/>
          <p:nvPr/>
        </p:nvSpPr>
        <p:spPr>
          <a:xfrm>
            <a:off x="10795000" y="2447280"/>
            <a:ext cx="254000" cy="254000"/>
          </a:xfrm>
          <a:prstGeom prst="roundRect">
            <a:avLst>
              <a:gd name="adj" fmla="val 15000"/>
            </a:avLst>
          </a:prstGeom>
          <a:solidFill>
            <a:srgbClr val="E9893F"/>
          </a:solidFill>
          <a:ln/>
        </p:spPr>
      </p:sp>
      <p:sp>
        <p:nvSpPr>
          <p:cNvPr id="37" name="Shape 35"/>
          <p:cNvSpPr/>
          <p:nvPr/>
        </p:nvSpPr>
        <p:spPr>
          <a:xfrm>
            <a:off x="9042400" y="2739380"/>
            <a:ext cx="254000" cy="254000"/>
          </a:xfrm>
          <a:prstGeom prst="roundRect">
            <a:avLst>
              <a:gd name="adj" fmla="val 15000"/>
            </a:avLst>
          </a:prstGeom>
          <a:solidFill>
            <a:srgbClr val="E9893F"/>
          </a:solidFill>
          <a:ln/>
        </p:spPr>
      </p:sp>
      <p:sp>
        <p:nvSpPr>
          <p:cNvPr id="38" name="Text 36"/>
          <p:cNvSpPr/>
          <p:nvPr/>
        </p:nvSpPr>
        <p:spPr>
          <a:xfrm>
            <a:off x="9042400" y="3082280"/>
            <a:ext cx="2191068"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8 bytes · A precise decimal, about 15 digits</a:t>
            </a:r>
            <a:endParaRPr lang="en-US" sz="1300" dirty="0"/>
          </a:p>
        </p:txBody>
      </p:sp>
      <p:sp>
        <p:nvSpPr>
          <p:cNvPr id="39" name="Text 37"/>
          <p:cNvSpPr/>
          <p:nvPr/>
        </p:nvSpPr>
        <p:spPr>
          <a:xfrm>
            <a:off x="9042400" y="3633440"/>
            <a:ext cx="219106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Canteen: GST rate 0.05</a:t>
            </a:r>
            <a:endParaRPr lang="en-US" sz="1300" dirty="0"/>
          </a:p>
        </p:txBody>
      </p:sp>
      <p:sp>
        <p:nvSpPr>
          <p:cNvPr id="40" name="Text 38"/>
          <p:cNvSpPr/>
          <p:nvPr/>
        </p:nvSpPr>
        <p:spPr>
          <a:xfrm>
            <a:off x="9042400" y="3953470"/>
            <a:ext cx="21910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JetBrains Mono" pitchFamily="49" charset="0"/>
                <a:ea typeface="JetBrains Mono" pitchFamily="49" charset="-122"/>
                <a:cs typeface="JetBrains Mono" pitchFamily="49" charset="-120"/>
              </a:rPr>
              <a:t>%lf</a:t>
            </a:r>
            <a:endParaRPr lang="en-US" sz="1400" dirty="0"/>
          </a:p>
        </p:txBody>
      </p:sp>
      <p:sp>
        <p:nvSpPr>
          <p:cNvPr id="41" name="Text 39"/>
          <p:cNvSpPr/>
          <p:nvPr/>
        </p:nvSpPr>
        <p:spPr>
          <a:xfrm>
            <a:off x="812800" y="466591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230"/>
                </a:solidFill>
                <a:latin typeface="Rubik" pitchFamily="34" charset="0"/>
                <a:ea typeface="Rubik" pitchFamily="34" charset="-122"/>
                <a:cs typeface="Rubik" pitchFamily="34" charset="-120"/>
              </a:rPr>
              <a:t>Each orange square is </a:t>
            </a:r>
            <a:r>
              <a:rPr lang="en-US" sz="1400" b="1" dirty="0">
                <a:solidFill>
                  <a:srgbClr val="1C2230"/>
                </a:solidFill>
                <a:latin typeface="Rubik" pitchFamily="34" charset="0"/>
                <a:ea typeface="Rubik" pitchFamily="34" charset="-122"/>
                <a:cs typeface="Rubik" pitchFamily="34" charset="-120"/>
              </a:rPr>
              <a:t>1 byte</a:t>
            </a:r>
            <a:r>
              <a:rPr lang="en-US" sz="1400" dirty="0">
                <a:solidFill>
                  <a:srgbClr val="1C2230"/>
                </a:solidFill>
                <a:latin typeface="Rubik" pitchFamily="34" charset="0"/>
                <a:ea typeface="Rubik" pitchFamily="34" charset="-122"/>
                <a:cs typeface="Rubik" pitchFamily="34" charset="-120"/>
              </a:rPr>
              <a:t> of memory. Sizes shown are typical for modern computers.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4546"/>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5 OF 8 · PRIMITIVE DATA TYPES</a:t>
            </a:r>
            <a:endParaRPr lang="en-US" sz="1300" dirty="0"/>
          </a:p>
        </p:txBody>
      </p:sp>
      <p:sp>
        <p:nvSpPr>
          <p:cNvPr id="3" name="Text 1"/>
          <p:cNvSpPr/>
          <p:nvPr>
            <p:ph type="title"/>
          </p:nvPr>
        </p:nvSpPr>
        <p:spPr>
          <a:xfrm>
            <a:off x="812800" y="1118146"/>
            <a:ext cx="10883392" cy="440879"/>
          </a:xfrm>
          <a:prstGeom prst="rect">
            <a:avLst/>
          </a:prstGeom>
          <a:noFill/>
          <a:ln/>
        </p:spPr>
        <p:txBody>
          <a:bodyPr wrap="square" lIns="0" tIns="0" rIns="0" bIns="0" rtlCol="0" anchor="t">
            <a:normAutofit/>
          </a:bodyPr>
          <a:lstStyle/>
          <a:p>
            <a:pPr algn="l" indent="0" marL="0">
              <a:lnSpc>
                <a:spcPts val="3269"/>
              </a:lnSpc>
              <a:buNone/>
            </a:pPr>
            <a:r>
              <a:rPr lang="en-US" sz="2972" b="1" i="0" dirty="0">
                <a:solidFill>
                  <a:srgbClr val="1C2230"/>
                </a:solidFill>
                <a:latin typeface="Rubik" pitchFamily="34" charset="0"/>
                <a:ea typeface="Rubik" pitchFamily="34" charset="-122"/>
                <a:cs typeface="Rubik" pitchFamily="34" charset="-120"/>
              </a:rPr>
              <a:t>The four basic types at a glance</a:t>
            </a:r>
            <a:endParaRPr lang="en-US" sz="2972" dirty="0"/>
          </a:p>
        </p:txBody>
      </p:sp>
      <p:sp>
        <p:nvSpPr>
          <p:cNvPr id="4" name="Shape 2"/>
          <p:cNvSpPr/>
          <p:nvPr/>
        </p:nvSpPr>
        <p:spPr>
          <a:xfrm>
            <a:off x="812800" y="1787624"/>
            <a:ext cx="10566400" cy="3756620"/>
          </a:xfrm>
          <a:prstGeom prst="rect">
            <a:avLst/>
          </a:prstGeom>
          <a:solidFill>
            <a:srgbClr val="FFFDF8"/>
          </a:solidFill>
          <a:ln/>
        </p:spPr>
      </p:sp>
      <p:sp>
        <p:nvSpPr>
          <p:cNvPr id="5" name="Shape 3"/>
          <p:cNvSpPr/>
          <p:nvPr/>
        </p:nvSpPr>
        <p:spPr>
          <a:xfrm>
            <a:off x="11376025" y="1787624"/>
            <a:ext cx="0" cy="3756620"/>
          </a:xfrm>
          <a:prstGeom prst="line">
            <a:avLst/>
          </a:prstGeom>
          <a:noFill/>
          <a:ln w="6350">
            <a:solidFill>
              <a:srgbClr val="E2DDD2"/>
            </a:solidFill>
            <a:prstDash val="solid"/>
          </a:ln>
        </p:spPr>
      </p:sp>
      <p:sp>
        <p:nvSpPr>
          <p:cNvPr id="6" name="Shape 4"/>
          <p:cNvSpPr/>
          <p:nvPr/>
        </p:nvSpPr>
        <p:spPr>
          <a:xfrm>
            <a:off x="812800" y="5541070"/>
            <a:ext cx="10566400" cy="0"/>
          </a:xfrm>
          <a:prstGeom prst="line">
            <a:avLst/>
          </a:prstGeom>
          <a:noFill/>
          <a:ln w="6350">
            <a:solidFill>
              <a:srgbClr val="E2DDD2"/>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00324"/>
          <a:ext cx="10547350" cy="3737570"/>
        </p:xfrm>
        <a:graphic>
          <a:graphicData uri="http://schemas.openxmlformats.org/drawingml/2006/table">
            <a:tbl>
              <a:tblPr/>
              <a:tblGrid>
                <a:gridCol w="2636838"/>
                <a:gridCol w="2636838"/>
                <a:gridCol w="2636838"/>
                <a:gridCol w="2636838"/>
              </a:tblGrid>
              <a:tr h="523131">
                <a:tc>
                  <a:txBody>
                    <a:bodyPr/>
                    <a:lstStyle/>
                    <a:p>
                      <a:pPr indent="0" marL="0">
                        <a:lnSpc>
                          <a:spcPts val="2219"/>
                        </a:lnSpc>
                        <a:buNone/>
                      </a:pPr>
                      <a:r>
                        <a:rPr lang="en-US" sz="1585" b="1" dirty="0">
                          <a:solidFill>
                            <a:srgbClr val="E9893F"/>
                          </a:solidFill>
                          <a:latin typeface="Rubik" pitchFamily="34" charset="0"/>
                          <a:ea typeface="Rubik" pitchFamily="34" charset="-122"/>
                          <a:cs typeface="Rubik" pitchFamily="34" charset="-120"/>
                        </a:rPr>
                        <a:t>Type</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2219"/>
                        </a:lnSpc>
                        <a:buNone/>
                      </a:pPr>
                      <a:r>
                        <a:rPr lang="en-US" sz="1585" b="1" dirty="0">
                          <a:solidFill>
                            <a:srgbClr val="E9893F"/>
                          </a:solidFill>
                          <a:latin typeface="Rubik" pitchFamily="34" charset="0"/>
                          <a:ea typeface="Rubik" pitchFamily="34" charset="-122"/>
                          <a:cs typeface="Rubik" pitchFamily="34" charset="-120"/>
                        </a:rPr>
                        <a:t>Typical size</a:t>
                      </a:r>
                      <a:endParaRPr lang="en-US" sz="1585" dirty="0">
                        <a:latin typeface="Rubik" charset="0"/>
                        <a:ea typeface="Rubik" charset="0"/>
                        <a:cs typeface="Rubik" charset="0"/>
                      </a:endParaRPr>
                    </a:p>
                  </a:txBody>
                  <a:tcPr marL="152400" marR="152400" marT="114300" marB="11430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2219"/>
                        </a:lnSpc>
                        <a:buNone/>
                      </a:pPr>
                      <a:r>
                        <a:rPr lang="en-US" sz="1585" b="1" dirty="0">
                          <a:solidFill>
                            <a:srgbClr val="E9893F"/>
                          </a:solidFill>
                          <a:latin typeface="Rubik" pitchFamily="34" charset="0"/>
                          <a:ea typeface="Rubik" pitchFamily="34" charset="-122"/>
                          <a:cs typeface="Rubik" pitchFamily="34" charset="-120"/>
                        </a:rPr>
                        <a:t>Holds</a:t>
                      </a:r>
                      <a:endParaRPr lang="en-US" sz="1585" dirty="0">
                        <a:latin typeface="Rubik" charset="0"/>
                        <a:ea typeface="Rubik" charset="0"/>
                        <a:cs typeface="Rubik" charset="0"/>
                      </a:endParaRPr>
                    </a:p>
                  </a:txBody>
                  <a:tcPr marL="152400" marR="152400" marT="114300" marB="11430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2219"/>
                        </a:lnSpc>
                        <a:buNone/>
                      </a:pPr>
                      <a:r>
                        <a:rPr lang="en-US" sz="1585" b="1" dirty="0">
                          <a:solidFill>
                            <a:srgbClr val="E9893F"/>
                          </a:solidFill>
                          <a:latin typeface="Rubik" pitchFamily="34" charset="0"/>
                          <a:ea typeface="Rubik" pitchFamily="34" charset="-122"/>
                          <a:cs typeface="Rubik" pitchFamily="34" charset="-120"/>
                        </a:rPr>
                        <a:t>printf / scanf</a:t>
                      </a:r>
                      <a:endParaRPr lang="en-US" sz="1585" dirty="0">
                        <a:latin typeface="Rubik" charset="0"/>
                        <a:ea typeface="Rubik" charset="0"/>
                        <a:cs typeface="Rubik" charset="0"/>
                      </a:endParaRPr>
                    </a:p>
                  </a:txBody>
                  <a:tcPr marL="152400" marR="152400" marT="114300" marB="11430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803573">
                <a:tc>
                  <a:txBody>
                    <a:bodyPr/>
                    <a:lstStyle/>
                    <a:p>
                      <a:pPr indent="0" marL="0">
                        <a:lnSpc>
                          <a:spcPts val="2219"/>
                        </a:lnSpc>
                        <a:buNone/>
                      </a:pPr>
                      <a:r>
                        <a:rPr lang="en-US" sz="1585" dirty="0">
                          <a:solidFill>
                            <a:srgbClr val="2A5BD7"/>
                          </a:solidFill>
                          <a:latin typeface="Rubik" pitchFamily="34" charset="0"/>
                          <a:ea typeface="Rubik" pitchFamily="34" charset="-122"/>
                          <a:cs typeface="Rubik" pitchFamily="34" charset="-120"/>
                        </a:rPr>
                        <a:t>char</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1C2230"/>
                          </a:solidFill>
                          <a:latin typeface="Rubik" pitchFamily="34" charset="0"/>
                          <a:ea typeface="Rubik" pitchFamily="34" charset="-122"/>
                          <a:cs typeface="Rubik" pitchFamily="34" charset="-120"/>
                        </a:rPr>
                        <a:t>1 byte</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1C2230"/>
                          </a:solidFill>
                          <a:latin typeface="Rubik" pitchFamily="34" charset="0"/>
                          <a:ea typeface="Rubik" pitchFamily="34" charset="-122"/>
                          <a:cs typeface="Rubik" pitchFamily="34" charset="-120"/>
                        </a:rPr>
                        <a:t>−128 to 127, or one character</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A94F17"/>
                          </a:solidFill>
                          <a:latin typeface="Rubik" pitchFamily="34" charset="0"/>
                          <a:ea typeface="Rubik" pitchFamily="34" charset="-122"/>
                          <a:cs typeface="Rubik" pitchFamily="34" charset="-120"/>
                        </a:rPr>
                        <a:t>%c</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803622">
                <a:tc>
                  <a:txBody>
                    <a:bodyPr/>
                    <a:lstStyle/>
                    <a:p>
                      <a:pPr indent="0" marL="0">
                        <a:lnSpc>
                          <a:spcPts val="2219"/>
                        </a:lnSpc>
                        <a:buNone/>
                      </a:pPr>
                      <a:r>
                        <a:rPr lang="en-US" sz="1585" dirty="0">
                          <a:solidFill>
                            <a:srgbClr val="2A5BD7"/>
                          </a:solidFill>
                          <a:latin typeface="Rubik" pitchFamily="34" charset="0"/>
                          <a:ea typeface="Rubik" pitchFamily="34" charset="-122"/>
                          <a:cs typeface="Rubik" pitchFamily="34" charset="-120"/>
                        </a:rPr>
                        <a:t>int</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1C2230"/>
                          </a:solidFill>
                          <a:latin typeface="Rubik" pitchFamily="34" charset="0"/>
                          <a:ea typeface="Rubik" pitchFamily="34" charset="-122"/>
                          <a:cs typeface="Rubik" pitchFamily="34" charset="-120"/>
                        </a:rPr>
                        <a:t>4 bytes</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1C2230"/>
                          </a:solidFill>
                          <a:latin typeface="Rubik" pitchFamily="34" charset="0"/>
                          <a:ea typeface="Rubik" pitchFamily="34" charset="-122"/>
                          <a:cs typeface="Rubik" pitchFamily="34" charset="-120"/>
                        </a:rPr>
                        <a:t>about −2.1 billion to +2.1 billion</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A94F17"/>
                          </a:solidFill>
                          <a:latin typeface="Rubik" pitchFamily="34" charset="0"/>
                          <a:ea typeface="Rubik" pitchFamily="34" charset="-122"/>
                          <a:cs typeface="Rubik" pitchFamily="34" charset="-120"/>
                        </a:rPr>
                        <a:t>%d</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803622">
                <a:tc>
                  <a:txBody>
                    <a:bodyPr/>
                    <a:lstStyle/>
                    <a:p>
                      <a:pPr indent="0" marL="0">
                        <a:lnSpc>
                          <a:spcPts val="2219"/>
                        </a:lnSpc>
                        <a:buNone/>
                      </a:pPr>
                      <a:r>
                        <a:rPr lang="en-US" sz="1585" dirty="0">
                          <a:solidFill>
                            <a:srgbClr val="2A5BD7"/>
                          </a:solidFill>
                          <a:latin typeface="Rubik" pitchFamily="34" charset="0"/>
                          <a:ea typeface="Rubik" pitchFamily="34" charset="-122"/>
                          <a:cs typeface="Rubik" pitchFamily="34" charset="-120"/>
                        </a:rPr>
                        <a:t>float</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1C2230"/>
                          </a:solidFill>
                          <a:latin typeface="Rubik" pitchFamily="34" charset="0"/>
                          <a:ea typeface="Rubik" pitchFamily="34" charset="-122"/>
                          <a:cs typeface="Rubik" pitchFamily="34" charset="-120"/>
                        </a:rPr>
                        <a:t>4 bytes</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1C2230"/>
                          </a:solidFill>
                          <a:latin typeface="Rubik" pitchFamily="34" charset="0"/>
                          <a:ea typeface="Rubik" pitchFamily="34" charset="-122"/>
                          <a:cs typeface="Rubik" pitchFamily="34" charset="-120"/>
                        </a:rPr>
                        <a:t>decimals, about 6–7 digits</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A94F17"/>
                          </a:solidFill>
                          <a:latin typeface="Rubik" pitchFamily="34" charset="0"/>
                          <a:ea typeface="Rubik" pitchFamily="34" charset="-122"/>
                          <a:cs typeface="Rubik" pitchFamily="34" charset="-120"/>
                        </a:rPr>
                        <a:t>%f</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803622">
                <a:tc>
                  <a:txBody>
                    <a:bodyPr/>
                    <a:lstStyle/>
                    <a:p>
                      <a:pPr indent="0" marL="0">
                        <a:lnSpc>
                          <a:spcPts val="2219"/>
                        </a:lnSpc>
                        <a:buNone/>
                      </a:pPr>
                      <a:r>
                        <a:rPr lang="en-US" sz="1585" dirty="0">
                          <a:solidFill>
                            <a:srgbClr val="2A5BD7"/>
                          </a:solidFill>
                          <a:latin typeface="Rubik" pitchFamily="34" charset="0"/>
                          <a:ea typeface="Rubik" pitchFamily="34" charset="-122"/>
                          <a:cs typeface="Rubik" pitchFamily="34" charset="-120"/>
                        </a:rPr>
                        <a:t>double</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1C2230"/>
                          </a:solidFill>
                          <a:latin typeface="Rubik" pitchFamily="34" charset="0"/>
                          <a:ea typeface="Rubik" pitchFamily="34" charset="-122"/>
                          <a:cs typeface="Rubik" pitchFamily="34" charset="-120"/>
                        </a:rPr>
                        <a:t>8 bytes</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1C2230"/>
                          </a:solidFill>
                          <a:latin typeface="Rubik" pitchFamily="34" charset="0"/>
                          <a:ea typeface="Rubik" pitchFamily="34" charset="-122"/>
                          <a:cs typeface="Rubik" pitchFamily="34" charset="-120"/>
                        </a:rPr>
                        <a:t>decimals, about 15–16 digits</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19"/>
                        </a:lnSpc>
                        <a:buNone/>
                      </a:pPr>
                      <a:r>
                        <a:rPr lang="en-US" sz="1585" dirty="0">
                          <a:solidFill>
                            <a:srgbClr val="A94F17"/>
                          </a:solidFill>
                          <a:latin typeface="Rubik" pitchFamily="34" charset="0"/>
                          <a:ea typeface="Rubik" pitchFamily="34" charset="-122"/>
                          <a:cs typeface="Rubik" pitchFamily="34" charset="-120"/>
                        </a:rPr>
                        <a:t>%lf</a:t>
                      </a:r>
                      <a:endParaRPr lang="en-US" sz="1585" dirty="0">
                        <a:latin typeface="Rubik" charset="0"/>
                        <a:ea typeface="Rubik" charset="0"/>
                        <a:cs typeface="Rubik" charset="0"/>
                      </a:endParaRPr>
                    </a:p>
                  </a:txBody>
                  <a:tcPr marL="152400" marR="152400" marT="114300" marB="1143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8" name="Text 5"/>
          <p:cNvSpPr/>
          <p:nvPr/>
        </p:nvSpPr>
        <p:spPr>
          <a:xfrm>
            <a:off x="812800" y="5798245"/>
            <a:ext cx="10883392" cy="2723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6273"/>
                </a:solidFill>
                <a:latin typeface="Rubik" pitchFamily="34" charset="0"/>
                <a:ea typeface="Rubik" pitchFamily="34" charset="-122"/>
                <a:cs typeface="Rubik" pitchFamily="34" charset="-120"/>
              </a:rPr>
              <a:t>Modifiers like short, long and unsigned change the size or range. You will meet them in the lab.</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5 OF 8 · PRIMITIVE DATA TYPES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Ask the computer: sizeof</a:t>
            </a:r>
            <a:endParaRPr lang="en-US" sz="3000" dirty="0"/>
          </a:p>
        </p:txBody>
      </p:sp>
      <p:sp>
        <p:nvSpPr>
          <p:cNvPr id="4" name="Text 2"/>
          <p:cNvSpPr/>
          <p:nvPr/>
        </p:nvSpPr>
        <p:spPr>
          <a:xfrm>
            <a:off x="812800" y="1793230"/>
            <a:ext cx="5181600" cy="2666702"/>
          </a:xfrm>
          <a:prstGeom prst="roundRect">
            <a:avLst>
              <a:gd name="adj" fmla="val 3334"/>
            </a:avLst>
          </a:prstGeom>
          <a:solidFill>
            <a:srgbClr val="15233F"/>
          </a:solidFill>
          <a:ln/>
        </p:spPr>
        <p:txBody>
          <a:bodyPr wrap="square" lIns="164462" tIns="126362" rIns="20444" bIns="100962" rtlCol="0" anchor="t">
            <a:normAutofit/>
          </a:bodyPr>
          <a:lstStyle/>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 Module 2, Class 1: how big is each data type? */</a:t>
            </a:r>
            <a:endParaRPr lang="en-US" sz="1200" dirty="0"/>
          </a:p>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#include &lt;stdio.h&gt;</a:t>
            </a:r>
            <a:endParaRPr lang="en-US" sz="1200" dirty="0"/>
          </a:p>
          <a:p>
            <a:pPr algn="l" indent="0" marL="0">
              <a:lnSpc>
                <a:spcPts val="1860"/>
              </a:lnSpc>
              <a:buNone/>
            </a:pPr>
            <a:endParaRPr lang="en-US" sz="1200" dirty="0"/>
          </a:p>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int main(void) {</a:t>
            </a:r>
            <a:endParaRPr lang="en-US" sz="1200" dirty="0"/>
          </a:p>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    printf("char : %zu byte\n", sizeof(char));</a:t>
            </a:r>
            <a:endParaRPr lang="en-US" sz="1200" dirty="0"/>
          </a:p>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    printf("int : %zu bytes\n", sizeof(int));</a:t>
            </a:r>
            <a:endParaRPr lang="en-US" sz="1200" dirty="0"/>
          </a:p>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    printf("float : %zu bytes\n", sizeof(float));</a:t>
            </a:r>
            <a:endParaRPr lang="en-US" sz="1200" dirty="0"/>
          </a:p>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    printf("double : %zu bytes\n", sizeof(double));</a:t>
            </a:r>
            <a:endParaRPr lang="en-US" sz="1200" dirty="0"/>
          </a:p>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    return 0;</a:t>
            </a:r>
            <a:endParaRPr lang="en-US" sz="1200" dirty="0"/>
          </a:p>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p:txBody>
      </p:sp>
      <p:sp>
        <p:nvSpPr>
          <p:cNvPr id="5" name="Text 3"/>
          <p:cNvSpPr/>
          <p:nvPr/>
        </p:nvSpPr>
        <p:spPr>
          <a:xfrm>
            <a:off x="6200775" y="2068066"/>
            <a:ext cx="5175250" cy="1492250"/>
          </a:xfrm>
          <a:prstGeom prst="roundRect">
            <a:avLst>
              <a:gd name="adj" fmla="val 5745"/>
            </a:avLst>
          </a:prstGeom>
          <a:solidFill>
            <a:srgbClr val="0C1528"/>
          </a:solidFill>
          <a:ln w="6350">
            <a:solidFill>
              <a:srgbClr val="2D3E63"/>
            </a:solidFill>
            <a:prstDash val="solid"/>
          </a:ln>
        </p:spPr>
        <p:txBody>
          <a:bodyPr wrap="square" lIns="168567" tIns="130467" rIns="24930" bIns="105067" rtlCol="0" anchor="t">
            <a:normAutofit/>
          </a:bodyPr>
          <a:lstStyle/>
          <a:p>
            <a:pPr algn="l" indent="0" marL="0">
              <a:lnSpc>
                <a:spcPts val="2325"/>
              </a:lnSpc>
              <a:buNone/>
            </a:pPr>
            <a:r>
              <a:rPr lang="en-US" sz="1500" dirty="0">
                <a:solidFill>
                  <a:srgbClr val="7FD1A4"/>
                </a:solidFill>
                <a:latin typeface="JetBrains Mono" pitchFamily="49" charset="0"/>
                <a:ea typeface="JetBrains Mono" pitchFamily="49" charset="-122"/>
                <a:cs typeface="JetBrains Mono" pitchFamily="49" charset="-120"/>
              </a:rPr>
              <a:t>char : 1 byte</a:t>
            </a:r>
            <a:endParaRPr lang="en-US" sz="1500" dirty="0"/>
          </a:p>
          <a:p>
            <a:pPr algn="l" indent="0" marL="0">
              <a:lnSpc>
                <a:spcPts val="2325"/>
              </a:lnSpc>
              <a:buNone/>
            </a:pPr>
            <a:r>
              <a:rPr lang="en-US" sz="1500" dirty="0">
                <a:solidFill>
                  <a:srgbClr val="7FD1A4"/>
                </a:solidFill>
                <a:latin typeface="JetBrains Mono" pitchFamily="49" charset="0"/>
                <a:ea typeface="JetBrains Mono" pitchFamily="49" charset="-122"/>
                <a:cs typeface="JetBrains Mono" pitchFamily="49" charset="-120"/>
              </a:rPr>
              <a:t>int : 4 bytes</a:t>
            </a:r>
            <a:endParaRPr lang="en-US" sz="1500" dirty="0"/>
          </a:p>
          <a:p>
            <a:pPr algn="l" indent="0" marL="0">
              <a:lnSpc>
                <a:spcPts val="2325"/>
              </a:lnSpc>
              <a:buNone/>
            </a:pPr>
            <a:r>
              <a:rPr lang="en-US" sz="1500" dirty="0">
                <a:solidFill>
                  <a:srgbClr val="7FD1A4"/>
                </a:solidFill>
                <a:latin typeface="JetBrains Mono" pitchFamily="49" charset="0"/>
                <a:ea typeface="JetBrains Mono" pitchFamily="49" charset="-122"/>
                <a:cs typeface="JetBrains Mono" pitchFamily="49" charset="-120"/>
              </a:rPr>
              <a:t>float : 4 bytes</a:t>
            </a:r>
            <a:endParaRPr lang="en-US" sz="1500" dirty="0"/>
          </a:p>
          <a:p>
            <a:pPr algn="l" indent="0" marL="0">
              <a:lnSpc>
                <a:spcPts val="2325"/>
              </a:lnSpc>
              <a:buNone/>
            </a:pPr>
            <a:r>
              <a:rPr lang="en-US" sz="1500" dirty="0">
                <a:solidFill>
                  <a:srgbClr val="7FD1A4"/>
                </a:solidFill>
                <a:latin typeface="JetBrains Mono" pitchFamily="49" charset="0"/>
                <a:ea typeface="JetBrains Mono" pitchFamily="49" charset="-122"/>
                <a:cs typeface="JetBrains Mono" pitchFamily="49" charset="-120"/>
              </a:rPr>
              <a:t>double : 8 bytes</a:t>
            </a:r>
            <a:endParaRPr lang="en-US" sz="1500" dirty="0"/>
          </a:p>
        </p:txBody>
      </p:sp>
      <p:sp>
        <p:nvSpPr>
          <p:cNvPr id="6" name="Text 4"/>
          <p:cNvSpPr/>
          <p:nvPr/>
        </p:nvSpPr>
        <p:spPr>
          <a:xfrm>
            <a:off x="6197600" y="3690491"/>
            <a:ext cx="533704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150"/>
                </a:solidFill>
                <a:latin typeface="Rubik" pitchFamily="34" charset="0"/>
                <a:ea typeface="Rubik" pitchFamily="34" charset="-122"/>
                <a:cs typeface="Rubik" pitchFamily="34" charset="-120"/>
              </a:rPr>
              <a:t>sizeof</a:t>
            </a:r>
            <a:r>
              <a:rPr lang="en-US" sz="1400" dirty="0">
                <a:solidFill>
                  <a:srgbClr val="3A4150"/>
                </a:solidFill>
                <a:latin typeface="Rubik" pitchFamily="34" charset="0"/>
                <a:ea typeface="Rubik" pitchFamily="34" charset="-122"/>
                <a:cs typeface="Rubik" pitchFamily="34" charset="-120"/>
              </a:rPr>
              <a:t> is a keyword that tells you how many bytes a type uses on </a:t>
            </a:r>
            <a:r>
              <a:rPr lang="en-US" sz="1400" b="1" dirty="0">
                <a:solidFill>
                  <a:srgbClr val="3A4150"/>
                </a:solidFill>
                <a:latin typeface="Rubik" pitchFamily="34" charset="0"/>
                <a:ea typeface="Rubik" pitchFamily="34" charset="-122"/>
                <a:cs typeface="Rubik" pitchFamily="34" charset="-120"/>
              </a:rPr>
              <a:t>this</a:t>
            </a:r>
            <a:r>
              <a:rPr lang="en-US" sz="1400" dirty="0">
                <a:solidFill>
                  <a:srgbClr val="3A4150"/>
                </a:solidFill>
                <a:latin typeface="Rubik" pitchFamily="34" charset="0"/>
                <a:ea typeface="Rubik" pitchFamily="34" charset="-122"/>
                <a:cs typeface="Rubik" pitchFamily="34" charset="-120"/>
              </a:rPr>
              <a:t> computer.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62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6 OF 8 · VARIABLES</a:t>
            </a:r>
            <a:endParaRPr lang="en-US" sz="1300" dirty="0"/>
          </a:p>
        </p:txBody>
      </p:sp>
      <p:sp>
        <p:nvSpPr>
          <p:cNvPr id="3" name="Text 1"/>
          <p:cNvSpPr/>
          <p:nvPr>
            <p:ph type="title"/>
          </p:nvPr>
        </p:nvSpPr>
        <p:spPr>
          <a:xfrm>
            <a:off x="812800" y="106933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What is a variable? A named box whose value can change</a:t>
            </a:r>
            <a:endParaRPr lang="en-US" sz="3000" dirty="0"/>
          </a:p>
        </p:txBody>
      </p:sp>
      <p:sp>
        <p:nvSpPr>
          <p:cNvPr id="4" name="Shape 2"/>
          <p:cNvSpPr/>
          <p:nvPr/>
        </p:nvSpPr>
        <p:spPr>
          <a:xfrm>
            <a:off x="815975" y="2088505"/>
            <a:ext cx="5187950" cy="3221930"/>
          </a:xfrm>
          <a:prstGeom prst="roundRect">
            <a:avLst>
              <a:gd name="adj" fmla="val 3449"/>
            </a:avLst>
          </a:prstGeom>
          <a:solidFill>
            <a:srgbClr val="FFFDF8"/>
          </a:solidFill>
          <a:ln w="6350">
            <a:solidFill>
              <a:srgbClr val="E2DDD2"/>
            </a:solidFill>
            <a:prstDash val="solid"/>
          </a:ln>
        </p:spPr>
      </p:sp>
      <p:sp>
        <p:nvSpPr>
          <p:cNvPr id="5" name="Text 3"/>
          <p:cNvSpPr/>
          <p:nvPr/>
        </p:nvSpPr>
        <p:spPr>
          <a:xfrm>
            <a:off x="1009650" y="2256780"/>
            <a:ext cx="49446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Like a cricket scoreboard</a:t>
            </a:r>
            <a:endParaRPr lang="en-US" sz="1500" dirty="0"/>
          </a:p>
        </p:txBody>
      </p:sp>
      <p:sp>
        <p:nvSpPr>
          <p:cNvPr id="6" name="Shape 4"/>
          <p:cNvSpPr/>
          <p:nvPr/>
        </p:nvSpPr>
        <p:spPr>
          <a:xfrm>
            <a:off x="2101850" y="2612380"/>
            <a:ext cx="2616200" cy="1559520"/>
          </a:xfrm>
          <a:prstGeom prst="roundRect">
            <a:avLst>
              <a:gd name="adj" fmla="val 4072"/>
            </a:avLst>
          </a:prstGeom>
          <a:solidFill>
            <a:srgbClr val="0F2A1D"/>
          </a:solidFill>
          <a:ln w="50800">
            <a:solidFill>
              <a:srgbClr val="6B4A2B"/>
            </a:solidFill>
            <a:prstDash val="solid"/>
          </a:ln>
        </p:spPr>
      </p:sp>
      <p:sp>
        <p:nvSpPr>
          <p:cNvPr id="7" name="Text 5"/>
          <p:cNvSpPr/>
          <p:nvPr/>
        </p:nvSpPr>
        <p:spPr>
          <a:xfrm>
            <a:off x="3019966" y="2802880"/>
            <a:ext cx="779919" cy="274290"/>
          </a:xfrm>
          <a:prstGeom prst="rect">
            <a:avLst/>
          </a:prstGeom>
          <a:noFill/>
          <a:ln/>
        </p:spPr>
        <p:txBody>
          <a:bodyPr wrap="square" lIns="0" tIns="0" rIns="0" bIns="0" rtlCol="0" anchor="t">
            <a:normAutofit/>
          </a:bodyPr>
          <a:lstStyle/>
          <a:p>
            <a:pPr algn="ctr" indent="0" marL="0">
              <a:lnSpc>
                <a:spcPts val="1960"/>
              </a:lnSpc>
              <a:buNone/>
            </a:pPr>
            <a:r>
              <a:rPr lang="en-US" sz="1400" b="1" spc="300" kern="0" dirty="0">
                <a:solidFill>
                  <a:srgbClr val="FFC857"/>
                </a:solidFill>
                <a:latin typeface="Rubik" pitchFamily="34" charset="0"/>
                <a:ea typeface="Rubik" pitchFamily="34" charset="-122"/>
                <a:cs typeface="Rubik" pitchFamily="34" charset="-120"/>
              </a:rPr>
              <a:t>RUNS</a:t>
            </a:r>
            <a:endParaRPr lang="en-US" sz="1400" dirty="0"/>
          </a:p>
        </p:txBody>
      </p:sp>
      <p:sp>
        <p:nvSpPr>
          <p:cNvPr id="8" name="Text 6"/>
          <p:cNvSpPr/>
          <p:nvPr/>
        </p:nvSpPr>
        <p:spPr>
          <a:xfrm>
            <a:off x="2452340" y="3234630"/>
            <a:ext cx="658416"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5C7A69"/>
                </a:solidFill>
                <a:latin typeface="JetBrains Mono" pitchFamily="49" charset="0"/>
                <a:ea typeface="JetBrains Mono" pitchFamily="49" charset="-122"/>
                <a:cs typeface="JetBrains Mono" pitchFamily="49" charset="-120"/>
              </a:rPr>
              <a:t>45</a:t>
            </a:r>
            <a:endParaRPr lang="en-US" sz="3600" dirty="0"/>
          </a:p>
        </p:txBody>
      </p:sp>
      <p:pic>
        <p:nvPicPr>
          <p:cNvPr id="9" name="Image 0" descr="arrow-right">    </p:cNvPr>
          <p:cNvPicPr>
            <a:picLocks noChangeAspect="1"/>
          </p:cNvPicPr>
          <p:nvPr/>
        </p:nvPicPr>
        <p:blipFill>
          <a:blip r:embed="rId1"/>
          <a:srcRect l="0" r="0" t="0" b="0"/>
          <a:stretch/>
        </p:blipFill>
        <p:spPr>
          <a:xfrm>
            <a:off x="3178820" y="3459411"/>
            <a:ext cx="279400" cy="190500"/>
          </a:xfrm>
          <a:prstGeom prst="rect">
            <a:avLst/>
          </a:prstGeom>
        </p:spPr>
      </p:pic>
      <p:sp>
        <p:nvSpPr>
          <p:cNvPr id="10" name="Text 7"/>
          <p:cNvSpPr/>
          <p:nvPr/>
        </p:nvSpPr>
        <p:spPr>
          <a:xfrm>
            <a:off x="3636020" y="3127970"/>
            <a:ext cx="877848" cy="87883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F6F3EC"/>
                </a:solidFill>
                <a:latin typeface="JetBrains Mono" pitchFamily="49" charset="0"/>
                <a:ea typeface="JetBrains Mono" pitchFamily="49" charset="-122"/>
                <a:cs typeface="JetBrains Mono" pitchFamily="49" charset="-120"/>
              </a:rPr>
              <a:t>46</a:t>
            </a:r>
            <a:endParaRPr lang="en-US" sz="4800" dirty="0"/>
          </a:p>
        </p:txBody>
      </p:sp>
      <p:sp>
        <p:nvSpPr>
          <p:cNvPr id="11" name="Shape 8"/>
          <p:cNvSpPr/>
          <p:nvPr/>
        </p:nvSpPr>
        <p:spPr>
          <a:xfrm>
            <a:off x="3346450" y="4197300"/>
            <a:ext cx="127000" cy="381000"/>
          </a:xfrm>
          <a:prstGeom prst="rect">
            <a:avLst/>
          </a:prstGeom>
          <a:solidFill>
            <a:srgbClr val="6B4A2B"/>
          </a:solidFill>
          <a:ln/>
        </p:spPr>
      </p:sp>
      <p:sp>
        <p:nvSpPr>
          <p:cNvPr id="12" name="Text 9"/>
          <p:cNvSpPr/>
          <p:nvPr/>
        </p:nvSpPr>
        <p:spPr>
          <a:xfrm>
            <a:off x="1009650" y="4679900"/>
            <a:ext cx="494461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The label </a:t>
            </a:r>
            <a:r>
              <a:rPr lang="en-US" sz="1300" b="1" dirty="0">
                <a:solidFill>
                  <a:srgbClr val="3A4150"/>
                </a:solidFill>
                <a:latin typeface="Rubik" pitchFamily="34" charset="0"/>
                <a:ea typeface="Rubik" pitchFamily="34" charset="-122"/>
                <a:cs typeface="Rubik" pitchFamily="34" charset="-120"/>
              </a:rPr>
              <a:t>RUNS</a:t>
            </a:r>
            <a:r>
              <a:rPr lang="en-US" sz="1300" dirty="0">
                <a:solidFill>
                  <a:srgbClr val="3A4150"/>
                </a:solidFill>
                <a:latin typeface="Rubik" pitchFamily="34" charset="0"/>
                <a:ea typeface="Rubik" pitchFamily="34" charset="-122"/>
                <a:cs typeface="Rubik" pitchFamily="34" charset="-120"/>
              </a:rPr>
              <a:t> stays the same. The number changes every ball. Its value can </a:t>
            </a:r>
            <a:r>
              <a:rPr lang="en-US" sz="1300" b="1" dirty="0">
                <a:solidFill>
                  <a:srgbClr val="3A4150"/>
                </a:solidFill>
                <a:latin typeface="Rubik" pitchFamily="34" charset="0"/>
                <a:ea typeface="Rubik" pitchFamily="34" charset="-122"/>
                <a:cs typeface="Rubik" pitchFamily="34" charset="-120"/>
              </a:rPr>
              <a:t>vary</a:t>
            </a:r>
            <a:r>
              <a:rPr lang="en-US" sz="1300" dirty="0">
                <a:solidFill>
                  <a:srgbClr val="3A4150"/>
                </a:solidFill>
                <a:latin typeface="Rubik" pitchFamily="34" charset="0"/>
                <a:ea typeface="Rubik" pitchFamily="34" charset="-122"/>
                <a:cs typeface="Rubik" pitchFamily="34" charset="-120"/>
              </a:rPr>
              <a:t>, so it's a </a:t>
            </a:r>
            <a:r>
              <a:rPr lang="en-US" sz="1300" b="1" dirty="0">
                <a:solidFill>
                  <a:srgbClr val="3A4150"/>
                </a:solidFill>
                <a:latin typeface="Rubik" pitchFamily="34" charset="0"/>
                <a:ea typeface="Rubik" pitchFamily="34" charset="-122"/>
                <a:cs typeface="Rubik" pitchFamily="34" charset="-120"/>
              </a:rPr>
              <a:t>variable</a:t>
            </a:r>
            <a:r>
              <a:rPr lang="en-US" sz="1300" dirty="0">
                <a:solidFill>
                  <a:srgbClr val="3A4150"/>
                </a:solidFill>
                <a:latin typeface="Rubik" pitchFamily="34" charset="0"/>
                <a:ea typeface="Rubik" pitchFamily="34" charset="-122"/>
                <a:cs typeface="Rubik" pitchFamily="34" charset="-120"/>
              </a:rPr>
              <a:t>.</a:t>
            </a:r>
            <a:endParaRPr lang="en-US" sz="1300" dirty="0"/>
          </a:p>
        </p:txBody>
      </p:sp>
      <p:sp>
        <p:nvSpPr>
          <p:cNvPr id="13" name="Shape 10"/>
          <p:cNvSpPr/>
          <p:nvPr/>
        </p:nvSpPr>
        <p:spPr>
          <a:xfrm>
            <a:off x="6188075" y="2088505"/>
            <a:ext cx="5187950" cy="3221930"/>
          </a:xfrm>
          <a:prstGeom prst="roundRect">
            <a:avLst>
              <a:gd name="adj" fmla="val 3449"/>
            </a:avLst>
          </a:prstGeom>
          <a:solidFill>
            <a:srgbClr val="FFFDF8"/>
          </a:solidFill>
          <a:ln w="6350">
            <a:solidFill>
              <a:srgbClr val="E2DDD2"/>
            </a:solidFill>
            <a:prstDash val="solid"/>
          </a:ln>
        </p:spPr>
      </p:sp>
      <p:sp>
        <p:nvSpPr>
          <p:cNvPr id="14" name="Text 11"/>
          <p:cNvSpPr/>
          <p:nvPr/>
        </p:nvSpPr>
        <p:spPr>
          <a:xfrm>
            <a:off x="6381750" y="2256780"/>
            <a:ext cx="49446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Every variable has four parts</a:t>
            </a:r>
            <a:endParaRPr lang="en-US" sz="1500" dirty="0"/>
          </a:p>
        </p:txBody>
      </p:sp>
      <p:sp>
        <p:nvSpPr>
          <p:cNvPr id="15" name="Shape 12"/>
          <p:cNvSpPr/>
          <p:nvPr/>
        </p:nvSpPr>
        <p:spPr>
          <a:xfrm>
            <a:off x="6993632" y="2758430"/>
            <a:ext cx="706636" cy="609550"/>
          </a:xfrm>
          <a:prstGeom prst="roundRect">
            <a:avLst>
              <a:gd name="adj" fmla="val 11459"/>
            </a:avLst>
          </a:prstGeom>
          <a:solidFill>
            <a:srgbClr val="FFFDF8"/>
          </a:solidFill>
          <a:ln w="12700">
            <a:solidFill>
              <a:srgbClr val="A94F17"/>
            </a:solidFill>
            <a:prstDash val="solid"/>
          </a:ln>
        </p:spPr>
      </p:sp>
      <p:sp>
        <p:nvSpPr>
          <p:cNvPr id="16" name="Text 13"/>
          <p:cNvSpPr/>
          <p:nvPr/>
        </p:nvSpPr>
        <p:spPr>
          <a:xfrm>
            <a:off x="7114282" y="2828280"/>
            <a:ext cx="55840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94F17"/>
                </a:solidFill>
                <a:latin typeface="Rubik" pitchFamily="34" charset="0"/>
                <a:ea typeface="Rubik" pitchFamily="34" charset="-122"/>
                <a:cs typeface="Rubik" pitchFamily="34" charset="-120"/>
              </a:rPr>
              <a:t>Name</a:t>
            </a:r>
            <a:endParaRPr lang="en-US" sz="1300" dirty="0"/>
          </a:p>
        </p:txBody>
      </p:sp>
      <p:sp>
        <p:nvSpPr>
          <p:cNvPr id="17" name="Text 14"/>
          <p:cNvSpPr/>
          <p:nvPr/>
        </p:nvSpPr>
        <p:spPr>
          <a:xfrm>
            <a:off x="7127463" y="3084810"/>
            <a:ext cx="43892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JetBrains Mono" pitchFamily="49" charset="0"/>
                <a:ea typeface="JetBrains Mono" pitchFamily="49" charset="-122"/>
                <a:cs typeface="JetBrains Mono" pitchFamily="49" charset="-120"/>
              </a:rPr>
              <a:t>runs</a:t>
            </a:r>
            <a:endParaRPr lang="en-US" sz="1200" dirty="0"/>
          </a:p>
        </p:txBody>
      </p:sp>
      <p:sp>
        <p:nvSpPr>
          <p:cNvPr id="18" name="Shape 15"/>
          <p:cNvSpPr/>
          <p:nvPr/>
        </p:nvSpPr>
        <p:spPr>
          <a:xfrm>
            <a:off x="8462417" y="2758430"/>
            <a:ext cx="639217" cy="609550"/>
          </a:xfrm>
          <a:prstGeom prst="roundRect">
            <a:avLst>
              <a:gd name="adj" fmla="val 11459"/>
            </a:avLst>
          </a:prstGeom>
          <a:solidFill>
            <a:srgbClr val="FFFDF8"/>
          </a:solidFill>
          <a:ln w="12700">
            <a:solidFill>
              <a:srgbClr val="2A5BD7"/>
            </a:solidFill>
            <a:prstDash val="solid"/>
          </a:ln>
        </p:spPr>
      </p:sp>
      <p:sp>
        <p:nvSpPr>
          <p:cNvPr id="19" name="Text 16"/>
          <p:cNvSpPr/>
          <p:nvPr/>
        </p:nvSpPr>
        <p:spPr>
          <a:xfrm>
            <a:off x="8583067" y="2828280"/>
            <a:ext cx="4775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Rubik" pitchFamily="34" charset="0"/>
                <a:ea typeface="Rubik" pitchFamily="34" charset="-122"/>
                <a:cs typeface="Rubik" pitchFamily="34" charset="-120"/>
              </a:rPr>
              <a:t>Type</a:t>
            </a:r>
            <a:endParaRPr lang="en-US" sz="1300" dirty="0"/>
          </a:p>
        </p:txBody>
      </p:sp>
      <p:sp>
        <p:nvSpPr>
          <p:cNvPr id="20" name="Text 17"/>
          <p:cNvSpPr/>
          <p:nvPr/>
        </p:nvSpPr>
        <p:spPr>
          <a:xfrm>
            <a:off x="8617396" y="3084810"/>
            <a:ext cx="32920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JetBrains Mono" pitchFamily="49" charset="0"/>
                <a:ea typeface="JetBrains Mono" pitchFamily="49" charset="-122"/>
                <a:cs typeface="JetBrains Mono" pitchFamily="49" charset="-120"/>
              </a:rPr>
              <a:t>int</a:t>
            </a:r>
            <a:endParaRPr lang="en-US" sz="1200" dirty="0"/>
          </a:p>
        </p:txBody>
      </p:sp>
      <p:sp>
        <p:nvSpPr>
          <p:cNvPr id="21" name="Text 18"/>
          <p:cNvSpPr/>
          <p:nvPr/>
        </p:nvSpPr>
        <p:spPr>
          <a:xfrm>
            <a:off x="9534525" y="2602855"/>
            <a:ext cx="1365250" cy="920750"/>
          </a:xfrm>
          <a:prstGeom prst="roundRect">
            <a:avLst>
              <a:gd name="adj" fmla="val 9310"/>
            </a:avLst>
          </a:prstGeom>
          <a:solidFill>
            <a:srgbClr val="FFFDF8"/>
          </a:solidFill>
          <a:ln w="31750">
            <a:solidFill>
              <a:srgbClr val="2A5BD7"/>
            </a:solidFill>
            <a:prstDash val="solid"/>
          </a:ln>
        </p:spPr>
        <p:txBody>
          <a:bodyPr wrap="square" lIns="0" tIns="0" rIns="0" bIns="0" rtlCol="0" anchor="ctr">
            <a:normAutofit/>
          </a:bodyPr>
          <a:lstStyle/>
          <a:p>
            <a:pPr algn="ctr" indent="0" marL="0">
              <a:lnSpc>
                <a:spcPts val="5040"/>
              </a:lnSpc>
              <a:buNone/>
            </a:pPr>
            <a:r>
              <a:rPr lang="en-US" sz="3600" b="1" dirty="0">
                <a:solidFill>
                  <a:srgbClr val="1C2230"/>
                </a:solidFill>
                <a:latin typeface="JetBrains Mono" pitchFamily="49" charset="0"/>
                <a:ea typeface="JetBrains Mono" pitchFamily="49" charset="-122"/>
                <a:cs typeface="JetBrains Mono" pitchFamily="49" charset="-120"/>
              </a:rPr>
              <a:t>46</a:t>
            </a:r>
            <a:endParaRPr lang="en-US" sz="3600" dirty="0"/>
          </a:p>
        </p:txBody>
      </p:sp>
      <p:sp>
        <p:nvSpPr>
          <p:cNvPr id="22" name="Shape 19"/>
          <p:cNvSpPr/>
          <p:nvPr/>
        </p:nvSpPr>
        <p:spPr>
          <a:xfrm>
            <a:off x="6999734" y="3647430"/>
            <a:ext cx="694432" cy="609550"/>
          </a:xfrm>
          <a:prstGeom prst="roundRect">
            <a:avLst>
              <a:gd name="adj" fmla="val 11459"/>
            </a:avLst>
          </a:prstGeom>
          <a:solidFill>
            <a:srgbClr val="FFFDF8"/>
          </a:solidFill>
          <a:ln w="12700">
            <a:solidFill>
              <a:srgbClr val="1B6B45"/>
            </a:solidFill>
            <a:prstDash val="solid"/>
          </a:ln>
        </p:spPr>
      </p:sp>
      <p:sp>
        <p:nvSpPr>
          <p:cNvPr id="23" name="Text 20"/>
          <p:cNvSpPr/>
          <p:nvPr/>
        </p:nvSpPr>
        <p:spPr>
          <a:xfrm>
            <a:off x="7120384" y="3717280"/>
            <a:ext cx="54375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6B45"/>
                </a:solidFill>
                <a:latin typeface="Rubik" pitchFamily="34" charset="0"/>
                <a:ea typeface="Rubik" pitchFamily="34" charset="-122"/>
                <a:cs typeface="Rubik" pitchFamily="34" charset="-120"/>
              </a:rPr>
              <a:t>Value</a:t>
            </a:r>
            <a:endParaRPr lang="en-US" sz="1300" dirty="0"/>
          </a:p>
        </p:txBody>
      </p:sp>
      <p:sp>
        <p:nvSpPr>
          <p:cNvPr id="24" name="Text 21"/>
          <p:cNvSpPr/>
          <p:nvPr/>
        </p:nvSpPr>
        <p:spPr>
          <a:xfrm>
            <a:off x="7230070" y="3973810"/>
            <a:ext cx="23371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JetBrains Mono" pitchFamily="49" charset="0"/>
                <a:ea typeface="JetBrains Mono" pitchFamily="49" charset="-122"/>
                <a:cs typeface="JetBrains Mono" pitchFamily="49" charset="-120"/>
              </a:rPr>
              <a:t>46</a:t>
            </a:r>
            <a:endParaRPr lang="en-US" sz="1200" dirty="0"/>
          </a:p>
        </p:txBody>
      </p:sp>
      <p:sp>
        <p:nvSpPr>
          <p:cNvPr id="25" name="Shape 22"/>
          <p:cNvSpPr/>
          <p:nvPr/>
        </p:nvSpPr>
        <p:spPr>
          <a:xfrm>
            <a:off x="8321179" y="3647430"/>
            <a:ext cx="921742" cy="609550"/>
          </a:xfrm>
          <a:prstGeom prst="roundRect">
            <a:avLst>
              <a:gd name="adj" fmla="val 11459"/>
            </a:avLst>
          </a:prstGeom>
          <a:solidFill>
            <a:srgbClr val="FFFDF8"/>
          </a:solidFill>
          <a:ln w="12700">
            <a:solidFill>
              <a:srgbClr val="596273"/>
            </a:solidFill>
            <a:prstDash val="solid"/>
          </a:ln>
        </p:spPr>
      </p:sp>
      <p:sp>
        <p:nvSpPr>
          <p:cNvPr id="26" name="Text 23"/>
          <p:cNvSpPr/>
          <p:nvPr/>
        </p:nvSpPr>
        <p:spPr>
          <a:xfrm>
            <a:off x="8441829" y="3717280"/>
            <a:ext cx="79474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96273"/>
                </a:solidFill>
                <a:latin typeface="Rubik" pitchFamily="34" charset="0"/>
                <a:ea typeface="Rubik" pitchFamily="34" charset="-122"/>
                <a:cs typeface="Rubik" pitchFamily="34" charset="-120"/>
              </a:rPr>
              <a:t>Address</a:t>
            </a:r>
            <a:endParaRPr lang="en-US" sz="1300" dirty="0"/>
          </a:p>
        </p:txBody>
      </p:sp>
      <p:sp>
        <p:nvSpPr>
          <p:cNvPr id="27" name="Text 24"/>
          <p:cNvSpPr/>
          <p:nvPr/>
        </p:nvSpPr>
        <p:spPr>
          <a:xfrm>
            <a:off x="8562563" y="3973810"/>
            <a:ext cx="43892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150"/>
                </a:solidFill>
                <a:latin typeface="JetBrains Mono" pitchFamily="49" charset="0"/>
                <a:ea typeface="JetBrains Mono" pitchFamily="49" charset="-122"/>
                <a:cs typeface="JetBrains Mono" pitchFamily="49" charset="-120"/>
              </a:rPr>
              <a:t>1000</a:t>
            </a:r>
            <a:endParaRPr lang="en-US" sz="1200" dirty="0"/>
          </a:p>
        </p:txBody>
      </p:sp>
      <p:sp>
        <p:nvSpPr>
          <p:cNvPr id="28" name="Text 25"/>
          <p:cNvSpPr/>
          <p:nvPr/>
        </p:nvSpPr>
        <p:spPr>
          <a:xfrm>
            <a:off x="6381750" y="4466530"/>
            <a:ext cx="494461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Name: the identifier. Type: the data type. Value: what's inside. Address: where it lives in memory.</a:t>
            </a:r>
            <a:endParaRPr lang="en-US" sz="1300" dirty="0"/>
          </a:p>
        </p:txBody>
      </p:sp>
      <p:sp>
        <p:nvSpPr>
          <p:cNvPr id="29" name="Shape 26"/>
          <p:cNvSpPr/>
          <p:nvPr/>
        </p:nvSpPr>
        <p:spPr>
          <a:xfrm>
            <a:off x="812800" y="5491411"/>
            <a:ext cx="10566400" cy="495300"/>
          </a:xfrm>
          <a:prstGeom prst="roundRect">
            <a:avLst>
              <a:gd name="adj" fmla="val 20513"/>
            </a:avLst>
          </a:prstGeom>
          <a:solidFill>
            <a:srgbClr val="15233F"/>
          </a:solidFill>
          <a:ln/>
        </p:spPr>
      </p:sp>
      <p:sp>
        <p:nvSpPr>
          <p:cNvPr id="30" name="Text 27"/>
          <p:cNvSpPr/>
          <p:nvPr/>
        </p:nvSpPr>
        <p:spPr>
          <a:xfrm>
            <a:off x="1003300" y="5605711"/>
            <a:ext cx="1752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9893F"/>
                </a:solidFill>
                <a:latin typeface="JetBrains Mono" pitchFamily="49" charset="0"/>
                <a:ea typeface="JetBrains Mono" pitchFamily="49" charset="-122"/>
                <a:cs typeface="JetBrains Mono" pitchFamily="49" charset="-120"/>
              </a:rPr>
              <a:t>int</a:t>
            </a:r>
            <a:r>
              <a:rPr lang="en-US" sz="1500" dirty="0">
                <a:solidFill>
                  <a:srgbClr val="E6E9F0"/>
                </a:solidFill>
                <a:latin typeface="JetBrains Mono" pitchFamily="49" charset="0"/>
                <a:ea typeface="JetBrains Mono" pitchFamily="49" charset="-122"/>
                <a:cs typeface="JetBrains Mono" pitchFamily="49" charset="-120"/>
              </a:rPr>
              <a:t> runs = 45;</a:t>
            </a:r>
            <a:endParaRPr lang="en-US" sz="1500" dirty="0"/>
          </a:p>
        </p:txBody>
      </p:sp>
      <p:pic>
        <p:nvPicPr>
          <p:cNvPr id="31" name="Image 1" descr="arrow-right">    </p:cNvPr>
          <p:cNvPicPr>
            <a:picLocks noChangeAspect="1"/>
          </p:cNvPicPr>
          <p:nvPr/>
        </p:nvPicPr>
        <p:blipFill>
          <a:blip r:embed="rId2"/>
          <a:srcRect l="0" r="0" t="0" b="0"/>
          <a:stretch/>
        </p:blipFill>
        <p:spPr>
          <a:xfrm>
            <a:off x="2755900" y="5643811"/>
            <a:ext cx="279400" cy="190500"/>
          </a:xfrm>
          <a:prstGeom prst="rect">
            <a:avLst/>
          </a:prstGeom>
        </p:spPr>
      </p:pic>
      <p:sp>
        <p:nvSpPr>
          <p:cNvPr id="32" name="Text 28"/>
          <p:cNvSpPr/>
          <p:nvPr/>
        </p:nvSpPr>
        <p:spPr>
          <a:xfrm>
            <a:off x="3187700" y="5605711"/>
            <a:ext cx="12954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9F0"/>
                </a:solidFill>
                <a:latin typeface="JetBrains Mono" pitchFamily="49" charset="0"/>
                <a:ea typeface="JetBrains Mono" pitchFamily="49" charset="-122"/>
                <a:cs typeface="JetBrains Mono" pitchFamily="49" charset="-120"/>
              </a:rPr>
              <a:t>runs = 46;</a:t>
            </a:r>
            <a:endParaRPr lang="en-US" sz="1500" dirty="0"/>
          </a:p>
        </p:txBody>
      </p:sp>
      <p:sp>
        <p:nvSpPr>
          <p:cNvPr id="33" name="Text 29"/>
          <p:cNvSpPr/>
          <p:nvPr/>
        </p:nvSpPr>
        <p:spPr>
          <a:xfrm>
            <a:off x="4483100" y="5614591"/>
            <a:ext cx="212276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A"/>
                </a:solidFill>
                <a:latin typeface="Rubik" pitchFamily="34" charset="0"/>
                <a:ea typeface="Rubik" pitchFamily="34" charset="-122"/>
                <a:cs typeface="Rubik" pitchFamily="34" charset="-120"/>
              </a:rPr>
              <a:t>Same box, new value.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62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6 OF 8 · VARIABLES</a:t>
            </a:r>
            <a:endParaRPr lang="en-US" sz="1300" dirty="0"/>
          </a:p>
        </p:txBody>
      </p:sp>
      <p:sp>
        <p:nvSpPr>
          <p:cNvPr id="3" name="Text 1"/>
          <p:cNvSpPr/>
          <p:nvPr>
            <p:ph type="title"/>
          </p:nvPr>
        </p:nvSpPr>
        <p:spPr>
          <a:xfrm>
            <a:off x="812800" y="106933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C2230"/>
                </a:solidFill>
                <a:latin typeface="Rubik" pitchFamily="34" charset="0"/>
                <a:ea typeface="Rubik" pitchFamily="34" charset="-122"/>
                <a:cs typeface="Rubik" pitchFamily="34" charset="-120"/>
              </a:rPr>
              <a:t>What happens in memory, line by line</a:t>
            </a:r>
            <a:endParaRPr lang="en-US" sz="2800" dirty="0"/>
          </a:p>
        </p:txBody>
      </p:sp>
      <p:sp>
        <p:nvSpPr>
          <p:cNvPr id="4" name="Shape 2"/>
          <p:cNvSpPr/>
          <p:nvPr/>
        </p:nvSpPr>
        <p:spPr>
          <a:xfrm>
            <a:off x="812800" y="1841500"/>
            <a:ext cx="4064000" cy="2489200"/>
          </a:xfrm>
          <a:prstGeom prst="roundRect">
            <a:avLst>
              <a:gd name="adj" fmla="val 4592"/>
            </a:avLst>
          </a:prstGeom>
          <a:solidFill>
            <a:srgbClr val="15233F"/>
          </a:solidFill>
          <a:ln/>
        </p:spPr>
      </p:sp>
      <p:sp>
        <p:nvSpPr>
          <p:cNvPr id="5" name="Text 3"/>
          <p:cNvSpPr/>
          <p:nvPr/>
        </p:nvSpPr>
        <p:spPr>
          <a:xfrm>
            <a:off x="1003300" y="2019300"/>
            <a:ext cx="3793490" cy="381000"/>
          </a:xfrm>
          <a:prstGeom prst="rect">
            <a:avLst/>
          </a:prstGeom>
          <a:noFill/>
          <a:ln/>
        </p:spPr>
        <p:txBody>
          <a:bodyPr wrap="square" lIns="0" tIns="0" rIns="0" bIns="0" rtlCol="0" anchor="t">
            <a:normAutofit/>
          </a:bodyPr>
          <a:lstStyle/>
          <a:p>
            <a:pPr algn="l" indent="0" marL="0">
              <a:lnSpc>
                <a:spcPts val="2800"/>
              </a:lnSpc>
              <a:buNone/>
            </a:pPr>
            <a:r>
              <a:rPr lang="en-US" sz="1400" dirty="0">
                <a:solidFill>
                  <a:srgbClr val="5B6B8C"/>
                </a:solidFill>
                <a:latin typeface="JetBrains Mono" pitchFamily="49" charset="0"/>
                <a:ea typeface="JetBrains Mono" pitchFamily="49" charset="-122"/>
                <a:cs typeface="JetBrains Mono" pitchFamily="49" charset="-120"/>
              </a:rPr>
              <a:t>1  </a:t>
            </a:r>
            <a:r>
              <a:rPr lang="en-US" sz="1400" dirty="0">
                <a:solidFill>
                  <a:srgbClr val="E6E9F0"/>
                </a:solidFill>
                <a:latin typeface="JetBrains Mono" pitchFamily="49" charset="0"/>
                <a:ea typeface="JetBrains Mono" pitchFamily="49" charset="-122"/>
                <a:cs typeface="JetBrains Mono" pitchFamily="49" charset="-120"/>
              </a:rPr>
              <a:t>int qty;</a:t>
            </a:r>
            <a:endParaRPr lang="en-US" sz="1400" dirty="0"/>
          </a:p>
        </p:txBody>
      </p:sp>
      <p:sp>
        <p:nvSpPr>
          <p:cNvPr id="6" name="Text 4"/>
          <p:cNvSpPr/>
          <p:nvPr/>
        </p:nvSpPr>
        <p:spPr>
          <a:xfrm>
            <a:off x="1003300" y="2374900"/>
            <a:ext cx="3793490" cy="381000"/>
          </a:xfrm>
          <a:prstGeom prst="rect">
            <a:avLst/>
          </a:prstGeom>
          <a:noFill/>
          <a:ln/>
        </p:spPr>
        <p:txBody>
          <a:bodyPr wrap="square" lIns="0" tIns="0" rIns="0" bIns="0" rtlCol="0" anchor="t">
            <a:normAutofit/>
          </a:bodyPr>
          <a:lstStyle/>
          <a:p>
            <a:pPr algn="l" indent="0" marL="0">
              <a:lnSpc>
                <a:spcPts val="2800"/>
              </a:lnSpc>
              <a:buNone/>
            </a:pPr>
            <a:r>
              <a:rPr lang="en-US" sz="1400" dirty="0">
                <a:solidFill>
                  <a:srgbClr val="5B6B8C"/>
                </a:solidFill>
                <a:latin typeface="JetBrains Mono" pitchFamily="49" charset="0"/>
                <a:ea typeface="JetBrains Mono" pitchFamily="49" charset="-122"/>
                <a:cs typeface="JetBrains Mono" pitchFamily="49" charset="-120"/>
              </a:rPr>
              <a:t>2  </a:t>
            </a:r>
            <a:r>
              <a:rPr lang="en-US" sz="1400" dirty="0">
                <a:solidFill>
                  <a:srgbClr val="E6E9F0"/>
                </a:solidFill>
                <a:latin typeface="JetBrains Mono" pitchFamily="49" charset="0"/>
                <a:ea typeface="JetBrains Mono" pitchFamily="49" charset="-122"/>
                <a:cs typeface="JetBrains Mono" pitchFamily="49" charset="-120"/>
              </a:rPr>
              <a:t>qty = 2;</a:t>
            </a:r>
            <a:endParaRPr lang="en-US" sz="1400" dirty="0"/>
          </a:p>
        </p:txBody>
      </p:sp>
      <p:sp>
        <p:nvSpPr>
          <p:cNvPr id="7" name="Text 5"/>
          <p:cNvSpPr/>
          <p:nvPr/>
        </p:nvSpPr>
        <p:spPr>
          <a:xfrm>
            <a:off x="1003300" y="2730500"/>
            <a:ext cx="3793490" cy="381000"/>
          </a:xfrm>
          <a:prstGeom prst="rect">
            <a:avLst/>
          </a:prstGeom>
          <a:noFill/>
          <a:ln/>
        </p:spPr>
        <p:txBody>
          <a:bodyPr wrap="square" lIns="0" tIns="0" rIns="0" bIns="0" rtlCol="0" anchor="t">
            <a:normAutofit/>
          </a:bodyPr>
          <a:lstStyle/>
          <a:p>
            <a:pPr algn="l" indent="0" marL="0">
              <a:lnSpc>
                <a:spcPts val="2800"/>
              </a:lnSpc>
              <a:buNone/>
            </a:pPr>
            <a:r>
              <a:rPr lang="en-US" sz="1400" dirty="0">
                <a:solidFill>
                  <a:srgbClr val="5B6B8C"/>
                </a:solidFill>
                <a:latin typeface="JetBrains Mono" pitchFamily="49" charset="0"/>
                <a:ea typeface="JetBrains Mono" pitchFamily="49" charset="-122"/>
                <a:cs typeface="JetBrains Mono" pitchFamily="49" charset="-120"/>
              </a:rPr>
              <a:t>3  </a:t>
            </a:r>
            <a:r>
              <a:rPr lang="en-US" sz="1400" dirty="0">
                <a:solidFill>
                  <a:srgbClr val="E6E9F0"/>
                </a:solidFill>
                <a:latin typeface="JetBrains Mono" pitchFamily="49" charset="0"/>
                <a:ea typeface="JetBrains Mono" pitchFamily="49" charset="-122"/>
                <a:cs typeface="JetBrains Mono" pitchFamily="49" charset="-120"/>
              </a:rPr>
              <a:t>int price = 10;</a:t>
            </a:r>
            <a:endParaRPr lang="en-US" sz="1400" dirty="0"/>
          </a:p>
        </p:txBody>
      </p:sp>
      <p:sp>
        <p:nvSpPr>
          <p:cNvPr id="8" name="Text 6"/>
          <p:cNvSpPr/>
          <p:nvPr/>
        </p:nvSpPr>
        <p:spPr>
          <a:xfrm>
            <a:off x="1003300" y="3086100"/>
            <a:ext cx="3793490" cy="381000"/>
          </a:xfrm>
          <a:prstGeom prst="rect">
            <a:avLst/>
          </a:prstGeom>
          <a:noFill/>
          <a:ln/>
        </p:spPr>
        <p:txBody>
          <a:bodyPr wrap="square" lIns="0" tIns="0" rIns="0" bIns="0" rtlCol="0" anchor="t">
            <a:normAutofit/>
          </a:bodyPr>
          <a:lstStyle/>
          <a:p>
            <a:pPr algn="l" indent="0" marL="0">
              <a:lnSpc>
                <a:spcPts val="2800"/>
              </a:lnSpc>
              <a:buNone/>
            </a:pPr>
            <a:r>
              <a:rPr lang="en-US" sz="1400" dirty="0">
                <a:solidFill>
                  <a:srgbClr val="5B6B8C"/>
                </a:solidFill>
                <a:latin typeface="JetBrains Mono" pitchFamily="49" charset="0"/>
                <a:ea typeface="JetBrains Mono" pitchFamily="49" charset="-122"/>
                <a:cs typeface="JetBrains Mono" pitchFamily="49" charset="-120"/>
              </a:rPr>
              <a:t>4  </a:t>
            </a:r>
            <a:r>
              <a:rPr lang="en-US" sz="1400" dirty="0">
                <a:solidFill>
                  <a:srgbClr val="E6E9F0"/>
                </a:solidFill>
                <a:latin typeface="JetBrains Mono" pitchFamily="49" charset="0"/>
                <a:ea typeface="JetBrains Mono" pitchFamily="49" charset="-122"/>
                <a:cs typeface="JetBrains Mono" pitchFamily="49" charset="-120"/>
              </a:rPr>
              <a:t>int total = qty * price;</a:t>
            </a:r>
            <a:endParaRPr lang="en-US" sz="1400" dirty="0"/>
          </a:p>
        </p:txBody>
      </p:sp>
      <p:sp>
        <p:nvSpPr>
          <p:cNvPr id="9" name="Text 7"/>
          <p:cNvSpPr/>
          <p:nvPr/>
        </p:nvSpPr>
        <p:spPr>
          <a:xfrm>
            <a:off x="1003300" y="3441700"/>
            <a:ext cx="3793490" cy="381000"/>
          </a:xfrm>
          <a:prstGeom prst="rect">
            <a:avLst/>
          </a:prstGeom>
          <a:noFill/>
          <a:ln/>
        </p:spPr>
        <p:txBody>
          <a:bodyPr wrap="square" lIns="0" tIns="0" rIns="0" bIns="0" rtlCol="0" anchor="t">
            <a:normAutofit/>
          </a:bodyPr>
          <a:lstStyle/>
          <a:p>
            <a:pPr algn="l" indent="0" marL="0">
              <a:lnSpc>
                <a:spcPts val="2800"/>
              </a:lnSpc>
              <a:buNone/>
            </a:pPr>
            <a:r>
              <a:rPr lang="en-US" sz="1400" dirty="0">
                <a:solidFill>
                  <a:srgbClr val="5B6B8C"/>
                </a:solidFill>
                <a:latin typeface="JetBrains Mono" pitchFamily="49" charset="0"/>
                <a:ea typeface="JetBrains Mono" pitchFamily="49" charset="-122"/>
                <a:cs typeface="JetBrains Mono" pitchFamily="49" charset="-120"/>
              </a:rPr>
              <a:t>5  </a:t>
            </a:r>
            <a:r>
              <a:rPr lang="en-US" sz="1400" dirty="0">
                <a:solidFill>
                  <a:srgbClr val="E6E9F0"/>
                </a:solidFill>
                <a:latin typeface="JetBrains Mono" pitchFamily="49" charset="0"/>
                <a:ea typeface="JetBrains Mono" pitchFamily="49" charset="-122"/>
                <a:cs typeface="JetBrains Mono" pitchFamily="49" charset="-120"/>
              </a:rPr>
              <a:t>qty = 3;</a:t>
            </a:r>
            <a:endParaRPr lang="en-US" sz="1400" dirty="0"/>
          </a:p>
        </p:txBody>
      </p:sp>
      <p:sp>
        <p:nvSpPr>
          <p:cNvPr id="10" name="Text 8"/>
          <p:cNvSpPr/>
          <p:nvPr/>
        </p:nvSpPr>
        <p:spPr>
          <a:xfrm>
            <a:off x="1003300" y="3797300"/>
            <a:ext cx="3793490" cy="381000"/>
          </a:xfrm>
          <a:prstGeom prst="rect">
            <a:avLst/>
          </a:prstGeom>
          <a:noFill/>
          <a:ln/>
        </p:spPr>
        <p:txBody>
          <a:bodyPr wrap="square" lIns="0" tIns="0" rIns="0" bIns="0" rtlCol="0" anchor="t">
            <a:normAutofit/>
          </a:bodyPr>
          <a:lstStyle/>
          <a:p>
            <a:pPr algn="l" indent="0" marL="0">
              <a:lnSpc>
                <a:spcPts val="2800"/>
              </a:lnSpc>
              <a:buNone/>
            </a:pPr>
            <a:r>
              <a:rPr lang="en-US" sz="1400" dirty="0">
                <a:solidFill>
                  <a:srgbClr val="5B6B8C"/>
                </a:solidFill>
                <a:latin typeface="JetBrains Mono" pitchFamily="49" charset="0"/>
                <a:ea typeface="JetBrains Mono" pitchFamily="49" charset="-122"/>
                <a:cs typeface="JetBrains Mono" pitchFamily="49" charset="-120"/>
              </a:rPr>
              <a:t>6  </a:t>
            </a:r>
            <a:r>
              <a:rPr lang="en-US" sz="1400" dirty="0">
                <a:solidFill>
                  <a:srgbClr val="E6E9F0"/>
                </a:solidFill>
                <a:latin typeface="JetBrains Mono" pitchFamily="49" charset="0"/>
                <a:ea typeface="JetBrains Mono" pitchFamily="49" charset="-122"/>
                <a:cs typeface="JetBrains Mono" pitchFamily="49" charset="-120"/>
              </a:rPr>
              <a:t>total = qty * price;</a:t>
            </a:r>
            <a:endParaRPr lang="en-US" sz="1400" dirty="0"/>
          </a:p>
        </p:txBody>
      </p:sp>
      <p:sp>
        <p:nvSpPr>
          <p:cNvPr id="11" name="Text 9"/>
          <p:cNvSpPr/>
          <p:nvPr/>
        </p:nvSpPr>
        <p:spPr>
          <a:xfrm>
            <a:off x="812800" y="44831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150"/>
                </a:solidFill>
                <a:latin typeface="Rubik" pitchFamily="34" charset="0"/>
                <a:ea typeface="Rubik" pitchFamily="34" charset="-122"/>
                <a:cs typeface="Rubik" pitchFamily="34" charset="-120"/>
              </a:rPr>
              <a:t>?</a:t>
            </a:r>
            <a:r>
              <a:rPr lang="en-US" sz="1200" dirty="0">
                <a:solidFill>
                  <a:srgbClr val="3A4150"/>
                </a:solidFill>
                <a:latin typeface="Rubik" pitchFamily="34" charset="0"/>
                <a:ea typeface="Rubik" pitchFamily="34" charset="-122"/>
                <a:cs typeface="Rubik" pitchFamily="34" charset="-120"/>
              </a:rPr>
              <a:t> = garbage: no value stored yet</a:t>
            </a:r>
            <a:endParaRPr lang="en-US" sz="1200" dirty="0"/>
          </a:p>
        </p:txBody>
      </p:sp>
      <p:sp>
        <p:nvSpPr>
          <p:cNvPr id="12" name="Text 10"/>
          <p:cNvSpPr/>
          <p:nvPr/>
        </p:nvSpPr>
        <p:spPr>
          <a:xfrm>
            <a:off x="812800" y="4759920"/>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150"/>
                </a:solidFill>
                <a:latin typeface="Rubik" pitchFamily="34" charset="0"/>
                <a:ea typeface="Rubik" pitchFamily="34" charset="-122"/>
                <a:cs typeface="Rubik" pitchFamily="34" charset="-120"/>
              </a:rPr>
              <a:t>orange</a:t>
            </a:r>
            <a:r>
              <a:rPr lang="en-US" sz="1200" dirty="0">
                <a:solidFill>
                  <a:srgbClr val="3A4150"/>
                </a:solidFill>
                <a:latin typeface="Rubik" pitchFamily="34" charset="0"/>
                <a:ea typeface="Rubik" pitchFamily="34" charset="-122"/>
                <a:cs typeface="Rubik" pitchFamily="34" charset="-120"/>
              </a:rPr>
              <a:t> = the box that just changed</a:t>
            </a:r>
            <a:endParaRPr lang="en-US" sz="1200" dirty="0"/>
          </a:p>
        </p:txBody>
      </p:sp>
      <p:sp>
        <p:nvSpPr>
          <p:cNvPr id="13" name="Text 11"/>
          <p:cNvSpPr/>
          <p:nvPr/>
        </p:nvSpPr>
        <p:spPr>
          <a:xfrm>
            <a:off x="812800" y="5036741"/>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Rubik" pitchFamily="34" charset="0"/>
                <a:ea typeface="Rubik" pitchFamily="34" charset="-122"/>
                <a:cs typeface="Rubik" pitchFamily="34" charset="-120"/>
              </a:rPr>
              <a:t>– = box not created yet</a:t>
            </a:r>
            <a:endParaRPr lang="en-US" sz="1200" dirty="0"/>
          </a:p>
        </p:txBody>
      </p:sp>
      <p:sp>
        <p:nvSpPr>
          <p:cNvPr id="14" name="Shape 12"/>
          <p:cNvSpPr/>
          <p:nvPr/>
        </p:nvSpPr>
        <p:spPr>
          <a:xfrm>
            <a:off x="5207000" y="1841500"/>
            <a:ext cx="6172200" cy="355600"/>
          </a:xfrm>
          <a:prstGeom prst="roundRect">
            <a:avLst>
              <a:gd name="adj" fmla="val 21429"/>
            </a:avLst>
          </a:prstGeom>
          <a:solidFill>
            <a:srgbClr val="15233F"/>
          </a:solidFill>
          <a:ln/>
        </p:spPr>
      </p:sp>
      <p:sp>
        <p:nvSpPr>
          <p:cNvPr id="15" name="Text 13"/>
          <p:cNvSpPr/>
          <p:nvPr/>
        </p:nvSpPr>
        <p:spPr>
          <a:xfrm>
            <a:off x="5321300" y="1912640"/>
            <a:ext cx="584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893F"/>
                </a:solidFill>
                <a:latin typeface="Rubik" pitchFamily="34" charset="0"/>
                <a:ea typeface="Rubik" pitchFamily="34" charset="-122"/>
                <a:cs typeface="Rubik" pitchFamily="34" charset="-120"/>
              </a:rPr>
              <a:t>Line</a:t>
            </a:r>
            <a:endParaRPr lang="en-US" sz="1200" dirty="0"/>
          </a:p>
        </p:txBody>
      </p:sp>
      <p:sp>
        <p:nvSpPr>
          <p:cNvPr id="16" name="Text 14"/>
          <p:cNvSpPr/>
          <p:nvPr/>
        </p:nvSpPr>
        <p:spPr>
          <a:xfrm>
            <a:off x="5918200" y="1912640"/>
            <a:ext cx="8001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9893F"/>
                </a:solidFill>
                <a:latin typeface="JetBrains Mono" pitchFamily="49" charset="0"/>
                <a:ea typeface="JetBrains Mono" pitchFamily="49" charset="-122"/>
                <a:cs typeface="JetBrains Mono" pitchFamily="49" charset="-120"/>
              </a:rPr>
              <a:t>qty</a:t>
            </a:r>
            <a:endParaRPr lang="en-US" sz="1200" dirty="0"/>
          </a:p>
        </p:txBody>
      </p:sp>
      <p:sp>
        <p:nvSpPr>
          <p:cNvPr id="17" name="Text 15"/>
          <p:cNvSpPr/>
          <p:nvPr/>
        </p:nvSpPr>
        <p:spPr>
          <a:xfrm>
            <a:off x="6756400" y="1912640"/>
            <a:ext cx="8001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9893F"/>
                </a:solidFill>
                <a:latin typeface="JetBrains Mono" pitchFamily="49" charset="0"/>
                <a:ea typeface="JetBrains Mono" pitchFamily="49" charset="-122"/>
                <a:cs typeface="JetBrains Mono" pitchFamily="49" charset="-120"/>
              </a:rPr>
              <a:t>price</a:t>
            </a:r>
            <a:endParaRPr lang="en-US" sz="1200" dirty="0"/>
          </a:p>
        </p:txBody>
      </p:sp>
      <p:sp>
        <p:nvSpPr>
          <p:cNvPr id="18" name="Text 16"/>
          <p:cNvSpPr/>
          <p:nvPr/>
        </p:nvSpPr>
        <p:spPr>
          <a:xfrm>
            <a:off x="7594600" y="1912640"/>
            <a:ext cx="8001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9893F"/>
                </a:solidFill>
                <a:latin typeface="JetBrains Mono" pitchFamily="49" charset="0"/>
                <a:ea typeface="JetBrains Mono" pitchFamily="49" charset="-122"/>
                <a:cs typeface="JetBrains Mono" pitchFamily="49" charset="-120"/>
              </a:rPr>
              <a:t>total</a:t>
            </a:r>
            <a:endParaRPr lang="en-US" sz="1200" dirty="0"/>
          </a:p>
        </p:txBody>
      </p:sp>
      <p:sp>
        <p:nvSpPr>
          <p:cNvPr id="19" name="Text 17"/>
          <p:cNvSpPr/>
          <p:nvPr/>
        </p:nvSpPr>
        <p:spPr>
          <a:xfrm>
            <a:off x="8458200" y="1912640"/>
            <a:ext cx="289090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893F"/>
                </a:solidFill>
                <a:latin typeface="Rubik" pitchFamily="34" charset="0"/>
                <a:ea typeface="Rubik" pitchFamily="34" charset="-122"/>
                <a:cs typeface="Rubik" pitchFamily="34" charset="-120"/>
              </a:rPr>
              <a:t>What happened</a:t>
            </a:r>
            <a:endParaRPr lang="en-US" sz="1200" dirty="0"/>
          </a:p>
        </p:txBody>
      </p:sp>
      <p:sp>
        <p:nvSpPr>
          <p:cNvPr id="20" name="Shape 18"/>
          <p:cNvSpPr/>
          <p:nvPr/>
        </p:nvSpPr>
        <p:spPr>
          <a:xfrm>
            <a:off x="5210175" y="2301875"/>
            <a:ext cx="6165850" cy="501650"/>
          </a:xfrm>
          <a:prstGeom prst="roundRect">
            <a:avLst>
              <a:gd name="adj" fmla="val 14557"/>
            </a:avLst>
          </a:prstGeom>
          <a:solidFill>
            <a:srgbClr val="FFFDF8"/>
          </a:solidFill>
          <a:ln w="6350">
            <a:solidFill>
              <a:srgbClr val="E2DDD2"/>
            </a:solidFill>
            <a:prstDash val="solid"/>
          </a:ln>
        </p:spPr>
      </p:sp>
      <p:sp>
        <p:nvSpPr>
          <p:cNvPr id="21" name="Text 19"/>
          <p:cNvSpPr/>
          <p:nvPr/>
        </p:nvSpPr>
        <p:spPr>
          <a:xfrm>
            <a:off x="5327650" y="2428230"/>
            <a:ext cx="584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1</a:t>
            </a:r>
            <a:endParaRPr lang="en-US" sz="1400" dirty="0"/>
          </a:p>
        </p:txBody>
      </p:sp>
      <p:sp>
        <p:nvSpPr>
          <p:cNvPr id="22" name="Text 20"/>
          <p:cNvSpPr/>
          <p:nvPr/>
        </p:nvSpPr>
        <p:spPr>
          <a:xfrm>
            <a:off x="5956300" y="2393950"/>
            <a:ext cx="736600" cy="317500"/>
          </a:xfrm>
          <a:prstGeom prst="roundRect">
            <a:avLst>
              <a:gd name="adj" fmla="val 18000"/>
            </a:avLst>
          </a:prstGeom>
          <a:solidFill>
            <a:srgbClr val="FBE3CF"/>
          </a:solidFill>
          <a:ln w="12700">
            <a:solidFill>
              <a:srgbClr val="E9893F"/>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a:t>
            </a:r>
            <a:endParaRPr lang="en-US" sz="1400" dirty="0"/>
          </a:p>
        </p:txBody>
      </p:sp>
      <p:sp>
        <p:nvSpPr>
          <p:cNvPr id="23" name="Text 21"/>
          <p:cNvSpPr/>
          <p:nvPr/>
        </p:nvSpPr>
        <p:spPr>
          <a:xfrm>
            <a:off x="6794500" y="23939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596273"/>
                </a:solidFill>
                <a:latin typeface="JetBrains Mono" pitchFamily="49" charset="0"/>
                <a:ea typeface="JetBrains Mono" pitchFamily="49" charset="-122"/>
                <a:cs typeface="JetBrains Mono" pitchFamily="49" charset="-120"/>
              </a:rPr>
              <a:t>–</a:t>
            </a:r>
            <a:endParaRPr lang="en-US" sz="1400" dirty="0"/>
          </a:p>
        </p:txBody>
      </p:sp>
      <p:sp>
        <p:nvSpPr>
          <p:cNvPr id="24" name="Text 22"/>
          <p:cNvSpPr/>
          <p:nvPr/>
        </p:nvSpPr>
        <p:spPr>
          <a:xfrm>
            <a:off x="7632700" y="23939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596273"/>
                </a:solidFill>
                <a:latin typeface="JetBrains Mono" pitchFamily="49" charset="0"/>
                <a:ea typeface="JetBrains Mono" pitchFamily="49" charset="-122"/>
                <a:cs typeface="JetBrains Mono" pitchFamily="49" charset="-120"/>
              </a:rPr>
              <a:t>–</a:t>
            </a:r>
            <a:endParaRPr lang="en-US" sz="1400" dirty="0"/>
          </a:p>
        </p:txBody>
      </p:sp>
      <p:sp>
        <p:nvSpPr>
          <p:cNvPr id="25" name="Text 23"/>
          <p:cNvSpPr/>
          <p:nvPr/>
        </p:nvSpPr>
        <p:spPr>
          <a:xfrm>
            <a:off x="8464550" y="2362200"/>
            <a:ext cx="287782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qty is created. Value is garbage (?) for now.</a:t>
            </a:r>
            <a:endParaRPr lang="en-US" sz="1200" dirty="0"/>
          </a:p>
        </p:txBody>
      </p:sp>
      <p:sp>
        <p:nvSpPr>
          <p:cNvPr id="26" name="Shape 24"/>
          <p:cNvSpPr/>
          <p:nvPr/>
        </p:nvSpPr>
        <p:spPr>
          <a:xfrm>
            <a:off x="5210175" y="2847975"/>
            <a:ext cx="6165850" cy="501650"/>
          </a:xfrm>
          <a:prstGeom prst="roundRect">
            <a:avLst>
              <a:gd name="adj" fmla="val 14557"/>
            </a:avLst>
          </a:prstGeom>
          <a:solidFill>
            <a:srgbClr val="FFFDF8"/>
          </a:solidFill>
          <a:ln w="6350">
            <a:solidFill>
              <a:srgbClr val="E2DDD2"/>
            </a:solidFill>
            <a:prstDash val="solid"/>
          </a:ln>
        </p:spPr>
      </p:sp>
      <p:sp>
        <p:nvSpPr>
          <p:cNvPr id="27" name="Text 25"/>
          <p:cNvSpPr/>
          <p:nvPr/>
        </p:nvSpPr>
        <p:spPr>
          <a:xfrm>
            <a:off x="5327650" y="2974330"/>
            <a:ext cx="584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2</a:t>
            </a:r>
            <a:endParaRPr lang="en-US" sz="1400" dirty="0"/>
          </a:p>
        </p:txBody>
      </p:sp>
      <p:sp>
        <p:nvSpPr>
          <p:cNvPr id="28" name="Text 26"/>
          <p:cNvSpPr/>
          <p:nvPr/>
        </p:nvSpPr>
        <p:spPr>
          <a:xfrm>
            <a:off x="5956300" y="2940050"/>
            <a:ext cx="736600" cy="317500"/>
          </a:xfrm>
          <a:prstGeom prst="roundRect">
            <a:avLst>
              <a:gd name="adj" fmla="val 18000"/>
            </a:avLst>
          </a:prstGeom>
          <a:solidFill>
            <a:srgbClr val="FBE3CF"/>
          </a:solidFill>
          <a:ln w="12700">
            <a:solidFill>
              <a:srgbClr val="E9893F"/>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2</a:t>
            </a:r>
            <a:endParaRPr lang="en-US" sz="1400" dirty="0"/>
          </a:p>
        </p:txBody>
      </p:sp>
      <p:sp>
        <p:nvSpPr>
          <p:cNvPr id="29" name="Text 27"/>
          <p:cNvSpPr/>
          <p:nvPr/>
        </p:nvSpPr>
        <p:spPr>
          <a:xfrm>
            <a:off x="6794500" y="29400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596273"/>
                </a:solidFill>
                <a:latin typeface="JetBrains Mono" pitchFamily="49" charset="0"/>
                <a:ea typeface="JetBrains Mono" pitchFamily="49" charset="-122"/>
                <a:cs typeface="JetBrains Mono" pitchFamily="49" charset="-120"/>
              </a:rPr>
              <a:t>–</a:t>
            </a:r>
            <a:endParaRPr lang="en-US" sz="1400" dirty="0"/>
          </a:p>
        </p:txBody>
      </p:sp>
      <p:sp>
        <p:nvSpPr>
          <p:cNvPr id="30" name="Text 28"/>
          <p:cNvSpPr/>
          <p:nvPr/>
        </p:nvSpPr>
        <p:spPr>
          <a:xfrm>
            <a:off x="7632700" y="29400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596273"/>
                </a:solidFill>
                <a:latin typeface="JetBrains Mono" pitchFamily="49" charset="0"/>
                <a:ea typeface="JetBrains Mono" pitchFamily="49" charset="-122"/>
                <a:cs typeface="JetBrains Mono" pitchFamily="49" charset="-120"/>
              </a:rPr>
              <a:t>–</a:t>
            </a:r>
            <a:endParaRPr lang="en-US" sz="1400" dirty="0"/>
          </a:p>
        </p:txBody>
      </p:sp>
      <p:sp>
        <p:nvSpPr>
          <p:cNvPr id="31" name="Text 29"/>
          <p:cNvSpPr/>
          <p:nvPr/>
        </p:nvSpPr>
        <p:spPr>
          <a:xfrm>
            <a:off x="8464550" y="3003550"/>
            <a:ext cx="28778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2 is stored in qty. = means store.</a:t>
            </a:r>
            <a:endParaRPr lang="en-US" sz="1200" dirty="0"/>
          </a:p>
        </p:txBody>
      </p:sp>
      <p:sp>
        <p:nvSpPr>
          <p:cNvPr id="32" name="Shape 30"/>
          <p:cNvSpPr/>
          <p:nvPr/>
        </p:nvSpPr>
        <p:spPr>
          <a:xfrm>
            <a:off x="5210175" y="3394075"/>
            <a:ext cx="6165850" cy="501650"/>
          </a:xfrm>
          <a:prstGeom prst="roundRect">
            <a:avLst>
              <a:gd name="adj" fmla="val 14557"/>
            </a:avLst>
          </a:prstGeom>
          <a:solidFill>
            <a:srgbClr val="FFFDF8"/>
          </a:solidFill>
          <a:ln w="6350">
            <a:solidFill>
              <a:srgbClr val="E2DDD2"/>
            </a:solidFill>
            <a:prstDash val="solid"/>
          </a:ln>
        </p:spPr>
      </p:sp>
      <p:sp>
        <p:nvSpPr>
          <p:cNvPr id="33" name="Text 31"/>
          <p:cNvSpPr/>
          <p:nvPr/>
        </p:nvSpPr>
        <p:spPr>
          <a:xfrm>
            <a:off x="5327650" y="3520430"/>
            <a:ext cx="584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3</a:t>
            </a:r>
            <a:endParaRPr lang="en-US" sz="1400" dirty="0"/>
          </a:p>
        </p:txBody>
      </p:sp>
      <p:sp>
        <p:nvSpPr>
          <p:cNvPr id="34" name="Text 32"/>
          <p:cNvSpPr/>
          <p:nvPr/>
        </p:nvSpPr>
        <p:spPr>
          <a:xfrm>
            <a:off x="5956300" y="34861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2</a:t>
            </a:r>
            <a:endParaRPr lang="en-US" sz="1400" dirty="0"/>
          </a:p>
        </p:txBody>
      </p:sp>
      <p:sp>
        <p:nvSpPr>
          <p:cNvPr id="35" name="Text 33"/>
          <p:cNvSpPr/>
          <p:nvPr/>
        </p:nvSpPr>
        <p:spPr>
          <a:xfrm>
            <a:off x="6794500" y="3486150"/>
            <a:ext cx="736600" cy="317500"/>
          </a:xfrm>
          <a:prstGeom prst="roundRect">
            <a:avLst>
              <a:gd name="adj" fmla="val 18000"/>
            </a:avLst>
          </a:prstGeom>
          <a:solidFill>
            <a:srgbClr val="FBE3CF"/>
          </a:solidFill>
          <a:ln w="12700">
            <a:solidFill>
              <a:srgbClr val="E9893F"/>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10</a:t>
            </a:r>
            <a:endParaRPr lang="en-US" sz="1400" dirty="0"/>
          </a:p>
        </p:txBody>
      </p:sp>
      <p:sp>
        <p:nvSpPr>
          <p:cNvPr id="36" name="Text 34"/>
          <p:cNvSpPr/>
          <p:nvPr/>
        </p:nvSpPr>
        <p:spPr>
          <a:xfrm>
            <a:off x="7632700" y="34861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596273"/>
                </a:solidFill>
                <a:latin typeface="JetBrains Mono" pitchFamily="49" charset="0"/>
                <a:ea typeface="JetBrains Mono" pitchFamily="49" charset="-122"/>
                <a:cs typeface="JetBrains Mono" pitchFamily="49" charset="-120"/>
              </a:rPr>
              <a:t>–</a:t>
            </a:r>
            <a:endParaRPr lang="en-US" sz="1400" dirty="0"/>
          </a:p>
        </p:txBody>
      </p:sp>
      <p:sp>
        <p:nvSpPr>
          <p:cNvPr id="37" name="Text 35"/>
          <p:cNvSpPr/>
          <p:nvPr/>
        </p:nvSpPr>
        <p:spPr>
          <a:xfrm>
            <a:off x="8464550" y="3549650"/>
            <a:ext cx="28778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price is created with 10 in one line.</a:t>
            </a:r>
            <a:endParaRPr lang="en-US" sz="1200" dirty="0"/>
          </a:p>
        </p:txBody>
      </p:sp>
      <p:sp>
        <p:nvSpPr>
          <p:cNvPr id="38" name="Shape 36"/>
          <p:cNvSpPr/>
          <p:nvPr/>
        </p:nvSpPr>
        <p:spPr>
          <a:xfrm>
            <a:off x="5210175" y="3940175"/>
            <a:ext cx="6165850" cy="501650"/>
          </a:xfrm>
          <a:prstGeom prst="roundRect">
            <a:avLst>
              <a:gd name="adj" fmla="val 14557"/>
            </a:avLst>
          </a:prstGeom>
          <a:solidFill>
            <a:srgbClr val="FFFDF8"/>
          </a:solidFill>
          <a:ln w="6350">
            <a:solidFill>
              <a:srgbClr val="E2DDD2"/>
            </a:solidFill>
            <a:prstDash val="solid"/>
          </a:ln>
        </p:spPr>
      </p:sp>
      <p:sp>
        <p:nvSpPr>
          <p:cNvPr id="39" name="Text 37"/>
          <p:cNvSpPr/>
          <p:nvPr/>
        </p:nvSpPr>
        <p:spPr>
          <a:xfrm>
            <a:off x="5327650" y="4066530"/>
            <a:ext cx="584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4</a:t>
            </a:r>
            <a:endParaRPr lang="en-US" sz="1400" dirty="0"/>
          </a:p>
        </p:txBody>
      </p:sp>
      <p:sp>
        <p:nvSpPr>
          <p:cNvPr id="40" name="Text 38"/>
          <p:cNvSpPr/>
          <p:nvPr/>
        </p:nvSpPr>
        <p:spPr>
          <a:xfrm>
            <a:off x="5956300" y="40322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2</a:t>
            </a:r>
            <a:endParaRPr lang="en-US" sz="1400" dirty="0"/>
          </a:p>
        </p:txBody>
      </p:sp>
      <p:sp>
        <p:nvSpPr>
          <p:cNvPr id="41" name="Text 39"/>
          <p:cNvSpPr/>
          <p:nvPr/>
        </p:nvSpPr>
        <p:spPr>
          <a:xfrm>
            <a:off x="6794500" y="40322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10</a:t>
            </a:r>
            <a:endParaRPr lang="en-US" sz="1400" dirty="0"/>
          </a:p>
        </p:txBody>
      </p:sp>
      <p:sp>
        <p:nvSpPr>
          <p:cNvPr id="42" name="Text 40"/>
          <p:cNvSpPr/>
          <p:nvPr/>
        </p:nvSpPr>
        <p:spPr>
          <a:xfrm>
            <a:off x="7632700" y="4032250"/>
            <a:ext cx="736600" cy="317500"/>
          </a:xfrm>
          <a:prstGeom prst="roundRect">
            <a:avLst>
              <a:gd name="adj" fmla="val 18000"/>
            </a:avLst>
          </a:prstGeom>
          <a:solidFill>
            <a:srgbClr val="FBE3CF"/>
          </a:solidFill>
          <a:ln w="12700">
            <a:solidFill>
              <a:srgbClr val="E9893F"/>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20</a:t>
            </a:r>
            <a:endParaRPr lang="en-US" sz="1400" dirty="0"/>
          </a:p>
        </p:txBody>
      </p:sp>
      <p:sp>
        <p:nvSpPr>
          <p:cNvPr id="43" name="Text 41"/>
          <p:cNvSpPr/>
          <p:nvPr/>
        </p:nvSpPr>
        <p:spPr>
          <a:xfrm>
            <a:off x="8464550" y="4095750"/>
            <a:ext cx="28778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Reads 2 and 10, stores 20 in total.</a:t>
            </a:r>
            <a:endParaRPr lang="en-US" sz="1200" dirty="0"/>
          </a:p>
        </p:txBody>
      </p:sp>
      <p:sp>
        <p:nvSpPr>
          <p:cNvPr id="44" name="Shape 42"/>
          <p:cNvSpPr/>
          <p:nvPr/>
        </p:nvSpPr>
        <p:spPr>
          <a:xfrm>
            <a:off x="5210175" y="4486275"/>
            <a:ext cx="6165850" cy="501650"/>
          </a:xfrm>
          <a:prstGeom prst="roundRect">
            <a:avLst>
              <a:gd name="adj" fmla="val 14557"/>
            </a:avLst>
          </a:prstGeom>
          <a:solidFill>
            <a:srgbClr val="FFFDF8"/>
          </a:solidFill>
          <a:ln w="6350">
            <a:solidFill>
              <a:srgbClr val="E2DDD2"/>
            </a:solidFill>
            <a:prstDash val="solid"/>
          </a:ln>
        </p:spPr>
      </p:sp>
      <p:sp>
        <p:nvSpPr>
          <p:cNvPr id="45" name="Text 43"/>
          <p:cNvSpPr/>
          <p:nvPr/>
        </p:nvSpPr>
        <p:spPr>
          <a:xfrm>
            <a:off x="5327650" y="4612630"/>
            <a:ext cx="584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5</a:t>
            </a:r>
            <a:endParaRPr lang="en-US" sz="1400" dirty="0"/>
          </a:p>
        </p:txBody>
      </p:sp>
      <p:sp>
        <p:nvSpPr>
          <p:cNvPr id="46" name="Text 44"/>
          <p:cNvSpPr/>
          <p:nvPr/>
        </p:nvSpPr>
        <p:spPr>
          <a:xfrm>
            <a:off x="5956300" y="4578350"/>
            <a:ext cx="736600" cy="317500"/>
          </a:xfrm>
          <a:prstGeom prst="roundRect">
            <a:avLst>
              <a:gd name="adj" fmla="val 18000"/>
            </a:avLst>
          </a:prstGeom>
          <a:solidFill>
            <a:srgbClr val="FBE3CF"/>
          </a:solidFill>
          <a:ln w="12700">
            <a:solidFill>
              <a:srgbClr val="E9893F"/>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3</a:t>
            </a:r>
            <a:endParaRPr lang="en-US" sz="1400" dirty="0"/>
          </a:p>
        </p:txBody>
      </p:sp>
      <p:sp>
        <p:nvSpPr>
          <p:cNvPr id="47" name="Text 45"/>
          <p:cNvSpPr/>
          <p:nvPr/>
        </p:nvSpPr>
        <p:spPr>
          <a:xfrm>
            <a:off x="6794500" y="45783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10</a:t>
            </a:r>
            <a:endParaRPr lang="en-US" sz="1400" dirty="0"/>
          </a:p>
        </p:txBody>
      </p:sp>
      <p:sp>
        <p:nvSpPr>
          <p:cNvPr id="48" name="Text 46"/>
          <p:cNvSpPr/>
          <p:nvPr/>
        </p:nvSpPr>
        <p:spPr>
          <a:xfrm>
            <a:off x="7632700" y="45783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20</a:t>
            </a:r>
            <a:endParaRPr lang="en-US" sz="1400" dirty="0"/>
          </a:p>
        </p:txBody>
      </p:sp>
      <p:sp>
        <p:nvSpPr>
          <p:cNvPr id="49" name="Text 47"/>
          <p:cNvSpPr/>
          <p:nvPr/>
        </p:nvSpPr>
        <p:spPr>
          <a:xfrm>
            <a:off x="8464550" y="4641850"/>
            <a:ext cx="28778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qty becomes 3. total is STILL 20!</a:t>
            </a:r>
            <a:endParaRPr lang="en-US" sz="1200" dirty="0"/>
          </a:p>
        </p:txBody>
      </p:sp>
      <p:sp>
        <p:nvSpPr>
          <p:cNvPr id="50" name="Shape 48"/>
          <p:cNvSpPr/>
          <p:nvPr/>
        </p:nvSpPr>
        <p:spPr>
          <a:xfrm>
            <a:off x="5210175" y="5032375"/>
            <a:ext cx="6165850" cy="501650"/>
          </a:xfrm>
          <a:prstGeom prst="roundRect">
            <a:avLst>
              <a:gd name="adj" fmla="val 14557"/>
            </a:avLst>
          </a:prstGeom>
          <a:solidFill>
            <a:srgbClr val="FFFDF8"/>
          </a:solidFill>
          <a:ln w="6350">
            <a:solidFill>
              <a:srgbClr val="E2DDD2"/>
            </a:solidFill>
            <a:prstDash val="solid"/>
          </a:ln>
        </p:spPr>
      </p:sp>
      <p:sp>
        <p:nvSpPr>
          <p:cNvPr id="51" name="Text 49"/>
          <p:cNvSpPr/>
          <p:nvPr/>
        </p:nvSpPr>
        <p:spPr>
          <a:xfrm>
            <a:off x="5327650" y="5158730"/>
            <a:ext cx="584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6</a:t>
            </a:r>
            <a:endParaRPr lang="en-US" sz="1400" dirty="0"/>
          </a:p>
        </p:txBody>
      </p:sp>
      <p:sp>
        <p:nvSpPr>
          <p:cNvPr id="52" name="Text 50"/>
          <p:cNvSpPr/>
          <p:nvPr/>
        </p:nvSpPr>
        <p:spPr>
          <a:xfrm>
            <a:off x="5956300" y="51244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3</a:t>
            </a:r>
            <a:endParaRPr lang="en-US" sz="1400" dirty="0"/>
          </a:p>
        </p:txBody>
      </p:sp>
      <p:sp>
        <p:nvSpPr>
          <p:cNvPr id="53" name="Text 51"/>
          <p:cNvSpPr/>
          <p:nvPr/>
        </p:nvSpPr>
        <p:spPr>
          <a:xfrm>
            <a:off x="6794500" y="5124450"/>
            <a:ext cx="736600" cy="317500"/>
          </a:xfrm>
          <a:prstGeom prst="roundRect">
            <a:avLst>
              <a:gd name="adj" fmla="val 18000"/>
            </a:avLst>
          </a:prstGeom>
          <a:solidFill>
            <a:srgbClr val="FFFDF8"/>
          </a:solidFill>
          <a:ln w="12700">
            <a:solidFill>
              <a:srgbClr val="E2DDD2"/>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10</a:t>
            </a:r>
            <a:endParaRPr lang="en-US" sz="1400" dirty="0"/>
          </a:p>
        </p:txBody>
      </p:sp>
      <p:sp>
        <p:nvSpPr>
          <p:cNvPr id="54" name="Text 52"/>
          <p:cNvSpPr/>
          <p:nvPr/>
        </p:nvSpPr>
        <p:spPr>
          <a:xfrm>
            <a:off x="7632700" y="5124450"/>
            <a:ext cx="736600" cy="317500"/>
          </a:xfrm>
          <a:prstGeom prst="roundRect">
            <a:avLst>
              <a:gd name="adj" fmla="val 18000"/>
            </a:avLst>
          </a:prstGeom>
          <a:solidFill>
            <a:srgbClr val="FBE3CF"/>
          </a:solidFill>
          <a:ln w="12700">
            <a:solidFill>
              <a:srgbClr val="E9893F"/>
            </a:solidFill>
            <a:prstDash val="solid"/>
          </a:ln>
        </p:spPr>
        <p:txBody>
          <a:bodyPr wrap="square" lIns="0" tIns="0" rIns="0" bIns="0" rtlCol="0" anchor="ctr">
            <a:normAutofit/>
          </a:bodyPr>
          <a:lstStyle/>
          <a:p>
            <a:pPr algn="ctr" indent="0" marL="0">
              <a:lnSpc>
                <a:spcPts val="1960"/>
              </a:lnSpc>
              <a:buNone/>
            </a:pPr>
            <a:r>
              <a:rPr lang="en-US" sz="1400" b="1" dirty="0">
                <a:solidFill>
                  <a:srgbClr val="1C2230"/>
                </a:solidFill>
                <a:latin typeface="JetBrains Mono" pitchFamily="49" charset="0"/>
                <a:ea typeface="JetBrains Mono" pitchFamily="49" charset="-122"/>
                <a:cs typeface="JetBrains Mono" pitchFamily="49" charset="-120"/>
              </a:rPr>
              <a:t>30</a:t>
            </a:r>
            <a:endParaRPr lang="en-US" sz="1400" dirty="0"/>
          </a:p>
        </p:txBody>
      </p:sp>
      <p:sp>
        <p:nvSpPr>
          <p:cNvPr id="55" name="Text 53"/>
          <p:cNvSpPr/>
          <p:nvPr/>
        </p:nvSpPr>
        <p:spPr>
          <a:xfrm>
            <a:off x="8464550" y="5187950"/>
            <a:ext cx="28778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Recalculate: 3 × 10 = 30.</a:t>
            </a:r>
            <a:endParaRPr lang="en-US" sz="1200" dirty="0"/>
          </a:p>
        </p:txBody>
      </p:sp>
      <p:sp>
        <p:nvSpPr>
          <p:cNvPr id="56" name="Text 54"/>
          <p:cNvSpPr/>
          <p:nvPr/>
        </p:nvSpPr>
        <p:spPr>
          <a:xfrm>
            <a:off x="5207000" y="5626100"/>
            <a:ext cx="6172200" cy="355600"/>
          </a:xfrm>
          <a:prstGeom prst="roundRect">
            <a:avLst>
              <a:gd name="adj" fmla="val 21429"/>
            </a:avLst>
          </a:prstGeom>
          <a:solidFill>
            <a:srgbClr val="E9893F"/>
          </a:solidFill>
          <a:ln/>
        </p:spPr>
        <p:txBody>
          <a:bodyPr wrap="square" lIns="104682" tIns="0" rIns="104682" bIns="0" rtlCol="0" anchor="ctr">
            <a:normAutofit/>
          </a:bodyPr>
          <a:lstStyle/>
          <a:p>
            <a:pPr algn="l" indent="0" marL="0">
              <a:lnSpc>
                <a:spcPts val="1820"/>
              </a:lnSpc>
              <a:buNone/>
            </a:pPr>
            <a:r>
              <a:rPr lang="en-US" sz="1300" b="1" dirty="0">
                <a:solidFill>
                  <a:srgbClr val="15233F"/>
                </a:solidFill>
                <a:latin typeface="Rubik" pitchFamily="34" charset="0"/>
                <a:ea typeface="Rubik" pitchFamily="34" charset="-122"/>
                <a:cs typeface="Rubik" pitchFamily="34" charset="-120"/>
              </a:rPr>
              <a:t>Variables never update by themselves.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6 OF 8 · VARIABLES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Declare, initialise, assign, use</a:t>
            </a:r>
            <a:endParaRPr lang="en-US" sz="3000" dirty="0"/>
          </a:p>
        </p:txBody>
      </p:sp>
      <p:sp>
        <p:nvSpPr>
          <p:cNvPr id="4" name="Shape 2"/>
          <p:cNvSpPr/>
          <p:nvPr/>
        </p:nvSpPr>
        <p:spPr>
          <a:xfrm>
            <a:off x="815975" y="1796405"/>
            <a:ext cx="2540000" cy="2113211"/>
          </a:xfrm>
          <a:prstGeom prst="roundRect">
            <a:avLst>
              <a:gd name="adj" fmla="val 5259"/>
            </a:avLst>
          </a:prstGeom>
          <a:solidFill>
            <a:srgbClr val="FFFDF8"/>
          </a:solidFill>
          <a:ln w="6350">
            <a:solidFill>
              <a:srgbClr val="E2DDD2"/>
            </a:solidFill>
            <a:prstDash val="solid"/>
          </a:ln>
        </p:spPr>
      </p:sp>
      <p:sp>
        <p:nvSpPr>
          <p:cNvPr id="5" name="Text 3"/>
          <p:cNvSpPr/>
          <p:nvPr/>
        </p:nvSpPr>
        <p:spPr>
          <a:xfrm>
            <a:off x="1022350" y="2002780"/>
            <a:ext cx="21910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5BD7"/>
                </a:solidFill>
                <a:latin typeface="Rubik" pitchFamily="34" charset="0"/>
                <a:ea typeface="Rubik" pitchFamily="34" charset="-122"/>
                <a:cs typeface="Rubik" pitchFamily="34" charset="-120"/>
              </a:rPr>
              <a:t>Declare</a:t>
            </a:r>
            <a:endParaRPr lang="en-US" sz="1600" dirty="0"/>
          </a:p>
        </p:txBody>
      </p:sp>
      <p:sp>
        <p:nvSpPr>
          <p:cNvPr id="6" name="Text 4"/>
          <p:cNvSpPr/>
          <p:nvPr/>
        </p:nvSpPr>
        <p:spPr>
          <a:xfrm>
            <a:off x="1022350" y="2335510"/>
            <a:ext cx="2127250" cy="560685"/>
          </a:xfrm>
          <a:prstGeom prst="roundRect">
            <a:avLst>
              <a:gd name="adj" fmla="val 15856"/>
            </a:avLst>
          </a:prstGeom>
          <a:solidFill>
            <a:srgbClr val="15233F"/>
          </a:solidFill>
          <a:ln/>
        </p:spPr>
        <p:txBody>
          <a:bodyPr wrap="square" lIns="164462" tIns="126362" rIns="112075" bIns="100962" rtlCol="0" anchor="t">
            <a:normAutofit/>
          </a:bodyPr>
          <a:lstStyle/>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int qty;</a:t>
            </a:r>
            <a:endParaRPr lang="en-US" sz="1300" dirty="0"/>
          </a:p>
        </p:txBody>
      </p:sp>
      <p:sp>
        <p:nvSpPr>
          <p:cNvPr id="7" name="Text 5"/>
          <p:cNvSpPr/>
          <p:nvPr/>
        </p:nvSpPr>
        <p:spPr>
          <a:xfrm>
            <a:off x="1022350" y="2985095"/>
            <a:ext cx="21910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Create the box. Do it before you use the variable.</a:t>
            </a:r>
            <a:endParaRPr lang="en-US" sz="1300" dirty="0"/>
          </a:p>
        </p:txBody>
      </p:sp>
      <p:sp>
        <p:nvSpPr>
          <p:cNvPr id="8" name="Shape 6"/>
          <p:cNvSpPr/>
          <p:nvPr/>
        </p:nvSpPr>
        <p:spPr>
          <a:xfrm>
            <a:off x="3489325" y="1796405"/>
            <a:ext cx="2540000" cy="2113211"/>
          </a:xfrm>
          <a:prstGeom prst="roundRect">
            <a:avLst>
              <a:gd name="adj" fmla="val 5259"/>
            </a:avLst>
          </a:prstGeom>
          <a:solidFill>
            <a:srgbClr val="FFFDF8"/>
          </a:solidFill>
          <a:ln w="6350">
            <a:solidFill>
              <a:srgbClr val="E2DDD2"/>
            </a:solidFill>
            <a:prstDash val="solid"/>
          </a:ln>
        </p:spPr>
      </p:sp>
      <p:sp>
        <p:nvSpPr>
          <p:cNvPr id="9" name="Text 7"/>
          <p:cNvSpPr/>
          <p:nvPr/>
        </p:nvSpPr>
        <p:spPr>
          <a:xfrm>
            <a:off x="3695700" y="2002780"/>
            <a:ext cx="21910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5BD7"/>
                </a:solidFill>
                <a:latin typeface="Rubik" pitchFamily="34" charset="0"/>
                <a:ea typeface="Rubik" pitchFamily="34" charset="-122"/>
                <a:cs typeface="Rubik" pitchFamily="34" charset="-120"/>
              </a:rPr>
              <a:t>Initialise</a:t>
            </a:r>
            <a:endParaRPr lang="en-US" sz="1600" dirty="0"/>
          </a:p>
        </p:txBody>
      </p:sp>
      <p:sp>
        <p:nvSpPr>
          <p:cNvPr id="10" name="Text 8"/>
          <p:cNvSpPr/>
          <p:nvPr/>
        </p:nvSpPr>
        <p:spPr>
          <a:xfrm>
            <a:off x="3695700" y="2335510"/>
            <a:ext cx="2127250" cy="560685"/>
          </a:xfrm>
          <a:prstGeom prst="roundRect">
            <a:avLst>
              <a:gd name="adj" fmla="val 15856"/>
            </a:avLst>
          </a:prstGeom>
          <a:solidFill>
            <a:srgbClr val="15233F"/>
          </a:solidFill>
          <a:ln/>
        </p:spPr>
        <p:txBody>
          <a:bodyPr wrap="square" lIns="164462" tIns="126362" rIns="112075" bIns="100962" rtlCol="0" anchor="t">
            <a:normAutofit/>
          </a:bodyPr>
          <a:lstStyle/>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int qty = 2;</a:t>
            </a:r>
            <a:endParaRPr lang="en-US" sz="1300" dirty="0"/>
          </a:p>
        </p:txBody>
      </p:sp>
      <p:sp>
        <p:nvSpPr>
          <p:cNvPr id="11" name="Text 9"/>
          <p:cNvSpPr/>
          <p:nvPr/>
        </p:nvSpPr>
        <p:spPr>
          <a:xfrm>
            <a:off x="3695700" y="2985095"/>
            <a:ext cx="21910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Create the box and give it a first value.</a:t>
            </a:r>
            <a:endParaRPr lang="en-US" sz="1300" dirty="0"/>
          </a:p>
        </p:txBody>
      </p:sp>
      <p:sp>
        <p:nvSpPr>
          <p:cNvPr id="12" name="Shape 10"/>
          <p:cNvSpPr/>
          <p:nvPr/>
        </p:nvSpPr>
        <p:spPr>
          <a:xfrm>
            <a:off x="6162675" y="1796405"/>
            <a:ext cx="2540000" cy="2113211"/>
          </a:xfrm>
          <a:prstGeom prst="roundRect">
            <a:avLst>
              <a:gd name="adj" fmla="val 5259"/>
            </a:avLst>
          </a:prstGeom>
          <a:solidFill>
            <a:srgbClr val="FFFDF8"/>
          </a:solidFill>
          <a:ln w="6350">
            <a:solidFill>
              <a:srgbClr val="E2DDD2"/>
            </a:solidFill>
            <a:prstDash val="solid"/>
          </a:ln>
        </p:spPr>
      </p:sp>
      <p:sp>
        <p:nvSpPr>
          <p:cNvPr id="13" name="Text 11"/>
          <p:cNvSpPr/>
          <p:nvPr/>
        </p:nvSpPr>
        <p:spPr>
          <a:xfrm>
            <a:off x="6369050" y="2002780"/>
            <a:ext cx="21910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5BD7"/>
                </a:solidFill>
                <a:latin typeface="Rubik" pitchFamily="34" charset="0"/>
                <a:ea typeface="Rubik" pitchFamily="34" charset="-122"/>
                <a:cs typeface="Rubik" pitchFamily="34" charset="-120"/>
              </a:rPr>
              <a:t>Assign</a:t>
            </a:r>
            <a:endParaRPr lang="en-US" sz="1600" dirty="0"/>
          </a:p>
        </p:txBody>
      </p:sp>
      <p:sp>
        <p:nvSpPr>
          <p:cNvPr id="14" name="Text 12"/>
          <p:cNvSpPr/>
          <p:nvPr/>
        </p:nvSpPr>
        <p:spPr>
          <a:xfrm>
            <a:off x="6369050" y="2335510"/>
            <a:ext cx="2127250" cy="560685"/>
          </a:xfrm>
          <a:prstGeom prst="roundRect">
            <a:avLst>
              <a:gd name="adj" fmla="val 15856"/>
            </a:avLst>
          </a:prstGeom>
          <a:solidFill>
            <a:srgbClr val="15233F"/>
          </a:solidFill>
          <a:ln/>
        </p:spPr>
        <p:txBody>
          <a:bodyPr wrap="square" lIns="164462" tIns="126362" rIns="112075" bIns="100962" rtlCol="0" anchor="t">
            <a:normAutofit/>
          </a:bodyPr>
          <a:lstStyle/>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qty = 3;</a:t>
            </a:r>
            <a:endParaRPr lang="en-US" sz="1300" dirty="0"/>
          </a:p>
        </p:txBody>
      </p:sp>
      <p:sp>
        <p:nvSpPr>
          <p:cNvPr id="15" name="Text 13"/>
          <p:cNvSpPr/>
          <p:nvPr/>
        </p:nvSpPr>
        <p:spPr>
          <a:xfrm>
            <a:off x="6369050" y="2985095"/>
            <a:ext cx="21910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Store a new value; the old one is gone.</a:t>
            </a:r>
            <a:endParaRPr lang="en-US" sz="1300" dirty="0"/>
          </a:p>
        </p:txBody>
      </p:sp>
      <p:sp>
        <p:nvSpPr>
          <p:cNvPr id="16" name="Shape 14"/>
          <p:cNvSpPr/>
          <p:nvPr/>
        </p:nvSpPr>
        <p:spPr>
          <a:xfrm>
            <a:off x="8836025" y="1796405"/>
            <a:ext cx="2540000" cy="2113211"/>
          </a:xfrm>
          <a:prstGeom prst="roundRect">
            <a:avLst>
              <a:gd name="adj" fmla="val 5259"/>
            </a:avLst>
          </a:prstGeom>
          <a:solidFill>
            <a:srgbClr val="FFFDF8"/>
          </a:solidFill>
          <a:ln w="6350">
            <a:solidFill>
              <a:srgbClr val="E2DDD2"/>
            </a:solidFill>
            <a:prstDash val="solid"/>
          </a:ln>
        </p:spPr>
      </p:sp>
      <p:sp>
        <p:nvSpPr>
          <p:cNvPr id="17" name="Text 15"/>
          <p:cNvSpPr/>
          <p:nvPr/>
        </p:nvSpPr>
        <p:spPr>
          <a:xfrm>
            <a:off x="9042400" y="2002780"/>
            <a:ext cx="21910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5BD7"/>
                </a:solidFill>
                <a:latin typeface="Rubik" pitchFamily="34" charset="0"/>
                <a:ea typeface="Rubik" pitchFamily="34" charset="-122"/>
                <a:cs typeface="Rubik" pitchFamily="34" charset="-120"/>
              </a:rPr>
              <a:t>Use</a:t>
            </a:r>
            <a:endParaRPr lang="en-US" sz="1600" dirty="0"/>
          </a:p>
        </p:txBody>
      </p:sp>
      <p:sp>
        <p:nvSpPr>
          <p:cNvPr id="18" name="Text 16"/>
          <p:cNvSpPr/>
          <p:nvPr/>
        </p:nvSpPr>
        <p:spPr>
          <a:xfrm>
            <a:off x="9042400" y="2335510"/>
            <a:ext cx="2127250" cy="816570"/>
          </a:xfrm>
          <a:prstGeom prst="roundRect">
            <a:avLst>
              <a:gd name="adj" fmla="val 10887"/>
            </a:avLst>
          </a:prstGeom>
          <a:solidFill>
            <a:srgbClr val="15233F"/>
          </a:solidFill>
          <a:ln/>
        </p:spPr>
        <p:txBody>
          <a:bodyPr wrap="square" lIns="164462" tIns="126362" rIns="112075" bIns="100962" rtlCol="0" anchor="t">
            <a:normAutofit/>
          </a:bodyPr>
          <a:lstStyle/>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total = qty * price;</a:t>
            </a:r>
            <a:endParaRPr lang="en-US" sz="1300" dirty="0"/>
          </a:p>
        </p:txBody>
      </p:sp>
      <p:sp>
        <p:nvSpPr>
          <p:cNvPr id="19" name="Text 17"/>
          <p:cNvSpPr/>
          <p:nvPr/>
        </p:nvSpPr>
        <p:spPr>
          <a:xfrm>
            <a:off x="9042400" y="3240980"/>
            <a:ext cx="21910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Read the value inside the box.</a:t>
            </a:r>
            <a:endParaRPr lang="en-US" sz="1300" dirty="0"/>
          </a:p>
        </p:txBody>
      </p:sp>
      <p:sp>
        <p:nvSpPr>
          <p:cNvPr id="20" name="Text 18"/>
          <p:cNvSpPr/>
          <p:nvPr/>
        </p:nvSpPr>
        <p:spPr>
          <a:xfrm>
            <a:off x="812800" y="416679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2230"/>
                </a:solidFill>
                <a:latin typeface="Rubik" pitchFamily="34" charset="0"/>
                <a:ea typeface="Rubik" pitchFamily="34" charset="-122"/>
                <a:cs typeface="Rubik" pitchFamily="34" charset="-120"/>
              </a:rPr>
              <a:t>Good habit:</a:t>
            </a:r>
            <a:r>
              <a:rPr lang="en-US" sz="1500" dirty="0">
                <a:solidFill>
                  <a:srgbClr val="1C2230"/>
                </a:solidFill>
                <a:latin typeface="Rubik" pitchFamily="34" charset="0"/>
                <a:ea typeface="Rubik" pitchFamily="34" charset="-122"/>
                <a:cs typeface="Rubik" pitchFamily="34" charset="-120"/>
              </a:rPr>
              <a:t> always initialise. An uninitialised variable holds garbage, and the bill comes out wrong.</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6 OF 8 · VARIABLES · PREDICT</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What does it print?</a:t>
            </a:r>
            <a:endParaRPr lang="en-US" sz="3000" dirty="0"/>
          </a:p>
        </p:txBody>
      </p:sp>
      <p:sp>
        <p:nvSpPr>
          <p:cNvPr id="4" name="Shape 2"/>
          <p:cNvSpPr/>
          <p:nvPr/>
        </p:nvSpPr>
        <p:spPr>
          <a:xfrm>
            <a:off x="815975" y="2035175"/>
            <a:ext cx="6978650" cy="882650"/>
          </a:xfrm>
          <a:prstGeom prst="roundRect">
            <a:avLst>
              <a:gd name="adj" fmla="val 12590"/>
            </a:avLst>
          </a:prstGeom>
          <a:solidFill>
            <a:srgbClr val="FFFDF8"/>
          </a:solidFill>
          <a:ln w="6350">
            <a:solidFill>
              <a:srgbClr val="E2DDD2"/>
            </a:solidFill>
            <a:prstDash val="solid"/>
          </a:ln>
        </p:spPr>
      </p:sp>
      <p:sp>
        <p:nvSpPr>
          <p:cNvPr id="5" name="Text 3"/>
          <p:cNvSpPr/>
          <p:nvPr/>
        </p:nvSpPr>
        <p:spPr>
          <a:xfrm>
            <a:off x="1047750" y="2298700"/>
            <a:ext cx="17715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351905" y="2356495"/>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230"/>
                </a:solidFill>
                <a:latin typeface="Rubik" pitchFamily="34" charset="0"/>
                <a:ea typeface="Rubik" pitchFamily="34" charset="-122"/>
                <a:cs typeface="Rubik" pitchFamily="34" charset="-120"/>
              </a:rPr>
              <a:t>int a = 5; a = a + 2; a = a * 3; printf("%d", a);</a:t>
            </a:r>
            <a:endParaRPr lang="en-US" sz="1400" dirty="0"/>
          </a:p>
        </p:txBody>
      </p:sp>
      <p:sp>
        <p:nvSpPr>
          <p:cNvPr id="7" name="Text 5"/>
          <p:cNvSpPr/>
          <p:nvPr/>
        </p:nvSpPr>
        <p:spPr>
          <a:xfrm>
            <a:off x="8001000" y="2032000"/>
            <a:ext cx="3378200" cy="889000"/>
          </a:xfrm>
          <a:prstGeom prst="roundRect">
            <a:avLst>
              <a:gd name="adj" fmla="val 12857"/>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21</a:t>
            </a:r>
            <a:endParaRPr lang="en-US" sz="1400" dirty="0"/>
          </a:p>
        </p:txBody>
      </p:sp>
      <p:sp>
        <p:nvSpPr>
          <p:cNvPr id="8" name="Shape 6"/>
          <p:cNvSpPr/>
          <p:nvPr/>
        </p:nvSpPr>
        <p:spPr>
          <a:xfrm>
            <a:off x="815975" y="3114675"/>
            <a:ext cx="6978650" cy="882650"/>
          </a:xfrm>
          <a:prstGeom prst="roundRect">
            <a:avLst>
              <a:gd name="adj" fmla="val 12590"/>
            </a:avLst>
          </a:prstGeom>
          <a:solidFill>
            <a:srgbClr val="FFFDF8"/>
          </a:solidFill>
          <a:ln w="6350">
            <a:solidFill>
              <a:srgbClr val="E2DDD2"/>
            </a:solidFill>
            <a:prstDash val="solid"/>
          </a:ln>
        </p:spPr>
      </p:sp>
      <p:sp>
        <p:nvSpPr>
          <p:cNvPr id="9" name="Text 7"/>
          <p:cNvSpPr/>
          <p:nvPr/>
        </p:nvSpPr>
        <p:spPr>
          <a:xfrm>
            <a:off x="1047750" y="3378200"/>
            <a:ext cx="2159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2</a:t>
            </a:r>
            <a:endParaRPr lang="en-US" sz="2000" dirty="0"/>
          </a:p>
        </p:txBody>
      </p:sp>
      <p:sp>
        <p:nvSpPr>
          <p:cNvPr id="10" name="Text 8"/>
          <p:cNvSpPr/>
          <p:nvPr/>
        </p:nvSpPr>
        <p:spPr>
          <a:xfrm>
            <a:off x="1390650" y="3435995"/>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230"/>
                </a:solidFill>
                <a:latin typeface="Rubik" pitchFamily="34" charset="0"/>
                <a:ea typeface="Rubik" pitchFamily="34" charset="-122"/>
                <a:cs typeface="Rubik" pitchFamily="34" charset="-120"/>
              </a:rPr>
              <a:t>int x = 4, y; y = x; x = 9; printf("%d", y);</a:t>
            </a:r>
            <a:endParaRPr lang="en-US" sz="1400" dirty="0"/>
          </a:p>
        </p:txBody>
      </p:sp>
      <p:sp>
        <p:nvSpPr>
          <p:cNvPr id="11" name="Text 9"/>
          <p:cNvSpPr/>
          <p:nvPr/>
        </p:nvSpPr>
        <p:spPr>
          <a:xfrm>
            <a:off x="8001000" y="3111500"/>
            <a:ext cx="3378200" cy="889000"/>
          </a:xfrm>
          <a:prstGeom prst="roundRect">
            <a:avLst>
              <a:gd name="adj" fmla="val 12857"/>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4: y got a copy, not a link</a:t>
            </a:r>
            <a:endParaRPr lang="en-US" sz="1400" dirty="0"/>
          </a:p>
        </p:txBody>
      </p:sp>
      <p:sp>
        <p:nvSpPr>
          <p:cNvPr id="12" name="Shape 10"/>
          <p:cNvSpPr/>
          <p:nvPr/>
        </p:nvSpPr>
        <p:spPr>
          <a:xfrm>
            <a:off x="815975" y="4194175"/>
            <a:ext cx="6978650" cy="882650"/>
          </a:xfrm>
          <a:prstGeom prst="roundRect">
            <a:avLst>
              <a:gd name="adj" fmla="val 12590"/>
            </a:avLst>
          </a:prstGeom>
          <a:solidFill>
            <a:srgbClr val="FFFDF8"/>
          </a:solidFill>
          <a:ln w="6350">
            <a:solidFill>
              <a:srgbClr val="E2DDD2"/>
            </a:solidFill>
            <a:prstDash val="solid"/>
          </a:ln>
        </p:spPr>
      </p:sp>
      <p:sp>
        <p:nvSpPr>
          <p:cNvPr id="13" name="Text 11"/>
          <p:cNvSpPr/>
          <p:nvPr/>
        </p:nvSpPr>
        <p:spPr>
          <a:xfrm>
            <a:off x="1047750" y="4457700"/>
            <a:ext cx="21823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3</a:t>
            </a:r>
            <a:endParaRPr lang="en-US" sz="2000" dirty="0"/>
          </a:p>
        </p:txBody>
      </p:sp>
      <p:sp>
        <p:nvSpPr>
          <p:cNvPr id="14" name="Text 12"/>
          <p:cNvSpPr/>
          <p:nvPr/>
        </p:nvSpPr>
        <p:spPr>
          <a:xfrm>
            <a:off x="1392982" y="4515495"/>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230"/>
                </a:solidFill>
                <a:latin typeface="Rubik" pitchFamily="34" charset="0"/>
                <a:ea typeface="Rubik" pitchFamily="34" charset="-122"/>
                <a:cs typeface="Rubik" pitchFamily="34" charset="-120"/>
              </a:rPr>
              <a:t>int z; printf("%d", z);</a:t>
            </a:r>
            <a:endParaRPr lang="en-US" sz="1400" dirty="0"/>
          </a:p>
        </p:txBody>
      </p:sp>
      <p:sp>
        <p:nvSpPr>
          <p:cNvPr id="15" name="Text 13"/>
          <p:cNvSpPr/>
          <p:nvPr/>
        </p:nvSpPr>
        <p:spPr>
          <a:xfrm>
            <a:off x="8001000" y="4191000"/>
            <a:ext cx="3378200" cy="889000"/>
          </a:xfrm>
          <a:prstGeom prst="roundRect">
            <a:avLst>
              <a:gd name="adj" fmla="val 12857"/>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Garbage: z was never initialised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62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7 OF 8 · CONSTANTS</a:t>
            </a:r>
            <a:endParaRPr lang="en-US" sz="1300" dirty="0"/>
          </a:p>
        </p:txBody>
      </p:sp>
      <p:sp>
        <p:nvSpPr>
          <p:cNvPr id="3" name="Text 1"/>
          <p:cNvSpPr/>
          <p:nvPr>
            <p:ph type="title"/>
          </p:nvPr>
        </p:nvSpPr>
        <p:spPr>
          <a:xfrm>
            <a:off x="812800" y="10693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What is a constant? A value that never changes</a:t>
            </a:r>
            <a:endParaRPr lang="en-US" sz="3000" dirty="0"/>
          </a:p>
        </p:txBody>
      </p:sp>
      <p:sp>
        <p:nvSpPr>
          <p:cNvPr id="4" name="Shape 2"/>
          <p:cNvSpPr/>
          <p:nvPr/>
        </p:nvSpPr>
        <p:spPr>
          <a:xfrm>
            <a:off x="815975" y="1669405"/>
            <a:ext cx="5200650" cy="1098550"/>
          </a:xfrm>
          <a:prstGeom prst="roundRect">
            <a:avLst>
              <a:gd name="adj" fmla="val 10116"/>
            </a:avLst>
          </a:prstGeom>
          <a:solidFill>
            <a:srgbClr val="FFFDF8"/>
          </a:solidFill>
          <a:ln w="6350">
            <a:solidFill>
              <a:srgbClr val="E2DDD2"/>
            </a:solidFill>
            <a:prstDash val="solid"/>
          </a:ln>
        </p:spPr>
      </p:sp>
      <p:pic>
        <p:nvPicPr>
          <p:cNvPr id="5" name="Image 0" descr="Snack packet with printed price label">    </p:cNvPr>
          <p:cNvPicPr>
            <a:picLocks noChangeAspect="1"/>
          </p:cNvPicPr>
          <p:nvPr/>
        </p:nvPicPr>
        <p:blipFill>
          <a:blip r:embed="rId1"/>
          <a:srcRect l="0" r="0" t="-3031" b="-3031"/>
          <a:stretch/>
        </p:blipFill>
        <p:spPr>
          <a:xfrm>
            <a:off x="1009650" y="1837680"/>
            <a:ext cx="718443" cy="762000"/>
          </a:xfrm>
          <a:prstGeom prst="rect">
            <a:avLst/>
          </a:prstGeom>
        </p:spPr>
      </p:pic>
      <p:sp>
        <p:nvSpPr>
          <p:cNvPr id="6" name="Text 3"/>
          <p:cNvSpPr/>
          <p:nvPr/>
        </p:nvSpPr>
        <p:spPr>
          <a:xfrm>
            <a:off x="1893193" y="1841500"/>
            <a:ext cx="40476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Printed price: </a:t>
            </a:r>
            <a:r>
              <a:rPr lang="en-US" sz="1500" b="1" dirty="0">
                <a:solidFill>
                  <a:srgbClr val="A94F17"/>
                </a:solidFill>
                <a:latin typeface="Rubik" pitchFamily="34" charset="0"/>
                <a:ea typeface="Rubik" pitchFamily="34" charset="-122"/>
                <a:cs typeface="Rubik" pitchFamily="34" charset="-120"/>
              </a:rPr>
              <a:t>MRP ₹10</a:t>
            </a:r>
            <a:endParaRPr lang="en-US" sz="1500" dirty="0"/>
          </a:p>
        </p:txBody>
      </p:sp>
      <p:sp>
        <p:nvSpPr>
          <p:cNvPr id="7" name="Text 4"/>
          <p:cNvSpPr/>
          <p:nvPr/>
        </p:nvSpPr>
        <p:spPr>
          <a:xfrm>
            <a:off x="1893193" y="2133600"/>
            <a:ext cx="40476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Printed on the packet. The shopkeeper can't change it.</a:t>
            </a:r>
            <a:endParaRPr lang="en-US" sz="1300" dirty="0"/>
          </a:p>
        </p:txBody>
      </p:sp>
      <p:sp>
        <p:nvSpPr>
          <p:cNvPr id="8" name="Shape 5"/>
          <p:cNvSpPr/>
          <p:nvPr/>
        </p:nvSpPr>
        <p:spPr>
          <a:xfrm>
            <a:off x="6175375" y="1669405"/>
            <a:ext cx="5200650" cy="1098550"/>
          </a:xfrm>
          <a:prstGeom prst="roundRect">
            <a:avLst>
              <a:gd name="adj" fmla="val 10116"/>
            </a:avLst>
          </a:prstGeom>
          <a:solidFill>
            <a:srgbClr val="FFFDF8"/>
          </a:solidFill>
          <a:ln w="6350">
            <a:solidFill>
              <a:srgbClr val="E2DDD2"/>
            </a:solidFill>
            <a:prstDash val="solid"/>
          </a:ln>
        </p:spPr>
      </p:sp>
      <p:sp>
        <p:nvSpPr>
          <p:cNvPr id="9" name="Shape 6"/>
          <p:cNvSpPr/>
          <p:nvPr/>
        </p:nvSpPr>
        <p:spPr>
          <a:xfrm>
            <a:off x="6388100" y="1856730"/>
            <a:ext cx="723900" cy="723900"/>
          </a:xfrm>
          <a:prstGeom prst="roundRect">
            <a:avLst>
              <a:gd name="adj" fmla="val 7895"/>
            </a:avLst>
          </a:prstGeom>
          <a:solidFill>
            <a:srgbClr val="0F2A1D"/>
          </a:solidFill>
          <a:ln w="38100">
            <a:solidFill>
              <a:srgbClr val="6B4A2B"/>
            </a:solidFill>
            <a:prstDash val="solid"/>
          </a:ln>
        </p:spPr>
      </p:sp>
      <p:sp>
        <p:nvSpPr>
          <p:cNvPr id="10" name="Text 7"/>
          <p:cNvSpPr/>
          <p:nvPr/>
        </p:nvSpPr>
        <p:spPr>
          <a:xfrm>
            <a:off x="6441321" y="1910110"/>
            <a:ext cx="61745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C857"/>
                </a:solidFill>
                <a:latin typeface="Rubik" pitchFamily="34" charset="0"/>
                <a:ea typeface="Rubik" pitchFamily="34" charset="-122"/>
                <a:cs typeface="Rubik" pitchFamily="34" charset="-120"/>
              </a:rPr>
              <a:t>OVERS</a:t>
            </a:r>
            <a:endParaRPr lang="en-US" sz="1200" dirty="0"/>
          </a:p>
        </p:txBody>
      </p:sp>
      <p:sp>
        <p:nvSpPr>
          <p:cNvPr id="11" name="Text 8"/>
          <p:cNvSpPr/>
          <p:nvPr/>
        </p:nvSpPr>
        <p:spPr>
          <a:xfrm>
            <a:off x="6548839" y="2136130"/>
            <a:ext cx="402372"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F6F3EC"/>
                </a:solidFill>
                <a:latin typeface="JetBrains Mono" pitchFamily="49" charset="0"/>
                <a:ea typeface="JetBrains Mono" pitchFamily="49" charset="-122"/>
                <a:cs typeface="JetBrains Mono" pitchFamily="49" charset="-120"/>
              </a:rPr>
              <a:t>20</a:t>
            </a:r>
            <a:endParaRPr lang="en-US" sz="2200" dirty="0"/>
          </a:p>
        </p:txBody>
      </p:sp>
      <p:sp>
        <p:nvSpPr>
          <p:cNvPr id="12" name="Text 9"/>
          <p:cNvSpPr/>
          <p:nvPr/>
        </p:nvSpPr>
        <p:spPr>
          <a:xfrm>
            <a:off x="7296150" y="1957040"/>
            <a:ext cx="38187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T20 cricket: </a:t>
            </a:r>
            <a:r>
              <a:rPr lang="en-US" sz="1500" b="1" dirty="0">
                <a:solidFill>
                  <a:srgbClr val="A94F17"/>
                </a:solidFill>
                <a:latin typeface="Rubik" pitchFamily="34" charset="0"/>
                <a:ea typeface="Rubik" pitchFamily="34" charset="-122"/>
                <a:cs typeface="Rubik" pitchFamily="34" charset="-120"/>
              </a:rPr>
              <a:t>20 overs</a:t>
            </a:r>
            <a:endParaRPr lang="en-US" sz="1500" dirty="0"/>
          </a:p>
        </p:txBody>
      </p:sp>
      <p:sp>
        <p:nvSpPr>
          <p:cNvPr id="13" name="Text 10"/>
          <p:cNvSpPr/>
          <p:nvPr/>
        </p:nvSpPr>
        <p:spPr>
          <a:xfrm>
            <a:off x="7296150" y="2249140"/>
            <a:ext cx="40767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Fixed by the rules. Runs change; the overs don't.</a:t>
            </a:r>
            <a:endParaRPr lang="en-US" sz="1300" dirty="0"/>
          </a:p>
        </p:txBody>
      </p:sp>
      <p:sp>
        <p:nvSpPr>
          <p:cNvPr id="14" name="Shape 11"/>
          <p:cNvSpPr/>
          <p:nvPr/>
        </p:nvSpPr>
        <p:spPr>
          <a:xfrm>
            <a:off x="812800" y="2948930"/>
            <a:ext cx="10566400" cy="2393851"/>
          </a:xfrm>
          <a:prstGeom prst="rect">
            <a:avLst/>
          </a:prstGeom>
          <a:solidFill>
            <a:srgbClr val="FFFDF8"/>
          </a:solidFill>
          <a:ln/>
        </p:spPr>
      </p:sp>
      <p:sp>
        <p:nvSpPr>
          <p:cNvPr id="15" name="Shape 12"/>
          <p:cNvSpPr/>
          <p:nvPr/>
        </p:nvSpPr>
        <p:spPr>
          <a:xfrm>
            <a:off x="11376025" y="2948930"/>
            <a:ext cx="0" cy="2393851"/>
          </a:xfrm>
          <a:prstGeom prst="line">
            <a:avLst/>
          </a:prstGeom>
          <a:noFill/>
          <a:ln w="6350">
            <a:solidFill>
              <a:srgbClr val="E2DDD2"/>
            </a:solidFill>
            <a:prstDash val="solid"/>
          </a:ln>
        </p:spPr>
      </p:sp>
      <p:sp>
        <p:nvSpPr>
          <p:cNvPr id="16" name="Shape 13"/>
          <p:cNvSpPr/>
          <p:nvPr/>
        </p:nvSpPr>
        <p:spPr>
          <a:xfrm>
            <a:off x="812800" y="5339606"/>
            <a:ext cx="10566400" cy="0"/>
          </a:xfrm>
          <a:prstGeom prst="line">
            <a:avLst/>
          </a:prstGeom>
          <a:noFill/>
          <a:ln w="6350">
            <a:solidFill>
              <a:srgbClr val="E2DDD2"/>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5500" y="2961630"/>
          <a:ext cx="10547350" cy="2374801"/>
        </p:xfrm>
        <a:graphic>
          <a:graphicData uri="http://schemas.openxmlformats.org/drawingml/2006/table">
            <a:tbl>
              <a:tblPr/>
              <a:tblGrid>
                <a:gridCol w="3515783"/>
                <a:gridCol w="3515783"/>
                <a:gridCol w="3515783"/>
              </a:tblGrid>
              <a:tr h="474960">
                <a:tc>
                  <a:txBody>
                    <a:bodyPr/>
                    <a:lstStyle/>
                    <a:p>
                      <a:pPr indent="0" marL="0">
                        <a:lnSpc>
                          <a:spcPts val="2240"/>
                        </a:lnSpc>
                        <a:buNone/>
                      </a:pP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2240"/>
                        </a:lnSpc>
                        <a:buNone/>
                      </a:pPr>
                      <a:r>
                        <a:rPr lang="en-US" sz="1600" b="1" dirty="0">
                          <a:solidFill>
                            <a:srgbClr val="E9893F"/>
                          </a:solidFill>
                          <a:latin typeface="Rubik" pitchFamily="34" charset="0"/>
                          <a:ea typeface="Rubik" pitchFamily="34" charset="-122"/>
                          <a:cs typeface="Rubik" pitchFamily="34" charset="-120"/>
                        </a:rPr>
                        <a:t>Variable</a:t>
                      </a:r>
                      <a:endParaRPr lang="en-US" sz="1600" dirty="0">
                        <a:latin typeface="Rubik" charset="0"/>
                        <a:ea typeface="Rubik" charset="0"/>
                        <a:cs typeface="Rubik" charset="0"/>
                      </a:endParaRPr>
                    </a:p>
                  </a:txBody>
                  <a:tcPr marL="139700" marR="139700" marT="88900" marB="8890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2240"/>
                        </a:lnSpc>
                        <a:buNone/>
                      </a:pPr>
                      <a:r>
                        <a:rPr lang="en-US" sz="1600" b="1" dirty="0">
                          <a:solidFill>
                            <a:srgbClr val="E9893F"/>
                          </a:solidFill>
                          <a:latin typeface="Rubik" pitchFamily="34" charset="0"/>
                          <a:ea typeface="Rubik" pitchFamily="34" charset="-122"/>
                          <a:cs typeface="Rubik" pitchFamily="34" charset="-120"/>
                        </a:rPr>
                        <a:t>Constant</a:t>
                      </a:r>
                      <a:endParaRPr lang="en-US" sz="1600" dirty="0">
                        <a:latin typeface="Rubik" charset="0"/>
                        <a:ea typeface="Rubik" charset="0"/>
                        <a:cs typeface="Rubik" charset="0"/>
                      </a:endParaRPr>
                    </a:p>
                  </a:txBody>
                  <a:tcPr marL="139700" marR="139700" marT="88900" marB="8890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474960">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Example</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int runs = 45;</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const int OVERS = 20;</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74960">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Can it change?</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Yes, any time</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No, never</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74960">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Real world</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The runs on the scoreboard</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The overs in a T20 match</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74960">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Naming habit</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small letters: runs</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CAPITALS: OVERS</a:t>
                      </a:r>
                      <a:endParaRPr lang="en-US" sz="1600" dirty="0">
                        <a:latin typeface="Rubik" charset="0"/>
                        <a:ea typeface="Rubik" charset="0"/>
                        <a:cs typeface="Rubik" charset="0"/>
                      </a:endParaRPr>
                    </a:p>
                  </a:txBody>
                  <a:tcPr marL="139700" marR="139700" marT="88900" marB="889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18" name="Shape 14"/>
          <p:cNvSpPr/>
          <p:nvPr/>
        </p:nvSpPr>
        <p:spPr>
          <a:xfrm>
            <a:off x="812800" y="5520581"/>
            <a:ext cx="10566400" cy="495300"/>
          </a:xfrm>
          <a:prstGeom prst="roundRect">
            <a:avLst>
              <a:gd name="adj" fmla="val 20513"/>
            </a:avLst>
          </a:prstGeom>
          <a:solidFill>
            <a:srgbClr val="15233F"/>
          </a:solidFill>
          <a:ln/>
        </p:spPr>
      </p:sp>
      <p:sp>
        <p:nvSpPr>
          <p:cNvPr id="19" name="Text 15"/>
          <p:cNvSpPr/>
          <p:nvPr/>
        </p:nvSpPr>
        <p:spPr>
          <a:xfrm>
            <a:off x="1003300" y="5634881"/>
            <a:ext cx="14097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9F0"/>
                </a:solidFill>
                <a:latin typeface="JetBrains Mono" pitchFamily="49" charset="0"/>
                <a:ea typeface="JetBrains Mono" pitchFamily="49" charset="-122"/>
                <a:cs typeface="JetBrains Mono" pitchFamily="49" charset="-120"/>
              </a:rPr>
              <a:t>OVERS = 25;</a:t>
            </a:r>
            <a:endParaRPr lang="en-US" sz="1500" dirty="0"/>
          </a:p>
        </p:txBody>
      </p:sp>
      <p:pic>
        <p:nvPicPr>
          <p:cNvPr id="20" name="Image 1" descr="arrow-right">    </p:cNvPr>
          <p:cNvPicPr>
            <a:picLocks noChangeAspect="1"/>
          </p:cNvPicPr>
          <p:nvPr/>
        </p:nvPicPr>
        <p:blipFill>
          <a:blip r:embed="rId2"/>
          <a:srcRect l="0" r="0" t="0" b="0"/>
          <a:stretch/>
        </p:blipFill>
        <p:spPr>
          <a:xfrm>
            <a:off x="2413000" y="5672981"/>
            <a:ext cx="279400" cy="190500"/>
          </a:xfrm>
          <a:prstGeom prst="rect">
            <a:avLst/>
          </a:prstGeom>
        </p:spPr>
      </p:pic>
      <p:sp>
        <p:nvSpPr>
          <p:cNvPr id="21" name="Text 16"/>
          <p:cNvSpPr/>
          <p:nvPr/>
        </p:nvSpPr>
        <p:spPr>
          <a:xfrm>
            <a:off x="2844800" y="5643761"/>
            <a:ext cx="603367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A"/>
                </a:solidFill>
                <a:latin typeface="Rubik" pitchFamily="34" charset="0"/>
                <a:ea typeface="Rubik" pitchFamily="34" charset="-122"/>
                <a:cs typeface="Rubik" pitchFamily="34" charset="-120"/>
              </a:rPr>
              <a:t>The compiler </a:t>
            </a:r>
            <a:r>
              <a:rPr lang="en-US" sz="1400" b="1" dirty="0">
                <a:solidFill>
                  <a:srgbClr val="E9893F"/>
                </a:solidFill>
                <a:latin typeface="Rubik" pitchFamily="34" charset="0"/>
                <a:ea typeface="Rubik" pitchFamily="34" charset="-122"/>
                <a:cs typeface="Rubik" pitchFamily="34" charset="-120"/>
              </a:rPr>
              <a:t>refuses</a:t>
            </a:r>
            <a:r>
              <a:rPr lang="en-US" sz="1400" dirty="0">
                <a:solidFill>
                  <a:srgbClr val="C9CFDA"/>
                </a:solidFill>
                <a:latin typeface="Rubik" pitchFamily="34" charset="0"/>
                <a:ea typeface="Rubik" pitchFamily="34" charset="-122"/>
                <a:cs typeface="Rubik" pitchFamily="34" charset="-120"/>
              </a:rPr>
              <a:t>: a constant is protected from changes.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7 OF 8 · CONSTANTS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Constants: values that must not change</a:t>
            </a:r>
            <a:endParaRPr lang="en-US" sz="3000" dirty="0"/>
          </a:p>
        </p:txBody>
      </p:sp>
      <p:sp>
        <p:nvSpPr>
          <p:cNvPr id="4" name="Shape 2"/>
          <p:cNvSpPr/>
          <p:nvPr/>
        </p:nvSpPr>
        <p:spPr>
          <a:xfrm>
            <a:off x="815975" y="1796405"/>
            <a:ext cx="5187950" cy="2393900"/>
          </a:xfrm>
          <a:prstGeom prst="roundRect">
            <a:avLst>
              <a:gd name="adj" fmla="val 4642"/>
            </a:avLst>
          </a:prstGeom>
          <a:solidFill>
            <a:srgbClr val="FFFDF8"/>
          </a:solidFill>
          <a:ln w="6350">
            <a:solidFill>
              <a:srgbClr val="E2DDD2"/>
            </a:solidFill>
            <a:prstDash val="solid"/>
          </a:ln>
        </p:spPr>
      </p:sp>
      <p:sp>
        <p:nvSpPr>
          <p:cNvPr id="5" name="Text 3"/>
          <p:cNvSpPr/>
          <p:nvPr/>
        </p:nvSpPr>
        <p:spPr>
          <a:xfrm>
            <a:off x="1022350" y="2002780"/>
            <a:ext cx="491845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230"/>
                </a:solidFill>
                <a:latin typeface="Rubik" pitchFamily="34" charset="0"/>
                <a:ea typeface="Rubik" pitchFamily="34" charset="-122"/>
                <a:cs typeface="Rubik" pitchFamily="34" charset="-120"/>
              </a:rPr>
              <a:t>Literal constants</a:t>
            </a:r>
            <a:endParaRPr lang="en-US" sz="1700" dirty="0"/>
          </a:p>
        </p:txBody>
      </p:sp>
      <p:sp>
        <p:nvSpPr>
          <p:cNvPr id="6" name="Text 4"/>
          <p:cNvSpPr/>
          <p:nvPr/>
        </p:nvSpPr>
        <p:spPr>
          <a:xfrm>
            <a:off x="1022350" y="2350740"/>
            <a:ext cx="491845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150"/>
                </a:solidFill>
                <a:latin typeface="Rubik" pitchFamily="34" charset="0"/>
                <a:ea typeface="Rubik" pitchFamily="34" charset="-122"/>
                <a:cs typeface="Rubik" pitchFamily="34" charset="-120"/>
              </a:rPr>
              <a:t>Values written directly in the code:</a:t>
            </a:r>
            <a:endParaRPr lang="en-US" sz="1400" dirty="0"/>
          </a:p>
        </p:txBody>
      </p:sp>
      <p:sp>
        <p:nvSpPr>
          <p:cNvPr id="7" name="Text 5"/>
          <p:cNvSpPr/>
          <p:nvPr/>
        </p:nvSpPr>
        <p:spPr>
          <a:xfrm>
            <a:off x="1022350" y="2688530"/>
            <a:ext cx="241998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BD7"/>
                </a:solidFill>
                <a:latin typeface="JetBrains Mono" pitchFamily="49" charset="0"/>
                <a:ea typeface="JetBrains Mono" pitchFamily="49" charset="-122"/>
                <a:cs typeface="JetBrains Mono" pitchFamily="49" charset="-120"/>
              </a:rPr>
              <a:t>10</a:t>
            </a:r>
            <a:endParaRPr lang="en-US" sz="1500" dirty="0"/>
          </a:p>
        </p:txBody>
      </p:sp>
      <p:sp>
        <p:nvSpPr>
          <p:cNvPr id="8" name="Text 6"/>
          <p:cNvSpPr/>
          <p:nvPr/>
        </p:nvSpPr>
        <p:spPr>
          <a:xfrm>
            <a:off x="3448050" y="2688530"/>
            <a:ext cx="2419985" cy="292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230"/>
                </a:solidFill>
                <a:latin typeface="Rubik" pitchFamily="34" charset="0"/>
                <a:ea typeface="Rubik" pitchFamily="34" charset="-122"/>
                <a:cs typeface="Rubik" pitchFamily="34" charset="-120"/>
              </a:rPr>
              <a:t>integer</a:t>
            </a:r>
            <a:endParaRPr lang="en-US" sz="1300" dirty="0"/>
          </a:p>
        </p:txBody>
      </p:sp>
      <p:sp>
        <p:nvSpPr>
          <p:cNvPr id="9" name="Text 7"/>
          <p:cNvSpPr/>
          <p:nvPr/>
        </p:nvSpPr>
        <p:spPr>
          <a:xfrm>
            <a:off x="1022350" y="3031430"/>
            <a:ext cx="241998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BD7"/>
                </a:solidFill>
                <a:latin typeface="JetBrains Mono" pitchFamily="49" charset="0"/>
                <a:ea typeface="JetBrains Mono" pitchFamily="49" charset="-122"/>
                <a:cs typeface="JetBrains Mono" pitchFamily="49" charset="-120"/>
              </a:rPr>
              <a:t>12.5</a:t>
            </a:r>
            <a:endParaRPr lang="en-US" sz="1500" dirty="0"/>
          </a:p>
        </p:txBody>
      </p:sp>
      <p:sp>
        <p:nvSpPr>
          <p:cNvPr id="10" name="Text 8"/>
          <p:cNvSpPr/>
          <p:nvPr/>
        </p:nvSpPr>
        <p:spPr>
          <a:xfrm>
            <a:off x="3448050" y="3031430"/>
            <a:ext cx="2419985" cy="292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230"/>
                </a:solidFill>
                <a:latin typeface="Rubik" pitchFamily="34" charset="0"/>
                <a:ea typeface="Rubik" pitchFamily="34" charset="-122"/>
                <a:cs typeface="Rubik" pitchFamily="34" charset="-120"/>
              </a:rPr>
              <a:t>decimal</a:t>
            </a:r>
            <a:endParaRPr lang="en-US" sz="1300" dirty="0"/>
          </a:p>
        </p:txBody>
      </p:sp>
      <p:sp>
        <p:nvSpPr>
          <p:cNvPr id="11" name="Text 9"/>
          <p:cNvSpPr/>
          <p:nvPr/>
        </p:nvSpPr>
        <p:spPr>
          <a:xfrm>
            <a:off x="1022350" y="3374330"/>
            <a:ext cx="241998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BD7"/>
                </a:solidFill>
                <a:latin typeface="JetBrains Mono" pitchFamily="49" charset="0"/>
                <a:ea typeface="JetBrains Mono" pitchFamily="49" charset="-122"/>
                <a:cs typeface="JetBrains Mono" pitchFamily="49" charset="-120"/>
              </a:rPr>
              <a:t>'C'</a:t>
            </a:r>
            <a:endParaRPr lang="en-US" sz="1500" dirty="0"/>
          </a:p>
        </p:txBody>
      </p:sp>
      <p:sp>
        <p:nvSpPr>
          <p:cNvPr id="12" name="Text 10"/>
          <p:cNvSpPr/>
          <p:nvPr/>
        </p:nvSpPr>
        <p:spPr>
          <a:xfrm>
            <a:off x="3448050" y="3374330"/>
            <a:ext cx="2419985" cy="292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230"/>
                </a:solidFill>
                <a:latin typeface="Rubik" pitchFamily="34" charset="0"/>
                <a:ea typeface="Rubik" pitchFamily="34" charset="-122"/>
                <a:cs typeface="Rubik" pitchFamily="34" charset="-120"/>
              </a:rPr>
              <a:t>character</a:t>
            </a:r>
            <a:endParaRPr lang="en-US" sz="1300" dirty="0"/>
          </a:p>
        </p:txBody>
      </p:sp>
      <p:sp>
        <p:nvSpPr>
          <p:cNvPr id="13" name="Text 11"/>
          <p:cNvSpPr/>
          <p:nvPr/>
        </p:nvSpPr>
        <p:spPr>
          <a:xfrm>
            <a:off x="1022350" y="3717230"/>
            <a:ext cx="241998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BD7"/>
                </a:solidFill>
                <a:latin typeface="JetBrains Mono" pitchFamily="49" charset="0"/>
                <a:ea typeface="JetBrains Mono" pitchFamily="49" charset="-122"/>
                <a:cs typeface="JetBrains Mono" pitchFamily="49" charset="-120"/>
              </a:rPr>
              <a:t>"Chai"</a:t>
            </a:r>
            <a:endParaRPr lang="en-US" sz="1500" dirty="0"/>
          </a:p>
        </p:txBody>
      </p:sp>
      <p:sp>
        <p:nvSpPr>
          <p:cNvPr id="14" name="Text 12"/>
          <p:cNvSpPr/>
          <p:nvPr/>
        </p:nvSpPr>
        <p:spPr>
          <a:xfrm>
            <a:off x="3448050" y="3717230"/>
            <a:ext cx="2419985" cy="292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230"/>
                </a:solidFill>
                <a:latin typeface="Rubik" pitchFamily="34" charset="0"/>
                <a:ea typeface="Rubik" pitchFamily="34" charset="-122"/>
                <a:cs typeface="Rubik" pitchFamily="34" charset="-120"/>
              </a:rPr>
              <a:t>string</a:t>
            </a:r>
            <a:endParaRPr lang="en-US" sz="1300" dirty="0"/>
          </a:p>
        </p:txBody>
      </p:sp>
      <p:sp>
        <p:nvSpPr>
          <p:cNvPr id="15" name="Shape 13"/>
          <p:cNvSpPr/>
          <p:nvPr/>
        </p:nvSpPr>
        <p:spPr>
          <a:xfrm>
            <a:off x="6188075" y="1796405"/>
            <a:ext cx="5187950" cy="2393900"/>
          </a:xfrm>
          <a:prstGeom prst="roundRect">
            <a:avLst>
              <a:gd name="adj" fmla="val 4642"/>
            </a:avLst>
          </a:prstGeom>
          <a:solidFill>
            <a:srgbClr val="FFFDF8"/>
          </a:solidFill>
          <a:ln w="6350">
            <a:solidFill>
              <a:srgbClr val="E2DDD2"/>
            </a:solidFill>
            <a:prstDash val="solid"/>
          </a:ln>
        </p:spPr>
      </p:sp>
      <p:sp>
        <p:nvSpPr>
          <p:cNvPr id="16" name="Text 14"/>
          <p:cNvSpPr/>
          <p:nvPr/>
        </p:nvSpPr>
        <p:spPr>
          <a:xfrm>
            <a:off x="6394450" y="2002780"/>
            <a:ext cx="491845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230"/>
                </a:solidFill>
                <a:latin typeface="Rubik" pitchFamily="34" charset="0"/>
                <a:ea typeface="Rubik" pitchFamily="34" charset="-122"/>
                <a:cs typeface="Rubik" pitchFamily="34" charset="-120"/>
              </a:rPr>
              <a:t>Named constants</a:t>
            </a:r>
            <a:endParaRPr lang="en-US" sz="1700" dirty="0"/>
          </a:p>
        </p:txBody>
      </p:sp>
      <p:sp>
        <p:nvSpPr>
          <p:cNvPr id="17" name="Text 15"/>
          <p:cNvSpPr/>
          <p:nvPr/>
        </p:nvSpPr>
        <p:spPr>
          <a:xfrm>
            <a:off x="6394450" y="2350740"/>
            <a:ext cx="4775200" cy="816570"/>
          </a:xfrm>
          <a:prstGeom prst="roundRect">
            <a:avLst>
              <a:gd name="adj" fmla="val 10887"/>
            </a:avLst>
          </a:prstGeom>
          <a:solidFill>
            <a:srgbClr val="15233F"/>
          </a:solidFill>
          <a:ln/>
        </p:spPr>
        <p:txBody>
          <a:bodyPr wrap="square" lIns="164462" tIns="126362" rIns="32636" bIns="100962" rtlCol="0" anchor="t">
            <a:normAutofit/>
          </a:bodyPr>
          <a:lstStyle/>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#define GST_PERCENT 5</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const int CHAI_PRICE = 10;</a:t>
            </a:r>
            <a:endParaRPr lang="en-US" sz="1300" dirty="0"/>
          </a:p>
        </p:txBody>
      </p:sp>
      <p:sp>
        <p:nvSpPr>
          <p:cNvPr id="18" name="Text 16"/>
          <p:cNvSpPr/>
          <p:nvPr/>
        </p:nvSpPr>
        <p:spPr>
          <a:xfrm>
            <a:off x="6394450" y="3256211"/>
            <a:ext cx="491845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150"/>
                </a:solidFill>
                <a:latin typeface="Rubik" pitchFamily="34" charset="0"/>
                <a:ea typeface="Rubik" pitchFamily="34" charset="-122"/>
                <a:cs typeface="Rubik" pitchFamily="34" charset="-120"/>
              </a:rPr>
              <a:t>Try </a:t>
            </a:r>
            <a:r>
              <a:rPr lang="en-US" sz="1400" dirty="0">
                <a:solidFill>
                  <a:srgbClr val="A94F17"/>
                </a:solidFill>
                <a:latin typeface="Rubik" pitchFamily="34" charset="0"/>
                <a:ea typeface="Rubik" pitchFamily="34" charset="-122"/>
                <a:cs typeface="Rubik" pitchFamily="34" charset="-120"/>
              </a:rPr>
              <a:t>CHAI_PRICE = 12;</a:t>
            </a:r>
            <a:r>
              <a:rPr lang="en-US" sz="1400" dirty="0">
                <a:solidFill>
                  <a:srgbClr val="3A4150"/>
                </a:solidFill>
                <a:latin typeface="Rubik" pitchFamily="34" charset="0"/>
                <a:ea typeface="Rubik" pitchFamily="34" charset="-122"/>
                <a:cs typeface="Rubik" pitchFamily="34" charset="-120"/>
              </a:rPr>
              <a:t> and the compiler refuses: the price is protected.</a:t>
            </a:r>
            <a:endParaRPr lang="en-US" sz="1400" dirty="0"/>
          </a:p>
        </p:txBody>
      </p:sp>
      <p:sp>
        <p:nvSpPr>
          <p:cNvPr id="19" name="Text 17"/>
          <p:cNvSpPr/>
          <p:nvPr/>
        </p:nvSpPr>
        <p:spPr>
          <a:xfrm>
            <a:off x="812800" y="44474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230"/>
                </a:solidFill>
                <a:latin typeface="Rubik" pitchFamily="34" charset="0"/>
                <a:ea typeface="Rubik" pitchFamily="34" charset="-122"/>
                <a:cs typeface="Rubik" pitchFamily="34" charset="-120"/>
              </a:rPr>
              <a:t>Why bother? If the chai price changes, you edit </a:t>
            </a:r>
            <a:r>
              <a:rPr lang="en-US" sz="1500" b="1" dirty="0">
                <a:solidFill>
                  <a:srgbClr val="1C2230"/>
                </a:solidFill>
                <a:latin typeface="Rubik" pitchFamily="34" charset="0"/>
                <a:ea typeface="Rubik" pitchFamily="34" charset="-122"/>
                <a:cs typeface="Rubik" pitchFamily="34" charset="-120"/>
              </a:rPr>
              <a:t>one line</a:t>
            </a:r>
            <a:r>
              <a:rPr lang="en-US" sz="1500" dirty="0">
                <a:solidFill>
                  <a:srgbClr val="1C2230"/>
                </a:solidFill>
                <a:latin typeface="Rubik" pitchFamily="34" charset="0"/>
                <a:ea typeface="Rubik" pitchFamily="34" charset="-122"/>
                <a:cs typeface="Rubik" pitchFamily="34" charset="-120"/>
              </a:rPr>
              <a:t>, and nobody can change it by mistake elsewhere.</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8 OF 8 · INPUT/OUTPUT STATEMENTS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printf: output to the screen</a:t>
            </a:r>
            <a:endParaRPr lang="en-US" sz="3000" dirty="0"/>
          </a:p>
        </p:txBody>
      </p:sp>
      <p:sp>
        <p:nvSpPr>
          <p:cNvPr id="4" name="Text 2"/>
          <p:cNvSpPr/>
          <p:nvPr/>
        </p:nvSpPr>
        <p:spPr>
          <a:xfrm>
            <a:off x="2799011" y="1793230"/>
            <a:ext cx="6593979" cy="833090"/>
          </a:xfrm>
          <a:prstGeom prst="roundRect">
            <a:avLst>
              <a:gd name="adj" fmla="val 12196"/>
            </a:avLst>
          </a:prstGeom>
          <a:solidFill>
            <a:srgbClr val="15233F"/>
          </a:solidFill>
          <a:ln/>
        </p:spPr>
        <p:txBody>
          <a:bodyPr wrap="none" lIns="0" tIns="0" rIns="0" bIns="0" rtlCol="0" anchor="ctr">
            <a:normAutofit/>
          </a:bodyPr>
          <a:lstStyle/>
          <a:p>
            <a:pPr algn="ctr" indent="0" marL="0">
              <a:lnSpc>
                <a:spcPts val="3360"/>
              </a:lnSpc>
              <a:buNone/>
            </a:pPr>
            <a:r>
              <a:rPr lang="en-US" sz="2400" dirty="0">
                <a:solidFill>
                  <a:srgbClr val="E6E9F0"/>
                </a:solidFill>
                <a:latin typeface="JetBrains Mono" pitchFamily="49" charset="0"/>
                <a:ea typeface="JetBrains Mono" pitchFamily="49" charset="-122"/>
                <a:cs typeface="JetBrains Mono" pitchFamily="49" charset="-120"/>
              </a:rPr>
              <a:t>printf("</a:t>
            </a:r>
            <a:r>
              <a:rPr lang="en-US" sz="2400" dirty="0">
                <a:solidFill>
                  <a:srgbClr val="7FD1A4"/>
                </a:solidFill>
                <a:latin typeface="JetBrains Mono" pitchFamily="49" charset="0"/>
                <a:ea typeface="JetBrains Mono" pitchFamily="49" charset="-122"/>
                <a:cs typeface="JetBrains Mono" pitchFamily="49" charset="-120"/>
              </a:rPr>
              <a:t>TOTAL = Rs</a:t>
            </a:r>
            <a:r>
              <a:rPr lang="en-US" sz="2400" dirty="0">
                <a:solidFill>
                  <a:srgbClr val="E6E9F0"/>
                </a:solidFill>
                <a:latin typeface="JetBrains Mono" pitchFamily="49" charset="0"/>
                <a:ea typeface="JetBrains Mono" pitchFamily="49" charset="-122"/>
                <a:cs typeface="JetBrains Mono" pitchFamily="49" charset="-120"/>
              </a:rPr>
              <a:t> </a:t>
            </a:r>
            <a:r>
              <a:rPr lang="en-US" sz="2400" dirty="0">
                <a:solidFill>
                  <a:srgbClr val="E9893F"/>
                </a:solidFill>
                <a:latin typeface="JetBrains Mono" pitchFamily="49" charset="0"/>
                <a:ea typeface="JetBrains Mono" pitchFamily="49" charset="-122"/>
                <a:cs typeface="JetBrains Mono" pitchFamily="49" charset="-120"/>
              </a:rPr>
              <a:t>%d</a:t>
            </a:r>
            <a:r>
              <a:rPr lang="en-US" sz="2400" dirty="0">
                <a:solidFill>
                  <a:srgbClr val="8FB3FF"/>
                </a:solidFill>
                <a:latin typeface="JetBrains Mono" pitchFamily="49" charset="0"/>
                <a:ea typeface="JetBrains Mono" pitchFamily="49" charset="-122"/>
                <a:cs typeface="JetBrains Mono" pitchFamily="49" charset="-120"/>
              </a:rPr>
              <a:t>\n</a:t>
            </a:r>
            <a:r>
              <a:rPr lang="en-US" sz="2400" dirty="0">
                <a:solidFill>
                  <a:srgbClr val="E6E9F0"/>
                </a:solidFill>
                <a:latin typeface="JetBrains Mono" pitchFamily="49" charset="0"/>
                <a:ea typeface="JetBrains Mono" pitchFamily="49" charset="-122"/>
                <a:cs typeface="JetBrains Mono" pitchFamily="49" charset="-120"/>
              </a:rPr>
              <a:t>", </a:t>
            </a:r>
            <a:r>
              <a:rPr lang="en-US" sz="2400" dirty="0">
                <a:solidFill>
                  <a:srgbClr val="FFC857"/>
                </a:solidFill>
                <a:latin typeface="JetBrains Mono" pitchFamily="49" charset="0"/>
                <a:ea typeface="JetBrains Mono" pitchFamily="49" charset="-122"/>
                <a:cs typeface="JetBrains Mono" pitchFamily="49" charset="-120"/>
              </a:rPr>
              <a:t>total</a:t>
            </a:r>
            <a:r>
              <a:rPr lang="en-US" sz="2400" dirty="0">
                <a:solidFill>
                  <a:srgbClr val="E6E9F0"/>
                </a:solidFill>
                <a:latin typeface="JetBrains Mono" pitchFamily="49" charset="0"/>
                <a:ea typeface="JetBrains Mono" pitchFamily="49" charset="-122"/>
                <a:cs typeface="JetBrains Mono" pitchFamily="49" charset="-120"/>
              </a:rPr>
              <a:t>);</a:t>
            </a:r>
            <a:endParaRPr lang="en-US" sz="2400" dirty="0"/>
          </a:p>
        </p:txBody>
      </p:sp>
      <p:sp>
        <p:nvSpPr>
          <p:cNvPr id="5" name="Shape 3"/>
          <p:cNvSpPr/>
          <p:nvPr/>
        </p:nvSpPr>
        <p:spPr>
          <a:xfrm>
            <a:off x="815975" y="2807295"/>
            <a:ext cx="2540000" cy="1212800"/>
          </a:xfrm>
          <a:prstGeom prst="roundRect">
            <a:avLst>
              <a:gd name="adj" fmla="val 9163"/>
            </a:avLst>
          </a:prstGeom>
          <a:solidFill>
            <a:srgbClr val="FFFDF8"/>
          </a:solidFill>
          <a:ln w="6350">
            <a:solidFill>
              <a:srgbClr val="E2DDD2"/>
            </a:solidFill>
            <a:prstDash val="solid"/>
          </a:ln>
        </p:spPr>
      </p:sp>
      <p:sp>
        <p:nvSpPr>
          <p:cNvPr id="6" name="Text 4"/>
          <p:cNvSpPr/>
          <p:nvPr/>
        </p:nvSpPr>
        <p:spPr>
          <a:xfrm>
            <a:off x="1022350" y="3013670"/>
            <a:ext cx="21910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6B45"/>
                </a:solidFill>
                <a:latin typeface="Rubik" pitchFamily="34" charset="0"/>
                <a:ea typeface="Rubik" pitchFamily="34" charset="-122"/>
                <a:cs typeface="Rubik" pitchFamily="34" charset="-120"/>
              </a:rPr>
              <a:t>Text</a:t>
            </a:r>
            <a:endParaRPr lang="en-US" sz="1400" dirty="0"/>
          </a:p>
        </p:txBody>
      </p:sp>
      <p:sp>
        <p:nvSpPr>
          <p:cNvPr id="7" name="Text 5"/>
          <p:cNvSpPr/>
          <p:nvPr/>
        </p:nvSpPr>
        <p:spPr>
          <a:xfrm>
            <a:off x="1022350" y="3351461"/>
            <a:ext cx="219106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Printed exactly as written</a:t>
            </a:r>
            <a:endParaRPr lang="en-US" sz="1300" dirty="0"/>
          </a:p>
        </p:txBody>
      </p:sp>
      <p:sp>
        <p:nvSpPr>
          <p:cNvPr id="8" name="Shape 6"/>
          <p:cNvSpPr/>
          <p:nvPr/>
        </p:nvSpPr>
        <p:spPr>
          <a:xfrm>
            <a:off x="3489325" y="2807295"/>
            <a:ext cx="2540000" cy="1212800"/>
          </a:xfrm>
          <a:prstGeom prst="roundRect">
            <a:avLst>
              <a:gd name="adj" fmla="val 9163"/>
            </a:avLst>
          </a:prstGeom>
          <a:solidFill>
            <a:srgbClr val="FFFDF8"/>
          </a:solidFill>
          <a:ln w="6350">
            <a:solidFill>
              <a:srgbClr val="E2DDD2"/>
            </a:solidFill>
            <a:prstDash val="solid"/>
          </a:ln>
        </p:spPr>
      </p:sp>
      <p:sp>
        <p:nvSpPr>
          <p:cNvPr id="9" name="Text 7"/>
          <p:cNvSpPr/>
          <p:nvPr/>
        </p:nvSpPr>
        <p:spPr>
          <a:xfrm>
            <a:off x="3695700" y="3013670"/>
            <a:ext cx="21910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F17"/>
                </a:solidFill>
                <a:latin typeface="Rubik" pitchFamily="34" charset="0"/>
                <a:ea typeface="Rubik" pitchFamily="34" charset="-122"/>
                <a:cs typeface="Rubik" pitchFamily="34" charset="-120"/>
              </a:rPr>
              <a:t>%d placeholder</a:t>
            </a:r>
            <a:endParaRPr lang="en-US" sz="1400" dirty="0"/>
          </a:p>
        </p:txBody>
      </p:sp>
      <p:sp>
        <p:nvSpPr>
          <p:cNvPr id="10" name="Text 8"/>
          <p:cNvSpPr/>
          <p:nvPr/>
        </p:nvSpPr>
        <p:spPr>
          <a:xfrm>
            <a:off x="3695700" y="3351461"/>
            <a:ext cx="21910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Replaced by a value; %d for int</a:t>
            </a:r>
            <a:endParaRPr lang="en-US" sz="1300" dirty="0"/>
          </a:p>
        </p:txBody>
      </p:sp>
      <p:sp>
        <p:nvSpPr>
          <p:cNvPr id="11" name="Shape 9"/>
          <p:cNvSpPr/>
          <p:nvPr/>
        </p:nvSpPr>
        <p:spPr>
          <a:xfrm>
            <a:off x="6162675" y="2807295"/>
            <a:ext cx="2540000" cy="1212800"/>
          </a:xfrm>
          <a:prstGeom prst="roundRect">
            <a:avLst>
              <a:gd name="adj" fmla="val 9163"/>
            </a:avLst>
          </a:prstGeom>
          <a:solidFill>
            <a:srgbClr val="FFFDF8"/>
          </a:solidFill>
          <a:ln w="6350">
            <a:solidFill>
              <a:srgbClr val="E2DDD2"/>
            </a:solidFill>
            <a:prstDash val="solid"/>
          </a:ln>
        </p:spPr>
      </p:sp>
      <p:sp>
        <p:nvSpPr>
          <p:cNvPr id="12" name="Text 10"/>
          <p:cNvSpPr/>
          <p:nvPr/>
        </p:nvSpPr>
        <p:spPr>
          <a:xfrm>
            <a:off x="6369050" y="3013670"/>
            <a:ext cx="21910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Rubik" pitchFamily="34" charset="0"/>
                <a:ea typeface="Rubik" pitchFamily="34" charset="-122"/>
                <a:cs typeface="Rubik" pitchFamily="34" charset="-120"/>
              </a:rPr>
              <a:t>\n escape</a:t>
            </a:r>
            <a:endParaRPr lang="en-US" sz="1400" dirty="0"/>
          </a:p>
        </p:txBody>
      </p:sp>
      <p:sp>
        <p:nvSpPr>
          <p:cNvPr id="13" name="Text 11"/>
          <p:cNvSpPr/>
          <p:nvPr/>
        </p:nvSpPr>
        <p:spPr>
          <a:xfrm>
            <a:off x="6369050" y="3351461"/>
            <a:ext cx="219106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Moves to a new line</a:t>
            </a:r>
            <a:endParaRPr lang="en-US" sz="1300" dirty="0"/>
          </a:p>
        </p:txBody>
      </p:sp>
      <p:sp>
        <p:nvSpPr>
          <p:cNvPr id="14" name="Shape 12"/>
          <p:cNvSpPr/>
          <p:nvPr/>
        </p:nvSpPr>
        <p:spPr>
          <a:xfrm>
            <a:off x="8836025" y="2807295"/>
            <a:ext cx="2540000" cy="1212800"/>
          </a:xfrm>
          <a:prstGeom prst="roundRect">
            <a:avLst>
              <a:gd name="adj" fmla="val 9163"/>
            </a:avLst>
          </a:prstGeom>
          <a:solidFill>
            <a:srgbClr val="FFFDF8"/>
          </a:solidFill>
          <a:ln w="6350">
            <a:solidFill>
              <a:srgbClr val="E2DDD2"/>
            </a:solidFill>
            <a:prstDash val="solid"/>
          </a:ln>
        </p:spPr>
      </p:sp>
      <p:sp>
        <p:nvSpPr>
          <p:cNvPr id="15" name="Text 13"/>
          <p:cNvSpPr/>
          <p:nvPr/>
        </p:nvSpPr>
        <p:spPr>
          <a:xfrm>
            <a:off x="9042400" y="3013670"/>
            <a:ext cx="21910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A6400"/>
                </a:solidFill>
                <a:latin typeface="Rubik" pitchFamily="34" charset="0"/>
                <a:ea typeface="Rubik" pitchFamily="34" charset="-122"/>
                <a:cs typeface="Rubik" pitchFamily="34" charset="-120"/>
              </a:rPr>
              <a:t>The value</a:t>
            </a:r>
            <a:endParaRPr lang="en-US" sz="1400" dirty="0"/>
          </a:p>
        </p:txBody>
      </p:sp>
      <p:sp>
        <p:nvSpPr>
          <p:cNvPr id="16" name="Text 14"/>
          <p:cNvSpPr/>
          <p:nvPr/>
        </p:nvSpPr>
        <p:spPr>
          <a:xfrm>
            <a:off x="9042400" y="3351461"/>
            <a:ext cx="21910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Fills the placeholder, in order</a:t>
            </a:r>
            <a:endParaRPr lang="en-US" sz="1300" dirty="0"/>
          </a:p>
        </p:txBody>
      </p:sp>
      <p:sp>
        <p:nvSpPr>
          <p:cNvPr id="17" name="Text 15"/>
          <p:cNvSpPr/>
          <p:nvPr/>
        </p:nvSpPr>
        <p:spPr>
          <a:xfrm>
            <a:off x="815975" y="4204246"/>
            <a:ext cx="10560050" cy="645765"/>
          </a:xfrm>
          <a:prstGeom prst="roundRect">
            <a:avLst>
              <a:gd name="adj" fmla="val 13275"/>
            </a:avLst>
          </a:prstGeom>
          <a:solidFill>
            <a:srgbClr val="0C1528"/>
          </a:solidFill>
          <a:ln w="6350">
            <a:solidFill>
              <a:srgbClr val="2D3E63"/>
            </a:solidFill>
            <a:prstDash val="solid"/>
          </a:ln>
        </p:spPr>
        <p:txBody>
          <a:bodyPr wrap="square" lIns="168567" tIns="130467" rIns="0" bIns="105067" rtlCol="0" anchor="t">
            <a:normAutofit/>
          </a:bodyPr>
          <a:lstStyle/>
          <a:p>
            <a:pPr algn="l" indent="0" marL="0">
              <a:lnSpc>
                <a:spcPts val="2635"/>
              </a:lnSpc>
              <a:buNone/>
            </a:pPr>
            <a:r>
              <a:rPr lang="en-US" sz="1700" dirty="0">
                <a:solidFill>
                  <a:srgbClr val="7FD1A4"/>
                </a:solidFill>
                <a:latin typeface="JetBrains Mono" pitchFamily="49" charset="0"/>
                <a:ea typeface="JetBrains Mono" pitchFamily="49" charset="-122"/>
                <a:cs typeface="JetBrains Mono" pitchFamily="49" charset="-120"/>
              </a:rPr>
              <a:t>TOTAL = Rs 75</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8 OF 8 · INPUT/OUTPUT STATEMENTS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Format specifiers and escape sequences</a:t>
            </a:r>
            <a:endParaRPr lang="en-US" sz="3000" dirty="0"/>
          </a:p>
        </p:txBody>
      </p:sp>
      <p:sp>
        <p:nvSpPr>
          <p:cNvPr id="4" name="Shape 2"/>
          <p:cNvSpPr/>
          <p:nvPr/>
        </p:nvSpPr>
        <p:spPr>
          <a:xfrm>
            <a:off x="812800" y="1793230"/>
            <a:ext cx="10566400" cy="3165971"/>
          </a:xfrm>
          <a:prstGeom prst="rect">
            <a:avLst/>
          </a:prstGeom>
          <a:solidFill>
            <a:srgbClr val="FFFDF8"/>
          </a:solidFill>
          <a:ln/>
        </p:spPr>
      </p:sp>
      <p:sp>
        <p:nvSpPr>
          <p:cNvPr id="5" name="Shape 3"/>
          <p:cNvSpPr/>
          <p:nvPr/>
        </p:nvSpPr>
        <p:spPr>
          <a:xfrm>
            <a:off x="11376025" y="1793230"/>
            <a:ext cx="0" cy="3165971"/>
          </a:xfrm>
          <a:prstGeom prst="line">
            <a:avLst/>
          </a:prstGeom>
          <a:noFill/>
          <a:ln w="6350">
            <a:solidFill>
              <a:srgbClr val="E2DDD2"/>
            </a:solidFill>
            <a:prstDash val="solid"/>
          </a:ln>
        </p:spPr>
      </p:sp>
      <p:sp>
        <p:nvSpPr>
          <p:cNvPr id="6" name="Shape 4"/>
          <p:cNvSpPr/>
          <p:nvPr/>
        </p:nvSpPr>
        <p:spPr>
          <a:xfrm>
            <a:off x="812800" y="4956026"/>
            <a:ext cx="10566400" cy="0"/>
          </a:xfrm>
          <a:prstGeom prst="line">
            <a:avLst/>
          </a:prstGeom>
          <a:noFill/>
          <a:ln w="6350">
            <a:solidFill>
              <a:srgbClr val="E2DDD2"/>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05930"/>
          <a:ext cx="10547350" cy="3146921"/>
        </p:xfrm>
        <a:graphic>
          <a:graphicData uri="http://schemas.openxmlformats.org/drawingml/2006/table">
            <a:tbl>
              <a:tblPr/>
              <a:tblGrid>
                <a:gridCol w="2636838"/>
                <a:gridCol w="2636838"/>
                <a:gridCol w="2636838"/>
                <a:gridCol w="2636838"/>
              </a:tblGrid>
              <a:tr h="449560">
                <a:tc>
                  <a:txBody>
                    <a:bodyPr/>
                    <a:lstStyle/>
                    <a:p>
                      <a:pPr indent="0" marL="0">
                        <a:lnSpc>
                          <a:spcPts val="2240"/>
                        </a:lnSpc>
                        <a:buNone/>
                      </a:pPr>
                      <a:r>
                        <a:rPr lang="en-US" sz="1600" b="1" dirty="0">
                          <a:solidFill>
                            <a:srgbClr val="E9893F"/>
                          </a:solidFill>
                          <a:latin typeface="Rubik" pitchFamily="34" charset="0"/>
                          <a:ea typeface="Rubik" pitchFamily="34" charset="-122"/>
                          <a:cs typeface="Rubik" pitchFamily="34" charset="-120"/>
                        </a:rPr>
                        <a:t>Code</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2240"/>
                        </a:lnSpc>
                        <a:buNone/>
                      </a:pPr>
                      <a:r>
                        <a:rPr lang="en-US" sz="1600" b="1" dirty="0">
                          <a:solidFill>
                            <a:srgbClr val="E9893F"/>
                          </a:solidFill>
                          <a:latin typeface="Rubik" pitchFamily="34" charset="0"/>
                          <a:ea typeface="Rubik" pitchFamily="34" charset="-122"/>
                          <a:cs typeface="Rubik" pitchFamily="34" charset="-120"/>
                        </a:rPr>
                        <a:t>Means</a:t>
                      </a:r>
                      <a:endParaRPr lang="en-US" sz="1600" dirty="0">
                        <a:latin typeface="Rubik" charset="0"/>
                        <a:ea typeface="Rubik" charset="0"/>
                        <a:cs typeface="Rubik" charset="0"/>
                      </a:endParaRPr>
                    </a:p>
                  </a:txBody>
                  <a:tcPr marL="139700" marR="139700" marT="76200" marB="7620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2240"/>
                        </a:lnSpc>
                        <a:buNone/>
                      </a:pPr>
                      <a:r>
                        <a:rPr lang="en-US" sz="1600" b="1" dirty="0">
                          <a:solidFill>
                            <a:srgbClr val="E9893F"/>
                          </a:solidFill>
                          <a:latin typeface="Rubik" pitchFamily="34" charset="0"/>
                          <a:ea typeface="Rubik" pitchFamily="34" charset="-122"/>
                          <a:cs typeface="Rubik" pitchFamily="34" charset="-120"/>
                        </a:rPr>
                        <a:t>Example</a:t>
                      </a:r>
                      <a:endParaRPr lang="en-US" sz="1600" dirty="0">
                        <a:latin typeface="Rubik" charset="0"/>
                        <a:ea typeface="Rubik" charset="0"/>
                        <a:cs typeface="Rubik" charset="0"/>
                      </a:endParaRPr>
                    </a:p>
                  </a:txBody>
                  <a:tcPr marL="139700" marR="139700" marT="76200" marB="7620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2240"/>
                        </a:lnSpc>
                        <a:buNone/>
                      </a:pPr>
                      <a:r>
                        <a:rPr lang="en-US" sz="1600" b="1" dirty="0">
                          <a:solidFill>
                            <a:srgbClr val="E9893F"/>
                          </a:solidFill>
                          <a:latin typeface="Rubik" pitchFamily="34" charset="0"/>
                          <a:ea typeface="Rubik" pitchFamily="34" charset="-122"/>
                          <a:cs typeface="Rubik" pitchFamily="34" charset="-120"/>
                        </a:rPr>
                        <a:t>Prints</a:t>
                      </a:r>
                      <a:endParaRPr lang="en-US" sz="1600" dirty="0">
                        <a:latin typeface="Rubik" charset="0"/>
                        <a:ea typeface="Rubik" charset="0"/>
                        <a:cs typeface="Rubik" charset="0"/>
                      </a:endParaRPr>
                    </a:p>
                  </a:txBody>
                  <a:tcPr marL="139700" marR="139700" marT="76200" marB="7620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449560">
                <a:tc>
                  <a:txBody>
                    <a:bodyPr/>
                    <a:lstStyle/>
                    <a:p>
                      <a:pPr indent="0" marL="0">
                        <a:lnSpc>
                          <a:spcPts val="2240"/>
                        </a:lnSpc>
                        <a:buNone/>
                      </a:pPr>
                      <a:r>
                        <a:rPr lang="en-US" sz="1600" dirty="0">
                          <a:solidFill>
                            <a:srgbClr val="A94F17"/>
                          </a:solidFill>
                          <a:latin typeface="Rubik" pitchFamily="34" charset="0"/>
                          <a:ea typeface="Rubik" pitchFamily="34" charset="-122"/>
                          <a:cs typeface="Rubik" pitchFamily="34" charset="-120"/>
                        </a:rPr>
                        <a:t>%d</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int</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printf("%d", 75)</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B6B45"/>
                          </a:solidFill>
                          <a:latin typeface="Rubik" pitchFamily="34" charset="0"/>
                          <a:ea typeface="Rubik" pitchFamily="34" charset="-122"/>
                          <a:cs typeface="Rubik" pitchFamily="34" charset="-120"/>
                        </a:rPr>
                        <a:t>75</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49560">
                <a:tc>
                  <a:txBody>
                    <a:bodyPr/>
                    <a:lstStyle/>
                    <a:p>
                      <a:pPr indent="0" marL="0">
                        <a:lnSpc>
                          <a:spcPts val="2240"/>
                        </a:lnSpc>
                        <a:buNone/>
                      </a:pPr>
                      <a:r>
                        <a:rPr lang="en-US" sz="1600" dirty="0">
                          <a:solidFill>
                            <a:srgbClr val="A94F17"/>
                          </a:solidFill>
                          <a:latin typeface="Rubik" pitchFamily="34" charset="0"/>
                          <a:ea typeface="Rubik" pitchFamily="34" charset="-122"/>
                          <a:cs typeface="Rubik" pitchFamily="34" charset="-120"/>
                        </a:rPr>
                        <a:t>%f</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float / double</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printf("%f", 12.5)</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B6B45"/>
                          </a:solidFill>
                          <a:latin typeface="Rubik" pitchFamily="34" charset="0"/>
                          <a:ea typeface="Rubik" pitchFamily="34" charset="-122"/>
                          <a:cs typeface="Rubik" pitchFamily="34" charset="-120"/>
                        </a:rPr>
                        <a:t>12.500000</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49560">
                <a:tc>
                  <a:txBody>
                    <a:bodyPr/>
                    <a:lstStyle/>
                    <a:p>
                      <a:pPr indent="0" marL="0">
                        <a:lnSpc>
                          <a:spcPts val="2240"/>
                        </a:lnSpc>
                        <a:buNone/>
                      </a:pPr>
                      <a:r>
                        <a:rPr lang="en-US" sz="1600" dirty="0">
                          <a:solidFill>
                            <a:srgbClr val="A94F17"/>
                          </a:solidFill>
                          <a:latin typeface="Rubik" pitchFamily="34" charset="0"/>
                          <a:ea typeface="Rubik" pitchFamily="34" charset="-122"/>
                          <a:cs typeface="Rubik" pitchFamily="34" charset="-120"/>
                        </a:rPr>
                        <a:t>%.2f</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2 decimal places</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printf("%.2f", 12.5)</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B6B45"/>
                          </a:solidFill>
                          <a:latin typeface="Rubik" pitchFamily="34" charset="0"/>
                          <a:ea typeface="Rubik" pitchFamily="34" charset="-122"/>
                          <a:cs typeface="Rubik" pitchFamily="34" charset="-120"/>
                        </a:rPr>
                        <a:t>12.50</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49560">
                <a:tc>
                  <a:txBody>
                    <a:bodyPr/>
                    <a:lstStyle/>
                    <a:p>
                      <a:pPr indent="0" marL="0">
                        <a:lnSpc>
                          <a:spcPts val="2240"/>
                        </a:lnSpc>
                        <a:buNone/>
                      </a:pPr>
                      <a:r>
                        <a:rPr lang="en-US" sz="1600" dirty="0">
                          <a:solidFill>
                            <a:srgbClr val="A94F17"/>
                          </a:solidFill>
                          <a:latin typeface="Rubik" pitchFamily="34" charset="0"/>
                          <a:ea typeface="Rubik" pitchFamily="34" charset="-122"/>
                          <a:cs typeface="Rubik" pitchFamily="34" charset="-120"/>
                        </a:rPr>
                        <a:t>%c</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char</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printf("%c", 'C')</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B6B45"/>
                          </a:solidFill>
                          <a:latin typeface="Rubik" pitchFamily="34" charset="0"/>
                          <a:ea typeface="Rubik" pitchFamily="34" charset="-122"/>
                          <a:cs typeface="Rubik" pitchFamily="34" charset="-120"/>
                        </a:rPr>
                        <a:t>C</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49560">
                <a:tc>
                  <a:txBody>
                    <a:bodyPr/>
                    <a:lstStyle/>
                    <a:p>
                      <a:pPr indent="0" marL="0">
                        <a:lnSpc>
                          <a:spcPts val="2240"/>
                        </a:lnSpc>
                        <a:buNone/>
                      </a:pPr>
                      <a:r>
                        <a:rPr lang="en-US" sz="1600" dirty="0">
                          <a:solidFill>
                            <a:srgbClr val="A94F17"/>
                          </a:solidFill>
                          <a:latin typeface="Rubik" pitchFamily="34" charset="0"/>
                          <a:ea typeface="Rubik" pitchFamily="34" charset="-122"/>
                          <a:cs typeface="Rubik" pitchFamily="34" charset="-120"/>
                        </a:rPr>
                        <a:t>%5d</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width 5, right aligned</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printf("%5d", 75)</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B6B45"/>
                          </a:solidFill>
                          <a:latin typeface="Rubik" pitchFamily="34" charset="0"/>
                          <a:ea typeface="Rubik" pitchFamily="34" charset="-122"/>
                          <a:cs typeface="Rubik" pitchFamily="34" charset="-120"/>
                        </a:rPr>
                        <a:t>   75</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49560">
                <a:tc>
                  <a:txBody>
                    <a:bodyPr/>
                    <a:lstStyle/>
                    <a:p>
                      <a:pPr indent="0" marL="0">
                        <a:lnSpc>
                          <a:spcPts val="2240"/>
                        </a:lnSpc>
                        <a:buNone/>
                      </a:pPr>
                      <a:r>
                        <a:rPr lang="en-US" sz="1600" dirty="0">
                          <a:solidFill>
                            <a:srgbClr val="A94F17"/>
                          </a:solidFill>
                          <a:latin typeface="Rubik" pitchFamily="34" charset="0"/>
                          <a:ea typeface="Rubik" pitchFamily="34" charset="-122"/>
                          <a:cs typeface="Rubik" pitchFamily="34" charset="-120"/>
                        </a:rPr>
                        <a:t>\t</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tab space</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C2230"/>
                          </a:solidFill>
                          <a:latin typeface="Rubik" pitchFamily="34" charset="0"/>
                          <a:ea typeface="Rubik" pitchFamily="34" charset="-122"/>
                          <a:cs typeface="Rubik" pitchFamily="34" charset="-120"/>
                        </a:rPr>
                        <a:t>printf("A\tB")</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240"/>
                        </a:lnSpc>
                        <a:buNone/>
                      </a:pPr>
                      <a:r>
                        <a:rPr lang="en-US" sz="1600" dirty="0">
                          <a:solidFill>
                            <a:srgbClr val="1B6B45"/>
                          </a:solidFill>
                          <a:latin typeface="Rubik" pitchFamily="34" charset="0"/>
                          <a:ea typeface="Rubik" pitchFamily="34" charset="-122"/>
                          <a:cs typeface="Rubik" pitchFamily="34" charset="-120"/>
                        </a:rPr>
                        <a:t>A    B</a:t>
                      </a:r>
                      <a:endParaRPr lang="en-US" sz="1600" dirty="0">
                        <a:latin typeface="Rubik" charset="0"/>
                        <a:ea typeface="Rubik" charset="0"/>
                        <a:cs typeface="Rubik" charset="0"/>
                      </a:endParaRPr>
                    </a:p>
                  </a:txBody>
                  <a:tcPr marL="139700" marR="139700" marT="76200" marB="762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62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8 OF 8 · INPUT/OUTPUT STATEMENTS</a:t>
            </a:r>
            <a:endParaRPr lang="en-US" sz="1300" dirty="0"/>
          </a:p>
        </p:txBody>
      </p:sp>
      <p:sp>
        <p:nvSpPr>
          <p:cNvPr id="3" name="Text 1"/>
          <p:cNvSpPr/>
          <p:nvPr>
            <p:ph type="title"/>
          </p:nvPr>
        </p:nvSpPr>
        <p:spPr>
          <a:xfrm>
            <a:off x="812800" y="1069330"/>
            <a:ext cx="1137920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C2230"/>
                </a:solidFill>
                <a:latin typeface="Rubik" pitchFamily="34" charset="0"/>
                <a:ea typeface="Rubik" pitchFamily="34" charset="-122"/>
                <a:cs typeface="Rubik" pitchFamily="34" charset="-120"/>
              </a:rPr>
              <a:t>scanf: how a number gets from the keyboard into a variable</a:t>
            </a:r>
            <a:endParaRPr lang="en-US" sz="2800" dirty="0"/>
          </a:p>
        </p:txBody>
      </p:sp>
      <p:sp>
        <p:nvSpPr>
          <p:cNvPr id="4" name="Shape 2"/>
          <p:cNvSpPr/>
          <p:nvPr/>
        </p:nvSpPr>
        <p:spPr>
          <a:xfrm>
            <a:off x="812800" y="1905000"/>
            <a:ext cx="10566400" cy="355600"/>
          </a:xfrm>
          <a:prstGeom prst="roundRect">
            <a:avLst>
              <a:gd name="adj" fmla="val 21429"/>
            </a:avLst>
          </a:prstGeom>
          <a:solidFill>
            <a:srgbClr val="15233F"/>
          </a:solidFill>
          <a:ln/>
        </p:spPr>
      </p:sp>
      <p:sp>
        <p:nvSpPr>
          <p:cNvPr id="5" name="Text 3"/>
          <p:cNvSpPr/>
          <p:nvPr/>
        </p:nvSpPr>
        <p:spPr>
          <a:xfrm>
            <a:off x="927100" y="1976140"/>
            <a:ext cx="43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893F"/>
                </a:solidFill>
                <a:latin typeface="Rubik" pitchFamily="34" charset="0"/>
                <a:ea typeface="Rubik" pitchFamily="34" charset="-122"/>
                <a:cs typeface="Rubik" pitchFamily="34" charset="-120"/>
              </a:rPr>
              <a:t>Step</a:t>
            </a:r>
            <a:endParaRPr lang="en-US" sz="1200" dirty="0"/>
          </a:p>
        </p:txBody>
      </p:sp>
      <p:sp>
        <p:nvSpPr>
          <p:cNvPr id="6" name="Text 4"/>
          <p:cNvSpPr/>
          <p:nvPr/>
        </p:nvSpPr>
        <p:spPr>
          <a:xfrm>
            <a:off x="1397000" y="1976140"/>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893F"/>
                </a:solidFill>
                <a:latin typeface="Rubik" pitchFamily="34" charset="0"/>
                <a:ea typeface="Rubik" pitchFamily="34" charset="-122"/>
                <a:cs typeface="Rubik" pitchFamily="34" charset="-120"/>
              </a:rPr>
              <a:t>Screen</a:t>
            </a:r>
            <a:endParaRPr lang="en-US" sz="1200" dirty="0"/>
          </a:p>
        </p:txBody>
      </p:sp>
      <p:sp>
        <p:nvSpPr>
          <p:cNvPr id="7" name="Text 5"/>
          <p:cNvSpPr/>
          <p:nvPr/>
        </p:nvSpPr>
        <p:spPr>
          <a:xfrm>
            <a:off x="3390900" y="1976140"/>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893F"/>
                </a:solidFill>
                <a:latin typeface="Rubik" pitchFamily="34" charset="0"/>
                <a:ea typeface="Rubik" pitchFamily="34" charset="-122"/>
                <a:cs typeface="Rubik" pitchFamily="34" charset="-120"/>
              </a:rPr>
              <a:t>Code</a:t>
            </a:r>
            <a:endParaRPr lang="en-US" sz="1200" dirty="0"/>
          </a:p>
        </p:txBody>
      </p:sp>
      <p:sp>
        <p:nvSpPr>
          <p:cNvPr id="8" name="Text 6"/>
          <p:cNvSpPr/>
          <p:nvPr/>
        </p:nvSpPr>
        <p:spPr>
          <a:xfrm>
            <a:off x="6464300" y="1976140"/>
            <a:ext cx="876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893F"/>
                </a:solidFill>
                <a:latin typeface="JetBrains Mono" pitchFamily="49" charset="0"/>
                <a:ea typeface="JetBrains Mono" pitchFamily="49" charset="-122"/>
                <a:cs typeface="JetBrains Mono" pitchFamily="49" charset="-120"/>
              </a:rPr>
              <a:t>chai</a:t>
            </a:r>
            <a:endParaRPr lang="en-US" sz="1200" dirty="0"/>
          </a:p>
        </p:txBody>
      </p:sp>
      <p:sp>
        <p:nvSpPr>
          <p:cNvPr id="9" name="Text 7"/>
          <p:cNvSpPr/>
          <p:nvPr/>
        </p:nvSpPr>
        <p:spPr>
          <a:xfrm>
            <a:off x="7378700" y="1976140"/>
            <a:ext cx="40027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893F"/>
                </a:solidFill>
                <a:latin typeface="Rubik" pitchFamily="34" charset="0"/>
                <a:ea typeface="Rubik" pitchFamily="34" charset="-122"/>
                <a:cs typeface="Rubik" pitchFamily="34" charset="-120"/>
              </a:rPr>
              <a:t>What happens</a:t>
            </a:r>
            <a:endParaRPr lang="en-US" sz="1200" dirty="0"/>
          </a:p>
        </p:txBody>
      </p:sp>
      <p:sp>
        <p:nvSpPr>
          <p:cNvPr id="10" name="Shape 8"/>
          <p:cNvSpPr/>
          <p:nvPr/>
        </p:nvSpPr>
        <p:spPr>
          <a:xfrm>
            <a:off x="815975" y="2365375"/>
            <a:ext cx="10560050" cy="488950"/>
          </a:xfrm>
          <a:prstGeom prst="roundRect">
            <a:avLst>
              <a:gd name="adj" fmla="val 14935"/>
            </a:avLst>
          </a:prstGeom>
          <a:solidFill>
            <a:srgbClr val="FFFDF8"/>
          </a:solidFill>
          <a:ln w="6350">
            <a:solidFill>
              <a:srgbClr val="E2DDD2"/>
            </a:solidFill>
            <a:prstDash val="solid"/>
          </a:ln>
        </p:spPr>
      </p:sp>
      <p:sp>
        <p:nvSpPr>
          <p:cNvPr id="11" name="Text 9"/>
          <p:cNvSpPr/>
          <p:nvPr/>
        </p:nvSpPr>
        <p:spPr>
          <a:xfrm>
            <a:off x="933450" y="2485380"/>
            <a:ext cx="431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1</a:t>
            </a:r>
            <a:endParaRPr lang="en-US" sz="1400" dirty="0"/>
          </a:p>
        </p:txBody>
      </p:sp>
      <p:sp>
        <p:nvSpPr>
          <p:cNvPr id="12" name="Text 10"/>
          <p:cNvSpPr/>
          <p:nvPr/>
        </p:nvSpPr>
        <p:spPr>
          <a:xfrm>
            <a:off x="1403350" y="2452390"/>
            <a:ext cx="1905000" cy="314920"/>
          </a:xfrm>
          <a:prstGeom prst="roundRect">
            <a:avLst>
              <a:gd name="adj" fmla="val 16131"/>
            </a:avLst>
          </a:prstGeom>
          <a:solidFill>
            <a:srgbClr val="0C1528"/>
          </a:solidFill>
          <a:ln/>
        </p:spPr>
        <p:txBody>
          <a:bodyPr wrap="square" lIns="61321" tIns="35921" rIns="8743" bIns="1052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How many chai? _</a:t>
            </a:r>
            <a:endParaRPr lang="en-US" sz="1200" dirty="0"/>
          </a:p>
        </p:txBody>
      </p:sp>
      <p:sp>
        <p:nvSpPr>
          <p:cNvPr id="13" name="Text 11"/>
          <p:cNvSpPr/>
          <p:nvPr/>
        </p:nvSpPr>
        <p:spPr>
          <a:xfrm>
            <a:off x="3397250" y="2452390"/>
            <a:ext cx="2984500" cy="314920"/>
          </a:xfrm>
          <a:prstGeom prst="roundRect">
            <a:avLst>
              <a:gd name="adj" fmla="val 16131"/>
            </a:avLst>
          </a:prstGeom>
          <a:solidFill>
            <a:srgbClr val="15233F"/>
          </a:solidFill>
          <a:ln/>
        </p:spPr>
        <p:txBody>
          <a:bodyPr wrap="square" lIns="61321" tIns="35921" rIns="0" bIns="10521" rtlCol="0" anchor="t">
            <a:normAutofit/>
          </a:bodyPr>
          <a:lstStyle/>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printf("How many chai? ");</a:t>
            </a:r>
            <a:endParaRPr lang="en-US" sz="1200" dirty="0"/>
          </a:p>
        </p:txBody>
      </p:sp>
      <p:sp>
        <p:nvSpPr>
          <p:cNvPr id="14" name="Text 12"/>
          <p:cNvSpPr/>
          <p:nvPr/>
        </p:nvSpPr>
        <p:spPr>
          <a:xfrm>
            <a:off x="6480175" y="2435225"/>
            <a:ext cx="806450" cy="349250"/>
          </a:xfrm>
          <a:prstGeom prst="roundRect">
            <a:avLst>
              <a:gd name="adj" fmla="val 15455"/>
            </a:avLst>
          </a:prstGeom>
          <a:solidFill>
            <a:srgbClr val="FFFDF8"/>
          </a:solidFill>
          <a:ln w="19050">
            <a:solidFill>
              <a:srgbClr val="2A5BD7"/>
            </a:solidFill>
            <a:prstDash val="solid"/>
          </a:ln>
        </p:spPr>
        <p:txBody>
          <a:bodyPr wrap="square" lIns="0" tIns="0" rIns="0" bIns="0" rtlCol="0" anchor="ctr">
            <a:normAutofit/>
          </a:bodyPr>
          <a:lstStyle/>
          <a:p>
            <a:pPr algn="ctr" indent="0" marL="0">
              <a:lnSpc>
                <a:spcPts val="2240"/>
              </a:lnSpc>
              <a:buNone/>
            </a:pPr>
            <a:r>
              <a:rPr lang="en-US" sz="1600" b="1" dirty="0">
                <a:solidFill>
                  <a:srgbClr val="1C2230"/>
                </a:solidFill>
                <a:latin typeface="JetBrains Mono" pitchFamily="49" charset="0"/>
                <a:ea typeface="JetBrains Mono" pitchFamily="49" charset="-122"/>
                <a:cs typeface="JetBrains Mono" pitchFamily="49" charset="-120"/>
              </a:rPr>
              <a:t>?</a:t>
            </a:r>
            <a:endParaRPr lang="en-US" sz="1600" dirty="0"/>
          </a:p>
        </p:txBody>
      </p:sp>
      <p:sp>
        <p:nvSpPr>
          <p:cNvPr id="15" name="Text 13"/>
          <p:cNvSpPr/>
          <p:nvPr/>
        </p:nvSpPr>
        <p:spPr>
          <a:xfrm>
            <a:off x="7385050" y="2514600"/>
            <a:ext cx="398970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printf shows the question on the screen.</a:t>
            </a:r>
            <a:endParaRPr lang="en-US" sz="1200" dirty="0"/>
          </a:p>
        </p:txBody>
      </p:sp>
      <p:sp>
        <p:nvSpPr>
          <p:cNvPr id="16" name="Shape 14"/>
          <p:cNvSpPr/>
          <p:nvPr/>
        </p:nvSpPr>
        <p:spPr>
          <a:xfrm>
            <a:off x="815975" y="2911475"/>
            <a:ext cx="10560050" cy="488950"/>
          </a:xfrm>
          <a:prstGeom prst="roundRect">
            <a:avLst>
              <a:gd name="adj" fmla="val 14935"/>
            </a:avLst>
          </a:prstGeom>
          <a:solidFill>
            <a:srgbClr val="FFFDF8"/>
          </a:solidFill>
          <a:ln w="6350">
            <a:solidFill>
              <a:srgbClr val="E2DDD2"/>
            </a:solidFill>
            <a:prstDash val="solid"/>
          </a:ln>
        </p:spPr>
      </p:sp>
      <p:sp>
        <p:nvSpPr>
          <p:cNvPr id="17" name="Text 15"/>
          <p:cNvSpPr/>
          <p:nvPr/>
        </p:nvSpPr>
        <p:spPr>
          <a:xfrm>
            <a:off x="933450" y="3031480"/>
            <a:ext cx="431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2</a:t>
            </a:r>
            <a:endParaRPr lang="en-US" sz="1400" dirty="0"/>
          </a:p>
        </p:txBody>
      </p:sp>
      <p:sp>
        <p:nvSpPr>
          <p:cNvPr id="18" name="Text 16"/>
          <p:cNvSpPr/>
          <p:nvPr/>
        </p:nvSpPr>
        <p:spPr>
          <a:xfrm>
            <a:off x="1403350" y="2998490"/>
            <a:ext cx="1905000" cy="314920"/>
          </a:xfrm>
          <a:prstGeom prst="roundRect">
            <a:avLst>
              <a:gd name="adj" fmla="val 16131"/>
            </a:avLst>
          </a:prstGeom>
          <a:solidFill>
            <a:srgbClr val="0C1528"/>
          </a:solidFill>
          <a:ln/>
        </p:spPr>
        <p:txBody>
          <a:bodyPr wrap="square" lIns="61321" tIns="35921" rIns="8743" bIns="1052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How many chai? 2 ⏎</a:t>
            </a:r>
            <a:endParaRPr lang="en-US" sz="1200" dirty="0"/>
          </a:p>
        </p:txBody>
      </p:sp>
      <p:sp>
        <p:nvSpPr>
          <p:cNvPr id="19" name="Text 17"/>
          <p:cNvSpPr/>
          <p:nvPr/>
        </p:nvSpPr>
        <p:spPr>
          <a:xfrm>
            <a:off x="3397250" y="2998490"/>
            <a:ext cx="2984500" cy="314920"/>
          </a:xfrm>
          <a:prstGeom prst="roundRect">
            <a:avLst>
              <a:gd name="adj" fmla="val 16131"/>
            </a:avLst>
          </a:prstGeom>
          <a:solidFill>
            <a:srgbClr val="15233F"/>
          </a:solidFill>
          <a:ln/>
        </p:spPr>
        <p:txBody>
          <a:bodyPr wrap="square" lIns="61321" tIns="35921" rIns="0" bIns="10521" rtlCol="0" anchor="t">
            <a:normAutofit/>
          </a:bodyPr>
          <a:lstStyle/>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scanf("%d", &amp;chai);</a:t>
            </a:r>
            <a:endParaRPr lang="en-US" sz="1200" dirty="0"/>
          </a:p>
        </p:txBody>
      </p:sp>
      <p:sp>
        <p:nvSpPr>
          <p:cNvPr id="20" name="Text 18"/>
          <p:cNvSpPr/>
          <p:nvPr/>
        </p:nvSpPr>
        <p:spPr>
          <a:xfrm>
            <a:off x="6480175" y="2981325"/>
            <a:ext cx="806450" cy="349250"/>
          </a:xfrm>
          <a:prstGeom prst="roundRect">
            <a:avLst>
              <a:gd name="adj" fmla="val 15455"/>
            </a:avLst>
          </a:prstGeom>
          <a:solidFill>
            <a:srgbClr val="FFFDF8"/>
          </a:solidFill>
          <a:ln w="19050">
            <a:solidFill>
              <a:srgbClr val="2A5BD7"/>
            </a:solidFill>
            <a:prstDash val="solid"/>
          </a:ln>
        </p:spPr>
        <p:txBody>
          <a:bodyPr wrap="square" lIns="0" tIns="0" rIns="0" bIns="0" rtlCol="0" anchor="ctr">
            <a:normAutofit/>
          </a:bodyPr>
          <a:lstStyle/>
          <a:p>
            <a:pPr algn="ctr" indent="0" marL="0">
              <a:lnSpc>
                <a:spcPts val="2240"/>
              </a:lnSpc>
              <a:buNone/>
            </a:pPr>
            <a:r>
              <a:rPr lang="en-US" sz="1600" b="1" dirty="0">
                <a:solidFill>
                  <a:srgbClr val="1C2230"/>
                </a:solidFill>
                <a:latin typeface="JetBrains Mono" pitchFamily="49" charset="0"/>
                <a:ea typeface="JetBrains Mono" pitchFamily="49" charset="-122"/>
                <a:cs typeface="JetBrains Mono" pitchFamily="49" charset="-120"/>
              </a:rPr>
              <a:t>?</a:t>
            </a:r>
            <a:endParaRPr lang="en-US" sz="1600" dirty="0"/>
          </a:p>
        </p:txBody>
      </p:sp>
      <p:sp>
        <p:nvSpPr>
          <p:cNvPr id="21" name="Text 19"/>
          <p:cNvSpPr/>
          <p:nvPr/>
        </p:nvSpPr>
        <p:spPr>
          <a:xfrm>
            <a:off x="7385050" y="3060700"/>
            <a:ext cx="398970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Riya types 2 and presses Enter. scanf waits for this.</a:t>
            </a:r>
            <a:endParaRPr lang="en-US" sz="1200" dirty="0"/>
          </a:p>
        </p:txBody>
      </p:sp>
      <p:sp>
        <p:nvSpPr>
          <p:cNvPr id="22" name="Shape 20"/>
          <p:cNvSpPr/>
          <p:nvPr/>
        </p:nvSpPr>
        <p:spPr>
          <a:xfrm>
            <a:off x="815975" y="3457575"/>
            <a:ext cx="10560050" cy="488950"/>
          </a:xfrm>
          <a:prstGeom prst="roundRect">
            <a:avLst>
              <a:gd name="adj" fmla="val 14935"/>
            </a:avLst>
          </a:prstGeom>
          <a:solidFill>
            <a:srgbClr val="FFFDF8"/>
          </a:solidFill>
          <a:ln w="6350">
            <a:solidFill>
              <a:srgbClr val="E2DDD2"/>
            </a:solidFill>
            <a:prstDash val="solid"/>
          </a:ln>
        </p:spPr>
      </p:sp>
      <p:sp>
        <p:nvSpPr>
          <p:cNvPr id="23" name="Text 21"/>
          <p:cNvSpPr/>
          <p:nvPr/>
        </p:nvSpPr>
        <p:spPr>
          <a:xfrm>
            <a:off x="933450" y="3577580"/>
            <a:ext cx="431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3</a:t>
            </a:r>
            <a:endParaRPr lang="en-US" sz="1400" dirty="0"/>
          </a:p>
        </p:txBody>
      </p:sp>
      <p:sp>
        <p:nvSpPr>
          <p:cNvPr id="24" name="Text 22"/>
          <p:cNvSpPr/>
          <p:nvPr/>
        </p:nvSpPr>
        <p:spPr>
          <a:xfrm>
            <a:off x="1403350" y="3544590"/>
            <a:ext cx="1905000" cy="314920"/>
          </a:xfrm>
          <a:prstGeom prst="roundRect">
            <a:avLst>
              <a:gd name="adj" fmla="val 16131"/>
            </a:avLst>
          </a:prstGeom>
          <a:solidFill>
            <a:srgbClr val="0C1528"/>
          </a:solidFill>
          <a:ln/>
        </p:spPr>
        <p:txBody>
          <a:bodyPr wrap="square" lIns="61321" tIns="35921" rIns="8743" bIns="1052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How many chai? 2 ⏎</a:t>
            </a:r>
            <a:endParaRPr lang="en-US" sz="1200" dirty="0"/>
          </a:p>
        </p:txBody>
      </p:sp>
      <p:sp>
        <p:nvSpPr>
          <p:cNvPr id="25" name="Text 23"/>
          <p:cNvSpPr/>
          <p:nvPr/>
        </p:nvSpPr>
        <p:spPr>
          <a:xfrm>
            <a:off x="3397250" y="3544590"/>
            <a:ext cx="2984500" cy="314920"/>
          </a:xfrm>
          <a:prstGeom prst="roundRect">
            <a:avLst>
              <a:gd name="adj" fmla="val 16131"/>
            </a:avLst>
          </a:prstGeom>
          <a:solidFill>
            <a:srgbClr val="15233F"/>
          </a:solidFill>
          <a:ln/>
        </p:spPr>
        <p:txBody>
          <a:bodyPr wrap="square" lIns="61321" tIns="35921" rIns="0" bIns="10521" rtlCol="0" anchor="t">
            <a:normAutofit/>
          </a:bodyPr>
          <a:lstStyle/>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scanf("</a:t>
            </a:r>
            <a:r>
              <a:rPr lang="en-US" sz="1200" b="1" dirty="0">
                <a:solidFill>
                  <a:srgbClr val="E9893F"/>
                </a:solidFill>
                <a:latin typeface="JetBrains Mono" pitchFamily="49" charset="0"/>
                <a:ea typeface="JetBrains Mono" pitchFamily="49" charset="-122"/>
                <a:cs typeface="JetBrains Mono" pitchFamily="49" charset="-120"/>
              </a:rPr>
              <a:t>%d</a:t>
            </a:r>
            <a:r>
              <a:rPr lang="en-US" sz="1200" dirty="0">
                <a:solidFill>
                  <a:srgbClr val="E6E9F0"/>
                </a:solidFill>
                <a:latin typeface="JetBrains Mono" pitchFamily="49" charset="0"/>
                <a:ea typeface="JetBrains Mono" pitchFamily="49" charset="-122"/>
                <a:cs typeface="JetBrains Mono" pitchFamily="49" charset="-120"/>
              </a:rPr>
              <a:t>", &amp;chai);</a:t>
            </a:r>
            <a:endParaRPr lang="en-US" sz="1200" dirty="0"/>
          </a:p>
        </p:txBody>
      </p:sp>
      <p:sp>
        <p:nvSpPr>
          <p:cNvPr id="26" name="Text 24"/>
          <p:cNvSpPr/>
          <p:nvPr/>
        </p:nvSpPr>
        <p:spPr>
          <a:xfrm>
            <a:off x="6480175" y="3527425"/>
            <a:ext cx="806450" cy="349250"/>
          </a:xfrm>
          <a:prstGeom prst="roundRect">
            <a:avLst>
              <a:gd name="adj" fmla="val 15455"/>
            </a:avLst>
          </a:prstGeom>
          <a:solidFill>
            <a:srgbClr val="FFFDF8"/>
          </a:solidFill>
          <a:ln w="19050">
            <a:solidFill>
              <a:srgbClr val="2A5BD7"/>
            </a:solidFill>
            <a:prstDash val="solid"/>
          </a:ln>
        </p:spPr>
        <p:txBody>
          <a:bodyPr wrap="square" lIns="0" tIns="0" rIns="0" bIns="0" rtlCol="0" anchor="ctr">
            <a:normAutofit/>
          </a:bodyPr>
          <a:lstStyle/>
          <a:p>
            <a:pPr algn="ctr" indent="0" marL="0">
              <a:lnSpc>
                <a:spcPts val="2240"/>
              </a:lnSpc>
              <a:buNone/>
            </a:pPr>
            <a:r>
              <a:rPr lang="en-US" sz="1600" b="1" dirty="0">
                <a:solidFill>
                  <a:srgbClr val="1C2230"/>
                </a:solidFill>
                <a:latin typeface="JetBrains Mono" pitchFamily="49" charset="0"/>
                <a:ea typeface="JetBrains Mono" pitchFamily="49" charset="-122"/>
                <a:cs typeface="JetBrains Mono" pitchFamily="49" charset="-120"/>
              </a:rPr>
              <a:t>?</a:t>
            </a:r>
            <a:endParaRPr lang="en-US" sz="1600" dirty="0"/>
          </a:p>
        </p:txBody>
      </p:sp>
      <p:sp>
        <p:nvSpPr>
          <p:cNvPr id="27" name="Text 25"/>
          <p:cNvSpPr/>
          <p:nvPr/>
        </p:nvSpPr>
        <p:spPr>
          <a:xfrm>
            <a:off x="7385050" y="3606800"/>
            <a:ext cx="398970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%d tells scanf: read a whole number.</a:t>
            </a:r>
            <a:endParaRPr lang="en-US" sz="1200" dirty="0"/>
          </a:p>
        </p:txBody>
      </p:sp>
      <p:sp>
        <p:nvSpPr>
          <p:cNvPr id="28" name="Shape 26"/>
          <p:cNvSpPr/>
          <p:nvPr/>
        </p:nvSpPr>
        <p:spPr>
          <a:xfrm>
            <a:off x="815975" y="4003675"/>
            <a:ext cx="10560050" cy="488950"/>
          </a:xfrm>
          <a:prstGeom prst="roundRect">
            <a:avLst>
              <a:gd name="adj" fmla="val 14935"/>
            </a:avLst>
          </a:prstGeom>
          <a:solidFill>
            <a:srgbClr val="FFFDF8"/>
          </a:solidFill>
          <a:ln w="6350">
            <a:solidFill>
              <a:srgbClr val="E2DDD2"/>
            </a:solidFill>
            <a:prstDash val="solid"/>
          </a:ln>
        </p:spPr>
      </p:sp>
      <p:sp>
        <p:nvSpPr>
          <p:cNvPr id="29" name="Text 27"/>
          <p:cNvSpPr/>
          <p:nvPr/>
        </p:nvSpPr>
        <p:spPr>
          <a:xfrm>
            <a:off x="933450" y="4123680"/>
            <a:ext cx="431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4</a:t>
            </a:r>
            <a:endParaRPr lang="en-US" sz="1400" dirty="0"/>
          </a:p>
        </p:txBody>
      </p:sp>
      <p:sp>
        <p:nvSpPr>
          <p:cNvPr id="30" name="Text 28"/>
          <p:cNvSpPr/>
          <p:nvPr/>
        </p:nvSpPr>
        <p:spPr>
          <a:xfrm>
            <a:off x="1403350" y="4090690"/>
            <a:ext cx="1905000" cy="314920"/>
          </a:xfrm>
          <a:prstGeom prst="roundRect">
            <a:avLst>
              <a:gd name="adj" fmla="val 16131"/>
            </a:avLst>
          </a:prstGeom>
          <a:solidFill>
            <a:srgbClr val="0C1528"/>
          </a:solidFill>
          <a:ln/>
        </p:spPr>
        <p:txBody>
          <a:bodyPr wrap="square" lIns="61321" tIns="35921" rIns="8743" bIns="1052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How many chai? 2 ⏎</a:t>
            </a:r>
            <a:endParaRPr lang="en-US" sz="1200" dirty="0"/>
          </a:p>
        </p:txBody>
      </p:sp>
      <p:sp>
        <p:nvSpPr>
          <p:cNvPr id="31" name="Text 29"/>
          <p:cNvSpPr/>
          <p:nvPr/>
        </p:nvSpPr>
        <p:spPr>
          <a:xfrm>
            <a:off x="3397250" y="4090690"/>
            <a:ext cx="2984500" cy="314920"/>
          </a:xfrm>
          <a:prstGeom prst="roundRect">
            <a:avLst>
              <a:gd name="adj" fmla="val 16131"/>
            </a:avLst>
          </a:prstGeom>
          <a:solidFill>
            <a:srgbClr val="15233F"/>
          </a:solidFill>
          <a:ln/>
        </p:spPr>
        <p:txBody>
          <a:bodyPr wrap="square" lIns="61321" tIns="35921" rIns="0" bIns="10521" rtlCol="0" anchor="t">
            <a:normAutofit/>
          </a:bodyPr>
          <a:lstStyle/>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scanf("%d", </a:t>
            </a:r>
            <a:r>
              <a:rPr lang="en-US" sz="1200" b="1" dirty="0">
                <a:solidFill>
                  <a:srgbClr val="E9893F"/>
                </a:solidFill>
                <a:latin typeface="JetBrains Mono" pitchFamily="49" charset="0"/>
                <a:ea typeface="JetBrains Mono" pitchFamily="49" charset="-122"/>
                <a:cs typeface="JetBrains Mono" pitchFamily="49" charset="-120"/>
              </a:rPr>
              <a:t>&amp;chai</a:t>
            </a: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p:txBody>
      </p:sp>
      <p:sp>
        <p:nvSpPr>
          <p:cNvPr id="32" name="Text 30"/>
          <p:cNvSpPr/>
          <p:nvPr/>
        </p:nvSpPr>
        <p:spPr>
          <a:xfrm>
            <a:off x="6480175" y="4073525"/>
            <a:ext cx="806450" cy="349250"/>
          </a:xfrm>
          <a:prstGeom prst="roundRect">
            <a:avLst>
              <a:gd name="adj" fmla="val 15455"/>
            </a:avLst>
          </a:prstGeom>
          <a:solidFill>
            <a:srgbClr val="FFFDF8"/>
          </a:solidFill>
          <a:ln w="19050">
            <a:solidFill>
              <a:srgbClr val="2A5BD7"/>
            </a:solidFill>
            <a:prstDash val="solid"/>
          </a:ln>
        </p:spPr>
        <p:txBody>
          <a:bodyPr wrap="square" lIns="0" tIns="0" rIns="0" bIns="0" rtlCol="0" anchor="ctr">
            <a:normAutofit/>
          </a:bodyPr>
          <a:lstStyle/>
          <a:p>
            <a:pPr algn="ctr" indent="0" marL="0">
              <a:lnSpc>
                <a:spcPts val="2240"/>
              </a:lnSpc>
              <a:buNone/>
            </a:pPr>
            <a:r>
              <a:rPr lang="en-US" sz="1600" b="1" dirty="0">
                <a:solidFill>
                  <a:srgbClr val="1C2230"/>
                </a:solidFill>
                <a:latin typeface="JetBrains Mono" pitchFamily="49" charset="0"/>
                <a:ea typeface="JetBrains Mono" pitchFamily="49" charset="-122"/>
                <a:cs typeface="JetBrains Mono" pitchFamily="49" charset="-120"/>
              </a:rPr>
              <a:t>?</a:t>
            </a:r>
            <a:endParaRPr lang="en-US" sz="1600" dirty="0"/>
          </a:p>
        </p:txBody>
      </p:sp>
      <p:sp>
        <p:nvSpPr>
          <p:cNvPr id="33" name="Text 31"/>
          <p:cNvSpPr/>
          <p:nvPr/>
        </p:nvSpPr>
        <p:spPr>
          <a:xfrm>
            <a:off x="7385050" y="4057650"/>
            <a:ext cx="398970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&amp;chai = ADDRESS of chai (1000): WHERE to put the number.</a:t>
            </a:r>
            <a:endParaRPr lang="en-US" sz="1200" dirty="0"/>
          </a:p>
        </p:txBody>
      </p:sp>
      <p:sp>
        <p:nvSpPr>
          <p:cNvPr id="34" name="Shape 32"/>
          <p:cNvSpPr/>
          <p:nvPr/>
        </p:nvSpPr>
        <p:spPr>
          <a:xfrm>
            <a:off x="815975" y="4549775"/>
            <a:ext cx="10560050" cy="488950"/>
          </a:xfrm>
          <a:prstGeom prst="roundRect">
            <a:avLst>
              <a:gd name="adj" fmla="val 14935"/>
            </a:avLst>
          </a:prstGeom>
          <a:solidFill>
            <a:srgbClr val="FFFDF8"/>
          </a:solidFill>
          <a:ln w="6350">
            <a:solidFill>
              <a:srgbClr val="E2DDD2"/>
            </a:solidFill>
            <a:prstDash val="solid"/>
          </a:ln>
        </p:spPr>
      </p:sp>
      <p:sp>
        <p:nvSpPr>
          <p:cNvPr id="35" name="Text 33"/>
          <p:cNvSpPr/>
          <p:nvPr/>
        </p:nvSpPr>
        <p:spPr>
          <a:xfrm>
            <a:off x="933450" y="4669780"/>
            <a:ext cx="431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5</a:t>
            </a:r>
            <a:endParaRPr lang="en-US" sz="1400" dirty="0"/>
          </a:p>
        </p:txBody>
      </p:sp>
      <p:sp>
        <p:nvSpPr>
          <p:cNvPr id="36" name="Text 34"/>
          <p:cNvSpPr/>
          <p:nvPr/>
        </p:nvSpPr>
        <p:spPr>
          <a:xfrm>
            <a:off x="1403350" y="4636790"/>
            <a:ext cx="1905000" cy="314920"/>
          </a:xfrm>
          <a:prstGeom prst="roundRect">
            <a:avLst>
              <a:gd name="adj" fmla="val 16131"/>
            </a:avLst>
          </a:prstGeom>
          <a:solidFill>
            <a:srgbClr val="0C1528"/>
          </a:solidFill>
          <a:ln/>
        </p:spPr>
        <p:txBody>
          <a:bodyPr wrap="square" lIns="61321" tIns="35921" rIns="8743" bIns="1052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How many chai? 2 ⏎</a:t>
            </a:r>
            <a:endParaRPr lang="en-US" sz="1200" dirty="0"/>
          </a:p>
        </p:txBody>
      </p:sp>
      <p:sp>
        <p:nvSpPr>
          <p:cNvPr id="37" name="Text 35"/>
          <p:cNvSpPr/>
          <p:nvPr/>
        </p:nvSpPr>
        <p:spPr>
          <a:xfrm>
            <a:off x="3397250" y="4636790"/>
            <a:ext cx="2984500" cy="314920"/>
          </a:xfrm>
          <a:prstGeom prst="roundRect">
            <a:avLst>
              <a:gd name="adj" fmla="val 16131"/>
            </a:avLst>
          </a:prstGeom>
          <a:solidFill>
            <a:srgbClr val="15233F"/>
          </a:solidFill>
          <a:ln/>
        </p:spPr>
        <p:txBody>
          <a:bodyPr wrap="square" lIns="61321" tIns="35921" rIns="0" bIns="10521" rtlCol="0" anchor="t">
            <a:normAutofit/>
          </a:bodyPr>
          <a:lstStyle/>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scanf("%d", &amp;chai);</a:t>
            </a:r>
            <a:endParaRPr lang="en-US" sz="1200" dirty="0"/>
          </a:p>
        </p:txBody>
      </p:sp>
      <p:sp>
        <p:nvSpPr>
          <p:cNvPr id="38" name="Text 36"/>
          <p:cNvSpPr/>
          <p:nvPr/>
        </p:nvSpPr>
        <p:spPr>
          <a:xfrm>
            <a:off x="6480175" y="4619625"/>
            <a:ext cx="806450" cy="349250"/>
          </a:xfrm>
          <a:prstGeom prst="roundRect">
            <a:avLst>
              <a:gd name="adj" fmla="val 15455"/>
            </a:avLst>
          </a:prstGeom>
          <a:solidFill>
            <a:srgbClr val="FBE3CF"/>
          </a:solidFill>
          <a:ln w="19050">
            <a:solidFill>
              <a:srgbClr val="E9893F"/>
            </a:solidFill>
            <a:prstDash val="solid"/>
          </a:ln>
        </p:spPr>
        <p:txBody>
          <a:bodyPr wrap="square" lIns="0" tIns="0" rIns="0" bIns="0" rtlCol="0" anchor="ctr">
            <a:normAutofit/>
          </a:bodyPr>
          <a:lstStyle/>
          <a:p>
            <a:pPr algn="ctr" indent="0" marL="0">
              <a:lnSpc>
                <a:spcPts val="2240"/>
              </a:lnSpc>
              <a:buNone/>
            </a:pPr>
            <a:r>
              <a:rPr lang="en-US" sz="1600" b="1" dirty="0">
                <a:solidFill>
                  <a:srgbClr val="1C2230"/>
                </a:solidFill>
                <a:latin typeface="JetBrains Mono" pitchFamily="49" charset="0"/>
                <a:ea typeface="JetBrains Mono" pitchFamily="49" charset="-122"/>
                <a:cs typeface="JetBrains Mono" pitchFamily="49" charset="-120"/>
              </a:rPr>
              <a:t>2</a:t>
            </a:r>
            <a:endParaRPr lang="en-US" sz="1600" dirty="0"/>
          </a:p>
        </p:txBody>
      </p:sp>
      <p:sp>
        <p:nvSpPr>
          <p:cNvPr id="39" name="Text 37"/>
          <p:cNvSpPr/>
          <p:nvPr/>
        </p:nvSpPr>
        <p:spPr>
          <a:xfrm>
            <a:off x="7385050" y="4699000"/>
            <a:ext cx="398970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scanf stores 2 in the box at address 1000.</a:t>
            </a:r>
            <a:endParaRPr lang="en-US" sz="1200" dirty="0"/>
          </a:p>
        </p:txBody>
      </p:sp>
      <p:sp>
        <p:nvSpPr>
          <p:cNvPr id="40" name="Shape 38"/>
          <p:cNvSpPr/>
          <p:nvPr/>
        </p:nvSpPr>
        <p:spPr>
          <a:xfrm>
            <a:off x="815975" y="5095875"/>
            <a:ext cx="10560050" cy="488950"/>
          </a:xfrm>
          <a:prstGeom prst="roundRect">
            <a:avLst>
              <a:gd name="adj" fmla="val 14935"/>
            </a:avLst>
          </a:prstGeom>
          <a:solidFill>
            <a:srgbClr val="FFFDF8"/>
          </a:solidFill>
          <a:ln w="6350">
            <a:solidFill>
              <a:srgbClr val="E2DDD2"/>
            </a:solidFill>
            <a:prstDash val="solid"/>
          </a:ln>
        </p:spPr>
      </p:sp>
      <p:sp>
        <p:nvSpPr>
          <p:cNvPr id="41" name="Text 39"/>
          <p:cNvSpPr/>
          <p:nvPr/>
        </p:nvSpPr>
        <p:spPr>
          <a:xfrm>
            <a:off x="933450" y="5215880"/>
            <a:ext cx="431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BD7"/>
                </a:solidFill>
                <a:latin typeface="JetBrains Mono" pitchFamily="49" charset="0"/>
                <a:ea typeface="JetBrains Mono" pitchFamily="49" charset="-122"/>
                <a:cs typeface="JetBrains Mono" pitchFamily="49" charset="-120"/>
              </a:rPr>
              <a:t>6</a:t>
            </a:r>
            <a:endParaRPr lang="en-US" sz="1400" dirty="0"/>
          </a:p>
        </p:txBody>
      </p:sp>
      <p:sp>
        <p:nvSpPr>
          <p:cNvPr id="42" name="Text 40"/>
          <p:cNvSpPr/>
          <p:nvPr/>
        </p:nvSpPr>
        <p:spPr>
          <a:xfrm>
            <a:off x="1403350" y="5182890"/>
            <a:ext cx="1905000" cy="314920"/>
          </a:xfrm>
          <a:prstGeom prst="roundRect">
            <a:avLst>
              <a:gd name="adj" fmla="val 16131"/>
            </a:avLst>
          </a:prstGeom>
          <a:solidFill>
            <a:srgbClr val="0C1528"/>
          </a:solidFill>
          <a:ln/>
        </p:spPr>
        <p:txBody>
          <a:bodyPr wrap="square" lIns="61321" tIns="35921" rIns="8743" bIns="10521" rtlCol="0" anchor="t">
            <a:normAutofit/>
          </a:bodyPr>
          <a:lstStyle/>
          <a:p>
            <a:pPr algn="l" indent="0" marL="0">
              <a:lnSpc>
                <a:spcPts val="1680"/>
              </a:lnSpc>
              <a:buNone/>
            </a:pPr>
            <a:r>
              <a:rPr lang="en-US" sz="1200" dirty="0">
                <a:solidFill>
                  <a:srgbClr val="7FD1A4"/>
                </a:solidFill>
                <a:latin typeface="JetBrains Mono" pitchFamily="49" charset="0"/>
                <a:ea typeface="JetBrains Mono" pitchFamily="49" charset="-122"/>
                <a:cs typeface="JetBrains Mono" pitchFamily="49" charset="-120"/>
              </a:rPr>
              <a:t>You ordered 2</a:t>
            </a:r>
            <a:endParaRPr lang="en-US" sz="1200" dirty="0"/>
          </a:p>
        </p:txBody>
      </p:sp>
      <p:sp>
        <p:nvSpPr>
          <p:cNvPr id="43" name="Text 41"/>
          <p:cNvSpPr/>
          <p:nvPr/>
        </p:nvSpPr>
        <p:spPr>
          <a:xfrm>
            <a:off x="3397250" y="5076230"/>
            <a:ext cx="2984500" cy="528241"/>
          </a:xfrm>
          <a:prstGeom prst="roundRect">
            <a:avLst>
              <a:gd name="adj" fmla="val 9617"/>
            </a:avLst>
          </a:prstGeom>
          <a:solidFill>
            <a:srgbClr val="15233F"/>
          </a:solidFill>
          <a:ln/>
        </p:spPr>
        <p:txBody>
          <a:bodyPr wrap="square" lIns="61321" tIns="35921" rIns="0" bIns="10521" rtlCol="0" anchor="t">
            <a:normAutofit/>
          </a:bodyPr>
          <a:lstStyle/>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printf("You ordered %d", chai);</a:t>
            </a:r>
            <a:endParaRPr lang="en-US" sz="1200" dirty="0"/>
          </a:p>
        </p:txBody>
      </p:sp>
      <p:sp>
        <p:nvSpPr>
          <p:cNvPr id="44" name="Text 42"/>
          <p:cNvSpPr/>
          <p:nvPr/>
        </p:nvSpPr>
        <p:spPr>
          <a:xfrm>
            <a:off x="6480175" y="5165725"/>
            <a:ext cx="806450" cy="349250"/>
          </a:xfrm>
          <a:prstGeom prst="roundRect">
            <a:avLst>
              <a:gd name="adj" fmla="val 15455"/>
            </a:avLst>
          </a:prstGeom>
          <a:solidFill>
            <a:srgbClr val="FFFDF8"/>
          </a:solidFill>
          <a:ln w="19050">
            <a:solidFill>
              <a:srgbClr val="2A5BD7"/>
            </a:solidFill>
            <a:prstDash val="solid"/>
          </a:ln>
        </p:spPr>
        <p:txBody>
          <a:bodyPr wrap="square" lIns="0" tIns="0" rIns="0" bIns="0" rtlCol="0" anchor="ctr">
            <a:normAutofit/>
          </a:bodyPr>
          <a:lstStyle/>
          <a:p>
            <a:pPr algn="ctr" indent="0" marL="0">
              <a:lnSpc>
                <a:spcPts val="2240"/>
              </a:lnSpc>
              <a:buNone/>
            </a:pPr>
            <a:r>
              <a:rPr lang="en-US" sz="1600" b="1" dirty="0">
                <a:solidFill>
                  <a:srgbClr val="1C2230"/>
                </a:solidFill>
                <a:latin typeface="JetBrains Mono" pitchFamily="49" charset="0"/>
                <a:ea typeface="JetBrains Mono" pitchFamily="49" charset="-122"/>
                <a:cs typeface="JetBrains Mono" pitchFamily="49" charset="-120"/>
              </a:rPr>
              <a:t>2</a:t>
            </a:r>
            <a:endParaRPr lang="en-US" sz="1600" dirty="0"/>
          </a:p>
        </p:txBody>
      </p:sp>
      <p:sp>
        <p:nvSpPr>
          <p:cNvPr id="45" name="Text 43"/>
          <p:cNvSpPr/>
          <p:nvPr/>
        </p:nvSpPr>
        <p:spPr>
          <a:xfrm>
            <a:off x="7385050" y="5245100"/>
            <a:ext cx="398970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150"/>
                </a:solidFill>
                <a:latin typeface="Rubik" pitchFamily="34" charset="0"/>
                <a:ea typeface="Rubik" pitchFamily="34" charset="-122"/>
                <a:cs typeface="Rubik" pitchFamily="34" charset="-120"/>
              </a:rPr>
              <a:t>printf reads the box and shows it. No &amp; needed.</a:t>
            </a:r>
            <a:endParaRPr lang="en-US" sz="1200" dirty="0"/>
          </a:p>
        </p:txBody>
      </p:sp>
      <p:sp>
        <p:nvSpPr>
          <p:cNvPr id="46" name="Shape 44"/>
          <p:cNvSpPr/>
          <p:nvPr/>
        </p:nvSpPr>
        <p:spPr>
          <a:xfrm>
            <a:off x="819150" y="5670550"/>
            <a:ext cx="10553700" cy="368300"/>
          </a:xfrm>
          <a:prstGeom prst="roundRect">
            <a:avLst>
              <a:gd name="adj" fmla="val 18966"/>
            </a:avLst>
          </a:prstGeom>
          <a:solidFill>
            <a:srgbClr val="FAE3E0"/>
          </a:solidFill>
          <a:ln w="12700">
            <a:solidFill>
              <a:srgbClr val="B23A2E"/>
            </a:solidFill>
            <a:prstDash val="solid"/>
          </a:ln>
        </p:spPr>
      </p:sp>
      <p:sp>
        <p:nvSpPr>
          <p:cNvPr id="47" name="Text 45"/>
          <p:cNvSpPr/>
          <p:nvPr/>
        </p:nvSpPr>
        <p:spPr>
          <a:xfrm>
            <a:off x="939800" y="5623570"/>
            <a:ext cx="1320800"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23A2E"/>
                </a:solidFill>
                <a:latin typeface="Rubik" pitchFamily="34" charset="0"/>
                <a:ea typeface="Rubik" pitchFamily="34" charset="-122"/>
                <a:cs typeface="Rubik" pitchFamily="34" charset="-120"/>
              </a:rPr>
              <a:t>Common mistake</a:t>
            </a:r>
            <a:endParaRPr lang="en-US" sz="1300" dirty="0"/>
          </a:p>
        </p:txBody>
      </p:sp>
      <p:sp>
        <p:nvSpPr>
          <p:cNvPr id="48" name="Text 46"/>
          <p:cNvSpPr/>
          <p:nvPr/>
        </p:nvSpPr>
        <p:spPr>
          <a:xfrm>
            <a:off x="2362200" y="5739110"/>
            <a:ext cx="19354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23A2E"/>
                </a:solidFill>
                <a:latin typeface="JetBrains Mono" pitchFamily="49" charset="0"/>
                <a:ea typeface="JetBrains Mono" pitchFamily="49" charset="-122"/>
                <a:cs typeface="JetBrains Mono" pitchFamily="49" charset="-120"/>
              </a:rPr>
              <a:t>scanf("%d", chai);</a:t>
            </a:r>
            <a:endParaRPr lang="en-US" sz="1300" dirty="0"/>
          </a:p>
        </p:txBody>
      </p:sp>
      <p:sp>
        <p:nvSpPr>
          <p:cNvPr id="49" name="Text 47"/>
          <p:cNvSpPr/>
          <p:nvPr/>
        </p:nvSpPr>
        <p:spPr>
          <a:xfrm>
            <a:off x="4297660" y="5748040"/>
            <a:ext cx="51354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Rubik" pitchFamily="34" charset="0"/>
                <a:ea typeface="Rubik" pitchFamily="34" charset="-122"/>
                <a:cs typeface="Rubik" pitchFamily="34" charset="-120"/>
              </a:rPr>
              <a:t>No &amp;: scanf gets a garbage address. The program may crash.</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TOPIC 8 OF 8 · INPUT/OUTPUT STATEMENTS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Three scanf mistakes everyone makes once</a:t>
            </a:r>
            <a:endParaRPr lang="en-US" sz="3000" dirty="0"/>
          </a:p>
        </p:txBody>
      </p:sp>
      <p:sp>
        <p:nvSpPr>
          <p:cNvPr id="4" name="Shape 2"/>
          <p:cNvSpPr/>
          <p:nvPr/>
        </p:nvSpPr>
        <p:spPr>
          <a:xfrm>
            <a:off x="815975" y="1796405"/>
            <a:ext cx="3431084" cy="3071961"/>
          </a:xfrm>
          <a:prstGeom prst="roundRect">
            <a:avLst>
              <a:gd name="adj" fmla="val 3617"/>
            </a:avLst>
          </a:prstGeom>
          <a:solidFill>
            <a:srgbClr val="FFFDF8"/>
          </a:solidFill>
          <a:ln w="6350">
            <a:solidFill>
              <a:srgbClr val="E2DDD2"/>
            </a:solidFill>
            <a:prstDash val="solid"/>
          </a:ln>
        </p:spPr>
      </p:sp>
      <p:sp>
        <p:nvSpPr>
          <p:cNvPr id="5" name="Text 3"/>
          <p:cNvSpPr/>
          <p:nvPr/>
        </p:nvSpPr>
        <p:spPr>
          <a:xfrm>
            <a:off x="1022350" y="2002780"/>
            <a:ext cx="31088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23A2E"/>
                </a:solidFill>
                <a:latin typeface="Rubik" pitchFamily="34" charset="0"/>
                <a:ea typeface="Rubik" pitchFamily="34" charset="-122"/>
                <a:cs typeface="Rubik" pitchFamily="34" charset="-120"/>
              </a:rPr>
              <a:t>Forgetting &amp;</a:t>
            </a:r>
            <a:endParaRPr lang="en-US" sz="1600" dirty="0"/>
          </a:p>
        </p:txBody>
      </p:sp>
      <p:sp>
        <p:nvSpPr>
          <p:cNvPr id="6" name="Text 4"/>
          <p:cNvSpPr/>
          <p:nvPr/>
        </p:nvSpPr>
        <p:spPr>
          <a:xfrm>
            <a:off x="1022350" y="2335510"/>
            <a:ext cx="31088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Wrong</a:t>
            </a:r>
            <a:endParaRPr lang="en-US" sz="1200" dirty="0"/>
          </a:p>
        </p:txBody>
      </p:sp>
      <p:sp>
        <p:nvSpPr>
          <p:cNvPr id="7" name="Text 5"/>
          <p:cNvSpPr/>
          <p:nvPr/>
        </p:nvSpPr>
        <p:spPr>
          <a:xfrm>
            <a:off x="1022350" y="2637730"/>
            <a:ext cx="3018334" cy="540990"/>
          </a:xfrm>
          <a:prstGeom prst="roundRect">
            <a:avLst>
              <a:gd name="adj" fmla="val 16433"/>
            </a:avLst>
          </a:prstGeom>
          <a:solidFill>
            <a:srgbClr val="15233F"/>
          </a:solidFill>
          <a:ln/>
        </p:spPr>
        <p:txBody>
          <a:bodyPr wrap="square" lIns="164462" tIns="126362" rIns="85342" bIns="100962" rtlCol="0" anchor="t">
            <a:normAutofit/>
          </a:bodyPr>
          <a:lstStyle/>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scanf("%d", chai);</a:t>
            </a:r>
            <a:endParaRPr lang="en-US" sz="1200" dirty="0"/>
          </a:p>
        </p:txBody>
      </p:sp>
      <p:sp>
        <p:nvSpPr>
          <p:cNvPr id="8" name="Text 6"/>
          <p:cNvSpPr/>
          <p:nvPr/>
        </p:nvSpPr>
        <p:spPr>
          <a:xfrm>
            <a:off x="1022350" y="3267621"/>
            <a:ext cx="31088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Right</a:t>
            </a:r>
            <a:endParaRPr lang="en-US" sz="1200" dirty="0"/>
          </a:p>
        </p:txBody>
      </p:sp>
      <p:sp>
        <p:nvSpPr>
          <p:cNvPr id="9" name="Text 7"/>
          <p:cNvSpPr/>
          <p:nvPr/>
        </p:nvSpPr>
        <p:spPr>
          <a:xfrm>
            <a:off x="1022350" y="3569841"/>
            <a:ext cx="3018334" cy="540990"/>
          </a:xfrm>
          <a:prstGeom prst="roundRect">
            <a:avLst>
              <a:gd name="adj" fmla="val 16433"/>
            </a:avLst>
          </a:prstGeom>
          <a:solidFill>
            <a:srgbClr val="15233F"/>
          </a:solidFill>
          <a:ln/>
        </p:spPr>
        <p:txBody>
          <a:bodyPr wrap="square" lIns="164462" tIns="126362" rIns="85342" bIns="100962" rtlCol="0" anchor="t">
            <a:normAutofit/>
          </a:bodyPr>
          <a:lstStyle/>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scanf("%d", &amp;chai);</a:t>
            </a:r>
            <a:endParaRPr lang="en-US" sz="1200" dirty="0"/>
          </a:p>
        </p:txBody>
      </p:sp>
      <p:sp>
        <p:nvSpPr>
          <p:cNvPr id="10" name="Text 8"/>
          <p:cNvSpPr/>
          <p:nvPr/>
        </p:nvSpPr>
        <p:spPr>
          <a:xfrm>
            <a:off x="1022350" y="4199731"/>
            <a:ext cx="310888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Program may crash or store nothing.</a:t>
            </a:r>
            <a:endParaRPr lang="en-US" sz="1300" dirty="0"/>
          </a:p>
        </p:txBody>
      </p:sp>
      <p:sp>
        <p:nvSpPr>
          <p:cNvPr id="11" name="Shape 9"/>
          <p:cNvSpPr/>
          <p:nvPr/>
        </p:nvSpPr>
        <p:spPr>
          <a:xfrm>
            <a:off x="4380409" y="1796405"/>
            <a:ext cx="3431133" cy="3071961"/>
          </a:xfrm>
          <a:prstGeom prst="roundRect">
            <a:avLst>
              <a:gd name="adj" fmla="val 3617"/>
            </a:avLst>
          </a:prstGeom>
          <a:solidFill>
            <a:srgbClr val="FFFDF8"/>
          </a:solidFill>
          <a:ln w="6350">
            <a:solidFill>
              <a:srgbClr val="E2DDD2"/>
            </a:solidFill>
            <a:prstDash val="solid"/>
          </a:ln>
        </p:spPr>
      </p:sp>
      <p:sp>
        <p:nvSpPr>
          <p:cNvPr id="12" name="Text 10"/>
          <p:cNvSpPr/>
          <p:nvPr/>
        </p:nvSpPr>
        <p:spPr>
          <a:xfrm>
            <a:off x="4586784" y="2002780"/>
            <a:ext cx="31089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23A2E"/>
                </a:solidFill>
                <a:latin typeface="Rubik" pitchFamily="34" charset="0"/>
                <a:ea typeface="Rubik" pitchFamily="34" charset="-122"/>
                <a:cs typeface="Rubik" pitchFamily="34" charset="-120"/>
              </a:rPr>
              <a:t>Wrong specifier</a:t>
            </a:r>
            <a:endParaRPr lang="en-US" sz="1600" dirty="0"/>
          </a:p>
        </p:txBody>
      </p:sp>
      <p:sp>
        <p:nvSpPr>
          <p:cNvPr id="13" name="Text 11"/>
          <p:cNvSpPr/>
          <p:nvPr/>
        </p:nvSpPr>
        <p:spPr>
          <a:xfrm>
            <a:off x="4586784" y="2335510"/>
            <a:ext cx="3108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Wrong</a:t>
            </a:r>
            <a:endParaRPr lang="en-US" sz="1200" dirty="0"/>
          </a:p>
        </p:txBody>
      </p:sp>
      <p:sp>
        <p:nvSpPr>
          <p:cNvPr id="14" name="Text 12"/>
          <p:cNvSpPr/>
          <p:nvPr/>
        </p:nvSpPr>
        <p:spPr>
          <a:xfrm>
            <a:off x="4586784" y="2637730"/>
            <a:ext cx="3018383" cy="540990"/>
          </a:xfrm>
          <a:prstGeom prst="roundRect">
            <a:avLst>
              <a:gd name="adj" fmla="val 16433"/>
            </a:avLst>
          </a:prstGeom>
          <a:solidFill>
            <a:srgbClr val="15233F"/>
          </a:solidFill>
          <a:ln/>
        </p:spPr>
        <p:txBody>
          <a:bodyPr wrap="square" lIns="164462" tIns="126362" rIns="85341" bIns="100962" rtlCol="0" anchor="t">
            <a:normAutofit/>
          </a:bodyPr>
          <a:lstStyle/>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float p; scanf("%d", &amp;p);</a:t>
            </a:r>
            <a:endParaRPr lang="en-US" sz="1200" dirty="0"/>
          </a:p>
        </p:txBody>
      </p:sp>
      <p:sp>
        <p:nvSpPr>
          <p:cNvPr id="15" name="Text 13"/>
          <p:cNvSpPr/>
          <p:nvPr/>
        </p:nvSpPr>
        <p:spPr>
          <a:xfrm>
            <a:off x="4586784" y="3267621"/>
            <a:ext cx="3108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Right</a:t>
            </a:r>
            <a:endParaRPr lang="en-US" sz="1200" dirty="0"/>
          </a:p>
        </p:txBody>
      </p:sp>
      <p:sp>
        <p:nvSpPr>
          <p:cNvPr id="16" name="Text 14"/>
          <p:cNvSpPr/>
          <p:nvPr/>
        </p:nvSpPr>
        <p:spPr>
          <a:xfrm>
            <a:off x="4586784" y="3569841"/>
            <a:ext cx="3018383" cy="540990"/>
          </a:xfrm>
          <a:prstGeom prst="roundRect">
            <a:avLst>
              <a:gd name="adj" fmla="val 16433"/>
            </a:avLst>
          </a:prstGeom>
          <a:solidFill>
            <a:srgbClr val="15233F"/>
          </a:solidFill>
          <a:ln/>
        </p:spPr>
        <p:txBody>
          <a:bodyPr wrap="square" lIns="164462" tIns="126362" rIns="85341" bIns="100962" rtlCol="0" anchor="t">
            <a:normAutofit/>
          </a:bodyPr>
          <a:lstStyle/>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scanf("%f", &amp;p);</a:t>
            </a:r>
            <a:endParaRPr lang="en-US" sz="1200" dirty="0"/>
          </a:p>
        </p:txBody>
      </p:sp>
      <p:sp>
        <p:nvSpPr>
          <p:cNvPr id="17" name="Text 15"/>
          <p:cNvSpPr/>
          <p:nvPr/>
        </p:nvSpPr>
        <p:spPr>
          <a:xfrm>
            <a:off x="4586784" y="4199731"/>
            <a:ext cx="310893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%d for an int, %f for a float.</a:t>
            </a:r>
            <a:endParaRPr lang="en-US" sz="1300" dirty="0"/>
          </a:p>
        </p:txBody>
      </p:sp>
      <p:sp>
        <p:nvSpPr>
          <p:cNvPr id="18" name="Shape 16"/>
          <p:cNvSpPr/>
          <p:nvPr/>
        </p:nvSpPr>
        <p:spPr>
          <a:xfrm>
            <a:off x="7944892" y="1796405"/>
            <a:ext cx="3431133" cy="3071961"/>
          </a:xfrm>
          <a:prstGeom prst="roundRect">
            <a:avLst>
              <a:gd name="adj" fmla="val 3617"/>
            </a:avLst>
          </a:prstGeom>
          <a:solidFill>
            <a:srgbClr val="FFFDF8"/>
          </a:solidFill>
          <a:ln w="6350">
            <a:solidFill>
              <a:srgbClr val="E2DDD2"/>
            </a:solidFill>
            <a:prstDash val="solid"/>
          </a:ln>
        </p:spPr>
      </p:sp>
      <p:sp>
        <p:nvSpPr>
          <p:cNvPr id="19" name="Text 17"/>
          <p:cNvSpPr/>
          <p:nvPr/>
        </p:nvSpPr>
        <p:spPr>
          <a:xfrm>
            <a:off x="8151267" y="2002780"/>
            <a:ext cx="31089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23A2E"/>
                </a:solidFill>
                <a:latin typeface="Rubik" pitchFamily="34" charset="0"/>
                <a:ea typeface="Rubik" pitchFamily="34" charset="-122"/>
                <a:cs typeface="Rubik" pitchFamily="34" charset="-120"/>
              </a:rPr>
              <a:t>The leftover Enter</a:t>
            </a:r>
            <a:endParaRPr lang="en-US" sz="1600" dirty="0"/>
          </a:p>
        </p:txBody>
      </p:sp>
      <p:sp>
        <p:nvSpPr>
          <p:cNvPr id="20" name="Text 18"/>
          <p:cNvSpPr/>
          <p:nvPr/>
        </p:nvSpPr>
        <p:spPr>
          <a:xfrm>
            <a:off x="8151267" y="2335510"/>
            <a:ext cx="3108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Wrong</a:t>
            </a:r>
            <a:endParaRPr lang="en-US" sz="1200" dirty="0"/>
          </a:p>
        </p:txBody>
      </p:sp>
      <p:sp>
        <p:nvSpPr>
          <p:cNvPr id="21" name="Text 19"/>
          <p:cNvSpPr/>
          <p:nvPr/>
        </p:nvSpPr>
        <p:spPr>
          <a:xfrm>
            <a:off x="8151267" y="2637730"/>
            <a:ext cx="3018383" cy="540990"/>
          </a:xfrm>
          <a:prstGeom prst="roundRect">
            <a:avLst>
              <a:gd name="adj" fmla="val 16433"/>
            </a:avLst>
          </a:prstGeom>
          <a:solidFill>
            <a:srgbClr val="15233F"/>
          </a:solidFill>
          <a:ln/>
        </p:spPr>
        <p:txBody>
          <a:bodyPr wrap="square" lIns="164462" tIns="126362" rIns="85341" bIns="100962" rtlCol="0" anchor="t">
            <a:normAutofit/>
          </a:bodyPr>
          <a:lstStyle/>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scanf("%c", &amp;code);</a:t>
            </a:r>
            <a:endParaRPr lang="en-US" sz="1200" dirty="0"/>
          </a:p>
        </p:txBody>
      </p:sp>
      <p:sp>
        <p:nvSpPr>
          <p:cNvPr id="22" name="Text 20"/>
          <p:cNvSpPr/>
          <p:nvPr/>
        </p:nvSpPr>
        <p:spPr>
          <a:xfrm>
            <a:off x="8151267" y="3267621"/>
            <a:ext cx="3108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Rubik" pitchFamily="34" charset="0"/>
                <a:ea typeface="Rubik" pitchFamily="34" charset="-122"/>
                <a:cs typeface="Rubik" pitchFamily="34" charset="-120"/>
              </a:rPr>
              <a:t>Right</a:t>
            </a:r>
            <a:endParaRPr lang="en-US" sz="1200" dirty="0"/>
          </a:p>
        </p:txBody>
      </p:sp>
      <p:sp>
        <p:nvSpPr>
          <p:cNvPr id="23" name="Text 21"/>
          <p:cNvSpPr/>
          <p:nvPr/>
        </p:nvSpPr>
        <p:spPr>
          <a:xfrm>
            <a:off x="8151267" y="3569841"/>
            <a:ext cx="3018383" cy="540990"/>
          </a:xfrm>
          <a:prstGeom prst="roundRect">
            <a:avLst>
              <a:gd name="adj" fmla="val 16433"/>
            </a:avLst>
          </a:prstGeom>
          <a:solidFill>
            <a:srgbClr val="15233F"/>
          </a:solidFill>
          <a:ln/>
        </p:spPr>
        <p:txBody>
          <a:bodyPr wrap="square" lIns="164462" tIns="126362" rIns="85341" bIns="100962" rtlCol="0" anchor="t">
            <a:normAutofit/>
          </a:bodyPr>
          <a:lstStyle/>
          <a:p>
            <a:pPr algn="l" indent="0" marL="0">
              <a:lnSpc>
                <a:spcPts val="1860"/>
              </a:lnSpc>
              <a:buNone/>
            </a:pPr>
            <a:r>
              <a:rPr lang="en-US" sz="1200" dirty="0">
                <a:solidFill>
                  <a:srgbClr val="E6E9F0"/>
                </a:solidFill>
                <a:latin typeface="JetBrains Mono" pitchFamily="49" charset="0"/>
                <a:ea typeface="JetBrains Mono" pitchFamily="49" charset="-122"/>
                <a:cs typeface="JetBrains Mono" pitchFamily="49" charset="-120"/>
              </a:rPr>
              <a:t>scanf(" %c", &amp;code);</a:t>
            </a:r>
            <a:endParaRPr lang="en-US" sz="1200" dirty="0"/>
          </a:p>
        </p:txBody>
      </p:sp>
      <p:sp>
        <p:nvSpPr>
          <p:cNvPr id="24" name="Text 22"/>
          <p:cNvSpPr/>
          <p:nvPr/>
        </p:nvSpPr>
        <p:spPr>
          <a:xfrm>
            <a:off x="8151267" y="4199731"/>
            <a:ext cx="31089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Rubik" pitchFamily="34" charset="0"/>
                <a:ea typeface="Rubik" pitchFamily="34" charset="-122"/>
                <a:cs typeface="Rubik" pitchFamily="34" charset="-120"/>
              </a:rPr>
              <a:t>A space before %c skips the Enter left by the previous scanf.</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1375470"/>
            <a:ext cx="3139440"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ALL 8 TOPICS TOGETHER</a:t>
            </a:r>
            <a:endParaRPr lang="en-US" sz="1300" dirty="0"/>
          </a:p>
        </p:txBody>
      </p:sp>
      <p:sp>
        <p:nvSpPr>
          <p:cNvPr id="3" name="Text 1"/>
          <p:cNvSpPr/>
          <p:nvPr>
            <p:ph type="title"/>
          </p:nvPr>
        </p:nvSpPr>
        <p:spPr>
          <a:xfrm>
            <a:off x="812800" y="1759000"/>
            <a:ext cx="3139440" cy="751780"/>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C2230"/>
                </a:solidFill>
                <a:latin typeface="Rubik" pitchFamily="34" charset="0"/>
                <a:ea typeface="Rubik" pitchFamily="34" charset="-122"/>
                <a:cs typeface="Rubik" pitchFamily="34" charset="-120"/>
              </a:rPr>
              <a:t>Riya's bill, the whole program</a:t>
            </a:r>
            <a:endParaRPr lang="en-US" sz="2600" dirty="0"/>
          </a:p>
        </p:txBody>
      </p:sp>
      <p:sp>
        <p:nvSpPr>
          <p:cNvPr id="4" name="Text 2"/>
          <p:cNvSpPr/>
          <p:nvPr/>
        </p:nvSpPr>
        <p:spPr>
          <a:xfrm>
            <a:off x="812800" y="2647305"/>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JetBrains Mono" pitchFamily="49" charset="0"/>
                <a:ea typeface="JetBrains Mono" pitchFamily="49" charset="-122"/>
                <a:cs typeface="JetBrains Mono" pitchFamily="49" charset="-120"/>
              </a:rPr>
              <a:t>1, 3</a:t>
            </a:r>
            <a:endParaRPr lang="en-US" sz="1200" dirty="0"/>
          </a:p>
        </p:txBody>
      </p:sp>
      <p:sp>
        <p:nvSpPr>
          <p:cNvPr id="5" name="Text 3"/>
          <p:cNvSpPr/>
          <p:nvPr/>
        </p:nvSpPr>
        <p:spPr>
          <a:xfrm>
            <a:off x="1600200" y="2637780"/>
            <a:ext cx="2223770"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1 · Structure: #include, main</a:t>
            </a:r>
            <a:endParaRPr lang="en-US" sz="1300" dirty="0"/>
          </a:p>
        </p:txBody>
      </p:sp>
      <p:sp>
        <p:nvSpPr>
          <p:cNvPr id="6" name="Text 4"/>
          <p:cNvSpPr/>
          <p:nvPr/>
        </p:nvSpPr>
        <p:spPr>
          <a:xfrm>
            <a:off x="812800" y="3185765"/>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JetBrains Mono" pitchFamily="49" charset="0"/>
                <a:ea typeface="JetBrains Mono" pitchFamily="49" charset="-122"/>
                <a:cs typeface="JetBrains Mono" pitchFamily="49" charset="-120"/>
              </a:rPr>
              <a:t>4–6</a:t>
            </a:r>
            <a:endParaRPr lang="en-US" sz="1200" dirty="0"/>
          </a:p>
        </p:txBody>
      </p:sp>
      <p:sp>
        <p:nvSpPr>
          <p:cNvPr id="7" name="Text 5"/>
          <p:cNvSpPr/>
          <p:nvPr/>
        </p:nvSpPr>
        <p:spPr>
          <a:xfrm>
            <a:off x="1600200" y="3176240"/>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7 · Constants</a:t>
            </a:r>
            <a:endParaRPr lang="en-US" sz="1300" dirty="0"/>
          </a:p>
        </p:txBody>
      </p:sp>
      <p:sp>
        <p:nvSpPr>
          <p:cNvPr id="8" name="Text 6"/>
          <p:cNvSpPr/>
          <p:nvPr/>
        </p:nvSpPr>
        <p:spPr>
          <a:xfrm>
            <a:off x="812800" y="3493095"/>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JetBrains Mono" pitchFamily="49" charset="0"/>
                <a:ea typeface="JetBrains Mono" pitchFamily="49" charset="-122"/>
                <a:cs typeface="JetBrains Mono" pitchFamily="49" charset="-120"/>
              </a:rPr>
              <a:t>7</a:t>
            </a:r>
            <a:endParaRPr lang="en-US" sz="1200" dirty="0"/>
          </a:p>
        </p:txBody>
      </p:sp>
      <p:sp>
        <p:nvSpPr>
          <p:cNvPr id="9" name="Text 7"/>
          <p:cNvSpPr/>
          <p:nvPr/>
        </p:nvSpPr>
        <p:spPr>
          <a:xfrm>
            <a:off x="1600200" y="3483570"/>
            <a:ext cx="25654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6 · Variables of type int (5)</a:t>
            </a:r>
            <a:endParaRPr lang="en-US" sz="1300" dirty="0"/>
          </a:p>
        </p:txBody>
      </p:sp>
      <p:sp>
        <p:nvSpPr>
          <p:cNvPr id="10" name="Text 8"/>
          <p:cNvSpPr/>
          <p:nvPr/>
        </p:nvSpPr>
        <p:spPr>
          <a:xfrm>
            <a:off x="812800" y="3800425"/>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JetBrains Mono" pitchFamily="49" charset="0"/>
                <a:ea typeface="JetBrains Mono" pitchFamily="49" charset="-122"/>
                <a:cs typeface="JetBrains Mono" pitchFamily="49" charset="-120"/>
              </a:rPr>
              <a:t>9–10</a:t>
            </a:r>
            <a:endParaRPr lang="en-US" sz="1200" dirty="0"/>
          </a:p>
        </p:txBody>
      </p:sp>
      <p:sp>
        <p:nvSpPr>
          <p:cNvPr id="11" name="Text 9"/>
          <p:cNvSpPr/>
          <p:nvPr/>
        </p:nvSpPr>
        <p:spPr>
          <a:xfrm>
            <a:off x="1600200" y="3790900"/>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8 · Output with printf</a:t>
            </a:r>
            <a:endParaRPr lang="en-US" sz="1300" dirty="0"/>
          </a:p>
        </p:txBody>
      </p:sp>
      <p:sp>
        <p:nvSpPr>
          <p:cNvPr id="12" name="Text 10"/>
          <p:cNvSpPr/>
          <p:nvPr/>
        </p:nvSpPr>
        <p:spPr>
          <a:xfrm>
            <a:off x="812800" y="4107755"/>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JetBrains Mono" pitchFamily="49" charset="0"/>
                <a:ea typeface="JetBrains Mono" pitchFamily="49" charset="-122"/>
                <a:cs typeface="JetBrains Mono" pitchFamily="49" charset="-120"/>
              </a:rPr>
              <a:t>11–15</a:t>
            </a:r>
            <a:endParaRPr lang="en-US" sz="1200" dirty="0"/>
          </a:p>
        </p:txBody>
      </p:sp>
      <p:sp>
        <p:nvSpPr>
          <p:cNvPr id="13" name="Text 11"/>
          <p:cNvSpPr/>
          <p:nvPr/>
        </p:nvSpPr>
        <p:spPr>
          <a:xfrm>
            <a:off x="1600200" y="4098230"/>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8 · Input with scanf and &amp;</a:t>
            </a:r>
            <a:endParaRPr lang="en-US" sz="1300" dirty="0"/>
          </a:p>
        </p:txBody>
      </p:sp>
      <p:sp>
        <p:nvSpPr>
          <p:cNvPr id="14" name="Text 12"/>
          <p:cNvSpPr/>
          <p:nvPr/>
        </p:nvSpPr>
        <p:spPr>
          <a:xfrm>
            <a:off x="812800" y="4415086"/>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JetBrains Mono" pitchFamily="49" charset="0"/>
                <a:ea typeface="JetBrains Mono" pitchFamily="49" charset="-122"/>
                <a:cs typeface="JetBrains Mono" pitchFamily="49" charset="-120"/>
              </a:rPr>
              <a:t>17–18</a:t>
            </a:r>
            <a:endParaRPr lang="en-US" sz="1200" dirty="0"/>
          </a:p>
        </p:txBody>
      </p:sp>
      <p:sp>
        <p:nvSpPr>
          <p:cNvPr id="15" name="Text 13"/>
          <p:cNvSpPr/>
          <p:nvPr/>
        </p:nvSpPr>
        <p:spPr>
          <a:xfrm>
            <a:off x="1600200" y="4405561"/>
            <a:ext cx="2223770"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Calculate (operators: Class 2)</a:t>
            </a:r>
            <a:endParaRPr lang="en-US" sz="1300" dirty="0"/>
          </a:p>
        </p:txBody>
      </p:sp>
      <p:sp>
        <p:nvSpPr>
          <p:cNvPr id="16" name="Text 14"/>
          <p:cNvSpPr/>
          <p:nvPr/>
        </p:nvSpPr>
        <p:spPr>
          <a:xfrm>
            <a:off x="812800" y="4953546"/>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JetBrains Mono" pitchFamily="49" charset="0"/>
                <a:ea typeface="JetBrains Mono" pitchFamily="49" charset="-122"/>
                <a:cs typeface="JetBrains Mono" pitchFamily="49" charset="-120"/>
              </a:rPr>
              <a:t>20–23</a:t>
            </a:r>
            <a:endParaRPr lang="en-US" sz="1200" dirty="0"/>
          </a:p>
        </p:txBody>
      </p:sp>
      <p:sp>
        <p:nvSpPr>
          <p:cNvPr id="17" name="Text 15"/>
          <p:cNvSpPr/>
          <p:nvPr/>
        </p:nvSpPr>
        <p:spPr>
          <a:xfrm>
            <a:off x="1600200" y="4944021"/>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8 · Formatted output</a:t>
            </a:r>
            <a:endParaRPr lang="en-US" sz="1300" dirty="0"/>
          </a:p>
        </p:txBody>
      </p:sp>
      <p:sp>
        <p:nvSpPr>
          <p:cNvPr id="18" name="Text 16"/>
          <p:cNvSpPr/>
          <p:nvPr/>
        </p:nvSpPr>
        <p:spPr>
          <a:xfrm>
            <a:off x="812800" y="5260876"/>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273"/>
                </a:solidFill>
                <a:latin typeface="JetBrains Mono" pitchFamily="49" charset="0"/>
                <a:ea typeface="JetBrains Mono" pitchFamily="49" charset="-122"/>
                <a:cs typeface="JetBrains Mono" pitchFamily="49" charset="-120"/>
              </a:rPr>
              <a:t>24</a:t>
            </a:r>
            <a:endParaRPr lang="en-US" sz="1200" dirty="0"/>
          </a:p>
        </p:txBody>
      </p:sp>
      <p:sp>
        <p:nvSpPr>
          <p:cNvPr id="19" name="Text 17"/>
          <p:cNvSpPr/>
          <p:nvPr/>
        </p:nvSpPr>
        <p:spPr>
          <a:xfrm>
            <a:off x="1600200" y="5251351"/>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230"/>
                </a:solidFill>
                <a:latin typeface="Rubik" pitchFamily="34" charset="0"/>
                <a:ea typeface="Rubik" pitchFamily="34" charset="-122"/>
                <a:cs typeface="Rubik" pitchFamily="34" charset="-120"/>
              </a:rPr>
              <a:t>1 · return 0</a:t>
            </a:r>
            <a:endParaRPr lang="en-US" sz="1300" dirty="0"/>
          </a:p>
        </p:txBody>
      </p:sp>
      <p:sp>
        <p:nvSpPr>
          <p:cNvPr id="20" name="Text 18"/>
          <p:cNvSpPr/>
          <p:nvPr/>
        </p:nvSpPr>
        <p:spPr>
          <a:xfrm>
            <a:off x="4165600" y="813147"/>
            <a:ext cx="7213600" cy="5231656"/>
          </a:xfrm>
          <a:prstGeom prst="roundRect">
            <a:avLst>
              <a:gd name="adj" fmla="val 1699"/>
            </a:avLst>
          </a:prstGeom>
          <a:solidFill>
            <a:srgbClr val="15233F"/>
          </a:solidFill>
          <a:ln/>
        </p:spPr>
        <p:txBody>
          <a:bodyPr wrap="square" lIns="139062" tIns="113662" rIns="0" bIns="88262" rtlCol="0" anchor="t">
            <a:normAutofit/>
          </a:bodyPr>
          <a:lstStyle/>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 1  </a:t>
            </a:r>
            <a:r>
              <a:rPr lang="en-US" sz="1200" dirty="0">
                <a:solidFill>
                  <a:srgbClr val="E6E9F0"/>
                </a:solidFill>
                <a:latin typeface="JetBrains Mono" pitchFamily="49" charset="0"/>
                <a:ea typeface="JetBrains Mono" pitchFamily="49" charset="-122"/>
                <a:cs typeface="JetBrains Mono" pitchFamily="49" charset="-120"/>
              </a:rPr>
              <a:t>#include &lt;stdio.h&gt;</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 2  </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 3  </a:t>
            </a:r>
            <a:r>
              <a:rPr lang="en-US" sz="1200" dirty="0">
                <a:solidFill>
                  <a:srgbClr val="E6E9F0"/>
                </a:solidFill>
                <a:latin typeface="JetBrains Mono" pitchFamily="49" charset="0"/>
                <a:ea typeface="JetBrains Mono" pitchFamily="49" charset="-122"/>
                <a:cs typeface="JetBrains Mono" pitchFamily="49" charset="-120"/>
              </a:rPr>
              <a:t>int main(void) {</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 4  </a:t>
            </a:r>
            <a:r>
              <a:rPr lang="en-US" sz="1200" dirty="0">
                <a:solidFill>
                  <a:srgbClr val="E6E9F0"/>
                </a:solidFill>
                <a:latin typeface="JetBrains Mono" pitchFamily="49" charset="0"/>
                <a:ea typeface="JetBrains Mono" pitchFamily="49" charset="-122"/>
                <a:cs typeface="JetBrains Mono" pitchFamily="49" charset="-120"/>
              </a:rPr>
              <a:t>    const int CHAI_PRICE = 10;</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 5  </a:t>
            </a:r>
            <a:r>
              <a:rPr lang="en-US" sz="1200" dirty="0">
                <a:solidFill>
                  <a:srgbClr val="E6E9F0"/>
                </a:solidFill>
                <a:latin typeface="JetBrains Mono" pitchFamily="49" charset="0"/>
                <a:ea typeface="JetBrains Mono" pitchFamily="49" charset="-122"/>
                <a:cs typeface="JetBrains Mono" pitchFamily="49" charset="-120"/>
              </a:rPr>
              <a:t>    const int SAMOSA_PRICE = 15;</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 6  </a:t>
            </a:r>
            <a:r>
              <a:rPr lang="en-US" sz="1200" dirty="0">
                <a:solidFill>
                  <a:srgbClr val="E6E9F0"/>
                </a:solidFill>
                <a:latin typeface="JetBrains Mono" pitchFamily="49" charset="0"/>
                <a:ea typeface="JetBrains Mono" pitchFamily="49" charset="-122"/>
                <a:cs typeface="JetBrains Mono" pitchFamily="49" charset="-120"/>
              </a:rPr>
              <a:t>    const int MAGGI_PRICE = 40;</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 7  </a:t>
            </a:r>
            <a:r>
              <a:rPr lang="en-US" sz="1200" dirty="0">
                <a:solidFill>
                  <a:srgbClr val="E6E9F0"/>
                </a:solidFill>
                <a:latin typeface="JetBrains Mono" pitchFamily="49" charset="0"/>
                <a:ea typeface="JetBrains Mono" pitchFamily="49" charset="-122"/>
                <a:cs typeface="JetBrains Mono" pitchFamily="49" charset="-120"/>
              </a:rPr>
              <a:t>    int chai, samosa, maggi, total;</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 8  </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 9  </a:t>
            </a:r>
            <a:r>
              <a:rPr lang="en-US" sz="1200" dirty="0">
                <a:solidFill>
                  <a:srgbClr val="E6E9F0"/>
                </a:solidFill>
                <a:latin typeface="JetBrains Mono" pitchFamily="49" charset="0"/>
                <a:ea typeface="JetBrains Mono" pitchFamily="49" charset="-122"/>
                <a:cs typeface="JetBrains Mono" pitchFamily="49" charset="-120"/>
              </a:rPr>
              <a:t>    printf("=== IIIT Canteen ===\n");</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10  </a:t>
            </a:r>
            <a:r>
              <a:rPr lang="en-US" sz="1200" dirty="0">
                <a:solidFill>
                  <a:srgbClr val="E6E9F0"/>
                </a:solidFill>
                <a:latin typeface="JetBrains Mono" pitchFamily="49" charset="0"/>
                <a:ea typeface="JetBrains Mono" pitchFamily="49" charset="-122"/>
                <a:cs typeface="JetBrains Mono" pitchFamily="49" charset="-120"/>
              </a:rPr>
              <a:t>    printf("How many chai? ");</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11  </a:t>
            </a:r>
            <a:r>
              <a:rPr lang="en-US" sz="1200" dirty="0">
                <a:solidFill>
                  <a:srgbClr val="E6E9F0"/>
                </a:solidFill>
                <a:latin typeface="JetBrains Mono" pitchFamily="49" charset="0"/>
                <a:ea typeface="JetBrains Mono" pitchFamily="49" charset="-122"/>
                <a:cs typeface="JetBrains Mono" pitchFamily="49" charset="-120"/>
              </a:rPr>
              <a:t>    scanf("%d", &amp;chai);</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12  </a:t>
            </a:r>
            <a:r>
              <a:rPr lang="en-US" sz="1200" dirty="0">
                <a:solidFill>
                  <a:srgbClr val="E6E9F0"/>
                </a:solidFill>
                <a:latin typeface="JetBrains Mono" pitchFamily="49" charset="0"/>
                <a:ea typeface="JetBrains Mono" pitchFamily="49" charset="-122"/>
                <a:cs typeface="JetBrains Mono" pitchFamily="49" charset="-120"/>
              </a:rPr>
              <a:t>    printf("How many samosa? ");</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13  </a:t>
            </a:r>
            <a:r>
              <a:rPr lang="en-US" sz="1200" dirty="0">
                <a:solidFill>
                  <a:srgbClr val="E6E9F0"/>
                </a:solidFill>
                <a:latin typeface="JetBrains Mono" pitchFamily="49" charset="0"/>
                <a:ea typeface="JetBrains Mono" pitchFamily="49" charset="-122"/>
                <a:cs typeface="JetBrains Mono" pitchFamily="49" charset="-120"/>
              </a:rPr>
              <a:t>    scanf("%d", &amp;samosa);</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14  </a:t>
            </a:r>
            <a:r>
              <a:rPr lang="en-US" sz="1200" dirty="0">
                <a:solidFill>
                  <a:srgbClr val="E6E9F0"/>
                </a:solidFill>
                <a:latin typeface="JetBrains Mono" pitchFamily="49" charset="0"/>
                <a:ea typeface="JetBrains Mono" pitchFamily="49" charset="-122"/>
                <a:cs typeface="JetBrains Mono" pitchFamily="49" charset="-120"/>
              </a:rPr>
              <a:t>    printf("How many Maggi? ");</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15  </a:t>
            </a:r>
            <a:r>
              <a:rPr lang="en-US" sz="1200" dirty="0">
                <a:solidFill>
                  <a:srgbClr val="E6E9F0"/>
                </a:solidFill>
                <a:latin typeface="JetBrains Mono" pitchFamily="49" charset="0"/>
                <a:ea typeface="JetBrains Mono" pitchFamily="49" charset="-122"/>
                <a:cs typeface="JetBrains Mono" pitchFamily="49" charset="-120"/>
              </a:rPr>
              <a:t>    scanf("%d", &amp;maggi);</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16  </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17  </a:t>
            </a:r>
            <a:r>
              <a:rPr lang="en-US" sz="1200" dirty="0">
                <a:solidFill>
                  <a:srgbClr val="E6E9F0"/>
                </a:solidFill>
                <a:latin typeface="JetBrains Mono" pitchFamily="49" charset="0"/>
                <a:ea typeface="JetBrains Mono" pitchFamily="49" charset="-122"/>
                <a:cs typeface="JetBrains Mono" pitchFamily="49" charset="-120"/>
              </a:rPr>
              <a:t>    total = chai * CHAI_PRICE + samosa * SAMOSA_PRICE</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18  </a:t>
            </a:r>
            <a:r>
              <a:rPr lang="en-US" sz="1200" dirty="0">
                <a:solidFill>
                  <a:srgbClr val="E6E9F0"/>
                </a:solidFill>
                <a:latin typeface="JetBrains Mono" pitchFamily="49" charset="0"/>
                <a:ea typeface="JetBrains Mono" pitchFamily="49" charset="-122"/>
                <a:cs typeface="JetBrains Mono" pitchFamily="49" charset="-120"/>
              </a:rPr>
              <a:t>          + maggi * MAGGI_PRICE;</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19  </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20  </a:t>
            </a:r>
            <a:r>
              <a:rPr lang="en-US" sz="1200" dirty="0">
                <a:solidFill>
                  <a:srgbClr val="E6E9F0"/>
                </a:solidFill>
                <a:latin typeface="JetBrains Mono" pitchFamily="49" charset="0"/>
                <a:ea typeface="JetBrains Mono" pitchFamily="49" charset="-122"/>
                <a:cs typeface="JetBrains Mono" pitchFamily="49" charset="-120"/>
              </a:rPr>
              <a:t>    printf("\nChai x %d = Rs %d\n", chai, chai * CHAI_PRICE);</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21  </a:t>
            </a:r>
            <a:r>
              <a:rPr lang="en-US" sz="1200" dirty="0">
                <a:solidFill>
                  <a:srgbClr val="E6E9F0"/>
                </a:solidFill>
                <a:latin typeface="JetBrains Mono" pitchFamily="49" charset="0"/>
                <a:ea typeface="JetBrains Mono" pitchFamily="49" charset="-122"/>
                <a:cs typeface="JetBrains Mono" pitchFamily="49" charset="-120"/>
              </a:rPr>
              <a:t>    printf("Samosa x %d = Rs %d\n", samosa, samosa * SAMOSA_PRICE);</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22  </a:t>
            </a:r>
            <a:r>
              <a:rPr lang="en-US" sz="1200" dirty="0">
                <a:solidFill>
                  <a:srgbClr val="E6E9F0"/>
                </a:solidFill>
                <a:latin typeface="JetBrains Mono" pitchFamily="49" charset="0"/>
                <a:ea typeface="JetBrains Mono" pitchFamily="49" charset="-122"/>
                <a:cs typeface="JetBrains Mono" pitchFamily="49" charset="-120"/>
              </a:rPr>
              <a:t>    printf("Maggi x %d = Rs %d\n", maggi, maggi * MAGGI_PRICE);</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23  </a:t>
            </a:r>
            <a:r>
              <a:rPr lang="en-US" sz="1200" dirty="0">
                <a:solidFill>
                  <a:srgbClr val="E6E9F0"/>
                </a:solidFill>
                <a:latin typeface="JetBrains Mono" pitchFamily="49" charset="0"/>
                <a:ea typeface="JetBrains Mono" pitchFamily="49" charset="-122"/>
                <a:cs typeface="JetBrains Mono" pitchFamily="49" charset="-120"/>
              </a:rPr>
              <a:t>    printf("TOTAL = Rs %d\n", total);</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24  </a:t>
            </a:r>
            <a:r>
              <a:rPr lang="en-US" sz="1200" dirty="0">
                <a:solidFill>
                  <a:srgbClr val="E6E9F0"/>
                </a:solidFill>
                <a:latin typeface="JetBrains Mono" pitchFamily="49" charset="0"/>
                <a:ea typeface="JetBrains Mono" pitchFamily="49" charset="-122"/>
                <a:cs typeface="JetBrains Mono" pitchFamily="49" charset="-120"/>
              </a:rPr>
              <a:t>    return 0;</a:t>
            </a:r>
            <a:endParaRPr lang="en-US" sz="1200" dirty="0"/>
          </a:p>
          <a:p>
            <a:pPr algn="l" indent="0" marL="0">
              <a:lnSpc>
                <a:spcPts val="1560"/>
              </a:lnSpc>
              <a:buNone/>
            </a:pPr>
            <a:r>
              <a:rPr lang="en-US" sz="1200" dirty="0">
                <a:solidFill>
                  <a:srgbClr val="5B6B8C"/>
                </a:solidFill>
                <a:latin typeface="JetBrains Mono" pitchFamily="49" charset="0"/>
                <a:ea typeface="JetBrains Mono" pitchFamily="49" charset="-122"/>
                <a:cs typeface="JetBrains Mono" pitchFamily="49" charset="-120"/>
              </a:rPr>
              <a:t>25  </a:t>
            </a: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PREDICT BEFORE YOU RUN</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What will the program print?</a:t>
            </a:r>
            <a:endParaRPr lang="en-US" sz="3000" dirty="0"/>
          </a:p>
        </p:txBody>
      </p:sp>
      <p:sp>
        <p:nvSpPr>
          <p:cNvPr id="4" name="Shape 2"/>
          <p:cNvSpPr/>
          <p:nvPr/>
        </p:nvSpPr>
        <p:spPr>
          <a:xfrm>
            <a:off x="815975" y="2035175"/>
            <a:ext cx="6978650" cy="882650"/>
          </a:xfrm>
          <a:prstGeom prst="roundRect">
            <a:avLst>
              <a:gd name="adj" fmla="val 12590"/>
            </a:avLst>
          </a:prstGeom>
          <a:solidFill>
            <a:srgbClr val="FFFDF8"/>
          </a:solidFill>
          <a:ln w="6350">
            <a:solidFill>
              <a:srgbClr val="E2DDD2"/>
            </a:solidFill>
            <a:prstDash val="solid"/>
          </a:ln>
        </p:spPr>
      </p:sp>
      <p:sp>
        <p:nvSpPr>
          <p:cNvPr id="5" name="Text 3"/>
          <p:cNvSpPr/>
          <p:nvPr/>
        </p:nvSpPr>
        <p:spPr>
          <a:xfrm>
            <a:off x="1047750" y="2298700"/>
            <a:ext cx="17715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351905" y="2347913"/>
            <a:ext cx="60172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Riya enters 2 chai, 1 samosa, 1 Maggi. TOTAL?</a:t>
            </a:r>
            <a:endParaRPr lang="en-US" sz="1500" dirty="0"/>
          </a:p>
        </p:txBody>
      </p:sp>
      <p:sp>
        <p:nvSpPr>
          <p:cNvPr id="7" name="Text 5"/>
          <p:cNvSpPr/>
          <p:nvPr/>
        </p:nvSpPr>
        <p:spPr>
          <a:xfrm>
            <a:off x="8001000" y="2032000"/>
            <a:ext cx="3378200" cy="889000"/>
          </a:xfrm>
          <a:prstGeom prst="roundRect">
            <a:avLst>
              <a:gd name="adj" fmla="val 12857"/>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Rs 75</a:t>
            </a:r>
            <a:endParaRPr lang="en-US" sz="1400" dirty="0"/>
          </a:p>
        </p:txBody>
      </p:sp>
      <p:sp>
        <p:nvSpPr>
          <p:cNvPr id="8" name="Shape 6"/>
          <p:cNvSpPr/>
          <p:nvPr/>
        </p:nvSpPr>
        <p:spPr>
          <a:xfrm>
            <a:off x="815975" y="3114675"/>
            <a:ext cx="6978650" cy="882650"/>
          </a:xfrm>
          <a:prstGeom prst="roundRect">
            <a:avLst>
              <a:gd name="adj" fmla="val 12590"/>
            </a:avLst>
          </a:prstGeom>
          <a:solidFill>
            <a:srgbClr val="FFFDF8"/>
          </a:solidFill>
          <a:ln w="6350">
            <a:solidFill>
              <a:srgbClr val="E2DDD2"/>
            </a:solidFill>
            <a:prstDash val="solid"/>
          </a:ln>
        </p:spPr>
      </p:sp>
      <p:sp>
        <p:nvSpPr>
          <p:cNvPr id="9" name="Text 7"/>
          <p:cNvSpPr/>
          <p:nvPr/>
        </p:nvSpPr>
        <p:spPr>
          <a:xfrm>
            <a:off x="1047750" y="3378200"/>
            <a:ext cx="2159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2</a:t>
            </a:r>
            <a:endParaRPr lang="en-US" sz="2000" dirty="0"/>
          </a:p>
        </p:txBody>
      </p:sp>
      <p:sp>
        <p:nvSpPr>
          <p:cNvPr id="10" name="Text 8"/>
          <p:cNvSpPr/>
          <p:nvPr/>
        </p:nvSpPr>
        <p:spPr>
          <a:xfrm>
            <a:off x="1390650" y="3427413"/>
            <a:ext cx="60172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Arjun enters 3 chai, 0 samosa, 2 Maggi. TOTAL?</a:t>
            </a:r>
            <a:endParaRPr lang="en-US" sz="1500" dirty="0"/>
          </a:p>
        </p:txBody>
      </p:sp>
      <p:sp>
        <p:nvSpPr>
          <p:cNvPr id="11" name="Text 9"/>
          <p:cNvSpPr/>
          <p:nvPr/>
        </p:nvSpPr>
        <p:spPr>
          <a:xfrm>
            <a:off x="8001000" y="3111500"/>
            <a:ext cx="3378200" cy="889000"/>
          </a:xfrm>
          <a:prstGeom prst="roundRect">
            <a:avLst>
              <a:gd name="adj" fmla="val 12857"/>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Rs 110</a:t>
            </a:r>
            <a:endParaRPr lang="en-US" sz="1400" dirty="0"/>
          </a:p>
        </p:txBody>
      </p:sp>
      <p:sp>
        <p:nvSpPr>
          <p:cNvPr id="12" name="Shape 10"/>
          <p:cNvSpPr/>
          <p:nvPr/>
        </p:nvSpPr>
        <p:spPr>
          <a:xfrm>
            <a:off x="815975" y="4194175"/>
            <a:ext cx="6978650" cy="882650"/>
          </a:xfrm>
          <a:prstGeom prst="roundRect">
            <a:avLst>
              <a:gd name="adj" fmla="val 12590"/>
            </a:avLst>
          </a:prstGeom>
          <a:solidFill>
            <a:srgbClr val="FFFDF8"/>
          </a:solidFill>
          <a:ln w="6350">
            <a:solidFill>
              <a:srgbClr val="E2DDD2"/>
            </a:solidFill>
            <a:prstDash val="solid"/>
          </a:ln>
        </p:spPr>
      </p:sp>
      <p:sp>
        <p:nvSpPr>
          <p:cNvPr id="13" name="Text 11"/>
          <p:cNvSpPr/>
          <p:nvPr/>
        </p:nvSpPr>
        <p:spPr>
          <a:xfrm>
            <a:off x="1047750" y="4457700"/>
            <a:ext cx="21823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3</a:t>
            </a:r>
            <a:endParaRPr lang="en-US" sz="2000" dirty="0"/>
          </a:p>
        </p:txBody>
      </p:sp>
      <p:sp>
        <p:nvSpPr>
          <p:cNvPr id="14" name="Text 12"/>
          <p:cNvSpPr/>
          <p:nvPr/>
        </p:nvSpPr>
        <p:spPr>
          <a:xfrm>
            <a:off x="1392982" y="4506913"/>
            <a:ext cx="601726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Which line would you change if chai becomes Rs 12?</a:t>
            </a:r>
            <a:endParaRPr lang="en-US" sz="1500" dirty="0"/>
          </a:p>
        </p:txBody>
      </p:sp>
      <p:sp>
        <p:nvSpPr>
          <p:cNvPr id="15" name="Text 13"/>
          <p:cNvSpPr/>
          <p:nvPr/>
        </p:nvSpPr>
        <p:spPr>
          <a:xfrm>
            <a:off x="8001000" y="4191000"/>
            <a:ext cx="3378200" cy="889000"/>
          </a:xfrm>
          <a:prstGeom prst="roundRect">
            <a:avLst>
              <a:gd name="adj" fmla="val 12857"/>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Only the const CHAI_PRICE line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RUN IT YOURSELF</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Open the program in OnlineGDB</a:t>
            </a:r>
            <a:endParaRPr lang="en-US" sz="3000" dirty="0"/>
          </a:p>
        </p:txBody>
      </p:sp>
      <p:sp>
        <p:nvSpPr>
          <p:cNvPr id="4" name="Shape 2"/>
          <p:cNvSpPr/>
          <p:nvPr/>
        </p:nvSpPr>
        <p:spPr>
          <a:xfrm>
            <a:off x="815975" y="1796405"/>
            <a:ext cx="6953250" cy="615950"/>
          </a:xfrm>
          <a:prstGeom prst="roundRect">
            <a:avLst>
              <a:gd name="adj" fmla="val 15979"/>
            </a:avLst>
          </a:prstGeom>
          <a:solidFill>
            <a:srgbClr val="FFFDF8"/>
          </a:solidFill>
          <a:ln w="6350">
            <a:solidFill>
              <a:srgbClr val="E2DDD2"/>
            </a:solidFill>
            <a:prstDash val="solid"/>
          </a:ln>
        </p:spPr>
      </p:sp>
      <p:sp>
        <p:nvSpPr>
          <p:cNvPr id="5" name="Text 3"/>
          <p:cNvSpPr/>
          <p:nvPr/>
        </p:nvSpPr>
        <p:spPr>
          <a:xfrm>
            <a:off x="996950" y="1926580"/>
            <a:ext cx="330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16050" y="1975793"/>
            <a:ext cx="356425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Open the link or scan the QR code</a:t>
            </a:r>
            <a:endParaRPr lang="en-US" sz="1500" dirty="0"/>
          </a:p>
        </p:txBody>
      </p:sp>
      <p:sp>
        <p:nvSpPr>
          <p:cNvPr id="7" name="Shape 5"/>
          <p:cNvSpPr/>
          <p:nvPr/>
        </p:nvSpPr>
        <p:spPr>
          <a:xfrm>
            <a:off x="815975" y="2533005"/>
            <a:ext cx="6953250" cy="615950"/>
          </a:xfrm>
          <a:prstGeom prst="roundRect">
            <a:avLst>
              <a:gd name="adj" fmla="val 15979"/>
            </a:avLst>
          </a:prstGeom>
          <a:solidFill>
            <a:srgbClr val="FFFDF8"/>
          </a:solidFill>
          <a:ln w="6350">
            <a:solidFill>
              <a:srgbClr val="E2DDD2"/>
            </a:solidFill>
            <a:prstDash val="solid"/>
          </a:ln>
        </p:spPr>
      </p:sp>
      <p:sp>
        <p:nvSpPr>
          <p:cNvPr id="8" name="Text 6"/>
          <p:cNvSpPr/>
          <p:nvPr/>
        </p:nvSpPr>
        <p:spPr>
          <a:xfrm>
            <a:off x="996950" y="2663180"/>
            <a:ext cx="330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16050" y="2712393"/>
            <a:ext cx="110019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Press </a:t>
            </a:r>
            <a:r>
              <a:rPr lang="en-US" sz="1500" b="1" dirty="0">
                <a:solidFill>
                  <a:srgbClr val="1C2230"/>
                </a:solidFill>
                <a:latin typeface="Rubik" pitchFamily="34" charset="0"/>
                <a:ea typeface="Rubik" pitchFamily="34" charset="-122"/>
                <a:cs typeface="Rubik" pitchFamily="34" charset="-120"/>
              </a:rPr>
              <a:t>Run</a:t>
            </a:r>
            <a:endParaRPr lang="en-US" sz="1500" dirty="0"/>
          </a:p>
        </p:txBody>
      </p:sp>
      <p:sp>
        <p:nvSpPr>
          <p:cNvPr id="10" name="Shape 8"/>
          <p:cNvSpPr/>
          <p:nvPr/>
        </p:nvSpPr>
        <p:spPr>
          <a:xfrm>
            <a:off x="815975" y="3269605"/>
            <a:ext cx="6953250" cy="615950"/>
          </a:xfrm>
          <a:prstGeom prst="roundRect">
            <a:avLst>
              <a:gd name="adj" fmla="val 15979"/>
            </a:avLst>
          </a:prstGeom>
          <a:solidFill>
            <a:srgbClr val="FFFDF8"/>
          </a:solidFill>
          <a:ln w="6350">
            <a:solidFill>
              <a:srgbClr val="E2DDD2"/>
            </a:solidFill>
            <a:prstDash val="solid"/>
          </a:ln>
        </p:spPr>
      </p:sp>
      <p:sp>
        <p:nvSpPr>
          <p:cNvPr id="11" name="Text 9"/>
          <p:cNvSpPr/>
          <p:nvPr/>
        </p:nvSpPr>
        <p:spPr>
          <a:xfrm>
            <a:off x="996950" y="3399780"/>
            <a:ext cx="330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16050" y="3448993"/>
            <a:ext cx="534394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Type the quantities in the input area at the bottom</a:t>
            </a:r>
            <a:endParaRPr lang="en-US" sz="1500" dirty="0"/>
          </a:p>
        </p:txBody>
      </p:sp>
      <p:sp>
        <p:nvSpPr>
          <p:cNvPr id="13" name="Shape 11"/>
          <p:cNvSpPr/>
          <p:nvPr/>
        </p:nvSpPr>
        <p:spPr>
          <a:xfrm>
            <a:off x="815975" y="4006205"/>
            <a:ext cx="6953250" cy="615950"/>
          </a:xfrm>
          <a:prstGeom prst="roundRect">
            <a:avLst>
              <a:gd name="adj" fmla="val 15979"/>
            </a:avLst>
          </a:prstGeom>
          <a:solidFill>
            <a:srgbClr val="FFFDF8"/>
          </a:solidFill>
          <a:ln w="6350">
            <a:solidFill>
              <a:srgbClr val="E2DDD2"/>
            </a:solidFill>
            <a:prstDash val="solid"/>
          </a:ln>
        </p:spPr>
      </p:sp>
      <p:sp>
        <p:nvSpPr>
          <p:cNvPr id="14" name="Text 12"/>
          <p:cNvSpPr/>
          <p:nvPr/>
        </p:nvSpPr>
        <p:spPr>
          <a:xfrm>
            <a:off x="996950" y="4136380"/>
            <a:ext cx="330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16050" y="4185593"/>
            <a:ext cx="4542949"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C2230"/>
                </a:solidFill>
                <a:latin typeface="Rubik" pitchFamily="34" charset="0"/>
                <a:ea typeface="Rubik" pitchFamily="34" charset="-122"/>
                <a:cs typeface="Rubik" pitchFamily="34" charset="-120"/>
              </a:rPr>
              <a:t>Check: did you get the total you predicted?</a:t>
            </a:r>
            <a:endParaRPr lang="en-US" sz="1500" dirty="0"/>
          </a:p>
        </p:txBody>
      </p:sp>
      <p:sp>
        <p:nvSpPr>
          <p:cNvPr id="16" name="Text 14"/>
          <p:cNvSpPr/>
          <p:nvPr/>
        </p:nvSpPr>
        <p:spPr>
          <a:xfrm>
            <a:off x="812800" y="4739630"/>
            <a:ext cx="6959600" cy="502890"/>
          </a:xfrm>
          <a:prstGeom prst="roundRect">
            <a:avLst>
              <a:gd name="adj" fmla="val 17678"/>
            </a:avLst>
          </a:prstGeom>
          <a:solidFill>
            <a:srgbClr val="15233F"/>
          </a:solidFill>
          <a:ln/>
        </p:spPr>
        <p:txBody>
          <a:bodyPr wrap="square" lIns="151762" tIns="100962" rIns="151762" bIns="75562" rtlCol="0" anchor="t">
            <a:normAutofit/>
          </a:bodyPr>
          <a:lstStyle/>
          <a:p>
            <a:pPr algn="l" indent="0" marL="0">
              <a:lnSpc>
                <a:spcPts val="1960"/>
              </a:lnSpc>
              <a:buNone/>
            </a:pPr>
            <a:r>
              <a:rPr lang="en-US" sz="1400" u="sng" dirty="0">
                <a:solidFill>
                  <a:srgbClr val="E9893F"/>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onlinegdb.com/r0IkkMjzI</a:t>
            </a:r>
            <a:endParaRPr lang="en-US" sz="1400" dirty="0"/>
          </a:p>
        </p:txBody>
      </p:sp>
      <p:sp>
        <p:nvSpPr>
          <p:cNvPr id="17" name="Shape 15"/>
          <p:cNvSpPr/>
          <p:nvPr/>
        </p:nvSpPr>
        <p:spPr>
          <a:xfrm>
            <a:off x="8080375" y="1875135"/>
            <a:ext cx="3295650" cy="3285480"/>
          </a:xfrm>
          <a:prstGeom prst="roundRect">
            <a:avLst>
              <a:gd name="adj" fmla="val 4542"/>
            </a:avLst>
          </a:prstGeom>
          <a:solidFill>
            <a:srgbClr val="FFFDF8"/>
          </a:solidFill>
          <a:ln w="6350">
            <a:solidFill>
              <a:srgbClr val="E2DDD2"/>
            </a:solidFill>
            <a:prstDash val="solid"/>
          </a:ln>
        </p:spPr>
      </p:sp>
      <p:pic>
        <p:nvPicPr>
          <p:cNvPr id="18" name="Image 0" descr="QR code linking to the bill.c program on OnlineGDB">    </p:cNvPr>
          <p:cNvPicPr>
            <a:picLocks noChangeAspect="1"/>
          </p:cNvPicPr>
          <p:nvPr/>
        </p:nvPicPr>
        <p:blipFill>
          <a:blip r:embed="rId2"/>
          <a:srcRect l="0" r="0" t="0" b="0"/>
          <a:stretch/>
        </p:blipFill>
        <p:spPr>
          <a:xfrm>
            <a:off x="8458200" y="2081510"/>
            <a:ext cx="2540000" cy="2540000"/>
          </a:xfrm>
          <a:prstGeom prst="rect">
            <a:avLst/>
          </a:prstGeom>
        </p:spPr>
      </p:pic>
      <p:sp>
        <p:nvSpPr>
          <p:cNvPr id="19" name="Text 16"/>
          <p:cNvSpPr/>
          <p:nvPr/>
        </p:nvSpPr>
        <p:spPr>
          <a:xfrm>
            <a:off x="8889767" y="4723110"/>
            <a:ext cx="1676817"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96273"/>
                </a:solidFill>
                <a:latin typeface="Rubik" pitchFamily="34" charset="0"/>
                <a:ea typeface="Rubik" pitchFamily="34" charset="-122"/>
                <a:cs typeface="Rubik" pitchFamily="34" charset="-120"/>
              </a:rPr>
              <a:t>Scan to open bill.c</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YOUR TURN · FILL IN THE BLANKS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Complete the program: 5 blanks</a:t>
            </a:r>
            <a:endParaRPr lang="en-US" sz="3000" dirty="0"/>
          </a:p>
        </p:txBody>
      </p:sp>
      <p:sp>
        <p:nvSpPr>
          <p:cNvPr id="4" name="Text 2"/>
          <p:cNvSpPr/>
          <p:nvPr/>
        </p:nvSpPr>
        <p:spPr>
          <a:xfrm>
            <a:off x="812800" y="1793230"/>
            <a:ext cx="7010400" cy="3962400"/>
          </a:xfrm>
          <a:prstGeom prst="roundRect">
            <a:avLst>
              <a:gd name="adj" fmla="val 2244"/>
            </a:avLst>
          </a:prstGeom>
          <a:solidFill>
            <a:srgbClr val="15233F"/>
          </a:solidFill>
          <a:ln/>
        </p:spPr>
        <p:txBody>
          <a:bodyPr wrap="square" lIns="164462" tIns="126362" rIns="0" bIns="100962" rtlCol="0" anchor="t">
            <a:normAutofit/>
          </a:bodyPr>
          <a:lstStyle/>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 Module 2, Class 1: fill in the 5 blanks marked ____ */</a:t>
            </a:r>
            <a:endParaRPr lang="en-US" sz="1200" dirty="0"/>
          </a:p>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#include &lt;______&gt; /* blank 1 */</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int main(void) {</a:t>
            </a:r>
            <a:endParaRPr lang="en-US" sz="1200" dirty="0"/>
          </a:p>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    const int CHAI_PRICE = 10;</a:t>
            </a:r>
            <a:endParaRPr lang="en-US" sz="1200" dirty="0"/>
          </a:p>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    ____ chai; /* blank 2 */</a:t>
            </a:r>
            <a:endParaRPr lang="en-US" sz="1200" dirty="0"/>
          </a:p>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    int total;</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    printf("How many chai? ");</a:t>
            </a:r>
            <a:endParaRPr lang="en-US" sz="1200" dirty="0"/>
          </a:p>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    scanf("%d", ___chai); /* blank 3 */</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    total = chai * CHAI_PRICE;</a:t>
            </a:r>
            <a:endParaRPr lang="en-US" sz="1200" dirty="0"/>
          </a:p>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    printf("Total = Rs ____\n", total); /* blank 4 */</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    return ___; /* blank 5 */</a:t>
            </a:r>
            <a:endParaRPr lang="en-US" sz="1200" dirty="0"/>
          </a:p>
          <a:p>
            <a:pPr algn="l" indent="0" marL="0">
              <a:lnSpc>
                <a:spcPts val="1800"/>
              </a:lnSpc>
              <a:buNone/>
            </a:pP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p:txBody>
      </p:sp>
      <p:sp>
        <p:nvSpPr>
          <p:cNvPr id="5" name="Text 3"/>
          <p:cNvSpPr/>
          <p:nvPr/>
        </p:nvSpPr>
        <p:spPr>
          <a:xfrm>
            <a:off x="8077200" y="2059632"/>
            <a:ext cx="340106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C2230"/>
                </a:solidFill>
                <a:latin typeface="Rubik" pitchFamily="34" charset="0"/>
                <a:ea typeface="Rubik" pitchFamily="34" charset="-122"/>
                <a:cs typeface="Rubik" pitchFamily="34" charset="-120"/>
              </a:rPr>
              <a:t>Each blank tests one topic from today. Fill them in, then run the program to check.</a:t>
            </a:r>
            <a:endParaRPr lang="en-US" sz="1500" dirty="0"/>
          </a:p>
        </p:txBody>
      </p:sp>
      <p:sp>
        <p:nvSpPr>
          <p:cNvPr id="6" name="Text 4"/>
          <p:cNvSpPr/>
          <p:nvPr/>
        </p:nvSpPr>
        <p:spPr>
          <a:xfrm>
            <a:off x="8077200" y="3002607"/>
            <a:ext cx="3302000" cy="485130"/>
          </a:xfrm>
          <a:prstGeom prst="roundRect">
            <a:avLst>
              <a:gd name="adj" fmla="val 18325"/>
            </a:avLst>
          </a:prstGeom>
          <a:solidFill>
            <a:srgbClr val="15233F"/>
          </a:solidFill>
          <a:ln/>
        </p:spPr>
        <p:txBody>
          <a:bodyPr wrap="square" lIns="151762" tIns="100962" rIns="151762" bIns="75562" rtlCol="0" anchor="t">
            <a:normAutofit/>
          </a:bodyPr>
          <a:lstStyle/>
          <a:p>
            <a:pPr algn="l" indent="0" marL="0">
              <a:lnSpc>
                <a:spcPts val="1820"/>
              </a:lnSpc>
              <a:buNone/>
            </a:pPr>
            <a:r>
              <a:rPr lang="en-US" sz="1300" u="sng" dirty="0">
                <a:solidFill>
                  <a:srgbClr val="E9893F"/>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onlinegdb.com/sio4ZG1L6</a:t>
            </a:r>
            <a:endParaRPr lang="en-US" sz="1300" dirty="0"/>
          </a:p>
        </p:txBody>
      </p:sp>
      <p:sp>
        <p:nvSpPr>
          <p:cNvPr id="7" name="Shape 5"/>
          <p:cNvSpPr/>
          <p:nvPr/>
        </p:nvSpPr>
        <p:spPr>
          <a:xfrm>
            <a:off x="8077200" y="3602038"/>
            <a:ext cx="1524000" cy="1524000"/>
          </a:xfrm>
          <a:prstGeom prst="roundRect">
            <a:avLst>
              <a:gd name="adj" fmla="val 5000"/>
            </a:avLst>
          </a:prstGeom>
          <a:solidFill>
            <a:srgbClr val="FFFDF8"/>
          </a:solidFill>
          <a:ln/>
        </p:spPr>
      </p:sp>
      <p:pic>
        <p:nvPicPr>
          <p:cNvPr id="8" name="Image 0" descr="QR code linking to the fill-in-the-blanks program on OnlineGDB">    </p:cNvPr>
          <p:cNvPicPr>
            <a:picLocks noChangeAspect="1"/>
          </p:cNvPicPr>
          <p:nvPr/>
        </p:nvPicPr>
        <p:blipFill>
          <a:blip r:embed="rId2"/>
          <a:srcRect l="0" r="0" t="0" b="0"/>
          <a:stretch/>
        </p:blipFill>
        <p:spPr>
          <a:xfrm>
            <a:off x="8083550" y="3608388"/>
            <a:ext cx="1511300" cy="1511300"/>
          </a:xfrm>
          <a:prstGeom prst="roundRect">
            <a:avLst>
              <a:gd name="adj" fmla="val 4622"/>
            </a:avLst>
          </a:prstGeom>
        </p:spPr>
      </p:pic>
      <p:sp>
        <p:nvSpPr>
          <p:cNvPr id="9" name="Shape 6"/>
          <p:cNvSpPr/>
          <p:nvPr/>
        </p:nvSpPr>
        <p:spPr>
          <a:xfrm>
            <a:off x="8080375" y="3605213"/>
            <a:ext cx="1517650" cy="1517650"/>
          </a:xfrm>
          <a:prstGeom prst="roundRect">
            <a:avLst>
              <a:gd name="adj" fmla="val 4812"/>
            </a:avLst>
          </a:prstGeom>
          <a:noFill/>
          <a:ln w="6350">
            <a:solidFill>
              <a:srgbClr val="E2DDD2"/>
            </a:solidFill>
            <a:prstDash val="solid"/>
          </a:ln>
        </p:spPr>
      </p:sp>
      <p:sp>
        <p:nvSpPr>
          <p:cNvPr id="10" name="Text 7"/>
          <p:cNvSpPr/>
          <p:nvPr/>
        </p:nvSpPr>
        <p:spPr>
          <a:xfrm>
            <a:off x="9728200" y="4132907"/>
            <a:ext cx="14478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6273"/>
                </a:solidFill>
                <a:latin typeface="Rubik" pitchFamily="34" charset="0"/>
                <a:ea typeface="Rubik" pitchFamily="34" charset="-122"/>
                <a:cs typeface="Rubik" pitchFamily="34" charset="-120"/>
              </a:rPr>
              <a:t>Scan to open the blanks program</a:t>
            </a:r>
            <a:endParaRPr lang="en-US" sz="1300" dirty="0"/>
          </a:p>
        </p:txBody>
      </p:sp>
      <p:sp>
        <p:nvSpPr>
          <p:cNvPr id="11" name="Text 8"/>
          <p:cNvSpPr/>
          <p:nvPr/>
        </p:nvSpPr>
        <p:spPr>
          <a:xfrm>
            <a:off x="8077200" y="5240338"/>
            <a:ext cx="340106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6273"/>
                </a:solidFill>
                <a:latin typeface="Rubik" pitchFamily="34" charset="0"/>
                <a:ea typeface="Rubik" pitchFamily="34" charset="-122"/>
                <a:cs typeface="Rubik" pitchFamily="34" charset="-120"/>
              </a:rPr>
              <a:t>Work in pairs · 5 minutes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FILL IN THE BLANKS · ANSWERS</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Check your answers</a:t>
            </a:r>
            <a:endParaRPr lang="en-US" sz="3000" dirty="0"/>
          </a:p>
        </p:txBody>
      </p:sp>
      <p:sp>
        <p:nvSpPr>
          <p:cNvPr id="4" name="Shape 2"/>
          <p:cNvSpPr/>
          <p:nvPr/>
        </p:nvSpPr>
        <p:spPr>
          <a:xfrm>
            <a:off x="815975" y="1844675"/>
            <a:ext cx="6978650" cy="704850"/>
          </a:xfrm>
          <a:prstGeom prst="roundRect">
            <a:avLst>
              <a:gd name="adj" fmla="val 15766"/>
            </a:avLst>
          </a:prstGeom>
          <a:solidFill>
            <a:srgbClr val="FFFDF8"/>
          </a:solidFill>
          <a:ln w="6350">
            <a:solidFill>
              <a:srgbClr val="E2DDD2"/>
            </a:solidFill>
            <a:prstDash val="solid"/>
          </a:ln>
        </p:spPr>
      </p:sp>
      <p:sp>
        <p:nvSpPr>
          <p:cNvPr id="5" name="Text 3"/>
          <p:cNvSpPr/>
          <p:nvPr/>
        </p:nvSpPr>
        <p:spPr>
          <a:xfrm>
            <a:off x="1047750" y="2019300"/>
            <a:ext cx="17715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351905" y="2077095"/>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230"/>
                </a:solidFill>
                <a:latin typeface="Rubik" pitchFamily="34" charset="0"/>
                <a:ea typeface="Rubik" pitchFamily="34" charset="-122"/>
                <a:cs typeface="Rubik" pitchFamily="34" charset="-120"/>
              </a:rPr>
              <a:t>Blank 1: #include &lt;______&gt;</a:t>
            </a:r>
            <a:endParaRPr lang="en-US" sz="1400" dirty="0"/>
          </a:p>
        </p:txBody>
      </p:sp>
      <p:sp>
        <p:nvSpPr>
          <p:cNvPr id="7" name="Text 5"/>
          <p:cNvSpPr/>
          <p:nvPr/>
        </p:nvSpPr>
        <p:spPr>
          <a:xfrm>
            <a:off x="8001000" y="1841500"/>
            <a:ext cx="3378200" cy="711200"/>
          </a:xfrm>
          <a:prstGeom prst="roundRect">
            <a:avLst>
              <a:gd name="adj" fmla="val 16071"/>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stdio.h</a:t>
            </a:r>
            <a:endParaRPr lang="en-US" sz="1400" dirty="0"/>
          </a:p>
        </p:txBody>
      </p:sp>
      <p:sp>
        <p:nvSpPr>
          <p:cNvPr id="8" name="Shape 6"/>
          <p:cNvSpPr/>
          <p:nvPr/>
        </p:nvSpPr>
        <p:spPr>
          <a:xfrm>
            <a:off x="815975" y="2670175"/>
            <a:ext cx="6978650" cy="704850"/>
          </a:xfrm>
          <a:prstGeom prst="roundRect">
            <a:avLst>
              <a:gd name="adj" fmla="val 15766"/>
            </a:avLst>
          </a:prstGeom>
          <a:solidFill>
            <a:srgbClr val="FFFDF8"/>
          </a:solidFill>
          <a:ln w="6350">
            <a:solidFill>
              <a:srgbClr val="E2DDD2"/>
            </a:solidFill>
            <a:prstDash val="solid"/>
          </a:ln>
        </p:spPr>
      </p:sp>
      <p:sp>
        <p:nvSpPr>
          <p:cNvPr id="9" name="Text 7"/>
          <p:cNvSpPr/>
          <p:nvPr/>
        </p:nvSpPr>
        <p:spPr>
          <a:xfrm>
            <a:off x="1047750" y="2844800"/>
            <a:ext cx="2159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2</a:t>
            </a:r>
            <a:endParaRPr lang="en-US" sz="2000" dirty="0"/>
          </a:p>
        </p:txBody>
      </p:sp>
      <p:sp>
        <p:nvSpPr>
          <p:cNvPr id="10" name="Text 8"/>
          <p:cNvSpPr/>
          <p:nvPr/>
        </p:nvSpPr>
        <p:spPr>
          <a:xfrm>
            <a:off x="1390650" y="2902595"/>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230"/>
                </a:solidFill>
                <a:latin typeface="Rubik" pitchFamily="34" charset="0"/>
                <a:ea typeface="Rubik" pitchFamily="34" charset="-122"/>
                <a:cs typeface="Rubik" pitchFamily="34" charset="-120"/>
              </a:rPr>
              <a:t>Blank 2: ____ chai;</a:t>
            </a:r>
            <a:endParaRPr lang="en-US" sz="1400" dirty="0"/>
          </a:p>
        </p:txBody>
      </p:sp>
      <p:sp>
        <p:nvSpPr>
          <p:cNvPr id="11" name="Text 9"/>
          <p:cNvSpPr/>
          <p:nvPr/>
        </p:nvSpPr>
        <p:spPr>
          <a:xfrm>
            <a:off x="8001000" y="2667000"/>
            <a:ext cx="3378200" cy="711200"/>
          </a:xfrm>
          <a:prstGeom prst="roundRect">
            <a:avLst>
              <a:gd name="adj" fmla="val 16071"/>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int</a:t>
            </a:r>
            <a:endParaRPr lang="en-US" sz="1400" dirty="0"/>
          </a:p>
        </p:txBody>
      </p:sp>
      <p:sp>
        <p:nvSpPr>
          <p:cNvPr id="12" name="Shape 10"/>
          <p:cNvSpPr/>
          <p:nvPr/>
        </p:nvSpPr>
        <p:spPr>
          <a:xfrm>
            <a:off x="815975" y="3495675"/>
            <a:ext cx="6978650" cy="704850"/>
          </a:xfrm>
          <a:prstGeom prst="roundRect">
            <a:avLst>
              <a:gd name="adj" fmla="val 15766"/>
            </a:avLst>
          </a:prstGeom>
          <a:solidFill>
            <a:srgbClr val="FFFDF8"/>
          </a:solidFill>
          <a:ln w="6350">
            <a:solidFill>
              <a:srgbClr val="E2DDD2"/>
            </a:solidFill>
            <a:prstDash val="solid"/>
          </a:ln>
        </p:spPr>
      </p:sp>
      <p:sp>
        <p:nvSpPr>
          <p:cNvPr id="13" name="Text 11"/>
          <p:cNvSpPr/>
          <p:nvPr/>
        </p:nvSpPr>
        <p:spPr>
          <a:xfrm>
            <a:off x="1047750" y="3670300"/>
            <a:ext cx="21823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3</a:t>
            </a:r>
            <a:endParaRPr lang="en-US" sz="2000" dirty="0"/>
          </a:p>
        </p:txBody>
      </p:sp>
      <p:sp>
        <p:nvSpPr>
          <p:cNvPr id="14" name="Text 12"/>
          <p:cNvSpPr/>
          <p:nvPr/>
        </p:nvSpPr>
        <p:spPr>
          <a:xfrm>
            <a:off x="1392982" y="3728095"/>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230"/>
                </a:solidFill>
                <a:latin typeface="Rubik" pitchFamily="34" charset="0"/>
                <a:ea typeface="Rubik" pitchFamily="34" charset="-122"/>
                <a:cs typeface="Rubik" pitchFamily="34" charset="-120"/>
              </a:rPr>
              <a:t>Blank 3: scanf("%d", ___chai);</a:t>
            </a:r>
            <a:endParaRPr lang="en-US" sz="1400" dirty="0"/>
          </a:p>
        </p:txBody>
      </p:sp>
      <p:sp>
        <p:nvSpPr>
          <p:cNvPr id="15" name="Text 13"/>
          <p:cNvSpPr/>
          <p:nvPr/>
        </p:nvSpPr>
        <p:spPr>
          <a:xfrm>
            <a:off x="8001000" y="3492500"/>
            <a:ext cx="3378200" cy="711200"/>
          </a:xfrm>
          <a:prstGeom prst="roundRect">
            <a:avLst>
              <a:gd name="adj" fmla="val 16071"/>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&amp;</a:t>
            </a:r>
            <a:endParaRPr lang="en-US" sz="1400" dirty="0"/>
          </a:p>
        </p:txBody>
      </p:sp>
      <p:sp>
        <p:nvSpPr>
          <p:cNvPr id="16" name="Shape 14"/>
          <p:cNvSpPr/>
          <p:nvPr/>
        </p:nvSpPr>
        <p:spPr>
          <a:xfrm>
            <a:off x="815975" y="4321175"/>
            <a:ext cx="6978650" cy="704850"/>
          </a:xfrm>
          <a:prstGeom prst="roundRect">
            <a:avLst>
              <a:gd name="adj" fmla="val 15766"/>
            </a:avLst>
          </a:prstGeom>
          <a:solidFill>
            <a:srgbClr val="FFFDF8"/>
          </a:solidFill>
          <a:ln w="6350">
            <a:solidFill>
              <a:srgbClr val="E2DDD2"/>
            </a:solidFill>
            <a:prstDash val="solid"/>
          </a:ln>
        </p:spPr>
      </p:sp>
      <p:sp>
        <p:nvSpPr>
          <p:cNvPr id="17" name="Text 15"/>
          <p:cNvSpPr/>
          <p:nvPr/>
        </p:nvSpPr>
        <p:spPr>
          <a:xfrm>
            <a:off x="1047750" y="4495800"/>
            <a:ext cx="22418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4</a:t>
            </a:r>
            <a:endParaRPr lang="en-US" sz="2000" dirty="0"/>
          </a:p>
        </p:txBody>
      </p:sp>
      <p:sp>
        <p:nvSpPr>
          <p:cNvPr id="18" name="Text 16"/>
          <p:cNvSpPr/>
          <p:nvPr/>
        </p:nvSpPr>
        <p:spPr>
          <a:xfrm>
            <a:off x="1398935" y="4553595"/>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230"/>
                </a:solidFill>
                <a:latin typeface="Rubik" pitchFamily="34" charset="0"/>
                <a:ea typeface="Rubik" pitchFamily="34" charset="-122"/>
                <a:cs typeface="Rubik" pitchFamily="34" charset="-120"/>
              </a:rPr>
              <a:t>Blank 4: printf("Total = Rs ____\n", total);</a:t>
            </a:r>
            <a:endParaRPr lang="en-US" sz="1400" dirty="0"/>
          </a:p>
        </p:txBody>
      </p:sp>
      <p:sp>
        <p:nvSpPr>
          <p:cNvPr id="19" name="Text 17"/>
          <p:cNvSpPr/>
          <p:nvPr/>
        </p:nvSpPr>
        <p:spPr>
          <a:xfrm>
            <a:off x="8001000" y="4318000"/>
            <a:ext cx="3378200" cy="711200"/>
          </a:xfrm>
          <a:prstGeom prst="roundRect">
            <a:avLst>
              <a:gd name="adj" fmla="val 16071"/>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%d</a:t>
            </a:r>
            <a:endParaRPr lang="en-US" sz="1400" dirty="0"/>
          </a:p>
        </p:txBody>
      </p:sp>
      <p:sp>
        <p:nvSpPr>
          <p:cNvPr id="20" name="Shape 18"/>
          <p:cNvSpPr/>
          <p:nvPr/>
        </p:nvSpPr>
        <p:spPr>
          <a:xfrm>
            <a:off x="815975" y="5146675"/>
            <a:ext cx="6978650" cy="704850"/>
          </a:xfrm>
          <a:prstGeom prst="roundRect">
            <a:avLst>
              <a:gd name="adj" fmla="val 15766"/>
            </a:avLst>
          </a:prstGeom>
          <a:solidFill>
            <a:srgbClr val="FFFDF8"/>
          </a:solidFill>
          <a:ln w="6350">
            <a:solidFill>
              <a:srgbClr val="E2DDD2"/>
            </a:solidFill>
            <a:prstDash val="solid"/>
          </a:ln>
        </p:spPr>
      </p:sp>
      <p:sp>
        <p:nvSpPr>
          <p:cNvPr id="21" name="Text 19"/>
          <p:cNvSpPr/>
          <p:nvPr/>
        </p:nvSpPr>
        <p:spPr>
          <a:xfrm>
            <a:off x="1047750" y="5321300"/>
            <a:ext cx="21485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Rubik" pitchFamily="34" charset="0"/>
                <a:ea typeface="Rubik" pitchFamily="34" charset="-122"/>
                <a:cs typeface="Rubik" pitchFamily="34" charset="-120"/>
              </a:rPr>
              <a:t>5</a:t>
            </a:r>
            <a:endParaRPr lang="en-US" sz="2000" dirty="0"/>
          </a:p>
        </p:txBody>
      </p:sp>
      <p:sp>
        <p:nvSpPr>
          <p:cNvPr id="22" name="Text 20"/>
          <p:cNvSpPr/>
          <p:nvPr/>
        </p:nvSpPr>
        <p:spPr>
          <a:xfrm>
            <a:off x="1389608" y="5379095"/>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C2230"/>
                </a:solidFill>
                <a:latin typeface="Rubik" pitchFamily="34" charset="0"/>
                <a:ea typeface="Rubik" pitchFamily="34" charset="-122"/>
                <a:cs typeface="Rubik" pitchFamily="34" charset="-120"/>
              </a:rPr>
              <a:t>Blank 5: return ___;</a:t>
            </a:r>
            <a:endParaRPr lang="en-US" sz="1400" dirty="0"/>
          </a:p>
        </p:txBody>
      </p:sp>
      <p:sp>
        <p:nvSpPr>
          <p:cNvPr id="23" name="Text 21"/>
          <p:cNvSpPr/>
          <p:nvPr/>
        </p:nvSpPr>
        <p:spPr>
          <a:xfrm>
            <a:off x="8001000" y="5143500"/>
            <a:ext cx="3378200" cy="711200"/>
          </a:xfrm>
          <a:prstGeom prst="roundRect">
            <a:avLst>
              <a:gd name="adj" fmla="val 16071"/>
            </a:avLst>
          </a:prstGeom>
          <a:solidFill>
            <a:srgbClr val="15233F"/>
          </a:solidFill>
          <a:ln/>
        </p:spPr>
        <p:txBody>
          <a:bodyPr wrap="square" lIns="169723" tIns="0" rIns="80569" bIns="0" rtlCol="0" anchor="ctr">
            <a:normAutofit/>
          </a:bodyPr>
          <a:lstStyle/>
          <a:p>
            <a:pPr algn="l" indent="0" marL="0">
              <a:lnSpc>
                <a:spcPts val="1820"/>
              </a:lnSpc>
              <a:buNone/>
            </a:pPr>
            <a:r>
              <a:rPr lang="en-US" sz="1400" b="1" dirty="0">
                <a:solidFill>
                  <a:srgbClr val="E9893F"/>
                </a:solidFill>
                <a:latin typeface="Rubik" pitchFamily="34" charset="0"/>
                <a:ea typeface="Rubik" pitchFamily="34" charset="-122"/>
                <a:cs typeface="Rubik" pitchFamily="34" charset="-120"/>
              </a:rPr>
              <a:t>0</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YOUR TURN · TASK 1 OF 3</a:t>
            </a:r>
            <a:endParaRPr lang="en-US" sz="1300" dirty="0"/>
          </a:p>
        </p:txBody>
      </p:sp>
      <p:sp>
        <p:nvSpPr>
          <p:cNvPr id="3" name="Text 1"/>
          <p:cNvSpPr/>
          <p:nvPr>
            <p:ph type="title"/>
          </p:nvPr>
        </p:nvSpPr>
        <p:spPr>
          <a:xfrm>
            <a:off x="812800" y="10185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Electricity bill</a:t>
            </a:r>
            <a:endParaRPr lang="en-US" sz="3000" dirty="0"/>
          </a:p>
        </p:txBody>
      </p:sp>
      <p:sp>
        <p:nvSpPr>
          <p:cNvPr id="4" name="Shape 2"/>
          <p:cNvSpPr/>
          <p:nvPr/>
        </p:nvSpPr>
        <p:spPr>
          <a:xfrm>
            <a:off x="815975" y="1605905"/>
            <a:ext cx="2787650" cy="2955181"/>
          </a:xfrm>
          <a:prstGeom prst="roundRect">
            <a:avLst>
              <a:gd name="adj" fmla="val 3986"/>
            </a:avLst>
          </a:prstGeom>
          <a:solidFill>
            <a:srgbClr val="FFFDF8"/>
          </a:solidFill>
          <a:ln w="6350">
            <a:solidFill>
              <a:srgbClr val="E2DDD2"/>
            </a:solidFill>
            <a:prstDash val="solid"/>
          </a:ln>
        </p:spPr>
      </p:sp>
      <p:pic>
        <p:nvPicPr>
          <p:cNvPr id="5" name="Image 0" descr="Electricity meter">    </p:cNvPr>
          <p:cNvPicPr>
            <a:picLocks noChangeAspect="1"/>
          </p:cNvPicPr>
          <p:nvPr/>
        </p:nvPicPr>
        <p:blipFill>
          <a:blip r:embed="rId1"/>
          <a:srcRect l="0" r="0" t="0" b="0"/>
          <a:stretch/>
        </p:blipFill>
        <p:spPr>
          <a:xfrm>
            <a:off x="1670050" y="1774180"/>
            <a:ext cx="1079500" cy="1079500"/>
          </a:xfrm>
          <a:prstGeom prst="rect">
            <a:avLst/>
          </a:prstGeom>
        </p:spPr>
      </p:pic>
      <p:sp>
        <p:nvSpPr>
          <p:cNvPr id="6" name="Text 3"/>
          <p:cNvSpPr/>
          <p:nvPr/>
        </p:nvSpPr>
        <p:spPr>
          <a:xfrm>
            <a:off x="996950" y="2955280"/>
            <a:ext cx="2498471"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230"/>
                </a:solidFill>
                <a:latin typeface="Rubik" pitchFamily="34" charset="0"/>
                <a:ea typeface="Rubik" pitchFamily="34" charset="-122"/>
                <a:cs typeface="Rubik" pitchFamily="34" charset="-120"/>
              </a:rPr>
              <a:t>Read how many units a home used. The rate is fixed at Rs 7 per unit. Print the bill.</a:t>
            </a:r>
            <a:endParaRPr lang="en-US" sz="1300" dirty="0"/>
          </a:p>
        </p:txBody>
      </p:sp>
      <p:sp>
        <p:nvSpPr>
          <p:cNvPr id="7" name="Text 4"/>
          <p:cNvSpPr/>
          <p:nvPr/>
        </p:nvSpPr>
        <p:spPr>
          <a:xfrm>
            <a:off x="996950" y="3750270"/>
            <a:ext cx="1727002" cy="289520"/>
          </a:xfrm>
          <a:prstGeom prst="roundRect">
            <a:avLst>
              <a:gd name="adj" fmla="val 21933"/>
            </a:avLst>
          </a:prstGeom>
          <a:solidFill>
            <a:srgbClr val="FBE3CF"/>
          </a:solidFill>
          <a:ln/>
        </p:spPr>
        <p:txBody>
          <a:bodyPr wrap="none" lIns="0" tIns="0" rIns="0" bIns="0" rtlCol="0" anchor="ctr">
            <a:normAutofit/>
          </a:bodyPr>
          <a:lstStyle/>
          <a:p>
            <a:pPr algn="ctr" indent="0" marL="0">
              <a:lnSpc>
                <a:spcPts val="1680"/>
              </a:lnSpc>
              <a:buNone/>
            </a:pPr>
            <a:r>
              <a:rPr lang="en-US" sz="1200" b="1" dirty="0">
                <a:solidFill>
                  <a:srgbClr val="15233F"/>
                </a:solidFill>
                <a:latin typeface="Rubik" pitchFamily="34" charset="0"/>
                <a:ea typeface="Rubik" pitchFamily="34" charset="-122"/>
                <a:cs typeface="Rubik" pitchFamily="34" charset="-120"/>
              </a:rPr>
              <a:t>Rate: Rs 7 (constant)</a:t>
            </a:r>
            <a:endParaRPr lang="en-US" sz="1200" dirty="0"/>
          </a:p>
        </p:txBody>
      </p:sp>
      <p:sp>
        <p:nvSpPr>
          <p:cNvPr id="8" name="Text 5"/>
          <p:cNvSpPr/>
          <p:nvPr/>
        </p:nvSpPr>
        <p:spPr>
          <a:xfrm>
            <a:off x="996950" y="4103291"/>
            <a:ext cx="1697930" cy="289520"/>
          </a:xfrm>
          <a:prstGeom prst="roundRect">
            <a:avLst>
              <a:gd name="adj" fmla="val 21933"/>
            </a:avLst>
          </a:prstGeom>
          <a:solidFill>
            <a:srgbClr val="FBE3CF"/>
          </a:solidFill>
          <a:ln/>
        </p:spPr>
        <p:txBody>
          <a:bodyPr wrap="none" lIns="0" tIns="0" rIns="0" bIns="0" rtlCol="0" anchor="ctr">
            <a:normAutofit/>
          </a:bodyPr>
          <a:lstStyle/>
          <a:p>
            <a:pPr algn="ctr" indent="0" marL="0">
              <a:lnSpc>
                <a:spcPts val="1680"/>
              </a:lnSpc>
              <a:buNone/>
            </a:pPr>
            <a:r>
              <a:rPr lang="en-US" sz="1200" b="1" dirty="0">
                <a:solidFill>
                  <a:srgbClr val="15233F"/>
                </a:solidFill>
                <a:latin typeface="Rubik" pitchFamily="34" charset="0"/>
                <a:ea typeface="Rubik" pitchFamily="34" charset="-122"/>
                <a:cs typeface="Rubik" pitchFamily="34" charset="-120"/>
              </a:rPr>
              <a:t>units: whole number</a:t>
            </a:r>
            <a:endParaRPr lang="en-US" sz="1200" dirty="0"/>
          </a:p>
        </p:txBody>
      </p:sp>
      <p:sp>
        <p:nvSpPr>
          <p:cNvPr id="9" name="Shape 6"/>
          <p:cNvSpPr/>
          <p:nvPr/>
        </p:nvSpPr>
        <p:spPr>
          <a:xfrm>
            <a:off x="3762375" y="1605905"/>
            <a:ext cx="4032250" cy="2955181"/>
          </a:xfrm>
          <a:prstGeom prst="roundRect">
            <a:avLst>
              <a:gd name="adj" fmla="val 3760"/>
            </a:avLst>
          </a:prstGeom>
          <a:solidFill>
            <a:srgbClr val="FFFDF8"/>
          </a:solidFill>
          <a:ln w="6350">
            <a:solidFill>
              <a:srgbClr val="E2DDD2"/>
            </a:solidFill>
            <a:prstDash val="solid"/>
          </a:ln>
        </p:spPr>
      </p:sp>
      <p:sp>
        <p:nvSpPr>
          <p:cNvPr id="10" name="Text 7"/>
          <p:cNvSpPr/>
          <p:nvPr/>
        </p:nvSpPr>
        <p:spPr>
          <a:xfrm>
            <a:off x="3943350" y="1774180"/>
            <a:ext cx="378040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Algorithm (pseudocode)</a:t>
            </a:r>
            <a:endParaRPr lang="en-US" sz="1500" dirty="0"/>
          </a:p>
        </p:txBody>
      </p:sp>
      <p:sp>
        <p:nvSpPr>
          <p:cNvPr id="11" name="Text 8"/>
          <p:cNvSpPr/>
          <p:nvPr/>
        </p:nvSpPr>
        <p:spPr>
          <a:xfrm>
            <a:off x="3943350" y="2091680"/>
            <a:ext cx="3670300" cy="1789311"/>
          </a:xfrm>
          <a:prstGeom prst="roundRect">
            <a:avLst>
              <a:gd name="adj" fmla="val 4968"/>
            </a:avLst>
          </a:prstGeom>
          <a:solidFill>
            <a:srgbClr val="15233F"/>
          </a:solidFill>
          <a:ln/>
        </p:spPr>
        <p:txBody>
          <a:bodyPr wrap="square" lIns="126362" tIns="100962" rIns="25397" bIns="75562" rtlCol="0" anchor="t">
            <a:normAutofit/>
          </a:bodyPr>
          <a:lstStyle/>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START</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SET RATE ← 7</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READ units</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bill ← units × RATE</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PRINT units, bill</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STOP</a:t>
            </a:r>
            <a:endParaRPr lang="en-US" sz="1300" dirty="0"/>
          </a:p>
        </p:txBody>
      </p:sp>
      <p:sp>
        <p:nvSpPr>
          <p:cNvPr id="12" name="Shape 9"/>
          <p:cNvSpPr/>
          <p:nvPr/>
        </p:nvSpPr>
        <p:spPr>
          <a:xfrm>
            <a:off x="7953375" y="1605905"/>
            <a:ext cx="3422650" cy="2955181"/>
          </a:xfrm>
          <a:prstGeom prst="roundRect">
            <a:avLst>
              <a:gd name="adj" fmla="val 3760"/>
            </a:avLst>
          </a:prstGeom>
          <a:solidFill>
            <a:srgbClr val="FFFDF8"/>
          </a:solidFill>
          <a:ln w="6350">
            <a:solidFill>
              <a:srgbClr val="E2DDD2"/>
            </a:solidFill>
            <a:prstDash val="solid"/>
          </a:ln>
        </p:spPr>
      </p:sp>
      <p:sp>
        <p:nvSpPr>
          <p:cNvPr id="13" name="Text 10"/>
          <p:cNvSpPr/>
          <p:nvPr/>
        </p:nvSpPr>
        <p:spPr>
          <a:xfrm>
            <a:off x="8134350" y="1774180"/>
            <a:ext cx="315252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Sample run</a:t>
            </a:r>
            <a:endParaRPr lang="en-US" sz="1500" dirty="0"/>
          </a:p>
        </p:txBody>
      </p:sp>
      <p:sp>
        <p:nvSpPr>
          <p:cNvPr id="14" name="Text 11"/>
          <p:cNvSpPr/>
          <p:nvPr/>
        </p:nvSpPr>
        <p:spPr>
          <a:xfrm>
            <a:off x="8134350" y="2091680"/>
            <a:ext cx="3060700" cy="939800"/>
          </a:xfrm>
          <a:prstGeom prst="roundRect">
            <a:avLst>
              <a:gd name="adj" fmla="val 9459"/>
            </a:avLst>
          </a:prstGeom>
          <a:solidFill>
            <a:srgbClr val="0C1528"/>
          </a:solidFill>
          <a:ln/>
        </p:spPr>
        <p:txBody>
          <a:bodyPr wrap="square" lIns="126362" tIns="100962" rIns="43685" bIns="75562" rtlCol="0" anchor="t">
            <a:normAutofit/>
          </a:bodyPr>
          <a:lstStyle/>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Units used? 120</a:t>
            </a:r>
            <a:endParaRPr lang="en-US" sz="1200" dirty="0"/>
          </a:p>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Units: 120</a:t>
            </a:r>
            <a:endParaRPr lang="en-US" sz="1200" dirty="0"/>
          </a:p>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Bill = Rs 840</a:t>
            </a:r>
            <a:endParaRPr lang="en-US" sz="1200" dirty="0"/>
          </a:p>
        </p:txBody>
      </p:sp>
      <p:sp>
        <p:nvSpPr>
          <p:cNvPr id="15" name="Text 12"/>
          <p:cNvSpPr/>
          <p:nvPr/>
        </p:nvSpPr>
        <p:spPr>
          <a:xfrm>
            <a:off x="8134350" y="3120380"/>
            <a:ext cx="31525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230"/>
                </a:solidFill>
                <a:latin typeface="Rubik" pitchFamily="34" charset="0"/>
                <a:ea typeface="Rubik" pitchFamily="34" charset="-122"/>
                <a:cs typeface="Rubik" pitchFamily="34" charset="-120"/>
              </a:rPr>
              <a:t>Check yourself</a:t>
            </a:r>
            <a:endParaRPr lang="en-US" sz="1400" dirty="0"/>
          </a:p>
        </p:txBody>
      </p:sp>
      <p:sp>
        <p:nvSpPr>
          <p:cNvPr id="16" name="Text 13"/>
          <p:cNvSpPr/>
          <p:nvPr/>
        </p:nvSpPr>
        <p:spPr>
          <a:xfrm>
            <a:off x="8134350" y="3422600"/>
            <a:ext cx="20260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6B45"/>
                </a:solidFill>
                <a:latin typeface="Rubik" pitchFamily="34" charset="0"/>
                <a:ea typeface="Rubik" pitchFamily="34" charset="-122"/>
                <a:cs typeface="Rubik" pitchFamily="34" charset="-120"/>
              </a:rPr>
              <a:t>✓</a:t>
            </a:r>
            <a:endParaRPr lang="en-US" sz="1300" dirty="0"/>
          </a:p>
        </p:txBody>
      </p:sp>
      <p:sp>
        <p:nvSpPr>
          <p:cNvPr id="17" name="Text 14"/>
          <p:cNvSpPr/>
          <p:nvPr/>
        </p:nvSpPr>
        <p:spPr>
          <a:xfrm>
            <a:off x="8362355" y="3441650"/>
            <a:ext cx="2216408"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Which data type for units?</a:t>
            </a:r>
            <a:endParaRPr lang="en-US" sz="1200" dirty="0"/>
          </a:p>
        </p:txBody>
      </p:sp>
      <p:sp>
        <p:nvSpPr>
          <p:cNvPr id="18" name="Text 15"/>
          <p:cNvSpPr/>
          <p:nvPr/>
        </p:nvSpPr>
        <p:spPr>
          <a:xfrm>
            <a:off x="8134350" y="3742630"/>
            <a:ext cx="20260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6B45"/>
                </a:solidFill>
                <a:latin typeface="Rubik" pitchFamily="34" charset="0"/>
                <a:ea typeface="Rubik" pitchFamily="34" charset="-122"/>
                <a:cs typeface="Rubik" pitchFamily="34" charset="-120"/>
              </a:rPr>
              <a:t>✓</a:t>
            </a:r>
            <a:endParaRPr lang="en-US" sz="1300" dirty="0"/>
          </a:p>
        </p:txBody>
      </p:sp>
      <p:sp>
        <p:nvSpPr>
          <p:cNvPr id="19" name="Text 16"/>
          <p:cNvSpPr/>
          <p:nvPr/>
        </p:nvSpPr>
        <p:spPr>
          <a:xfrm>
            <a:off x="8362355" y="3761680"/>
            <a:ext cx="285238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Which keyword keeps RATE fixed?</a:t>
            </a:r>
            <a:endParaRPr lang="en-US" sz="1200" dirty="0"/>
          </a:p>
        </p:txBody>
      </p:sp>
      <p:sp>
        <p:nvSpPr>
          <p:cNvPr id="20" name="Text 17"/>
          <p:cNvSpPr/>
          <p:nvPr/>
        </p:nvSpPr>
        <p:spPr>
          <a:xfrm>
            <a:off x="8134350" y="4062661"/>
            <a:ext cx="20260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6B45"/>
                </a:solidFill>
                <a:latin typeface="Rubik" pitchFamily="34" charset="0"/>
                <a:ea typeface="Rubik" pitchFamily="34" charset="-122"/>
                <a:cs typeface="Rubik" pitchFamily="34" charset="-120"/>
              </a:rPr>
              <a:t>✓</a:t>
            </a:r>
            <a:endParaRPr lang="en-US" sz="1300" dirty="0"/>
          </a:p>
        </p:txBody>
      </p:sp>
      <p:sp>
        <p:nvSpPr>
          <p:cNvPr id="21" name="Text 18"/>
          <p:cNvSpPr/>
          <p:nvPr/>
        </p:nvSpPr>
        <p:spPr>
          <a:xfrm>
            <a:off x="8362355" y="4081711"/>
            <a:ext cx="195500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Did you put &amp; in scanf?</a:t>
            </a:r>
            <a:endParaRPr lang="en-US" sz="1200" dirty="0"/>
          </a:p>
        </p:txBody>
      </p:sp>
      <p:sp>
        <p:nvSpPr>
          <p:cNvPr id="22" name="Shape 19"/>
          <p:cNvSpPr/>
          <p:nvPr/>
        </p:nvSpPr>
        <p:spPr>
          <a:xfrm>
            <a:off x="812800" y="4729361"/>
            <a:ext cx="10566400" cy="477490"/>
          </a:xfrm>
          <a:prstGeom prst="roundRect">
            <a:avLst>
              <a:gd name="adj" fmla="val 21278"/>
            </a:avLst>
          </a:prstGeom>
          <a:solidFill>
            <a:srgbClr val="15233F"/>
          </a:solidFill>
          <a:ln/>
        </p:spPr>
      </p:sp>
      <p:sp>
        <p:nvSpPr>
          <p:cNvPr id="23" name="Text 20"/>
          <p:cNvSpPr/>
          <p:nvPr/>
        </p:nvSpPr>
        <p:spPr>
          <a:xfrm>
            <a:off x="990600" y="4843661"/>
            <a:ext cx="52137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Now:</a:t>
            </a:r>
            <a:endParaRPr lang="en-US" sz="1400" dirty="0"/>
          </a:p>
        </p:txBody>
      </p:sp>
      <p:sp>
        <p:nvSpPr>
          <p:cNvPr id="24" name="Text 21"/>
          <p:cNvSpPr/>
          <p:nvPr/>
        </p:nvSpPr>
        <p:spPr>
          <a:xfrm>
            <a:off x="1552079" y="4843661"/>
            <a:ext cx="662035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Rubik" pitchFamily="34" charset="0"/>
                <a:ea typeface="Rubik" pitchFamily="34" charset="-122"/>
                <a:cs typeface="Rubik" pitchFamily="34" charset="-120"/>
              </a:rPr>
              <a:t>Write the program in OnlineGDB, then test it with 3 different inputs.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YOUR TURN · TASK 2 OF 3</a:t>
            </a:r>
            <a:endParaRPr lang="en-US" sz="1300" dirty="0"/>
          </a:p>
        </p:txBody>
      </p:sp>
      <p:sp>
        <p:nvSpPr>
          <p:cNvPr id="3" name="Text 1"/>
          <p:cNvSpPr/>
          <p:nvPr>
            <p:ph type="title"/>
          </p:nvPr>
        </p:nvSpPr>
        <p:spPr>
          <a:xfrm>
            <a:off x="812800" y="10185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Report card line</a:t>
            </a:r>
            <a:endParaRPr lang="en-US" sz="3000" dirty="0"/>
          </a:p>
        </p:txBody>
      </p:sp>
      <p:sp>
        <p:nvSpPr>
          <p:cNvPr id="4" name="Shape 2"/>
          <p:cNvSpPr/>
          <p:nvPr/>
        </p:nvSpPr>
        <p:spPr>
          <a:xfrm>
            <a:off x="815975" y="1605905"/>
            <a:ext cx="2787650" cy="3055541"/>
          </a:xfrm>
          <a:prstGeom prst="roundRect">
            <a:avLst>
              <a:gd name="adj" fmla="val 3986"/>
            </a:avLst>
          </a:prstGeom>
          <a:solidFill>
            <a:srgbClr val="FFFDF8"/>
          </a:solidFill>
          <a:ln w="6350">
            <a:solidFill>
              <a:srgbClr val="E2DDD2"/>
            </a:solidFill>
            <a:prstDash val="solid"/>
          </a:ln>
        </p:spPr>
      </p:sp>
      <p:pic>
        <p:nvPicPr>
          <p:cNvPr id="5" name="Image 0" descr="Report card">    </p:cNvPr>
          <p:cNvPicPr>
            <a:picLocks noChangeAspect="1"/>
          </p:cNvPicPr>
          <p:nvPr/>
        </p:nvPicPr>
        <p:blipFill>
          <a:blip r:embed="rId1"/>
          <a:srcRect l="0" r="0" t="0" b="0"/>
          <a:stretch/>
        </p:blipFill>
        <p:spPr>
          <a:xfrm>
            <a:off x="1670050" y="1774180"/>
            <a:ext cx="1079500" cy="1079500"/>
          </a:xfrm>
          <a:prstGeom prst="rect">
            <a:avLst/>
          </a:prstGeom>
        </p:spPr>
      </p:pic>
      <p:sp>
        <p:nvSpPr>
          <p:cNvPr id="6" name="Text 3"/>
          <p:cNvSpPr/>
          <p:nvPr/>
        </p:nvSpPr>
        <p:spPr>
          <a:xfrm>
            <a:off x="996950" y="2955280"/>
            <a:ext cx="2498471"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230"/>
                </a:solidFill>
                <a:latin typeface="Rubik" pitchFamily="34" charset="0"/>
                <a:ea typeface="Rubik" pitchFamily="34" charset="-122"/>
                <a:cs typeface="Rubik" pitchFamily="34" charset="-120"/>
              </a:rPr>
              <a:t>Read a student's roll number and marks in 3 subjects. Print the roll number and total marks.</a:t>
            </a:r>
            <a:endParaRPr lang="en-US" sz="1300" dirty="0"/>
          </a:p>
        </p:txBody>
      </p:sp>
      <p:sp>
        <p:nvSpPr>
          <p:cNvPr id="7" name="Text 4"/>
          <p:cNvSpPr/>
          <p:nvPr/>
        </p:nvSpPr>
        <p:spPr>
          <a:xfrm>
            <a:off x="996950" y="3981400"/>
            <a:ext cx="793155" cy="289520"/>
          </a:xfrm>
          <a:prstGeom prst="roundRect">
            <a:avLst>
              <a:gd name="adj" fmla="val 21933"/>
            </a:avLst>
          </a:prstGeom>
          <a:solidFill>
            <a:srgbClr val="FBE3CF"/>
          </a:solidFill>
          <a:ln/>
        </p:spPr>
        <p:txBody>
          <a:bodyPr wrap="none" lIns="0" tIns="0" rIns="0" bIns="0" rtlCol="0" anchor="ctr">
            <a:normAutofit/>
          </a:bodyPr>
          <a:lstStyle/>
          <a:p>
            <a:pPr algn="ctr" indent="0" marL="0">
              <a:lnSpc>
                <a:spcPts val="1680"/>
              </a:lnSpc>
              <a:buNone/>
            </a:pPr>
            <a:r>
              <a:rPr lang="en-US" sz="1200" b="1" dirty="0">
                <a:solidFill>
                  <a:srgbClr val="15233F"/>
                </a:solidFill>
                <a:latin typeface="Rubik" pitchFamily="34" charset="0"/>
                <a:ea typeface="Rubik" pitchFamily="34" charset="-122"/>
                <a:cs typeface="Rubik" pitchFamily="34" charset="-120"/>
              </a:rPr>
              <a:t>4 inputs</a:t>
            </a:r>
            <a:endParaRPr lang="en-US" sz="1200" dirty="0"/>
          </a:p>
        </p:txBody>
      </p:sp>
      <p:sp>
        <p:nvSpPr>
          <p:cNvPr id="8" name="Text 5"/>
          <p:cNvSpPr/>
          <p:nvPr/>
        </p:nvSpPr>
        <p:spPr>
          <a:xfrm>
            <a:off x="1853605" y="3981400"/>
            <a:ext cx="1524595" cy="289520"/>
          </a:xfrm>
          <a:prstGeom prst="roundRect">
            <a:avLst>
              <a:gd name="adj" fmla="val 21933"/>
            </a:avLst>
          </a:prstGeom>
          <a:solidFill>
            <a:srgbClr val="FBE3CF"/>
          </a:solidFill>
          <a:ln/>
        </p:spPr>
        <p:txBody>
          <a:bodyPr wrap="none" lIns="0" tIns="0" rIns="0" bIns="0" rtlCol="0" anchor="ctr">
            <a:normAutofit/>
          </a:bodyPr>
          <a:lstStyle/>
          <a:p>
            <a:pPr algn="ctr" indent="0" marL="0">
              <a:lnSpc>
                <a:spcPts val="1680"/>
              </a:lnSpc>
              <a:buNone/>
            </a:pPr>
            <a:r>
              <a:rPr lang="en-US" sz="1200" b="1" dirty="0">
                <a:solidFill>
                  <a:srgbClr val="15233F"/>
                </a:solidFill>
                <a:latin typeface="Rubik" pitchFamily="34" charset="0"/>
                <a:ea typeface="Rubik" pitchFamily="34" charset="-122"/>
                <a:cs typeface="Rubik" pitchFamily="34" charset="-120"/>
              </a:rPr>
              <a:t>all whole numbers</a:t>
            </a:r>
            <a:endParaRPr lang="en-US" sz="1200" dirty="0"/>
          </a:p>
        </p:txBody>
      </p:sp>
      <p:sp>
        <p:nvSpPr>
          <p:cNvPr id="9" name="Shape 6"/>
          <p:cNvSpPr/>
          <p:nvPr/>
        </p:nvSpPr>
        <p:spPr>
          <a:xfrm>
            <a:off x="3762375" y="1605905"/>
            <a:ext cx="4032250" cy="3055541"/>
          </a:xfrm>
          <a:prstGeom prst="roundRect">
            <a:avLst>
              <a:gd name="adj" fmla="val 3637"/>
            </a:avLst>
          </a:prstGeom>
          <a:solidFill>
            <a:srgbClr val="FFFDF8"/>
          </a:solidFill>
          <a:ln w="6350">
            <a:solidFill>
              <a:srgbClr val="E2DDD2"/>
            </a:solidFill>
            <a:prstDash val="solid"/>
          </a:ln>
        </p:spPr>
      </p:sp>
      <p:sp>
        <p:nvSpPr>
          <p:cNvPr id="10" name="Text 7"/>
          <p:cNvSpPr/>
          <p:nvPr/>
        </p:nvSpPr>
        <p:spPr>
          <a:xfrm>
            <a:off x="3943350" y="1774180"/>
            <a:ext cx="378040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Algorithm (pseudocode)</a:t>
            </a:r>
            <a:endParaRPr lang="en-US" sz="1500" dirty="0"/>
          </a:p>
        </p:txBody>
      </p:sp>
      <p:sp>
        <p:nvSpPr>
          <p:cNvPr id="11" name="Text 8"/>
          <p:cNvSpPr/>
          <p:nvPr/>
        </p:nvSpPr>
        <p:spPr>
          <a:xfrm>
            <a:off x="3943350" y="2091680"/>
            <a:ext cx="3670300" cy="1789311"/>
          </a:xfrm>
          <a:prstGeom prst="roundRect">
            <a:avLst>
              <a:gd name="adj" fmla="val 4968"/>
            </a:avLst>
          </a:prstGeom>
          <a:solidFill>
            <a:srgbClr val="15233F"/>
          </a:solidFill>
          <a:ln/>
        </p:spPr>
        <p:txBody>
          <a:bodyPr wrap="square" lIns="126362" tIns="100962" rIns="25397" bIns="75562" rtlCol="0" anchor="t">
            <a:normAutofit/>
          </a:bodyPr>
          <a:lstStyle/>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START</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READ roll</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READ m1, m2, m3</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total ← m1 + m2 + m3</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PRINT roll, total</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STOP</a:t>
            </a:r>
            <a:endParaRPr lang="en-US" sz="1300" dirty="0"/>
          </a:p>
        </p:txBody>
      </p:sp>
      <p:sp>
        <p:nvSpPr>
          <p:cNvPr id="12" name="Shape 9"/>
          <p:cNvSpPr/>
          <p:nvPr/>
        </p:nvSpPr>
        <p:spPr>
          <a:xfrm>
            <a:off x="7953375" y="1605905"/>
            <a:ext cx="3422650" cy="3055541"/>
          </a:xfrm>
          <a:prstGeom prst="roundRect">
            <a:avLst>
              <a:gd name="adj" fmla="val 3637"/>
            </a:avLst>
          </a:prstGeom>
          <a:solidFill>
            <a:srgbClr val="FFFDF8"/>
          </a:solidFill>
          <a:ln w="6350">
            <a:solidFill>
              <a:srgbClr val="E2DDD2"/>
            </a:solidFill>
            <a:prstDash val="solid"/>
          </a:ln>
        </p:spPr>
      </p:sp>
      <p:sp>
        <p:nvSpPr>
          <p:cNvPr id="13" name="Text 10"/>
          <p:cNvSpPr/>
          <p:nvPr/>
        </p:nvSpPr>
        <p:spPr>
          <a:xfrm>
            <a:off x="8134350" y="1774180"/>
            <a:ext cx="315252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Sample run</a:t>
            </a:r>
            <a:endParaRPr lang="en-US" sz="1500" dirty="0"/>
          </a:p>
        </p:txBody>
      </p:sp>
      <p:sp>
        <p:nvSpPr>
          <p:cNvPr id="14" name="Text 11"/>
          <p:cNvSpPr/>
          <p:nvPr/>
        </p:nvSpPr>
        <p:spPr>
          <a:xfrm>
            <a:off x="8134350" y="2091680"/>
            <a:ext cx="3060700" cy="939800"/>
          </a:xfrm>
          <a:prstGeom prst="roundRect">
            <a:avLst>
              <a:gd name="adj" fmla="val 9459"/>
            </a:avLst>
          </a:prstGeom>
          <a:solidFill>
            <a:srgbClr val="0C1528"/>
          </a:solidFill>
          <a:ln/>
        </p:spPr>
        <p:txBody>
          <a:bodyPr wrap="square" lIns="126362" tIns="100962" rIns="43685" bIns="75562" rtlCol="0" anchor="t">
            <a:normAutofit/>
          </a:bodyPr>
          <a:lstStyle/>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Roll number? 23</a:t>
            </a:r>
            <a:endParaRPr lang="en-US" sz="1200" dirty="0"/>
          </a:p>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Marks in 3 subjects? 85 90 70</a:t>
            </a:r>
            <a:endParaRPr lang="en-US" sz="1200" dirty="0"/>
          </a:p>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Roll 23: total 245 / 300</a:t>
            </a:r>
            <a:endParaRPr lang="en-US" sz="1200" dirty="0"/>
          </a:p>
        </p:txBody>
      </p:sp>
      <p:sp>
        <p:nvSpPr>
          <p:cNvPr id="15" name="Text 12"/>
          <p:cNvSpPr/>
          <p:nvPr/>
        </p:nvSpPr>
        <p:spPr>
          <a:xfrm>
            <a:off x="8134350" y="3120380"/>
            <a:ext cx="31525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230"/>
                </a:solidFill>
                <a:latin typeface="Rubik" pitchFamily="34" charset="0"/>
                <a:ea typeface="Rubik" pitchFamily="34" charset="-122"/>
                <a:cs typeface="Rubik" pitchFamily="34" charset="-120"/>
              </a:rPr>
              <a:t>Check yourself</a:t>
            </a:r>
            <a:endParaRPr lang="en-US" sz="1400" dirty="0"/>
          </a:p>
        </p:txBody>
      </p:sp>
      <p:sp>
        <p:nvSpPr>
          <p:cNvPr id="16" name="Text 13"/>
          <p:cNvSpPr/>
          <p:nvPr/>
        </p:nvSpPr>
        <p:spPr>
          <a:xfrm>
            <a:off x="8134350" y="3422600"/>
            <a:ext cx="20260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6B45"/>
                </a:solidFill>
                <a:latin typeface="Rubik" pitchFamily="34" charset="0"/>
                <a:ea typeface="Rubik" pitchFamily="34" charset="-122"/>
                <a:cs typeface="Rubik" pitchFamily="34" charset="-120"/>
              </a:rPr>
              <a:t>✓</a:t>
            </a:r>
            <a:endParaRPr lang="en-US" sz="1300" dirty="0"/>
          </a:p>
        </p:txBody>
      </p:sp>
      <p:sp>
        <p:nvSpPr>
          <p:cNvPr id="17" name="Text 14"/>
          <p:cNvSpPr/>
          <p:nvPr/>
        </p:nvSpPr>
        <p:spPr>
          <a:xfrm>
            <a:off x="8362355" y="3441650"/>
            <a:ext cx="301049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One scanf can read three: "%d %d %d"</a:t>
            </a:r>
            <a:endParaRPr lang="en-US" sz="1200" dirty="0"/>
          </a:p>
        </p:txBody>
      </p:sp>
      <p:sp>
        <p:nvSpPr>
          <p:cNvPr id="18" name="Text 15"/>
          <p:cNvSpPr/>
          <p:nvPr/>
        </p:nvSpPr>
        <p:spPr>
          <a:xfrm>
            <a:off x="8134350" y="3742630"/>
            <a:ext cx="20260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6B45"/>
                </a:solidFill>
                <a:latin typeface="Rubik" pitchFamily="34" charset="0"/>
                <a:ea typeface="Rubik" pitchFamily="34" charset="-122"/>
                <a:cs typeface="Rubik" pitchFamily="34" charset="-120"/>
              </a:rPr>
              <a:t>✓</a:t>
            </a:r>
            <a:endParaRPr lang="en-US" sz="1300" dirty="0"/>
          </a:p>
        </p:txBody>
      </p:sp>
      <p:sp>
        <p:nvSpPr>
          <p:cNvPr id="19" name="Text 16"/>
          <p:cNvSpPr/>
          <p:nvPr/>
        </p:nvSpPr>
        <p:spPr>
          <a:xfrm>
            <a:off x="8362355" y="3761680"/>
            <a:ext cx="263265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Every variable in scanf needs &amp;</a:t>
            </a:r>
            <a:endParaRPr lang="en-US" sz="1200" dirty="0"/>
          </a:p>
        </p:txBody>
      </p:sp>
      <p:sp>
        <p:nvSpPr>
          <p:cNvPr id="20" name="Text 17"/>
          <p:cNvSpPr/>
          <p:nvPr/>
        </p:nvSpPr>
        <p:spPr>
          <a:xfrm>
            <a:off x="8134350" y="4062661"/>
            <a:ext cx="20186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6B45"/>
                </a:solidFill>
                <a:latin typeface="Rubik" pitchFamily="34" charset="0"/>
                <a:ea typeface="Rubik" pitchFamily="34" charset="-122"/>
                <a:cs typeface="Rubik" pitchFamily="34" charset="-120"/>
              </a:rPr>
              <a:t>✓</a:t>
            </a:r>
            <a:endParaRPr lang="en-US" sz="1300" dirty="0"/>
          </a:p>
        </p:txBody>
      </p:sp>
      <p:sp>
        <p:nvSpPr>
          <p:cNvPr id="21" name="Text 18"/>
          <p:cNvSpPr/>
          <p:nvPr/>
        </p:nvSpPr>
        <p:spPr>
          <a:xfrm>
            <a:off x="8361611" y="4081711"/>
            <a:ext cx="291844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Bonus: also print the average. Is it right?</a:t>
            </a:r>
            <a:endParaRPr lang="en-US" sz="1200" dirty="0"/>
          </a:p>
        </p:txBody>
      </p:sp>
      <p:sp>
        <p:nvSpPr>
          <p:cNvPr id="22" name="Shape 19"/>
          <p:cNvSpPr/>
          <p:nvPr/>
        </p:nvSpPr>
        <p:spPr>
          <a:xfrm>
            <a:off x="812800" y="4829721"/>
            <a:ext cx="10566400" cy="477490"/>
          </a:xfrm>
          <a:prstGeom prst="roundRect">
            <a:avLst>
              <a:gd name="adj" fmla="val 21278"/>
            </a:avLst>
          </a:prstGeom>
          <a:solidFill>
            <a:srgbClr val="15233F"/>
          </a:solidFill>
          <a:ln/>
        </p:spPr>
      </p:sp>
      <p:sp>
        <p:nvSpPr>
          <p:cNvPr id="23" name="Text 20"/>
          <p:cNvSpPr/>
          <p:nvPr/>
        </p:nvSpPr>
        <p:spPr>
          <a:xfrm>
            <a:off x="990600" y="4944021"/>
            <a:ext cx="52137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Now:</a:t>
            </a:r>
            <a:endParaRPr lang="en-US" sz="1400" dirty="0"/>
          </a:p>
        </p:txBody>
      </p:sp>
      <p:sp>
        <p:nvSpPr>
          <p:cNvPr id="24" name="Text 21"/>
          <p:cNvSpPr/>
          <p:nvPr/>
        </p:nvSpPr>
        <p:spPr>
          <a:xfrm>
            <a:off x="1552079" y="4944021"/>
            <a:ext cx="662035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Rubik" pitchFamily="34" charset="0"/>
                <a:ea typeface="Rubik" pitchFamily="34" charset="-122"/>
                <a:cs typeface="Rubik" pitchFamily="34" charset="-120"/>
              </a:rPr>
              <a:t>Write the program in OnlineGDB, then test it with 3 different inputs.</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YOUR TURN · TASK 3 OF 3</a:t>
            </a:r>
            <a:endParaRPr lang="en-US" sz="1300" dirty="0"/>
          </a:p>
        </p:txBody>
      </p:sp>
      <p:sp>
        <p:nvSpPr>
          <p:cNvPr id="3" name="Text 1"/>
          <p:cNvSpPr/>
          <p:nvPr>
            <p:ph type="title"/>
          </p:nvPr>
        </p:nvSpPr>
        <p:spPr>
          <a:xfrm>
            <a:off x="812800" y="10185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Add tea to Riya's bill</a:t>
            </a:r>
            <a:endParaRPr lang="en-US" sz="3000" dirty="0"/>
          </a:p>
        </p:txBody>
      </p:sp>
      <p:sp>
        <p:nvSpPr>
          <p:cNvPr id="4" name="Shape 2"/>
          <p:cNvSpPr/>
          <p:nvPr/>
        </p:nvSpPr>
        <p:spPr>
          <a:xfrm>
            <a:off x="815975" y="1605905"/>
            <a:ext cx="2787650" cy="3541961"/>
          </a:xfrm>
          <a:prstGeom prst="roundRect">
            <a:avLst>
              <a:gd name="adj" fmla="val 3986"/>
            </a:avLst>
          </a:prstGeom>
          <a:solidFill>
            <a:srgbClr val="FFFDF8"/>
          </a:solidFill>
          <a:ln w="6350">
            <a:solidFill>
              <a:srgbClr val="E2DDD2"/>
            </a:solidFill>
            <a:prstDash val="solid"/>
          </a:ln>
        </p:spPr>
      </p:sp>
      <p:pic>
        <p:nvPicPr>
          <p:cNvPr id="5" name="Image 0" descr="Cup of tea">    </p:cNvPr>
          <p:cNvPicPr>
            <a:picLocks noChangeAspect="1"/>
          </p:cNvPicPr>
          <p:nvPr/>
        </p:nvPicPr>
        <p:blipFill>
          <a:blip r:embed="rId1"/>
          <a:srcRect l="0" r="0" t="0" b="0"/>
          <a:stretch/>
        </p:blipFill>
        <p:spPr>
          <a:xfrm>
            <a:off x="1670050" y="1774180"/>
            <a:ext cx="1079500" cy="1079500"/>
          </a:xfrm>
          <a:prstGeom prst="rect">
            <a:avLst/>
          </a:prstGeom>
        </p:spPr>
      </p:pic>
      <p:sp>
        <p:nvSpPr>
          <p:cNvPr id="6" name="Text 3"/>
          <p:cNvSpPr/>
          <p:nvPr/>
        </p:nvSpPr>
        <p:spPr>
          <a:xfrm>
            <a:off x="996950" y="2955280"/>
            <a:ext cx="2498471"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230"/>
                </a:solidFill>
                <a:latin typeface="Rubik" pitchFamily="34" charset="0"/>
                <a:ea typeface="Rubik" pitchFamily="34" charset="-122"/>
                <a:cs typeface="Rubik" pitchFamily="34" charset="-120"/>
              </a:rPr>
              <a:t>The canteen now sells tea at Rs 12. Add it to the bill program from today.</a:t>
            </a:r>
            <a:endParaRPr lang="en-US" sz="1300" dirty="0"/>
          </a:p>
        </p:txBody>
      </p:sp>
      <p:sp>
        <p:nvSpPr>
          <p:cNvPr id="7" name="Text 4"/>
          <p:cNvSpPr/>
          <p:nvPr/>
        </p:nvSpPr>
        <p:spPr>
          <a:xfrm>
            <a:off x="996950" y="3750270"/>
            <a:ext cx="1343769" cy="289520"/>
          </a:xfrm>
          <a:prstGeom prst="roundRect">
            <a:avLst>
              <a:gd name="adj" fmla="val 21933"/>
            </a:avLst>
          </a:prstGeom>
          <a:solidFill>
            <a:srgbClr val="FBE3CF"/>
          </a:solidFill>
          <a:ln/>
        </p:spPr>
        <p:txBody>
          <a:bodyPr wrap="none" lIns="0" tIns="0" rIns="0" bIns="0" rtlCol="0" anchor="ctr">
            <a:normAutofit/>
          </a:bodyPr>
          <a:lstStyle/>
          <a:p>
            <a:pPr algn="ctr" indent="0" marL="0">
              <a:lnSpc>
                <a:spcPts val="1680"/>
              </a:lnSpc>
              <a:buNone/>
            </a:pPr>
            <a:r>
              <a:rPr lang="en-US" sz="1200" b="1" dirty="0">
                <a:solidFill>
                  <a:srgbClr val="15233F"/>
                </a:solidFill>
                <a:latin typeface="Rubik" pitchFamily="34" charset="0"/>
                <a:ea typeface="Rubik" pitchFamily="34" charset="-122"/>
                <a:cs typeface="Rubik" pitchFamily="34" charset="-120"/>
              </a:rPr>
              <a:t>Start from bill.c</a:t>
            </a:r>
            <a:endParaRPr lang="en-US" sz="1200" dirty="0"/>
          </a:p>
        </p:txBody>
      </p:sp>
      <p:sp>
        <p:nvSpPr>
          <p:cNvPr id="8" name="Text 5"/>
          <p:cNvSpPr/>
          <p:nvPr/>
        </p:nvSpPr>
        <p:spPr>
          <a:xfrm>
            <a:off x="996950" y="4103291"/>
            <a:ext cx="1720453" cy="289520"/>
          </a:xfrm>
          <a:prstGeom prst="roundRect">
            <a:avLst>
              <a:gd name="adj" fmla="val 21933"/>
            </a:avLst>
          </a:prstGeom>
          <a:solidFill>
            <a:srgbClr val="FBE3CF"/>
          </a:solidFill>
          <a:ln/>
        </p:spPr>
        <p:txBody>
          <a:bodyPr wrap="none" lIns="0" tIns="0" rIns="0" bIns="0" rtlCol="0" anchor="ctr">
            <a:normAutofit/>
          </a:bodyPr>
          <a:lstStyle/>
          <a:p>
            <a:pPr algn="ctr" indent="0" marL="0">
              <a:lnSpc>
                <a:spcPts val="1680"/>
              </a:lnSpc>
              <a:buNone/>
            </a:pPr>
            <a:r>
              <a:rPr lang="en-US" sz="1200" b="1" dirty="0">
                <a:solidFill>
                  <a:srgbClr val="15233F"/>
                </a:solidFill>
                <a:latin typeface="Rubik" pitchFamily="34" charset="0"/>
                <a:ea typeface="Rubik" pitchFamily="34" charset="-122"/>
                <a:cs typeface="Rubik" pitchFamily="34" charset="-120"/>
              </a:rPr>
              <a:t>Tea: Rs 12 (constant)</a:t>
            </a:r>
            <a:endParaRPr lang="en-US" sz="1200" dirty="0"/>
          </a:p>
        </p:txBody>
      </p:sp>
      <p:sp>
        <p:nvSpPr>
          <p:cNvPr id="9" name="Shape 6"/>
          <p:cNvSpPr/>
          <p:nvPr/>
        </p:nvSpPr>
        <p:spPr>
          <a:xfrm>
            <a:off x="3762375" y="1605905"/>
            <a:ext cx="4032250" cy="3541961"/>
          </a:xfrm>
          <a:prstGeom prst="roundRect">
            <a:avLst>
              <a:gd name="adj" fmla="val 3137"/>
            </a:avLst>
          </a:prstGeom>
          <a:solidFill>
            <a:srgbClr val="FFFDF8"/>
          </a:solidFill>
          <a:ln w="6350">
            <a:solidFill>
              <a:srgbClr val="E2DDD2"/>
            </a:solidFill>
            <a:prstDash val="solid"/>
          </a:ln>
        </p:spPr>
      </p:sp>
      <p:sp>
        <p:nvSpPr>
          <p:cNvPr id="10" name="Text 7"/>
          <p:cNvSpPr/>
          <p:nvPr/>
        </p:nvSpPr>
        <p:spPr>
          <a:xfrm>
            <a:off x="3943350" y="1774180"/>
            <a:ext cx="378040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Algorithm (pseudocode)</a:t>
            </a:r>
            <a:endParaRPr lang="en-US" sz="1500" dirty="0"/>
          </a:p>
        </p:txBody>
      </p:sp>
      <p:sp>
        <p:nvSpPr>
          <p:cNvPr id="11" name="Text 8"/>
          <p:cNvSpPr/>
          <p:nvPr/>
        </p:nvSpPr>
        <p:spPr>
          <a:xfrm>
            <a:off x="3943350" y="2091680"/>
            <a:ext cx="3670300" cy="1533426"/>
          </a:xfrm>
          <a:prstGeom prst="roundRect">
            <a:avLst>
              <a:gd name="adj" fmla="val 5797"/>
            </a:avLst>
          </a:prstGeom>
          <a:solidFill>
            <a:srgbClr val="15233F"/>
          </a:solidFill>
          <a:ln/>
        </p:spPr>
        <p:txBody>
          <a:bodyPr wrap="square" lIns="126362" tIns="100962" rIns="25397" bIns="75562" rtlCol="0" anchor="t">
            <a:normAutofit/>
          </a:bodyPr>
          <a:lstStyle/>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1. ADD constant TEA_PRICE ← 12</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2. DECLARE variable tea</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3. READ tea</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4. ADD tea × TEA_PRICE to total</a:t>
            </a:r>
            <a:endParaRPr lang="en-US" sz="1300" dirty="0"/>
          </a:p>
          <a:p>
            <a:pPr algn="l" indent="0" marL="0">
              <a:lnSpc>
                <a:spcPts val="2015"/>
              </a:lnSpc>
              <a:buNone/>
            </a:pPr>
            <a:r>
              <a:rPr lang="en-US" sz="1300" dirty="0">
                <a:solidFill>
                  <a:srgbClr val="E6E9F0"/>
                </a:solidFill>
                <a:latin typeface="JetBrains Mono" pitchFamily="49" charset="0"/>
                <a:ea typeface="JetBrains Mono" pitchFamily="49" charset="-122"/>
                <a:cs typeface="JetBrains Mono" pitchFamily="49" charset="-120"/>
              </a:rPr>
              <a:t>5. PRINT the tea line</a:t>
            </a:r>
            <a:endParaRPr lang="en-US" sz="1300" dirty="0"/>
          </a:p>
        </p:txBody>
      </p:sp>
      <p:sp>
        <p:nvSpPr>
          <p:cNvPr id="12" name="Shape 9"/>
          <p:cNvSpPr/>
          <p:nvPr/>
        </p:nvSpPr>
        <p:spPr>
          <a:xfrm>
            <a:off x="7953375" y="1605905"/>
            <a:ext cx="3422650" cy="3541961"/>
          </a:xfrm>
          <a:prstGeom prst="roundRect">
            <a:avLst>
              <a:gd name="adj" fmla="val 3247"/>
            </a:avLst>
          </a:prstGeom>
          <a:solidFill>
            <a:srgbClr val="FFFDF8"/>
          </a:solidFill>
          <a:ln w="6350">
            <a:solidFill>
              <a:srgbClr val="E2DDD2"/>
            </a:solidFill>
            <a:prstDash val="solid"/>
          </a:ln>
        </p:spPr>
      </p:sp>
      <p:sp>
        <p:nvSpPr>
          <p:cNvPr id="13" name="Text 10"/>
          <p:cNvSpPr/>
          <p:nvPr/>
        </p:nvSpPr>
        <p:spPr>
          <a:xfrm>
            <a:off x="8134350" y="1774180"/>
            <a:ext cx="315252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230"/>
                </a:solidFill>
                <a:latin typeface="Rubik" pitchFamily="34" charset="0"/>
                <a:ea typeface="Rubik" pitchFamily="34" charset="-122"/>
                <a:cs typeface="Rubik" pitchFamily="34" charset="-120"/>
              </a:rPr>
              <a:t>Sample run</a:t>
            </a:r>
            <a:endParaRPr lang="en-US" sz="1500" dirty="0"/>
          </a:p>
        </p:txBody>
      </p:sp>
      <p:sp>
        <p:nvSpPr>
          <p:cNvPr id="14" name="Text 11"/>
          <p:cNvSpPr/>
          <p:nvPr/>
        </p:nvSpPr>
        <p:spPr>
          <a:xfrm>
            <a:off x="8134350" y="2091680"/>
            <a:ext cx="3060700" cy="1625600"/>
          </a:xfrm>
          <a:prstGeom prst="roundRect">
            <a:avLst>
              <a:gd name="adj" fmla="val 5469"/>
            </a:avLst>
          </a:prstGeom>
          <a:solidFill>
            <a:srgbClr val="0C1528"/>
          </a:solidFill>
          <a:ln/>
        </p:spPr>
        <p:txBody>
          <a:bodyPr wrap="square" lIns="126362" tIns="100962" rIns="43685" bIns="75562" rtlCol="0" anchor="t">
            <a:normAutofit/>
          </a:bodyPr>
          <a:lstStyle/>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How many chai? 2</a:t>
            </a:r>
            <a:endParaRPr lang="en-US" sz="1200" dirty="0"/>
          </a:p>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How many samosa? 1</a:t>
            </a:r>
            <a:endParaRPr lang="en-US" sz="1200" dirty="0"/>
          </a:p>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How many Maggi? 1</a:t>
            </a:r>
            <a:endParaRPr lang="en-US" sz="1200" dirty="0"/>
          </a:p>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How many tea? 2</a:t>
            </a:r>
            <a:endParaRPr lang="en-US" sz="1200" dirty="0"/>
          </a:p>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Tea x 2 = Rs 24</a:t>
            </a:r>
            <a:endParaRPr lang="en-US" sz="1200" dirty="0"/>
          </a:p>
          <a:p>
            <a:pPr algn="l" indent="0" marL="0">
              <a:lnSpc>
                <a:spcPts val="1800"/>
              </a:lnSpc>
              <a:buNone/>
            </a:pPr>
            <a:r>
              <a:rPr lang="en-US" sz="1200" dirty="0">
                <a:solidFill>
                  <a:srgbClr val="7FD1A4"/>
                </a:solidFill>
                <a:latin typeface="JetBrains Mono" pitchFamily="49" charset="0"/>
                <a:ea typeface="JetBrains Mono" pitchFamily="49" charset="-122"/>
                <a:cs typeface="JetBrains Mono" pitchFamily="49" charset="-120"/>
              </a:rPr>
              <a:t>TOTAL = Rs 99</a:t>
            </a:r>
            <a:endParaRPr lang="en-US" sz="1200" dirty="0"/>
          </a:p>
        </p:txBody>
      </p:sp>
      <p:sp>
        <p:nvSpPr>
          <p:cNvPr id="15" name="Text 12"/>
          <p:cNvSpPr/>
          <p:nvPr/>
        </p:nvSpPr>
        <p:spPr>
          <a:xfrm>
            <a:off x="8134350" y="3806180"/>
            <a:ext cx="31525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230"/>
                </a:solidFill>
                <a:latin typeface="Rubik" pitchFamily="34" charset="0"/>
                <a:ea typeface="Rubik" pitchFamily="34" charset="-122"/>
                <a:cs typeface="Rubik" pitchFamily="34" charset="-120"/>
              </a:rPr>
              <a:t>Check yourself</a:t>
            </a:r>
            <a:endParaRPr lang="en-US" sz="1400" dirty="0"/>
          </a:p>
        </p:txBody>
      </p:sp>
      <p:sp>
        <p:nvSpPr>
          <p:cNvPr id="16" name="Text 13"/>
          <p:cNvSpPr/>
          <p:nvPr/>
        </p:nvSpPr>
        <p:spPr>
          <a:xfrm>
            <a:off x="8134350" y="4108400"/>
            <a:ext cx="20260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6B45"/>
                </a:solidFill>
                <a:latin typeface="Rubik" pitchFamily="34" charset="0"/>
                <a:ea typeface="Rubik" pitchFamily="34" charset="-122"/>
                <a:cs typeface="Rubik" pitchFamily="34" charset="-120"/>
              </a:rPr>
              <a:t>✓</a:t>
            </a:r>
            <a:endParaRPr lang="en-US" sz="1300" dirty="0"/>
          </a:p>
        </p:txBody>
      </p:sp>
      <p:sp>
        <p:nvSpPr>
          <p:cNvPr id="17" name="Text 14"/>
          <p:cNvSpPr/>
          <p:nvPr/>
        </p:nvSpPr>
        <p:spPr>
          <a:xfrm>
            <a:off x="8362355" y="4127450"/>
            <a:ext cx="2635151"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Open bill.c from the Run it slide</a:t>
            </a:r>
            <a:endParaRPr lang="en-US" sz="1200" dirty="0"/>
          </a:p>
        </p:txBody>
      </p:sp>
      <p:sp>
        <p:nvSpPr>
          <p:cNvPr id="18" name="Text 15"/>
          <p:cNvSpPr/>
          <p:nvPr/>
        </p:nvSpPr>
        <p:spPr>
          <a:xfrm>
            <a:off x="8134350" y="4428430"/>
            <a:ext cx="20260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6B45"/>
                </a:solidFill>
                <a:latin typeface="Rubik" pitchFamily="34" charset="0"/>
                <a:ea typeface="Rubik" pitchFamily="34" charset="-122"/>
                <a:cs typeface="Rubik" pitchFamily="34" charset="-120"/>
              </a:rPr>
              <a:t>✓</a:t>
            </a:r>
            <a:endParaRPr lang="en-US" sz="1300" dirty="0"/>
          </a:p>
        </p:txBody>
      </p:sp>
      <p:sp>
        <p:nvSpPr>
          <p:cNvPr id="19" name="Text 16"/>
          <p:cNvSpPr/>
          <p:nvPr/>
        </p:nvSpPr>
        <p:spPr>
          <a:xfrm>
            <a:off x="8362355" y="4447480"/>
            <a:ext cx="2744331"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Change 5 places, not everything</a:t>
            </a:r>
            <a:endParaRPr lang="en-US" sz="1200" dirty="0"/>
          </a:p>
        </p:txBody>
      </p:sp>
      <p:sp>
        <p:nvSpPr>
          <p:cNvPr id="20" name="Text 17"/>
          <p:cNvSpPr/>
          <p:nvPr/>
        </p:nvSpPr>
        <p:spPr>
          <a:xfrm>
            <a:off x="8134350" y="4748461"/>
            <a:ext cx="20260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6B45"/>
                </a:solidFill>
                <a:latin typeface="Rubik" pitchFamily="34" charset="0"/>
                <a:ea typeface="Rubik" pitchFamily="34" charset="-122"/>
                <a:cs typeface="Rubik" pitchFamily="34" charset="-120"/>
              </a:rPr>
              <a:t>✓</a:t>
            </a:r>
            <a:endParaRPr lang="en-US" sz="1300" dirty="0"/>
          </a:p>
        </p:txBody>
      </p:sp>
      <p:sp>
        <p:nvSpPr>
          <p:cNvPr id="21" name="Text 18"/>
          <p:cNvSpPr/>
          <p:nvPr/>
        </p:nvSpPr>
        <p:spPr>
          <a:xfrm>
            <a:off x="8362355" y="4767511"/>
            <a:ext cx="165776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150"/>
                </a:solidFill>
                <a:latin typeface="Rubik" pitchFamily="34" charset="0"/>
                <a:ea typeface="Rubik" pitchFamily="34" charset="-122"/>
                <a:cs typeface="Rubik" pitchFamily="34" charset="-120"/>
              </a:rPr>
              <a:t>Check: 75 + 24 = 99</a:t>
            </a:r>
            <a:endParaRPr lang="en-US" sz="1200" dirty="0"/>
          </a:p>
        </p:txBody>
      </p:sp>
      <p:sp>
        <p:nvSpPr>
          <p:cNvPr id="22" name="Shape 19"/>
          <p:cNvSpPr/>
          <p:nvPr/>
        </p:nvSpPr>
        <p:spPr>
          <a:xfrm>
            <a:off x="812800" y="5316141"/>
            <a:ext cx="10566400" cy="477490"/>
          </a:xfrm>
          <a:prstGeom prst="roundRect">
            <a:avLst>
              <a:gd name="adj" fmla="val 21278"/>
            </a:avLst>
          </a:prstGeom>
          <a:solidFill>
            <a:srgbClr val="15233F"/>
          </a:solidFill>
          <a:ln/>
        </p:spPr>
      </p:sp>
      <p:sp>
        <p:nvSpPr>
          <p:cNvPr id="23" name="Text 20"/>
          <p:cNvSpPr/>
          <p:nvPr/>
        </p:nvSpPr>
        <p:spPr>
          <a:xfrm>
            <a:off x="990600" y="5430441"/>
            <a:ext cx="52137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Now:</a:t>
            </a:r>
            <a:endParaRPr lang="en-US" sz="1400" dirty="0"/>
          </a:p>
        </p:txBody>
      </p:sp>
      <p:sp>
        <p:nvSpPr>
          <p:cNvPr id="24" name="Text 21"/>
          <p:cNvSpPr/>
          <p:nvPr/>
        </p:nvSpPr>
        <p:spPr>
          <a:xfrm>
            <a:off x="1552079" y="5430441"/>
            <a:ext cx="662035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Rubik" pitchFamily="34" charset="0"/>
                <a:ea typeface="Rubik" pitchFamily="34" charset="-122"/>
                <a:cs typeface="Rubik" pitchFamily="34" charset="-120"/>
              </a:rPr>
              <a:t>Write the program in OnlineGDB, then test it with 3 different inputs.</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94F17"/>
                </a:solidFill>
                <a:latin typeface="Rubik" pitchFamily="34" charset="0"/>
                <a:ea typeface="Rubik" pitchFamily="34" charset="-122"/>
                <a:cs typeface="Rubik" pitchFamily="34" charset="-120"/>
              </a:rPr>
              <a:t>YOUR TURN · FIX THE BROKEN CODE</a:t>
            </a:r>
            <a:endParaRPr lang="en-US" sz="1300" dirty="0"/>
          </a:p>
        </p:txBody>
      </p:sp>
      <p:sp>
        <p:nvSpPr>
          <p:cNvPr id="3" name="Text 1"/>
          <p:cNvSpPr/>
          <p:nvPr>
            <p:ph type="title"/>
          </p:nvPr>
        </p:nvSpPr>
        <p:spPr>
          <a:xfrm>
            <a:off x="812800" y="10185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C2230"/>
                </a:solidFill>
                <a:latin typeface="Rubik" pitchFamily="34" charset="0"/>
                <a:ea typeface="Rubik" pitchFamily="34" charset="-122"/>
                <a:cs typeface="Rubik" pitchFamily="34" charset="-120"/>
              </a:rPr>
              <a:t>This electricity bill has 3 bugs</a:t>
            </a:r>
            <a:endParaRPr lang="en-US" sz="3000" dirty="0"/>
          </a:p>
        </p:txBody>
      </p:sp>
      <p:sp>
        <p:nvSpPr>
          <p:cNvPr id="4" name="Text 2"/>
          <p:cNvSpPr/>
          <p:nvPr/>
        </p:nvSpPr>
        <p:spPr>
          <a:xfrm>
            <a:off x="812800" y="1714500"/>
            <a:ext cx="4826000" cy="3453805"/>
          </a:xfrm>
          <a:prstGeom prst="roundRect">
            <a:avLst>
              <a:gd name="adj" fmla="val 2574"/>
            </a:avLst>
          </a:prstGeom>
          <a:solidFill>
            <a:srgbClr val="15233F"/>
          </a:solidFill>
          <a:ln/>
        </p:spPr>
        <p:txBody>
          <a:bodyPr wrap="square" lIns="126362" tIns="100962" rIns="0" bIns="75562" rtlCol="0" anchor="t">
            <a:normAutofit/>
          </a:bodyPr>
          <a:lstStyle/>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 1  </a:t>
            </a:r>
            <a:r>
              <a:rPr lang="en-US" sz="1200" dirty="0">
                <a:solidFill>
                  <a:srgbClr val="E6E9F0"/>
                </a:solidFill>
                <a:latin typeface="JetBrains Mono" pitchFamily="49" charset="0"/>
                <a:ea typeface="JetBrains Mono" pitchFamily="49" charset="-122"/>
                <a:cs typeface="JetBrains Mono" pitchFamily="49" charset="-120"/>
              </a:rPr>
              <a:t>/* Electricity bill: find and fix 3 bugs */</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 2  </a:t>
            </a:r>
            <a:r>
              <a:rPr lang="en-US" sz="1200" dirty="0">
                <a:solidFill>
                  <a:srgbClr val="E6E9F0"/>
                </a:solidFill>
                <a:latin typeface="JetBrains Mono" pitchFamily="49" charset="0"/>
                <a:ea typeface="JetBrains Mono" pitchFamily="49" charset="-122"/>
                <a:cs typeface="JetBrains Mono" pitchFamily="49" charset="-120"/>
              </a:rPr>
              <a:t>#include &lt;stdio.h&gt;</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 3  </a:t>
            </a: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 4  </a:t>
            </a:r>
            <a:r>
              <a:rPr lang="en-US" sz="1200" dirty="0">
                <a:solidFill>
                  <a:srgbClr val="E6E9F0"/>
                </a:solidFill>
                <a:latin typeface="JetBrains Mono" pitchFamily="49" charset="0"/>
                <a:ea typeface="JetBrains Mono" pitchFamily="49" charset="-122"/>
                <a:cs typeface="JetBrains Mono" pitchFamily="49" charset="-120"/>
              </a:rPr>
              <a:t>int main(void) {</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 5  </a:t>
            </a:r>
            <a:r>
              <a:rPr lang="en-US" sz="1200" dirty="0">
                <a:solidFill>
                  <a:srgbClr val="E6E9F0"/>
                </a:solidFill>
                <a:latin typeface="JetBrains Mono" pitchFamily="49" charset="0"/>
                <a:ea typeface="JetBrains Mono" pitchFamily="49" charset="-122"/>
                <a:cs typeface="JetBrains Mono" pitchFamily="49" charset="-120"/>
              </a:rPr>
              <a:t>    const int RATE = 7</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 6  </a:t>
            </a:r>
            <a:r>
              <a:rPr lang="en-US" sz="1200" dirty="0">
                <a:solidFill>
                  <a:srgbClr val="E6E9F0"/>
                </a:solidFill>
                <a:latin typeface="JetBrains Mono" pitchFamily="49" charset="0"/>
                <a:ea typeface="JetBrains Mono" pitchFamily="49" charset="-122"/>
                <a:cs typeface="JetBrains Mono" pitchFamily="49" charset="-120"/>
              </a:rPr>
              <a:t>    int units, bill;</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 7  </a:t>
            </a: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 8  </a:t>
            </a:r>
            <a:r>
              <a:rPr lang="en-US" sz="1200" dirty="0">
                <a:solidFill>
                  <a:srgbClr val="E6E9F0"/>
                </a:solidFill>
                <a:latin typeface="JetBrains Mono" pitchFamily="49" charset="0"/>
                <a:ea typeface="JetBrains Mono" pitchFamily="49" charset="-122"/>
                <a:cs typeface="JetBrains Mono" pitchFamily="49" charset="-120"/>
              </a:rPr>
              <a:t>    printf("Units used? ");</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 9  </a:t>
            </a:r>
            <a:r>
              <a:rPr lang="en-US" sz="1200" dirty="0">
                <a:solidFill>
                  <a:srgbClr val="E6E9F0"/>
                </a:solidFill>
                <a:latin typeface="JetBrains Mono" pitchFamily="49" charset="0"/>
                <a:ea typeface="JetBrains Mono" pitchFamily="49" charset="-122"/>
                <a:cs typeface="JetBrains Mono" pitchFamily="49" charset="-120"/>
              </a:rPr>
              <a:t>    scanf("%d", units);</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10  </a:t>
            </a: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11  </a:t>
            </a:r>
            <a:r>
              <a:rPr lang="en-US" sz="1200" dirty="0">
                <a:solidFill>
                  <a:srgbClr val="E6E9F0"/>
                </a:solidFill>
                <a:latin typeface="JetBrains Mono" pitchFamily="49" charset="0"/>
                <a:ea typeface="JetBrains Mono" pitchFamily="49" charset="-122"/>
                <a:cs typeface="JetBrains Mono" pitchFamily="49" charset="-120"/>
              </a:rPr>
              <a:t>    bill = units + RATE;</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12  </a:t>
            </a: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13  </a:t>
            </a:r>
            <a:r>
              <a:rPr lang="en-US" sz="1200" dirty="0">
                <a:solidFill>
                  <a:srgbClr val="E6E9F0"/>
                </a:solidFill>
                <a:latin typeface="JetBrains Mono" pitchFamily="49" charset="0"/>
                <a:ea typeface="JetBrains Mono" pitchFamily="49" charset="-122"/>
                <a:cs typeface="JetBrains Mono" pitchFamily="49" charset="-120"/>
              </a:rPr>
              <a:t>    printf("Bill = Rs %d\n", bill);</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14  </a:t>
            </a:r>
            <a:r>
              <a:rPr lang="en-US" sz="1200" dirty="0">
                <a:solidFill>
                  <a:srgbClr val="E6E9F0"/>
                </a:solidFill>
                <a:latin typeface="JetBrains Mono" pitchFamily="49" charset="0"/>
                <a:ea typeface="JetBrains Mono" pitchFamily="49" charset="-122"/>
                <a:cs typeface="JetBrains Mono" pitchFamily="49" charset="-120"/>
              </a:rPr>
              <a:t>    return 0;</a:t>
            </a:r>
            <a:endParaRPr lang="en-US" sz="1200" dirty="0"/>
          </a:p>
          <a:p>
            <a:pPr algn="l" indent="0" marL="0">
              <a:lnSpc>
                <a:spcPts val="1680"/>
              </a:lnSpc>
              <a:buNone/>
            </a:pPr>
            <a:r>
              <a:rPr lang="en-US" sz="1200" dirty="0">
                <a:solidFill>
                  <a:srgbClr val="5B6B8C"/>
                </a:solidFill>
                <a:latin typeface="JetBrains Mono" pitchFamily="49" charset="0"/>
                <a:ea typeface="JetBrains Mono" pitchFamily="49" charset="-122"/>
                <a:cs typeface="JetBrains Mono" pitchFamily="49" charset="-120"/>
              </a:rPr>
              <a:t>15  </a:t>
            </a: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p:txBody>
      </p:sp>
      <p:sp>
        <p:nvSpPr>
          <p:cNvPr id="5" name="Text 3"/>
          <p:cNvSpPr/>
          <p:nvPr/>
        </p:nvSpPr>
        <p:spPr>
          <a:xfrm>
            <a:off x="5842000" y="1714500"/>
            <a:ext cx="570331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230"/>
                </a:solidFill>
                <a:latin typeface="Rubik" pitchFamily="34" charset="0"/>
                <a:ea typeface="Rubik" pitchFamily="34" charset="-122"/>
                <a:cs typeface="Rubik" pitchFamily="34" charset="-120"/>
              </a:rPr>
              <a:t>Find the 3 bugs, fix them, then run it. Each bug is a different type of error.</a:t>
            </a:r>
            <a:endParaRPr lang="en-US" sz="1500" dirty="0"/>
          </a:p>
        </p:txBody>
      </p:sp>
      <p:sp>
        <p:nvSpPr>
          <p:cNvPr id="6" name="Shape 4"/>
          <p:cNvSpPr/>
          <p:nvPr/>
        </p:nvSpPr>
        <p:spPr>
          <a:xfrm>
            <a:off x="9858375" y="2543175"/>
            <a:ext cx="1517650" cy="2559050"/>
          </a:xfrm>
          <a:prstGeom prst="roundRect">
            <a:avLst>
              <a:gd name="adj" fmla="val 6485"/>
            </a:avLst>
          </a:prstGeom>
          <a:solidFill>
            <a:srgbClr val="FFFDF8"/>
          </a:solidFill>
          <a:ln w="6350">
            <a:solidFill>
              <a:srgbClr val="E2DDD2"/>
            </a:solidFill>
            <a:prstDash val="solid"/>
          </a:ln>
        </p:spPr>
      </p:sp>
      <p:pic>
        <p:nvPicPr>
          <p:cNvPr id="7" name="Image 0" descr="QR code linking to the broken electricity bill program on OnlineGDB">    </p:cNvPr>
          <p:cNvPicPr>
            <a:picLocks noChangeAspect="1"/>
          </p:cNvPicPr>
          <p:nvPr/>
        </p:nvPicPr>
        <p:blipFill>
          <a:blip r:embed="rId1"/>
          <a:srcRect l="0" r="0" t="0" b="0"/>
          <a:stretch/>
        </p:blipFill>
        <p:spPr>
          <a:xfrm>
            <a:off x="9982200" y="2673350"/>
            <a:ext cx="1270000" cy="1270000"/>
          </a:xfrm>
          <a:prstGeom prst="rect">
            <a:avLst/>
          </a:prstGeom>
        </p:spPr>
      </p:pic>
      <p:sp>
        <p:nvSpPr>
          <p:cNvPr id="8" name="Text 5"/>
          <p:cNvSpPr/>
          <p:nvPr/>
        </p:nvSpPr>
        <p:spPr>
          <a:xfrm>
            <a:off x="10059278" y="4019550"/>
            <a:ext cx="111579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96273"/>
                </a:solidFill>
                <a:latin typeface="Rubik" pitchFamily="34" charset="0"/>
                <a:ea typeface="Rubik" pitchFamily="34" charset="-122"/>
                <a:cs typeface="Rubik" pitchFamily="34" charset="-120"/>
              </a:rPr>
              <a:t>Scan to open</a:t>
            </a:r>
            <a:endParaRPr lang="en-US" sz="1200" dirty="0"/>
          </a:p>
        </p:txBody>
      </p:sp>
      <p:sp>
        <p:nvSpPr>
          <p:cNvPr id="9" name="Text 6"/>
          <p:cNvSpPr/>
          <p:nvPr/>
        </p:nvSpPr>
        <p:spPr>
          <a:xfrm>
            <a:off x="9951690" y="4309070"/>
            <a:ext cx="1330970" cy="452041"/>
          </a:xfrm>
          <a:prstGeom prst="rect">
            <a:avLst/>
          </a:prstGeom>
          <a:noFill/>
          <a:ln/>
        </p:spPr>
        <p:txBody>
          <a:bodyPr wrap="square" lIns="0" tIns="0" rIns="0" bIns="0" rtlCol="0" anchor="t">
            <a:normAutofit/>
          </a:bodyPr>
          <a:lstStyle/>
          <a:p>
            <a:pPr algn="ctr" indent="0" marL="0">
              <a:lnSpc>
                <a:spcPts val="1680"/>
              </a:lnSpc>
              <a:buNone/>
            </a:pPr>
            <a:r>
              <a:rPr lang="en-US" sz="1200" u="sng" dirty="0">
                <a:solidFill>
                  <a:srgbClr val="2A5BD7"/>
                </a:solidFill>
                <a:latin typeface="JetBrains Mono" pitchFamily="49" charset="0"/>
                <a:ea typeface="JetBrains Mono" pitchFamily="49" charset="-122"/>
                <a:cs typeface="JetBrains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onlinegdb.com/</a:t>
            </a:r>
            <a:endParaRPr lang="en-US" sz="1200" dirty="0"/>
          </a:p>
          <a:p>
            <a:pPr algn="ctr" indent="0" marL="0">
              <a:lnSpc>
                <a:spcPts val="1680"/>
              </a:lnSpc>
              <a:buNone/>
            </a:pPr>
            <a:r>
              <a:rPr lang="en-US" sz="1200" u="sng" dirty="0">
                <a:solidFill>
                  <a:srgbClr val="2A5BD7"/>
                </a:solidFill>
                <a:latin typeface="JetBrains Mono" pitchFamily="49" charset="0"/>
                <a:ea typeface="JetBrains Mono" pitchFamily="49" charset="-122"/>
                <a:cs typeface="JetBrains Mono" pitchFamily="49" charset="-120"/>
                <a:hlinkClick r:id="rId3" invalidUrl="" action="" tgtFrame="" tooltip="" history="1" highlightClick="0" endSnd="0">
                  <a:extLst>
                    <a:ext uri="{A12FA001-AC4F-418D-AE19-62706E023703}">
                      <ahyp:hlinkClr xmlns:ahyp="http://schemas.microsoft.com/office/drawing/2018/hyperlinkcolor" val="tx"/>
                    </a:ext>
                  </a:extLst>
                </a:hlinkClick>
              </a:rPr>
              <a:t>rVU0IAlIQ</a:t>
            </a:r>
            <a:endParaRPr lang="en-US" sz="1200" dirty="0"/>
          </a:p>
        </p:txBody>
      </p:sp>
      <p:sp>
        <p:nvSpPr>
          <p:cNvPr id="10" name="Shape 7"/>
          <p:cNvSpPr/>
          <p:nvPr/>
        </p:nvSpPr>
        <p:spPr>
          <a:xfrm>
            <a:off x="5842000" y="2540000"/>
            <a:ext cx="3860800" cy="787400"/>
          </a:xfrm>
          <a:prstGeom prst="roundRect">
            <a:avLst>
              <a:gd name="adj" fmla="val 12903"/>
            </a:avLst>
          </a:prstGeom>
          <a:solidFill>
            <a:srgbClr val="15233F"/>
          </a:solidFill>
          <a:ln/>
        </p:spPr>
      </p:sp>
      <p:sp>
        <p:nvSpPr>
          <p:cNvPr id="11" name="Text 8"/>
          <p:cNvSpPr/>
          <p:nvPr/>
        </p:nvSpPr>
        <p:spPr>
          <a:xfrm>
            <a:off x="6019800" y="2683520"/>
            <a:ext cx="361035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Line 5: missing ; after 7</a:t>
            </a:r>
            <a:endParaRPr lang="en-US" sz="1400" dirty="0"/>
          </a:p>
        </p:txBody>
      </p:sp>
      <p:sp>
        <p:nvSpPr>
          <p:cNvPr id="12" name="Text 9"/>
          <p:cNvSpPr/>
          <p:nvPr/>
        </p:nvSpPr>
        <p:spPr>
          <a:xfrm>
            <a:off x="6019800" y="2970510"/>
            <a:ext cx="36103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FDA"/>
                </a:solidFill>
                <a:latin typeface="Rubik" pitchFamily="34" charset="0"/>
                <a:ea typeface="Rubik" pitchFamily="34" charset="-122"/>
                <a:cs typeface="Rubik" pitchFamily="34" charset="-120"/>
              </a:rPr>
              <a:t>Syntax error</a:t>
            </a:r>
            <a:endParaRPr lang="en-US" sz="1200" dirty="0"/>
          </a:p>
        </p:txBody>
      </p:sp>
      <p:sp>
        <p:nvSpPr>
          <p:cNvPr id="13" name="Shape 10"/>
          <p:cNvSpPr/>
          <p:nvPr/>
        </p:nvSpPr>
        <p:spPr>
          <a:xfrm>
            <a:off x="5842000" y="3429000"/>
            <a:ext cx="3860800" cy="787400"/>
          </a:xfrm>
          <a:prstGeom prst="roundRect">
            <a:avLst>
              <a:gd name="adj" fmla="val 12903"/>
            </a:avLst>
          </a:prstGeom>
          <a:solidFill>
            <a:srgbClr val="15233F"/>
          </a:solidFill>
          <a:ln/>
        </p:spPr>
      </p:sp>
      <p:sp>
        <p:nvSpPr>
          <p:cNvPr id="14" name="Text 11"/>
          <p:cNvSpPr/>
          <p:nvPr/>
        </p:nvSpPr>
        <p:spPr>
          <a:xfrm>
            <a:off x="6019800" y="3572520"/>
            <a:ext cx="361035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Line 9: missing &amp; before units</a:t>
            </a:r>
            <a:endParaRPr lang="en-US" sz="1400" dirty="0"/>
          </a:p>
        </p:txBody>
      </p:sp>
      <p:sp>
        <p:nvSpPr>
          <p:cNvPr id="15" name="Text 12"/>
          <p:cNvSpPr/>
          <p:nvPr/>
        </p:nvSpPr>
        <p:spPr>
          <a:xfrm>
            <a:off x="6019800" y="3859510"/>
            <a:ext cx="36103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FDA"/>
                </a:solidFill>
                <a:latin typeface="Rubik" pitchFamily="34" charset="0"/>
                <a:ea typeface="Rubik" pitchFamily="34" charset="-122"/>
                <a:cs typeface="Rubik" pitchFamily="34" charset="-120"/>
              </a:rPr>
              <a:t>Runtime: may crash</a:t>
            </a:r>
            <a:endParaRPr lang="en-US" sz="1200" dirty="0"/>
          </a:p>
        </p:txBody>
      </p:sp>
      <p:sp>
        <p:nvSpPr>
          <p:cNvPr id="16" name="Shape 13"/>
          <p:cNvSpPr/>
          <p:nvPr/>
        </p:nvSpPr>
        <p:spPr>
          <a:xfrm>
            <a:off x="5842000" y="4318000"/>
            <a:ext cx="3860800" cy="787400"/>
          </a:xfrm>
          <a:prstGeom prst="roundRect">
            <a:avLst>
              <a:gd name="adj" fmla="val 12903"/>
            </a:avLst>
          </a:prstGeom>
          <a:solidFill>
            <a:srgbClr val="15233F"/>
          </a:solidFill>
          <a:ln/>
        </p:spPr>
      </p:sp>
      <p:sp>
        <p:nvSpPr>
          <p:cNvPr id="17" name="Text 14"/>
          <p:cNvSpPr/>
          <p:nvPr/>
        </p:nvSpPr>
        <p:spPr>
          <a:xfrm>
            <a:off x="6019800" y="4461520"/>
            <a:ext cx="361035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893F"/>
                </a:solidFill>
                <a:latin typeface="Rubik" pitchFamily="34" charset="0"/>
                <a:ea typeface="Rubik" pitchFamily="34" charset="-122"/>
                <a:cs typeface="Rubik" pitchFamily="34" charset="-120"/>
              </a:rPr>
              <a:t>Line 11: + should be ×</a:t>
            </a:r>
            <a:endParaRPr lang="en-US" sz="1400" dirty="0"/>
          </a:p>
        </p:txBody>
      </p:sp>
      <p:sp>
        <p:nvSpPr>
          <p:cNvPr id="18" name="Text 15"/>
          <p:cNvSpPr/>
          <p:nvPr/>
        </p:nvSpPr>
        <p:spPr>
          <a:xfrm>
            <a:off x="6019800" y="4748510"/>
            <a:ext cx="36103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FDA"/>
                </a:solidFill>
                <a:latin typeface="Rubik" pitchFamily="34" charset="0"/>
                <a:ea typeface="Rubik" pitchFamily="34" charset="-122"/>
                <a:cs typeface="Rubik" pitchFamily="34" charset="-120"/>
              </a:rPr>
              <a:t>Logical: wrong bill</a:t>
            </a:r>
            <a:endParaRPr lang="en-US" sz="1200" dirty="0"/>
          </a:p>
        </p:txBody>
      </p:sp>
      <p:sp>
        <p:nvSpPr>
          <p:cNvPr id="19" name="Text 16"/>
          <p:cNvSpPr/>
          <p:nvPr/>
        </p:nvSpPr>
        <p:spPr>
          <a:xfrm>
            <a:off x="812800" y="5397500"/>
            <a:ext cx="10566400" cy="444500"/>
          </a:xfrm>
          <a:prstGeom prst="roundRect">
            <a:avLst>
              <a:gd name="adj" fmla="val 20000"/>
            </a:avLst>
          </a:prstGeom>
          <a:solidFill>
            <a:srgbClr val="FBE3CF"/>
          </a:solidFill>
          <a:ln/>
        </p:spPr>
        <p:txBody>
          <a:bodyPr wrap="square" lIns="151762" tIns="0" rIns="151762" bIns="0" rtlCol="0" anchor="ctr">
            <a:normAutofit/>
          </a:bodyPr>
          <a:lstStyle/>
          <a:p>
            <a:pPr algn="l" indent="0" marL="0">
              <a:lnSpc>
                <a:spcPts val="1820"/>
              </a:lnSpc>
              <a:buNone/>
            </a:pPr>
            <a:r>
              <a:rPr lang="en-US" sz="1300" b="1" dirty="0">
                <a:solidFill>
                  <a:srgbClr val="15233F"/>
                </a:solidFill>
                <a:latin typeface="Rubik" pitchFamily="34" charset="0"/>
                <a:ea typeface="Rubik" pitchFamily="34" charset="-122"/>
                <a:cs typeface="Rubik" pitchFamily="34" charset="-120"/>
              </a:rPr>
              <a:t>Tip:</a:t>
            </a:r>
            <a:r>
              <a:rPr lang="en-US" sz="1300" dirty="0">
                <a:solidFill>
                  <a:srgbClr val="15233F"/>
                </a:solidFill>
                <a:latin typeface="Rubik" pitchFamily="34" charset="0"/>
                <a:ea typeface="Rubik" pitchFamily="34" charset="-122"/>
                <a:cs typeface="Rubik" pitchFamily="34" charset="-120"/>
              </a:rPr>
              <a:t> one missing ; can cause several error messages. Always fix the </a:t>
            </a:r>
            <a:r>
              <a:rPr lang="en-US" sz="1300" b="1" dirty="0">
                <a:solidFill>
                  <a:srgbClr val="15233F"/>
                </a:solidFill>
                <a:latin typeface="Rubik" pitchFamily="34" charset="0"/>
                <a:ea typeface="Rubik" pitchFamily="34" charset="-122"/>
                <a:cs typeface="Rubik" pitchFamily="34" charset="-120"/>
              </a:rPr>
              <a:t>first</a:t>
            </a:r>
            <a:r>
              <a:rPr lang="en-US" sz="1300" dirty="0">
                <a:solidFill>
                  <a:srgbClr val="15233F"/>
                </a:solidFill>
                <a:latin typeface="Rubik" pitchFamily="34" charset="0"/>
                <a:ea typeface="Rubik" pitchFamily="34" charset="-122"/>
                <a:cs typeface="Rubik" pitchFamily="34" charset="-120"/>
              </a:rPr>
              <a:t> error first, then compile again.</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5233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9893F"/>
                </a:solidFill>
                <a:latin typeface="Rubik" pitchFamily="34" charset="0"/>
                <a:ea typeface="Rubik" pitchFamily="34" charset="-122"/>
                <a:cs typeface="Rubik" pitchFamily="34" charset="-120"/>
              </a:rPr>
              <a:t>TODAY IN ONE SLIDE</a:t>
            </a:r>
            <a:endParaRPr lang="en-US" sz="1300" dirty="0"/>
          </a:p>
        </p:txBody>
      </p:sp>
      <p:sp>
        <p:nvSpPr>
          <p:cNvPr id="3" name="Text 1"/>
          <p:cNvSpPr/>
          <p:nvPr>
            <p:ph type="title"/>
          </p:nvPr>
        </p:nvSpPr>
        <p:spPr>
          <a:xfrm>
            <a:off x="812800" y="11201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3EC"/>
                </a:solidFill>
                <a:latin typeface="Rubik" pitchFamily="34" charset="0"/>
                <a:ea typeface="Rubik" pitchFamily="34" charset="-122"/>
                <a:cs typeface="Rubik" pitchFamily="34" charset="-120"/>
              </a:rPr>
              <a:t>Eight topics, one working program</a:t>
            </a:r>
            <a:endParaRPr lang="en-US" sz="3000" dirty="0"/>
          </a:p>
        </p:txBody>
      </p:sp>
      <p:sp>
        <p:nvSpPr>
          <p:cNvPr id="4" name="Shape 2"/>
          <p:cNvSpPr/>
          <p:nvPr/>
        </p:nvSpPr>
        <p:spPr>
          <a:xfrm>
            <a:off x="812800" y="1793230"/>
            <a:ext cx="5232400" cy="731441"/>
          </a:xfrm>
          <a:prstGeom prst="roundRect">
            <a:avLst>
              <a:gd name="adj" fmla="val 12154"/>
            </a:avLst>
          </a:prstGeom>
          <a:solidFill>
            <a:srgbClr val="1E3157"/>
          </a:solidFill>
          <a:ln/>
        </p:spPr>
      </p:sp>
      <p:sp>
        <p:nvSpPr>
          <p:cNvPr id="5" name="Text 3"/>
          <p:cNvSpPr/>
          <p:nvPr/>
        </p:nvSpPr>
        <p:spPr>
          <a:xfrm>
            <a:off x="977900" y="1920230"/>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1</a:t>
            </a:r>
            <a:endParaRPr lang="en-US" sz="1500" dirty="0"/>
          </a:p>
        </p:txBody>
      </p:sp>
      <p:sp>
        <p:nvSpPr>
          <p:cNvPr id="6" name="Text 4"/>
          <p:cNvSpPr/>
          <p:nvPr/>
        </p:nvSpPr>
        <p:spPr>
          <a:xfrm>
            <a:off x="1358900" y="1936105"/>
            <a:ext cx="1511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Rubik" pitchFamily="34" charset="0"/>
                <a:ea typeface="Rubik" pitchFamily="34" charset="-122"/>
                <a:cs typeface="Rubik" pitchFamily="34" charset="-120"/>
              </a:rPr>
              <a:t>Structure</a:t>
            </a:r>
            <a:endParaRPr lang="en-US" sz="1400" dirty="0"/>
          </a:p>
        </p:txBody>
      </p:sp>
      <p:sp>
        <p:nvSpPr>
          <p:cNvPr id="7" name="Text 5"/>
          <p:cNvSpPr/>
          <p:nvPr/>
        </p:nvSpPr>
        <p:spPr>
          <a:xfrm>
            <a:off x="2946400" y="1951980"/>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FDA"/>
                </a:solidFill>
                <a:latin typeface="Rubik" pitchFamily="34" charset="0"/>
                <a:ea typeface="Rubik" pitchFamily="34" charset="-122"/>
                <a:cs typeface="Rubik" pitchFamily="34" charset="-120"/>
              </a:rPr>
              <a:t>#include, main, statements with ;, return 0</a:t>
            </a:r>
            <a:endParaRPr lang="en-US" sz="1300" dirty="0"/>
          </a:p>
        </p:txBody>
      </p:sp>
      <p:sp>
        <p:nvSpPr>
          <p:cNvPr id="8" name="Shape 6"/>
          <p:cNvSpPr/>
          <p:nvPr/>
        </p:nvSpPr>
        <p:spPr>
          <a:xfrm>
            <a:off x="6146800" y="1793230"/>
            <a:ext cx="5232400" cy="731441"/>
          </a:xfrm>
          <a:prstGeom prst="roundRect">
            <a:avLst>
              <a:gd name="adj" fmla="val 12154"/>
            </a:avLst>
          </a:prstGeom>
          <a:solidFill>
            <a:srgbClr val="1E3157"/>
          </a:solidFill>
          <a:ln/>
        </p:spPr>
      </p:sp>
      <p:sp>
        <p:nvSpPr>
          <p:cNvPr id="9" name="Text 7"/>
          <p:cNvSpPr/>
          <p:nvPr/>
        </p:nvSpPr>
        <p:spPr>
          <a:xfrm>
            <a:off x="6311900" y="1920230"/>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2</a:t>
            </a:r>
            <a:endParaRPr lang="en-US" sz="1500" dirty="0"/>
          </a:p>
        </p:txBody>
      </p:sp>
      <p:sp>
        <p:nvSpPr>
          <p:cNvPr id="10" name="Text 8"/>
          <p:cNvSpPr/>
          <p:nvPr/>
        </p:nvSpPr>
        <p:spPr>
          <a:xfrm>
            <a:off x="6692900" y="1936105"/>
            <a:ext cx="1511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Rubik" pitchFamily="34" charset="0"/>
                <a:ea typeface="Rubik" pitchFamily="34" charset="-122"/>
                <a:cs typeface="Rubik" pitchFamily="34" charset="-120"/>
              </a:rPr>
              <a:t>Life cycle</a:t>
            </a:r>
            <a:endParaRPr lang="en-US" sz="1400" dirty="0"/>
          </a:p>
        </p:txBody>
      </p:sp>
      <p:sp>
        <p:nvSpPr>
          <p:cNvPr id="11" name="Text 9"/>
          <p:cNvSpPr/>
          <p:nvPr/>
        </p:nvSpPr>
        <p:spPr>
          <a:xfrm>
            <a:off x="8280400" y="1951980"/>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FDA"/>
                </a:solidFill>
                <a:latin typeface="Rubik" pitchFamily="34" charset="0"/>
                <a:ea typeface="Rubik" pitchFamily="34" charset="-122"/>
                <a:cs typeface="Rubik" pitchFamily="34" charset="-120"/>
              </a:rPr>
              <a:t>preprocess, compile, assemble, link, load</a:t>
            </a:r>
            <a:endParaRPr lang="en-US" sz="1300" dirty="0"/>
          </a:p>
        </p:txBody>
      </p:sp>
      <p:sp>
        <p:nvSpPr>
          <p:cNvPr id="12" name="Shape 10"/>
          <p:cNvSpPr/>
          <p:nvPr/>
        </p:nvSpPr>
        <p:spPr>
          <a:xfrm>
            <a:off x="812800" y="2626271"/>
            <a:ext cx="5232400" cy="731441"/>
          </a:xfrm>
          <a:prstGeom prst="roundRect">
            <a:avLst>
              <a:gd name="adj" fmla="val 12154"/>
            </a:avLst>
          </a:prstGeom>
          <a:solidFill>
            <a:srgbClr val="1E3157"/>
          </a:solidFill>
          <a:ln/>
        </p:spPr>
      </p:sp>
      <p:sp>
        <p:nvSpPr>
          <p:cNvPr id="13" name="Text 11"/>
          <p:cNvSpPr/>
          <p:nvPr/>
        </p:nvSpPr>
        <p:spPr>
          <a:xfrm>
            <a:off x="977900" y="2753271"/>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3</a:t>
            </a:r>
            <a:endParaRPr lang="en-US" sz="1500" dirty="0"/>
          </a:p>
        </p:txBody>
      </p:sp>
      <p:sp>
        <p:nvSpPr>
          <p:cNvPr id="14" name="Text 12"/>
          <p:cNvSpPr/>
          <p:nvPr/>
        </p:nvSpPr>
        <p:spPr>
          <a:xfrm>
            <a:off x="1358900" y="2769146"/>
            <a:ext cx="1511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Rubik" pitchFamily="34" charset="0"/>
                <a:ea typeface="Rubik" pitchFamily="34" charset="-122"/>
                <a:cs typeface="Rubik" pitchFamily="34" charset="-120"/>
              </a:rPr>
              <a:t>Keywords</a:t>
            </a:r>
            <a:endParaRPr lang="en-US" sz="1400" dirty="0"/>
          </a:p>
        </p:txBody>
      </p:sp>
      <p:sp>
        <p:nvSpPr>
          <p:cNvPr id="15" name="Text 13"/>
          <p:cNvSpPr/>
          <p:nvPr/>
        </p:nvSpPr>
        <p:spPr>
          <a:xfrm>
            <a:off x="2946400" y="2785021"/>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FDA"/>
                </a:solidFill>
                <a:latin typeface="Rubik" pitchFamily="34" charset="0"/>
                <a:ea typeface="Rubik" pitchFamily="34" charset="-122"/>
                <a:cs typeface="Rubik" pitchFamily="34" charset="-120"/>
              </a:rPr>
              <a:t>32 reserved words; never use as names</a:t>
            </a:r>
            <a:endParaRPr lang="en-US" sz="1300" dirty="0"/>
          </a:p>
        </p:txBody>
      </p:sp>
      <p:sp>
        <p:nvSpPr>
          <p:cNvPr id="16" name="Shape 14"/>
          <p:cNvSpPr/>
          <p:nvPr/>
        </p:nvSpPr>
        <p:spPr>
          <a:xfrm>
            <a:off x="6146800" y="2626271"/>
            <a:ext cx="5232400" cy="731441"/>
          </a:xfrm>
          <a:prstGeom prst="roundRect">
            <a:avLst>
              <a:gd name="adj" fmla="val 12154"/>
            </a:avLst>
          </a:prstGeom>
          <a:solidFill>
            <a:srgbClr val="1E3157"/>
          </a:solidFill>
          <a:ln/>
        </p:spPr>
      </p:sp>
      <p:sp>
        <p:nvSpPr>
          <p:cNvPr id="17" name="Text 15"/>
          <p:cNvSpPr/>
          <p:nvPr/>
        </p:nvSpPr>
        <p:spPr>
          <a:xfrm>
            <a:off x="6311900" y="2753271"/>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4</a:t>
            </a:r>
            <a:endParaRPr lang="en-US" sz="1500" dirty="0"/>
          </a:p>
        </p:txBody>
      </p:sp>
      <p:sp>
        <p:nvSpPr>
          <p:cNvPr id="18" name="Text 16"/>
          <p:cNvSpPr/>
          <p:nvPr/>
        </p:nvSpPr>
        <p:spPr>
          <a:xfrm>
            <a:off x="6692900" y="2769146"/>
            <a:ext cx="1511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Rubik" pitchFamily="34" charset="0"/>
                <a:ea typeface="Rubik" pitchFamily="34" charset="-122"/>
                <a:cs typeface="Rubik" pitchFamily="34" charset="-120"/>
              </a:rPr>
              <a:t>Identifiers</a:t>
            </a:r>
            <a:endParaRPr lang="en-US" sz="1400" dirty="0"/>
          </a:p>
        </p:txBody>
      </p:sp>
      <p:sp>
        <p:nvSpPr>
          <p:cNvPr id="19" name="Text 17"/>
          <p:cNvSpPr/>
          <p:nvPr/>
        </p:nvSpPr>
        <p:spPr>
          <a:xfrm>
            <a:off x="8280400" y="2785021"/>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FDA"/>
                </a:solidFill>
                <a:latin typeface="Rubik" pitchFamily="34" charset="0"/>
                <a:ea typeface="Rubik" pitchFamily="34" charset="-122"/>
                <a:cs typeface="Rubik" pitchFamily="34" charset="-120"/>
              </a:rPr>
              <a:t>letters, digits, _ ; no digit first; case-sensitive</a:t>
            </a:r>
            <a:endParaRPr lang="en-US" sz="1300" dirty="0"/>
          </a:p>
        </p:txBody>
      </p:sp>
      <p:sp>
        <p:nvSpPr>
          <p:cNvPr id="20" name="Shape 18"/>
          <p:cNvSpPr/>
          <p:nvPr/>
        </p:nvSpPr>
        <p:spPr>
          <a:xfrm>
            <a:off x="812800" y="3459311"/>
            <a:ext cx="5232400" cy="731441"/>
          </a:xfrm>
          <a:prstGeom prst="roundRect">
            <a:avLst>
              <a:gd name="adj" fmla="val 12154"/>
            </a:avLst>
          </a:prstGeom>
          <a:solidFill>
            <a:srgbClr val="1E3157"/>
          </a:solidFill>
          <a:ln/>
        </p:spPr>
      </p:sp>
      <p:sp>
        <p:nvSpPr>
          <p:cNvPr id="21" name="Text 19"/>
          <p:cNvSpPr/>
          <p:nvPr/>
        </p:nvSpPr>
        <p:spPr>
          <a:xfrm>
            <a:off x="977900" y="3586311"/>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5</a:t>
            </a:r>
            <a:endParaRPr lang="en-US" sz="1500" dirty="0"/>
          </a:p>
        </p:txBody>
      </p:sp>
      <p:sp>
        <p:nvSpPr>
          <p:cNvPr id="22" name="Text 20"/>
          <p:cNvSpPr/>
          <p:nvPr/>
        </p:nvSpPr>
        <p:spPr>
          <a:xfrm>
            <a:off x="1358900" y="3602186"/>
            <a:ext cx="1511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Rubik" pitchFamily="34" charset="0"/>
                <a:ea typeface="Rubik" pitchFamily="34" charset="-122"/>
                <a:cs typeface="Rubik" pitchFamily="34" charset="-120"/>
              </a:rPr>
              <a:t>Data types</a:t>
            </a:r>
            <a:endParaRPr lang="en-US" sz="1400" dirty="0"/>
          </a:p>
        </p:txBody>
      </p:sp>
      <p:sp>
        <p:nvSpPr>
          <p:cNvPr id="23" name="Text 21"/>
          <p:cNvSpPr/>
          <p:nvPr/>
        </p:nvSpPr>
        <p:spPr>
          <a:xfrm>
            <a:off x="2946400" y="3618061"/>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FDA"/>
                </a:solidFill>
                <a:latin typeface="Rubik" pitchFamily="34" charset="0"/>
                <a:ea typeface="Rubik" pitchFamily="34" charset="-122"/>
                <a:cs typeface="Rubik" pitchFamily="34" charset="-120"/>
              </a:rPr>
              <a:t>char, int, float, double; pick the right size</a:t>
            </a:r>
            <a:endParaRPr lang="en-US" sz="1300" dirty="0"/>
          </a:p>
        </p:txBody>
      </p:sp>
      <p:sp>
        <p:nvSpPr>
          <p:cNvPr id="24" name="Shape 22"/>
          <p:cNvSpPr/>
          <p:nvPr/>
        </p:nvSpPr>
        <p:spPr>
          <a:xfrm>
            <a:off x="6146800" y="3459311"/>
            <a:ext cx="5232400" cy="731441"/>
          </a:xfrm>
          <a:prstGeom prst="roundRect">
            <a:avLst>
              <a:gd name="adj" fmla="val 12154"/>
            </a:avLst>
          </a:prstGeom>
          <a:solidFill>
            <a:srgbClr val="1E3157"/>
          </a:solidFill>
          <a:ln/>
        </p:spPr>
      </p:sp>
      <p:sp>
        <p:nvSpPr>
          <p:cNvPr id="25" name="Text 23"/>
          <p:cNvSpPr/>
          <p:nvPr/>
        </p:nvSpPr>
        <p:spPr>
          <a:xfrm>
            <a:off x="6311900" y="3586311"/>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6</a:t>
            </a:r>
            <a:endParaRPr lang="en-US" sz="1500" dirty="0"/>
          </a:p>
        </p:txBody>
      </p:sp>
      <p:sp>
        <p:nvSpPr>
          <p:cNvPr id="26" name="Text 24"/>
          <p:cNvSpPr/>
          <p:nvPr/>
        </p:nvSpPr>
        <p:spPr>
          <a:xfrm>
            <a:off x="6692900" y="3602186"/>
            <a:ext cx="1511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Rubik" pitchFamily="34" charset="0"/>
                <a:ea typeface="Rubik" pitchFamily="34" charset="-122"/>
                <a:cs typeface="Rubik" pitchFamily="34" charset="-120"/>
              </a:rPr>
              <a:t>Variables</a:t>
            </a:r>
            <a:endParaRPr lang="en-US" sz="1400" dirty="0"/>
          </a:p>
        </p:txBody>
      </p:sp>
      <p:sp>
        <p:nvSpPr>
          <p:cNvPr id="27" name="Text 25"/>
          <p:cNvSpPr/>
          <p:nvPr/>
        </p:nvSpPr>
        <p:spPr>
          <a:xfrm>
            <a:off x="8280400" y="3618061"/>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FDA"/>
                </a:solidFill>
                <a:latin typeface="Rubik" pitchFamily="34" charset="0"/>
                <a:ea typeface="Rubik" pitchFamily="34" charset="-122"/>
                <a:cs typeface="Rubik" pitchFamily="34" charset="-120"/>
              </a:rPr>
              <a:t>named boxes; declare, initialise, assign</a:t>
            </a:r>
            <a:endParaRPr lang="en-US" sz="1300" dirty="0"/>
          </a:p>
        </p:txBody>
      </p:sp>
      <p:sp>
        <p:nvSpPr>
          <p:cNvPr id="28" name="Shape 26"/>
          <p:cNvSpPr/>
          <p:nvPr/>
        </p:nvSpPr>
        <p:spPr>
          <a:xfrm>
            <a:off x="812800" y="4292352"/>
            <a:ext cx="5232400" cy="520700"/>
          </a:xfrm>
          <a:prstGeom prst="roundRect">
            <a:avLst>
              <a:gd name="adj" fmla="val 17073"/>
            </a:avLst>
          </a:prstGeom>
          <a:solidFill>
            <a:srgbClr val="1E3157"/>
          </a:solidFill>
          <a:ln/>
        </p:spPr>
      </p:sp>
      <p:sp>
        <p:nvSpPr>
          <p:cNvPr id="29" name="Text 27"/>
          <p:cNvSpPr/>
          <p:nvPr/>
        </p:nvSpPr>
        <p:spPr>
          <a:xfrm>
            <a:off x="977900" y="4419352"/>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7</a:t>
            </a:r>
            <a:endParaRPr lang="en-US" sz="1500" dirty="0"/>
          </a:p>
        </p:txBody>
      </p:sp>
      <p:sp>
        <p:nvSpPr>
          <p:cNvPr id="30" name="Text 28"/>
          <p:cNvSpPr/>
          <p:nvPr/>
        </p:nvSpPr>
        <p:spPr>
          <a:xfrm>
            <a:off x="1358900" y="4435227"/>
            <a:ext cx="1511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Rubik" pitchFamily="34" charset="0"/>
                <a:ea typeface="Rubik" pitchFamily="34" charset="-122"/>
                <a:cs typeface="Rubik" pitchFamily="34" charset="-120"/>
              </a:rPr>
              <a:t>Constants</a:t>
            </a:r>
            <a:endParaRPr lang="en-US" sz="1400" dirty="0"/>
          </a:p>
        </p:txBody>
      </p:sp>
      <p:sp>
        <p:nvSpPr>
          <p:cNvPr id="31" name="Text 29"/>
          <p:cNvSpPr/>
          <p:nvPr/>
        </p:nvSpPr>
        <p:spPr>
          <a:xfrm>
            <a:off x="2946400" y="4451102"/>
            <a:ext cx="302171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FDA"/>
                </a:solidFill>
                <a:latin typeface="Rubik" pitchFamily="34" charset="0"/>
                <a:ea typeface="Rubik" pitchFamily="34" charset="-122"/>
                <a:cs typeface="Rubik" pitchFamily="34" charset="-120"/>
              </a:rPr>
              <a:t>literals, const and #define</a:t>
            </a:r>
            <a:endParaRPr lang="en-US" sz="1300" dirty="0"/>
          </a:p>
        </p:txBody>
      </p:sp>
      <p:sp>
        <p:nvSpPr>
          <p:cNvPr id="32" name="Shape 30"/>
          <p:cNvSpPr/>
          <p:nvPr/>
        </p:nvSpPr>
        <p:spPr>
          <a:xfrm>
            <a:off x="6146800" y="4292352"/>
            <a:ext cx="5232400" cy="520700"/>
          </a:xfrm>
          <a:prstGeom prst="roundRect">
            <a:avLst>
              <a:gd name="adj" fmla="val 17073"/>
            </a:avLst>
          </a:prstGeom>
          <a:solidFill>
            <a:srgbClr val="1E3157"/>
          </a:solidFill>
          <a:ln/>
        </p:spPr>
      </p:sp>
      <p:sp>
        <p:nvSpPr>
          <p:cNvPr id="33" name="Text 31"/>
          <p:cNvSpPr/>
          <p:nvPr/>
        </p:nvSpPr>
        <p:spPr>
          <a:xfrm>
            <a:off x="6311900" y="4419352"/>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9893F"/>
                </a:solidFill>
                <a:latin typeface="JetBrains Mono" pitchFamily="49" charset="0"/>
                <a:ea typeface="JetBrains Mono" pitchFamily="49" charset="-122"/>
                <a:cs typeface="JetBrains Mono" pitchFamily="49" charset="-120"/>
              </a:rPr>
              <a:t>8</a:t>
            </a:r>
            <a:endParaRPr lang="en-US" sz="1500" dirty="0"/>
          </a:p>
        </p:txBody>
      </p:sp>
      <p:sp>
        <p:nvSpPr>
          <p:cNvPr id="34" name="Text 32"/>
          <p:cNvSpPr/>
          <p:nvPr/>
        </p:nvSpPr>
        <p:spPr>
          <a:xfrm>
            <a:off x="6692900" y="4435227"/>
            <a:ext cx="1511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Rubik" pitchFamily="34" charset="0"/>
                <a:ea typeface="Rubik" pitchFamily="34" charset="-122"/>
                <a:cs typeface="Rubik" pitchFamily="34" charset="-120"/>
              </a:rPr>
              <a:t>Input/output</a:t>
            </a:r>
            <a:endParaRPr lang="en-US" sz="1400" dirty="0"/>
          </a:p>
        </p:txBody>
      </p:sp>
      <p:sp>
        <p:nvSpPr>
          <p:cNvPr id="35" name="Text 33"/>
          <p:cNvSpPr/>
          <p:nvPr/>
        </p:nvSpPr>
        <p:spPr>
          <a:xfrm>
            <a:off x="8280400" y="4451102"/>
            <a:ext cx="302171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FDA"/>
                </a:solidFill>
                <a:latin typeface="Rubik" pitchFamily="34" charset="0"/>
                <a:ea typeface="Rubik" pitchFamily="34" charset="-122"/>
                <a:cs typeface="Rubik" pitchFamily="34" charset="-120"/>
              </a:rPr>
              <a:t>printf shows values; scanf needs &amp;</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9893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5233F"/>
                </a:solidFill>
                <a:latin typeface="Rubik" pitchFamily="34" charset="0"/>
                <a:ea typeface="Rubik" pitchFamily="34" charset="-122"/>
                <a:cs typeface="Rubik" pitchFamily="34" charset="-120"/>
              </a:rPr>
              <a:t>NEXT CLASS</a:t>
            </a:r>
            <a:endParaRPr lang="en-US" sz="1400" dirty="0"/>
          </a:p>
        </p:txBody>
      </p:sp>
      <p:sp>
        <p:nvSpPr>
          <p:cNvPr id="3" name="Text 1"/>
          <p:cNvSpPr/>
          <p:nvPr>
            <p:ph type="title"/>
          </p:nvPr>
        </p:nvSpPr>
        <p:spPr>
          <a:xfrm>
            <a:off x="812800" y="237113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5233F"/>
                </a:solidFill>
                <a:latin typeface="Rubik" pitchFamily="34" charset="0"/>
                <a:ea typeface="Rubik" pitchFamily="34" charset="-122"/>
                <a:cs typeface="Rubik" pitchFamily="34" charset="-120"/>
              </a:rPr>
              <a:t>Riya's friends order ₹250.</a:t>
            </a:r>
            <a:endParaRPr lang="en-US" sz="4400" dirty="0"/>
          </a:p>
          <a:p>
            <a:pPr algn="l" indent="0" marL="0">
              <a:lnSpc>
                <a:spcPts val="4840"/>
              </a:lnSpc>
              <a:buNone/>
            </a:pPr>
            <a:r>
              <a:rPr lang="en-US" sz="4400" b="1" i="0" dirty="0">
                <a:solidFill>
                  <a:srgbClr val="15233F"/>
                </a:solidFill>
                <a:latin typeface="Rubik" pitchFamily="34" charset="0"/>
                <a:ea typeface="Rubik" pitchFamily="34" charset="-122"/>
                <a:cs typeface="Rubik" pitchFamily="34" charset="-120"/>
              </a:rPr>
              <a:t>Can the program give them 10% off?</a:t>
            </a:r>
            <a:endParaRPr lang="en-US" sz="4400" dirty="0"/>
          </a:p>
        </p:txBody>
      </p:sp>
      <p:sp>
        <p:nvSpPr>
          <p:cNvPr id="4" name="Text 2"/>
          <p:cNvSpPr/>
          <p:nvPr/>
        </p:nvSpPr>
        <p:spPr>
          <a:xfrm>
            <a:off x="812800" y="3829050"/>
            <a:ext cx="91567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5233F"/>
                </a:solidFill>
                <a:latin typeface="Rubik" pitchFamily="34" charset="0"/>
                <a:ea typeface="Rubik" pitchFamily="34" charset="-122"/>
                <a:cs typeface="Rubik" pitchFamily="34" charset="-120"/>
              </a:rPr>
              <a:t>Class 2: operators, type conversion and casting, and decisions with if, else and switch.</a:t>
            </a:r>
            <a:endParaRPr lang="en-US" sz="1800" dirty="0"/>
          </a:p>
        </p:txBody>
      </p:sp>
      <p:sp>
        <p:nvSpPr>
          <p:cNvPr id="5" name="Text 3"/>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5233F"/>
                </a:solidFill>
                <a:latin typeface="Rubik" pitchFamily="34" charset="0"/>
                <a:ea typeface="Rubik" pitchFamily="34" charset="-122"/>
                <a:cs typeface="Rubik" pitchFamily="34" charset="-120"/>
              </a:rPr>
              <a:t>Before next class: finish one transfer task and try the practice page.</a:t>
            </a:r>
            <a:endParaRPr lang="en-US" sz="1500" dirty="0"/>
          </a:p>
        </p:txBody>
      </p:sp>
    </p:spTree>
  </p:cSld>
  <p:clrMapOvr>
    <a:masterClrMapping/>
  </p:clrMapOvr>
</p:sld>
</file>

<file path=ppt/theme/theme1.xml><?xml version="1.0" encoding="utf-8"?>
<a:theme xmlns:a="http://schemas.openxmlformats.org/drawingml/2006/main" name="FoCP Module 2 · Class 1 — From Code to Program">
  <a:themeElements>
    <a:clrScheme name="FoCP Module 2 · Class 1 — From Code to Program">
      <a:dk1>
        <a:srgbClr val="1C2230"/>
      </a:dk1>
      <a:lt1>
        <a:srgbClr val="F6F3EC"/>
      </a:lt1>
      <a:dk2>
        <a:srgbClr val="53565F"/>
      </a:dk2>
      <a:lt2>
        <a:srgbClr val="E0DED9"/>
      </a:lt2>
      <a:accent1>
        <a:srgbClr val="E9893F"/>
      </a:accent1>
      <a:accent2>
        <a:srgbClr val="2A5BD7"/>
      </a:accent2>
      <a:accent3>
        <a:srgbClr val="A94F17"/>
      </a:accent3>
      <a:accent4>
        <a:srgbClr val="7FD1A4"/>
      </a:accent4>
      <a:accent5>
        <a:srgbClr val="1B6B45"/>
      </a:accent5>
      <a:accent6>
        <a:srgbClr val="1E3157"/>
      </a:accent6>
      <a:hlink>
        <a:srgbClr val="0563C1"/>
      </a:hlink>
      <a:folHlink>
        <a:srgbClr val="954F72"/>
      </a:folHlink>
    </a:clrScheme>
    <a:fontScheme name="FoCP Module 2 · Class 1 — From Code to Program">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FoCP Module 2 · Class 1 — From Code to Program</dc:title>
  <dc:subject/>
  <dc:creator/>
  <cp:lastModifiedBy/>
  <cp:revision>1</cp:revision>
  <dcterms:created xsi:type="dcterms:W3CDTF">2026-10-09T11:29:30Z</dcterms:created>
  <dcterms:modified xsi:type="dcterms:W3CDTF">2026-10-09T11:29:30Z</dcterms:modified>
</cp:coreProperties>
</file>